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handoutMasterIdLst>
    <p:handoutMasterId r:id="rId65"/>
  </p:handoutMasterIdLst>
  <p:sldIdLst>
    <p:sldId id="256" r:id="rId2"/>
    <p:sldId id="305" r:id="rId3"/>
    <p:sldId id="262" r:id="rId4"/>
    <p:sldId id="316" r:id="rId5"/>
    <p:sldId id="314" r:id="rId6"/>
    <p:sldId id="315" r:id="rId7"/>
    <p:sldId id="257" r:id="rId8"/>
    <p:sldId id="312" r:id="rId9"/>
    <p:sldId id="258" r:id="rId10"/>
    <p:sldId id="260" r:id="rId11"/>
    <p:sldId id="261" r:id="rId12"/>
    <p:sldId id="277" r:id="rId13"/>
    <p:sldId id="264" r:id="rId14"/>
    <p:sldId id="265" r:id="rId15"/>
    <p:sldId id="266" r:id="rId16"/>
    <p:sldId id="267" r:id="rId17"/>
    <p:sldId id="268" r:id="rId18"/>
    <p:sldId id="313" r:id="rId19"/>
    <p:sldId id="269" r:id="rId20"/>
    <p:sldId id="270" r:id="rId21"/>
    <p:sldId id="259" r:id="rId22"/>
    <p:sldId id="271" r:id="rId23"/>
    <p:sldId id="272" r:id="rId24"/>
    <p:sldId id="276" r:id="rId25"/>
    <p:sldId id="274" r:id="rId26"/>
    <p:sldId id="275" r:id="rId27"/>
    <p:sldId id="278" r:id="rId28"/>
    <p:sldId id="279" r:id="rId29"/>
    <p:sldId id="280" r:id="rId30"/>
    <p:sldId id="282" r:id="rId31"/>
    <p:sldId id="281" r:id="rId32"/>
    <p:sldId id="283" r:id="rId33"/>
    <p:sldId id="284" r:id="rId34"/>
    <p:sldId id="317" r:id="rId35"/>
    <p:sldId id="321" r:id="rId36"/>
    <p:sldId id="319" r:id="rId37"/>
    <p:sldId id="320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306" r:id="rId50"/>
    <p:sldId id="296" r:id="rId51"/>
    <p:sldId id="297" r:id="rId52"/>
    <p:sldId id="298" r:id="rId53"/>
    <p:sldId id="307" r:id="rId54"/>
    <p:sldId id="308" r:id="rId55"/>
    <p:sldId id="309" r:id="rId56"/>
    <p:sldId id="311" r:id="rId57"/>
    <p:sldId id="299" r:id="rId58"/>
    <p:sldId id="300" r:id="rId59"/>
    <p:sldId id="301" r:id="rId60"/>
    <p:sldId id="302" r:id="rId61"/>
    <p:sldId id="303" r:id="rId62"/>
    <p:sldId id="304" r:id="rId63"/>
    <p:sldId id="310" r:id="rId64"/>
  </p:sldIdLst>
  <p:sldSz cx="9144000" cy="6858000" type="screen4x3"/>
  <p:notesSz cx="7315200" cy="9601200"/>
  <p:embeddedFontLst>
    <p:embeddedFont>
      <p:font typeface="Aptos Mono" panose="020B0009020202020204" pitchFamily="49" charset="0"/>
      <p:regular r:id="rId66"/>
      <p:bold r:id="rId67"/>
    </p:embeddedFont>
    <p:embeddedFont>
      <p:font typeface="Cambria Math" panose="02040503050406030204" pitchFamily="18" charset="0"/>
      <p:regular r:id="rId6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1841CCA-5991-41F1-97C0-822876F6B3C0}">
          <p14:sldIdLst>
            <p14:sldId id="256"/>
            <p14:sldId id="305"/>
            <p14:sldId id="262"/>
            <p14:sldId id="316"/>
            <p14:sldId id="314"/>
            <p14:sldId id="315"/>
            <p14:sldId id="257"/>
            <p14:sldId id="312"/>
          </p14:sldIdLst>
        </p14:section>
        <p14:section name="2-way" id="{E38284BF-DE30-40BA-82CA-3B5920C20CD9}">
          <p14:sldIdLst>
            <p14:sldId id="258"/>
            <p14:sldId id="260"/>
            <p14:sldId id="261"/>
            <p14:sldId id="277"/>
            <p14:sldId id="264"/>
            <p14:sldId id="265"/>
            <p14:sldId id="266"/>
            <p14:sldId id="267"/>
            <p14:sldId id="268"/>
            <p14:sldId id="313"/>
          </p14:sldIdLst>
        </p14:section>
        <p14:section name="3-way" id="{9A0C7C62-EB06-433A-833C-AE13DF325E24}">
          <p14:sldIdLst>
            <p14:sldId id="269"/>
            <p14:sldId id="270"/>
            <p14:sldId id="259"/>
            <p14:sldId id="271"/>
            <p14:sldId id="272"/>
            <p14:sldId id="276"/>
            <p14:sldId id="274"/>
            <p14:sldId id="275"/>
            <p14:sldId id="278"/>
            <p14:sldId id="279"/>
            <p14:sldId id="280"/>
            <p14:sldId id="282"/>
            <p14:sldId id="281"/>
            <p14:sldId id="283"/>
            <p14:sldId id="284"/>
            <p14:sldId id="317"/>
            <p14:sldId id="321"/>
            <p14:sldId id="319"/>
            <p14:sldId id="320"/>
          </p14:sldIdLst>
        </p14:section>
        <p14:section name="generalized log odds ratios" id="{AF138016-3D47-4A4E-82C4-4FA7155488D4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Bivariate response" id="{A6CCE540-8780-4498-8C41-D0538E45F0FC}">
          <p14:sldIdLst>
            <p14:sldId id="295"/>
            <p14:sldId id="306"/>
            <p14:sldId id="296"/>
            <p14:sldId id="297"/>
            <p14:sldId id="298"/>
            <p14:sldId id="307"/>
            <p14:sldId id="308"/>
            <p14:sldId id="309"/>
            <p14:sldId id="311"/>
          </p14:sldIdLst>
        </p14:section>
        <p14:section name="corporal punishment" id="{189ED1AE-80D3-4A99-8B95-EE9DCD10ED99}">
          <p14:sldIdLst>
            <p14:sldId id="299"/>
            <p14:sldId id="300"/>
            <p14:sldId id="301"/>
            <p14:sldId id="302"/>
            <p14:sldId id="303"/>
            <p14:sldId id="304"/>
            <p14:sldId id="3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132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990"/>
    </p:cViewPr>
  </p:sorterViewPr>
  <p:notesViewPr>
    <p:cSldViewPr>
      <p:cViewPr varScale="1">
        <p:scale>
          <a:sx n="87" d="100"/>
          <a:sy n="87" d="100"/>
        </p:scale>
        <p:origin x="-2040" y="-7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3.fnt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1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8BD4FA9-F3CE-45B3-A980-C331C6F1EF6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7CD5E95-8CAD-4274-BFFA-CD87442DE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69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00206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3657-2200-4D14-82C0-10C39B0F0F06}" type="datetime1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120000"/>
              <a:defRPr sz="2800"/>
            </a:lvl1pPr>
            <a:lvl2pPr>
              <a:defRPr sz="2400"/>
            </a:lvl2pPr>
            <a:lvl3pPr marL="1143000" indent="-2286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1AD17-B813-4477-8AFE-B1860CC59113}" type="datetime1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5C0D-5C9E-48CC-8D31-F42D19FA8F7A}" type="datetime1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57551-0F2B-4F09-86FD-F7994CE83DC5}" type="datetime1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D2B2-4200-46B9-96C3-02A55D5FAA00}" type="datetime1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F7722-74E8-497F-A072-89677A2C2373}" type="datetime1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212E-B46B-426F-AE59-AA326827D9E0}" type="datetime1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B81E8-09EA-4684-A39F-38DE1E49D20C}" type="datetime1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CC5F-056C-4047-9A5C-9F5B4BED129B}" type="datetime1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AF55-A85E-4993-914E-FC1E5AA7DF24}" type="datetime1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6E07-E1DB-44A4-A5E5-9F4B54E8C933}" type="datetime1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71053-07BD-4A17-AC24-0A22EAA36098}" type="datetime1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70C0"/>
        </a:buClr>
        <a:buSzPct val="11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riendly.github.io/6136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datavis.ca/papers/CARME2015-2x2.pdf" TargetMode="Externa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7" Type="http://schemas.openxmlformats.org/officeDocument/2006/relationships/image" Target="../media/image1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6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friendly.github.io/psy6136/R/output/hospvisits-logodds.html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friendly.github.io/psy6136/R/output/hospvisits-logodds.html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friendly.github.io/psy6136/R/output/mice-ex.html" TargetMode="External"/><Relationship Id="rId4" Type="http://schemas.openxmlformats.org/officeDocument/2006/relationships/image" Target="../media/image28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124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Models &amp; graphs for log odds and log odds ratios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752600"/>
          </a:xfrm>
        </p:spPr>
        <p:txBody>
          <a:bodyPr/>
          <a:lstStyle/>
          <a:p>
            <a:r>
              <a:rPr lang="en-US" dirty="0"/>
              <a:t>Michael Friendly</a:t>
            </a:r>
          </a:p>
          <a:p>
            <a:r>
              <a:rPr lang="en-US" dirty="0"/>
              <a:t>Psych 6136</a:t>
            </a:r>
          </a:p>
          <a:p>
            <a:pPr lvl="0"/>
            <a:r>
              <a:rPr lang="en-US" sz="2200" dirty="0">
                <a:solidFill>
                  <a:prstClr val="black">
                    <a:tint val="75000"/>
                  </a:prstClr>
                </a:solidFill>
                <a:hlinkClick r:id="rId2"/>
              </a:rPr>
              <a:t>https://friendly.github.io/6136 </a:t>
            </a:r>
            <a:endParaRPr lang="en-US" sz="2200" dirty="0">
              <a:solidFill>
                <a:prstClr val="black">
                  <a:tint val="75000"/>
                </a:prstClr>
              </a:solidFill>
            </a:endParaRPr>
          </a:p>
          <a:p>
            <a:endParaRPr lang="en-US" dirty="0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15D465FD-F1E7-4DD7-A16E-F94296DB3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578350"/>
            <a:ext cx="1495928" cy="1730890"/>
          </a:xfrm>
          <a:prstGeom prst="rect">
            <a:avLst/>
          </a:prstGeom>
        </p:spPr>
      </p:pic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82E36437-FB1B-4935-AF18-CE18C68FB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272" y="4578350"/>
            <a:ext cx="1495928" cy="1730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9B9E95-D0E9-37A8-F97B-E67774459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40" y="175117"/>
            <a:ext cx="2537433" cy="255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DDC3C2-73EB-1033-EE03-4972C23555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228601"/>
            <a:ext cx="2849879" cy="25145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79192F-FAE2-A27B-BA0B-2E2644964B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6414" y="247651"/>
            <a:ext cx="2216493" cy="24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6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C2738-0FD2-062F-3104-0B45C05D5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1BDED-C87B-0EE3-2D65-6434F1A7C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We’ve come a long way, but there is more…</a:t>
            </a:r>
          </a:p>
          <a:p>
            <a:r>
              <a:rPr lang="en-CA" dirty="0"/>
              <a:t>Logit models </a:t>
            </a:r>
            <a:r>
              <a:rPr lang="en-CA" dirty="0">
                <a:sym typeface="Symbol" panose="05050102010706020507" pitchFamily="18" charset="2"/>
              </a:rPr>
              <a:t> general models for </a:t>
            </a:r>
            <a:r>
              <a:rPr lang="en-CA" dirty="0">
                <a:solidFill>
                  <a:srgbClr val="0070C0"/>
                </a:solidFill>
                <a:sym typeface="Symbol" panose="05050102010706020507" pitchFamily="18" charset="2"/>
              </a:rPr>
              <a:t>log odds</a:t>
            </a:r>
          </a:p>
          <a:p>
            <a:pPr lvl="1"/>
            <a:r>
              <a:rPr lang="en-CA" dirty="0">
                <a:sym typeface="Symbol" panose="05050102010706020507" pitchFamily="18" charset="2"/>
              </a:rPr>
              <a:t>Two-way tables</a:t>
            </a:r>
          </a:p>
          <a:p>
            <a:pPr lvl="1"/>
            <a:r>
              <a:rPr lang="en-CA" dirty="0">
                <a:sym typeface="Symbol" panose="05050102010706020507" pitchFamily="18" charset="2"/>
              </a:rPr>
              <a:t>Three-way + tables</a:t>
            </a:r>
          </a:p>
          <a:p>
            <a:pPr lvl="1"/>
            <a:r>
              <a:rPr lang="en-CA" dirty="0">
                <a:sym typeface="Symbol" panose="05050102010706020507" pitchFamily="18" charset="2"/>
              </a:rPr>
              <a:t>Log odds plots</a:t>
            </a:r>
          </a:p>
          <a:p>
            <a:r>
              <a:rPr lang="en-CA" dirty="0">
                <a:sym typeface="Symbol" panose="05050102010706020507" pitchFamily="18" charset="2"/>
              </a:rPr>
              <a:t>Models for </a:t>
            </a:r>
            <a:r>
              <a:rPr lang="en-CA" i="1" dirty="0">
                <a:sym typeface="Symbol" panose="05050102010706020507" pitchFamily="18" charset="2"/>
              </a:rPr>
              <a:t>generalized</a:t>
            </a:r>
            <a:r>
              <a:rPr lang="en-CA" dirty="0">
                <a:sym typeface="Symbol" panose="05050102010706020507" pitchFamily="18" charset="2"/>
              </a:rPr>
              <a:t> </a:t>
            </a:r>
            <a:r>
              <a:rPr lang="en-CA" dirty="0">
                <a:solidFill>
                  <a:srgbClr val="0070C0"/>
                </a:solidFill>
                <a:sym typeface="Symbol" panose="05050102010706020507" pitchFamily="18" charset="2"/>
              </a:rPr>
              <a:t>odds ratios</a:t>
            </a:r>
          </a:p>
          <a:p>
            <a:pPr lvl="1"/>
            <a:r>
              <a:rPr lang="en-CA" dirty="0">
                <a:sym typeface="Symbol" panose="05050102010706020507" pitchFamily="18" charset="2"/>
              </a:rPr>
              <a:t>Log odds ratios</a:t>
            </a:r>
          </a:p>
          <a:p>
            <a:pPr lvl="1"/>
            <a:r>
              <a:rPr lang="en-CA" dirty="0">
                <a:sym typeface="Symbol" panose="05050102010706020507" pitchFamily="18" charset="2"/>
              </a:rPr>
              <a:t>Bivariate response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EE964-1322-D553-9201-0B7434615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6D835B-C5C9-ACE6-C152-EF56C7F8D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195" y="2162165"/>
            <a:ext cx="1985609" cy="1570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2D98A6-5B11-EC2A-13BE-8A804F443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936" y="4346934"/>
            <a:ext cx="2331864" cy="205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601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8811A-8D50-9415-F036-380ED53EB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Main ideas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F28EE7-89E4-9090-1FD0-27BC779CE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CC5937-BA85-3659-B321-6097EDA3A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47800"/>
            <a:ext cx="8180952" cy="14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61C515-213C-64A2-D083-73E38AF49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4" y="3124200"/>
            <a:ext cx="8171428" cy="13809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D7A1F3-A855-C969-DC87-1A1FAD1B8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49" y="4705175"/>
            <a:ext cx="8171428" cy="11809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FEBAA4-6962-5434-9A5A-F0A92C983646}"/>
              </a:ext>
            </a:extLst>
          </p:cNvPr>
          <p:cNvSpPr txBox="1"/>
          <p:nvPr/>
        </p:nvSpPr>
        <p:spPr>
          <a:xfrm>
            <a:off x="609600" y="6248400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Based on my CARME (2015) presentation, </a:t>
            </a:r>
            <a:r>
              <a:rPr lang="en-CA" sz="1400" dirty="0">
                <a:hlinkClick r:id="rId5"/>
              </a:rPr>
              <a:t>https://www.datavis.ca/papers/CARME2015-2x2.pdf</a:t>
            </a:r>
            <a:r>
              <a:rPr lang="en-CA" sz="14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6640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BA2C04-F885-B5BB-48EB-F09C819F0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5" r="14049"/>
          <a:stretch>
            <a:fillRect/>
          </a:stretch>
        </p:blipFill>
        <p:spPr>
          <a:xfrm>
            <a:off x="-3" y="-4"/>
            <a:ext cx="5650980" cy="6857984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EC3583-A01B-3280-9732-71C9A1484A2B}"/>
              </a:ext>
            </a:extLst>
          </p:cNvPr>
          <p:cNvSpPr/>
          <p:nvPr/>
        </p:nvSpPr>
        <p:spPr>
          <a:xfrm>
            <a:off x="4495800" y="3733800"/>
            <a:ext cx="4129361" cy="14618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b="1" kern="1200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CARME 2015, Naples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56DE45-E6E6-81EC-FDEF-69202AA052BD}"/>
              </a:ext>
            </a:extLst>
          </p:cNvPr>
          <p:cNvSpPr txBox="1"/>
          <p:nvPr/>
        </p:nvSpPr>
        <p:spPr>
          <a:xfrm>
            <a:off x="4757737" y="5257800"/>
            <a:ext cx="4046981" cy="6467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orrespondence 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nalysis and 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</a:t>
            </a: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elated </a:t>
            </a: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</a:t>
            </a:r>
            <a:r>
              <a:rPr lang="en-US" sz="2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thods</a:t>
            </a:r>
            <a:endParaRPr lang="en-US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B66902-2D48-1FBC-ACE1-DA6A0061EA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01" r="17555" b="-1"/>
          <a:stretch>
            <a:fillRect/>
          </a:stretch>
        </p:blipFill>
        <p:spPr>
          <a:xfrm>
            <a:off x="5740155" y="6"/>
            <a:ext cx="3403848" cy="3877247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BBAA2A-5AD0-552D-6173-CEAB7FD8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41550" y="6356350"/>
            <a:ext cx="673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21225AB-15B9-4C79-A121-04D1DC7E2307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8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D0E45-8D45-E3CA-3739-4895252C4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Plots: Data, Model, </a:t>
            </a:r>
            <a:r>
              <a:rPr lang="en-CA" dirty="0" err="1"/>
              <a:t>Data+Model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76464D-C7BE-39AA-11CC-FC19473E0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450A78-7EB9-151F-DF09-369115B56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8524875" cy="1143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0E8FDE-14F7-7348-519D-CE3FD3F11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34743"/>
            <a:ext cx="8497486" cy="17623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EBF8F5-41DD-1EE1-5EEB-C9EBD988F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45858"/>
            <a:ext cx="8449854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063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5CA8C-32F7-02D6-649D-1127233AB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95C73-8A27-EC53-0EAB-0D933B5FA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Plots: Data, Model, </a:t>
            </a:r>
            <a:r>
              <a:rPr lang="en-CA" dirty="0" err="1"/>
              <a:t>Data+Model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50AE04-FD2D-04C0-DEB0-D5004F32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77651-C55B-EBB7-71F7-BD9A0FFB28E6}"/>
              </a:ext>
            </a:extLst>
          </p:cNvPr>
          <p:cNvSpPr txBox="1"/>
          <p:nvPr/>
        </p:nvSpPr>
        <p:spPr>
          <a:xfrm>
            <a:off x="457200" y="1219200"/>
            <a:ext cx="8229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Example: Linear model--  Prestige ~ Income + Education + Type</a:t>
            </a:r>
          </a:p>
          <a:p>
            <a:pPr marL="285750" indent="-285750">
              <a:buClr>
                <a:srgbClr val="0070C0"/>
              </a:buClr>
              <a:buSzPct val="110000"/>
              <a:buFont typeface="Arial" panose="020B0604020202020204" pitchFamily="34" charset="0"/>
              <a:buChar char="•"/>
            </a:pPr>
            <a:r>
              <a:rPr lang="en-CA" sz="2000" dirty="0"/>
              <a:t>Data plot: </a:t>
            </a:r>
            <a:r>
              <a:rPr lang="en-CA" sz="2000" dirty="0">
                <a:solidFill>
                  <a:srgbClr val="FF0000"/>
                </a:solidFill>
              </a:rPr>
              <a:t>marginal</a:t>
            </a:r>
            <a:r>
              <a:rPr lang="en-CA" sz="2000" dirty="0"/>
              <a:t> relation of Income on occ Prestige, ignoring others</a:t>
            </a:r>
          </a:p>
          <a:p>
            <a:pPr marL="285750" indent="-285750">
              <a:buClr>
                <a:srgbClr val="0070C0"/>
              </a:buClr>
              <a:buSzPct val="110000"/>
              <a:buFont typeface="Arial" panose="020B0604020202020204" pitchFamily="34" charset="0"/>
              <a:buChar char="•"/>
            </a:pPr>
            <a:r>
              <a:rPr lang="en-CA" sz="2000" dirty="0"/>
              <a:t>Model (effect) plot: </a:t>
            </a:r>
            <a:r>
              <a:rPr lang="en-CA" sz="2000" dirty="0">
                <a:solidFill>
                  <a:srgbClr val="FF0000"/>
                </a:solidFill>
              </a:rPr>
              <a:t>conditional</a:t>
            </a:r>
            <a:r>
              <a:rPr lang="en-CA" sz="2000" dirty="0"/>
              <a:t> fitted values, controlling for other variables</a:t>
            </a:r>
          </a:p>
          <a:p>
            <a:pPr marL="285750" indent="-285750">
              <a:buClr>
                <a:srgbClr val="0070C0"/>
              </a:buClr>
              <a:buSzPct val="110000"/>
              <a:buFont typeface="Arial" panose="020B0604020202020204" pitchFamily="34" charset="0"/>
              <a:buChar char="•"/>
            </a:pPr>
            <a:r>
              <a:rPr lang="en-CA" sz="2000" dirty="0"/>
              <a:t>Data + Model plot: Effect of Income (model) + </a:t>
            </a:r>
            <a:r>
              <a:rPr lang="en-CA" sz="2000" dirty="0">
                <a:solidFill>
                  <a:srgbClr val="FF0000"/>
                </a:solidFill>
              </a:rPr>
              <a:t>partial residuals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3406696-4D67-CC5E-105B-EFBB36FF17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530652"/>
              </p:ext>
            </p:extLst>
          </p:nvPr>
        </p:nvGraphicFramePr>
        <p:xfrm>
          <a:off x="381000" y="3200400"/>
          <a:ext cx="2777510" cy="27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4800447" imgH="4790803" progId="Acrobat.Document.2020">
                  <p:embed/>
                </p:oleObj>
              </mc:Choice>
              <mc:Fallback>
                <p:oleObj name="Acrobat Document" r:id="rId2" imgW="4800447" imgH="4790803" progId="Acrobat.Document.202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000" y="3200400"/>
                        <a:ext cx="2777510" cy="277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747BA96-FF43-E880-2184-364ACFF1B9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607057"/>
              </p:ext>
            </p:extLst>
          </p:nvPr>
        </p:nvGraphicFramePr>
        <p:xfrm>
          <a:off x="3305434" y="3200400"/>
          <a:ext cx="2777506" cy="27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4800447" imgH="4790803" progId="Acrobat.Document.2020">
                  <p:embed/>
                </p:oleObj>
              </mc:Choice>
              <mc:Fallback>
                <p:oleObj name="Acrobat Document" r:id="rId4" imgW="4800447" imgH="4790803" progId="Acrobat.Document.202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05434" y="3200400"/>
                        <a:ext cx="2777506" cy="277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2BC041FC-44D1-940C-011A-DEBBF437CF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121729"/>
              </p:ext>
            </p:extLst>
          </p:nvPr>
        </p:nvGraphicFramePr>
        <p:xfrm>
          <a:off x="6229863" y="3200400"/>
          <a:ext cx="2777506" cy="27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6" imgW="4800447" imgH="4790803" progId="Acrobat.Document.2020">
                  <p:embed/>
                </p:oleObj>
              </mc:Choice>
              <mc:Fallback>
                <p:oleObj name="Acrobat Document" r:id="rId6" imgW="4800447" imgH="4790803" progId="Acrobat.Document.202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29863" y="3200400"/>
                        <a:ext cx="2777506" cy="277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035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CB698-380F-D90F-B4A4-B66C6E2B3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Logit models </a:t>
            </a:r>
            <a:r>
              <a:rPr lang="en-CA" dirty="0">
                <a:sym typeface="Symbol" panose="05050102010706020507" pitchFamily="18" charset="2"/>
              </a:rPr>
              <a:t> Log odds models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027CC-8481-9237-8F26-2B2AD75D7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CA" sz="2400" dirty="0"/>
              <a:t>In an </a:t>
            </a:r>
            <a:r>
              <a:rPr lang="en-CA" sz="2400" i="1" dirty="0"/>
              <a:t>I</a:t>
            </a:r>
            <a:r>
              <a:rPr lang="en-CA" sz="2400" dirty="0"/>
              <a:t> × 2 table for  variables[A B], where B is a binary </a:t>
            </a:r>
            <a:r>
              <a:rPr lang="en-CA" sz="2400" dirty="0">
                <a:solidFill>
                  <a:srgbClr val="FF0000"/>
                </a:solidFill>
              </a:rPr>
              <a:t>response</a:t>
            </a:r>
            <a:r>
              <a:rPr lang="en-CA" sz="2400" dirty="0"/>
              <a:t>, the logit model expresses the log odds that B=1 vs. B=2</a:t>
            </a:r>
          </a:p>
          <a:p>
            <a:pPr marL="0" indent="0">
              <a:buNone/>
            </a:pPr>
            <a:endParaRPr lang="en-CA" sz="2400" dirty="0"/>
          </a:p>
          <a:p>
            <a:pPr marL="457200" lvl="1" indent="0">
              <a:buNone/>
            </a:pPr>
            <a:endParaRPr lang="en-CA" sz="2000" dirty="0"/>
          </a:p>
          <a:p>
            <a:pPr lvl="1"/>
            <a:endParaRPr lang="en-CA" sz="2000" dirty="0"/>
          </a:p>
          <a:p>
            <a:pPr lvl="1"/>
            <a:r>
              <a:rPr lang="en-CA" sz="2000" dirty="0"/>
              <a:t>Models pertain to the </a:t>
            </a:r>
            <a:r>
              <a:rPr lang="en-CA" sz="2000" dirty="0">
                <a:solidFill>
                  <a:srgbClr val="0070C0"/>
                </a:solidFill>
              </a:rPr>
              <a:t>one-way</a:t>
            </a:r>
            <a:r>
              <a:rPr lang="en-CA" sz="2000" dirty="0"/>
              <a:t> log odds</a:t>
            </a:r>
          </a:p>
          <a:p>
            <a:endParaRPr lang="en-CA" sz="2400" dirty="0"/>
          </a:p>
          <a:p>
            <a:r>
              <a:rPr lang="en-CA" sz="2400" dirty="0"/>
              <a:t>This generalizes to </a:t>
            </a:r>
            <a:r>
              <a:rPr lang="en-CA" sz="2400" i="1" dirty="0"/>
              <a:t>I × J </a:t>
            </a:r>
            <a:r>
              <a:rPr lang="en-CA" sz="2400" dirty="0"/>
              <a:t>tables, where we consider (</a:t>
            </a:r>
            <a:r>
              <a:rPr lang="en-CA" sz="2400" i="1" dirty="0"/>
              <a:t>J</a:t>
            </a:r>
            <a:r>
              <a:rPr lang="en-CA" sz="2400" dirty="0"/>
              <a:t>-1) log odds for each level of A, e.g.,</a:t>
            </a:r>
          </a:p>
          <a:p>
            <a:pPr lvl="1"/>
            <a:r>
              <a:rPr lang="en-CA" sz="2000" b="1" dirty="0"/>
              <a:t>Adjacent categories</a:t>
            </a:r>
          </a:p>
          <a:p>
            <a:pPr lvl="1"/>
            <a:endParaRPr lang="en-CA" sz="2000" dirty="0"/>
          </a:p>
          <a:p>
            <a:pPr lvl="1"/>
            <a:endParaRPr lang="en-CA" sz="2000" dirty="0"/>
          </a:p>
          <a:p>
            <a:pPr lvl="1"/>
            <a:endParaRPr lang="en-CA" sz="2000" dirty="0"/>
          </a:p>
          <a:p>
            <a:pPr lvl="1"/>
            <a:r>
              <a:rPr lang="en-CA" sz="2000" dirty="0"/>
              <a:t>In general, </a:t>
            </a:r>
            <a:r>
              <a:rPr lang="en-CA" sz="2000" i="1" dirty="0"/>
              <a:t>I × J </a:t>
            </a:r>
            <a:r>
              <a:rPr lang="en-CA" sz="2000" dirty="0">
                <a:sym typeface="Symbol" panose="05050102010706020507" pitchFamily="18" charset="2"/>
              </a:rPr>
              <a:t> (</a:t>
            </a:r>
            <a:r>
              <a:rPr lang="en-CA" sz="2000" i="1" dirty="0">
                <a:sym typeface="Symbol" panose="05050102010706020507" pitchFamily="18" charset="2"/>
              </a:rPr>
              <a:t>J</a:t>
            </a:r>
            <a:r>
              <a:rPr lang="en-CA" sz="2000" dirty="0">
                <a:sym typeface="Symbol" panose="05050102010706020507" pitchFamily="18" charset="2"/>
              </a:rPr>
              <a:t>-1) log odds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contrasts</a:t>
            </a:r>
            <a:r>
              <a:rPr lang="en-CA" sz="2000" dirty="0">
                <a:sym typeface="Symbol" panose="05050102010706020507" pitchFamily="18" charset="2"/>
              </a:rPr>
              <a:t> of the B categories for each level of A</a:t>
            </a:r>
            <a:r>
              <a:rPr lang="en-CA" sz="2000" dirty="0"/>
              <a:t> </a:t>
            </a:r>
          </a:p>
          <a:p>
            <a:pPr lvl="1"/>
            <a:r>
              <a:rPr lang="en-CA" sz="2000" dirty="0"/>
              <a:t>Similar to how </a:t>
            </a:r>
            <a:r>
              <a:rPr lang="en-CA" sz="2000" dirty="0">
                <a:solidFill>
                  <a:srgbClr val="0070C0"/>
                </a:solidFill>
              </a:rPr>
              <a:t>polytomous responses </a:t>
            </a:r>
            <a:r>
              <a:rPr lang="en-CA" sz="2000" dirty="0"/>
              <a:t>treated in logistic regression </a:t>
            </a:r>
          </a:p>
          <a:p>
            <a:pPr lvl="1"/>
            <a:r>
              <a:rPr lang="en-CA" sz="2000" dirty="0"/>
              <a:t>Can also use comparisons with a baseline category</a:t>
            </a:r>
          </a:p>
          <a:p>
            <a:pPr marL="0" indent="0">
              <a:buNone/>
            </a:pPr>
            <a:endParaRPr lang="en-CA" sz="2400" dirty="0"/>
          </a:p>
          <a:p>
            <a:pPr marL="0" indent="0">
              <a:buNone/>
            </a:pPr>
            <a:r>
              <a:rPr lang="en-CA" sz="2400" dirty="0"/>
              <a:t>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3F2D89-D573-3281-5366-8DBA6FBB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DC6939-5102-3987-4937-08051CD98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752600"/>
            <a:ext cx="1543050" cy="771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1511DF-963D-B488-70A8-47EC1C94F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165" y="3819525"/>
            <a:ext cx="3337063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61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74330-976F-8DC9-88F3-2ECA368C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J responses </a:t>
            </a:r>
            <a:r>
              <a:rPr lang="en-CA" dirty="0">
                <a:sym typeface="Symbol" panose="05050102010706020507" pitchFamily="18" charset="2"/>
              </a:rPr>
              <a:t></a:t>
            </a:r>
            <a:r>
              <a:rPr lang="en-CA" dirty="0"/>
              <a:t> J-1 contrasts/logits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D15AC0-58F9-FD80-2471-9A9A39CA8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71D7C96-D951-CCED-35CA-179D50CA2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625514"/>
              </p:ext>
            </p:extLst>
          </p:nvPr>
        </p:nvGraphicFramePr>
        <p:xfrm>
          <a:off x="447675" y="1752600"/>
          <a:ext cx="36576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35372021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139602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328362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345367560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321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650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527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31018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0B3D6C-83BC-6EA2-3789-3AC119AD0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501565"/>
              </p:ext>
            </p:extLst>
          </p:nvPr>
        </p:nvGraphicFramePr>
        <p:xfrm>
          <a:off x="447675" y="4038600"/>
          <a:ext cx="3657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35372021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139602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328362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3453675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321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650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527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31018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7CF31BD-4B09-1372-28A0-3D68E87BAECE}"/>
              </a:ext>
            </a:extLst>
          </p:cNvPr>
          <p:cNvSpPr txBox="1"/>
          <p:nvPr/>
        </p:nvSpPr>
        <p:spPr>
          <a:xfrm>
            <a:off x="457200" y="1219200"/>
            <a:ext cx="36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Adjacent-category logits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42C86F-DAD6-F249-1AFB-DEE556828425}"/>
              </a:ext>
            </a:extLst>
          </p:cNvPr>
          <p:cNvSpPr txBox="1"/>
          <p:nvPr/>
        </p:nvSpPr>
        <p:spPr>
          <a:xfrm>
            <a:off x="457200" y="3505200"/>
            <a:ext cx="3648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Reference-level logits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20327F-7CD8-6441-5B55-6A3BEC093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52600"/>
            <a:ext cx="4191000" cy="5115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5AED4A-E96A-F18A-1FA8-9DA397F5C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038600"/>
            <a:ext cx="4030615" cy="511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E47869A-38A7-F722-6785-80508BE26674}"/>
              </a:ext>
            </a:extLst>
          </p:cNvPr>
          <p:cNvSpPr txBox="1"/>
          <p:nvPr/>
        </p:nvSpPr>
        <p:spPr>
          <a:xfrm>
            <a:off x="4495800" y="4944070"/>
            <a:ext cx="411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0070C0"/>
                </a:solidFill>
              </a:rPr>
              <a:t>Generalized</a:t>
            </a:r>
            <a:r>
              <a:rPr lang="en-CA" dirty="0"/>
              <a:t> logit models extend the advantages of the standard one to a </a:t>
            </a:r>
            <a:r>
              <a:rPr lang="en-CA" dirty="0">
                <a:solidFill>
                  <a:srgbClr val="0070C0"/>
                </a:solidFill>
              </a:rPr>
              <a:t>polytomous</a:t>
            </a:r>
            <a:r>
              <a:rPr lang="en-CA" dirty="0"/>
              <a:t> response</a:t>
            </a:r>
          </a:p>
          <a:p>
            <a:r>
              <a:rPr lang="en-CA" dirty="0">
                <a:solidFill>
                  <a:srgbClr val="00B0F0"/>
                </a:solidFill>
              </a:rPr>
              <a:t>Nested logits </a:t>
            </a:r>
            <a:r>
              <a:rPr lang="en-CA" dirty="0"/>
              <a:t>might also be useful</a:t>
            </a:r>
          </a:p>
        </p:txBody>
      </p:sp>
    </p:spTree>
    <p:extLst>
      <p:ext uri="{BB962C8B-B14F-4D97-AF65-F5344CB8AC3E}">
        <p14:creationId xmlns:p14="http://schemas.microsoft.com/office/powerpoint/2010/main" val="142786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E85BC90-1951-EC3E-56FF-54D8BE89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2-way example: Hospital visits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4AF0F-C8F1-42C8-C146-612A8408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506E47-AC45-F7BA-8EDE-7824789CA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1219200"/>
            <a:ext cx="8123809" cy="26666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017014F-6F4E-D193-1929-67367C481481}"/>
              </a:ext>
            </a:extLst>
          </p:cNvPr>
          <p:cNvSpPr txBox="1"/>
          <p:nvPr/>
        </p:nvSpPr>
        <p:spPr>
          <a:xfrm>
            <a:off x="457200" y="4114800"/>
            <a:ext cx="81142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Length of stay is the response, and it is </a:t>
            </a:r>
            <a:r>
              <a:rPr lang="en-CA" sz="2000" dirty="0">
                <a:solidFill>
                  <a:srgbClr val="0070C0"/>
                </a:solidFill>
              </a:rPr>
              <a:t>ordered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Can model the </a:t>
            </a:r>
            <a:r>
              <a:rPr lang="en-CA" sz="2000" dirty="0">
                <a:solidFill>
                  <a:srgbClr val="0070C0"/>
                </a:solidFill>
              </a:rPr>
              <a:t>adjacent</a:t>
            </a:r>
            <a:r>
              <a:rPr lang="en-CA" sz="2000" dirty="0"/>
              <a:t> odds or log odds that stay is category j vs (j+1)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E.g., stay= 2-9 vs. 10-19;  stay= 10-19 vs. 20+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In general, </a:t>
            </a:r>
            <a:r>
              <a:rPr lang="en-CA" sz="2000" i="1" dirty="0"/>
              <a:t>I x J </a:t>
            </a:r>
            <a:r>
              <a:rPr lang="en-CA" sz="2000" dirty="0">
                <a:sym typeface="Symbol" panose="05050102010706020507" pitchFamily="18" charset="2"/>
              </a:rPr>
              <a:t> </a:t>
            </a:r>
            <a:r>
              <a:rPr lang="en-CA" sz="2000" i="1" dirty="0">
                <a:sym typeface="Symbol" panose="05050102010706020507" pitchFamily="18" charset="2"/>
              </a:rPr>
              <a:t>I</a:t>
            </a:r>
            <a:r>
              <a:rPr lang="en-CA" sz="2000" dirty="0">
                <a:sym typeface="Symbol" panose="05050102010706020507" pitchFamily="18" charset="2"/>
              </a:rPr>
              <a:t> x (</a:t>
            </a:r>
            <a:r>
              <a:rPr lang="en-CA" sz="2000" i="1" dirty="0">
                <a:sym typeface="Symbol" panose="05050102010706020507" pitchFamily="18" charset="2"/>
              </a:rPr>
              <a:t>J</a:t>
            </a:r>
            <a:r>
              <a:rPr lang="en-CA" sz="2000" dirty="0">
                <a:sym typeface="Symbol" panose="05050102010706020507" pitchFamily="18" charset="2"/>
              </a:rPr>
              <a:t>-1) adjacent comparisons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sym typeface="Symbol" panose="05050102010706020507" pitchFamily="18" charset="2"/>
              </a:rPr>
              <a:t>visit is also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ordered</a:t>
            </a:r>
            <a:r>
              <a:rPr lang="en-CA" sz="2000" dirty="0">
                <a:sym typeface="Symbol" panose="05050102010706020507" pitchFamily="18" charset="2"/>
              </a:rPr>
              <a:t>. Can consider simpler (e.g., linear) models for the log odds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368226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8CC44-12C1-816D-7058-574DAD69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Exploratory plots: </a:t>
            </a:r>
            <a:r>
              <a:rPr lang="en-CA" dirty="0" err="1"/>
              <a:t>Doubledecker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95656E-0BEB-3404-0ED4-9DB7EED1B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4145D9-62C2-2735-F989-4DEDFF941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47" y="1514714"/>
            <a:ext cx="8161905" cy="3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62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8CC44-12C1-816D-7058-574DAD69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Exploratory plots: ca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95656E-0BEB-3404-0ED4-9DB7EED1B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A16943-238D-D11D-3FB9-EB6AB9BBD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09" y="1419476"/>
            <a:ext cx="8152381" cy="40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793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F996D-13A3-D602-6F2D-1A633551D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Models for log odds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8DF057-97B6-756C-4678-9798D1C6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0D19AE-C7DC-EDBA-0C1F-45A75840694A}"/>
              </a:ext>
            </a:extLst>
          </p:cNvPr>
          <p:cNvSpPr txBox="1"/>
          <p:nvPr/>
        </p:nvSpPr>
        <p:spPr>
          <a:xfrm>
            <a:off x="762000" y="4280118"/>
            <a:ext cx="79248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t(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lodds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HospVisits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response = "stay"))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log odds for stay by visit </a:t>
            </a:r>
          </a:p>
          <a:p>
            <a:endParaRPr lang="en-CA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stay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visit        2-9:10-19 10-19:20+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Regular        0.989    1.6740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Infrequent    -0.606    0.0953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Never         -0.693    0.1178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47D6E3-9AB5-2580-E211-B49A476D6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81" y="1152707"/>
            <a:ext cx="8247619" cy="29142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5EC5D1-D353-E6E1-34C6-6E67BD65258E}"/>
              </a:ext>
            </a:extLst>
          </p:cNvPr>
          <p:cNvSpPr txBox="1"/>
          <p:nvPr/>
        </p:nvSpPr>
        <p:spPr>
          <a:xfrm>
            <a:off x="685800" y="6172200"/>
            <a:ext cx="800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Code for this example: </a:t>
            </a:r>
            <a:r>
              <a:rPr lang="en-CA" sz="1600" dirty="0">
                <a:hlinkClick r:id="rId3"/>
              </a:rPr>
              <a:t>https://friendly.github.io/psy6136/R/output/hospvisits-logodds.html</a:t>
            </a:r>
            <a:r>
              <a:rPr lang="en-CA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6327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F996D-13A3-D602-6F2D-1A633551D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Models for log odds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8DF057-97B6-756C-4678-9798D1C6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C663A3-CC1B-5B2D-51F9-C395B1C0D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066800"/>
            <a:ext cx="8171428" cy="440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2606EA-1585-B062-83AC-0B736F02BF51}"/>
              </a:ext>
            </a:extLst>
          </p:cNvPr>
          <p:cNvSpPr txBox="1"/>
          <p:nvPr/>
        </p:nvSpPr>
        <p:spPr>
          <a:xfrm>
            <a:off x="685800" y="5715000"/>
            <a:ext cx="7696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These are similar to some </a:t>
            </a:r>
            <a:r>
              <a:rPr lang="en-CA" sz="2000" dirty="0" err="1"/>
              <a:t>glm</a:t>
            </a:r>
            <a:r>
              <a:rPr lang="en-CA" sz="2000" dirty="0"/>
              <a:t>() models we looked at before, but here in a simpler way by thinking in terms of log odds</a:t>
            </a:r>
          </a:p>
        </p:txBody>
      </p:sp>
    </p:spTree>
    <p:extLst>
      <p:ext uri="{BB962C8B-B14F-4D97-AF65-F5344CB8AC3E}">
        <p14:creationId xmlns:p14="http://schemas.microsoft.com/office/powerpoint/2010/main" val="136675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F1BDF-84BB-803C-F646-D15DD4B9F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Fit some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2D2F43-3064-CD55-DCC5-793A6C018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2EB27D-E5BF-AA0D-EE5E-728775BE2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123809" cy="46190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F373E7-2972-986A-5A56-D44C1AD211F4}"/>
              </a:ext>
            </a:extLst>
          </p:cNvPr>
          <p:cNvSpPr txBox="1"/>
          <p:nvPr/>
        </p:nvSpPr>
        <p:spPr>
          <a:xfrm>
            <a:off x="457200" y="10668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I’m simply using </a:t>
            </a:r>
            <a:r>
              <a:rPr lang="en-CA" sz="2000" dirty="0" err="1"/>
              <a:t>lm</a:t>
            </a:r>
            <a:r>
              <a:rPr lang="en-CA" sz="2000" dirty="0"/>
              <a:t>() here. Should use WLS: weights = 1/ASE</a:t>
            </a:r>
            <a:r>
              <a:rPr lang="en-CA" sz="2000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6839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B0A87-3836-6F15-47A5-9A8F442A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Ordinal variables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059DDB-11F8-4B0A-62A7-77903C1C7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8B5C36-C7F4-3BA1-B858-DC75BAB53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66" y="1271857"/>
            <a:ext cx="8066667" cy="43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8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5EC6E-FCF1-8629-07CE-941834FEB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Visualizing log odds and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181CB4-9D0F-A9A3-03C3-2041F0D4C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C8E705-9804-102C-098D-A240940DA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01" y="1828800"/>
            <a:ext cx="4000000" cy="4314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DA4B3D-4D34-99DA-999B-89DAF1241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43086"/>
            <a:ext cx="3971429" cy="42857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E842BC-7168-FDC8-7848-7983A4D868BB}"/>
              </a:ext>
            </a:extLst>
          </p:cNvPr>
          <p:cNvSpPr txBox="1"/>
          <p:nvPr/>
        </p:nvSpPr>
        <p:spPr>
          <a:xfrm>
            <a:off x="457200" y="11430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Plots of observed and fitted log odds: easy interpretation of data and models</a:t>
            </a:r>
          </a:p>
        </p:txBody>
      </p:sp>
    </p:spTree>
    <p:extLst>
      <p:ext uri="{BB962C8B-B14F-4D97-AF65-F5344CB8AC3E}">
        <p14:creationId xmlns:p14="http://schemas.microsoft.com/office/powerpoint/2010/main" val="1164393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39AB0-8C3C-038A-7B76-362865C1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Visualizing log odds and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B28AD1-B971-2DEF-1FF4-68163EEB0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89A1F9-F5FE-535C-6C1E-E30DF209ADC6}"/>
              </a:ext>
            </a:extLst>
          </p:cNvPr>
          <p:cNvSpPr txBox="1"/>
          <p:nvPr/>
        </p:nvSpPr>
        <p:spPr>
          <a:xfrm>
            <a:off x="533400" y="1478340"/>
            <a:ext cx="81534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gg &lt;-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ggplot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hosp.lodds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aes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(x=visit, y=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logodds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          group=stay, color=stay)) +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geom_point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(size=5) +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geom_line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(size=1.2,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linetype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="</a:t>
            </a:r>
            <a:r>
              <a:rPr lang="en-CA" sz="1400">
                <a:latin typeface="Aptos Mono" panose="020B0009020202020204" pitchFamily="49" charset="0"/>
                <a:cs typeface="Courier New" panose="02070309020205020404" pitchFamily="49" charset="0"/>
              </a:rPr>
              <a:t>dotted") +</a:t>
            </a:r>
            <a:endParaRPr lang="en-CA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	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ylab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("log odds of shorter stay\n") +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	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xlab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("Visit frequency") +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theme_bw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() +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823640-9D78-B303-738B-D91BB99EFB05}"/>
              </a:ext>
            </a:extLst>
          </p:cNvPr>
          <p:cNvSpPr txBox="1"/>
          <p:nvPr/>
        </p:nvSpPr>
        <p:spPr>
          <a:xfrm>
            <a:off x="533400" y="3633787"/>
            <a:ext cx="8153400" cy="246221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grid &lt;-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hosp.lodds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[,1:2]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gg_lines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&lt;- function(grid, mod, size=1.2, color=NULL, ...) {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	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grid$logodds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&lt;- </a:t>
            </a:r>
            <a:r>
              <a:rPr lang="en-CA" sz="1400" b="1" dirty="0">
                <a:latin typeface="Aptos Mono" panose="020B0009020202020204" pitchFamily="49" charset="0"/>
                <a:cs typeface="Courier New" panose="02070309020205020404" pitchFamily="49" charset="0"/>
              </a:rPr>
              <a:t>stats::predict(mod, grid)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	if(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is.null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(color))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geom_line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(data=grid, size=size, ...)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	else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geom_line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(data=grid, size=size, color=color, ...)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	}	</a:t>
            </a:r>
          </a:p>
          <a:p>
            <a:endParaRPr lang="en-CA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gg +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gg_lines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(grid,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mod.null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color="gray", size=1,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linetype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="dashed") +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gg_lines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(grid,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mod.const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color=gray(.5), size=1) +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gg_lines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(grid,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mod.unif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color="black", size=1) +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gg_lines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(grid,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mod.par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9AC911-A54B-E9EE-963B-6D38F8AEB15D}"/>
              </a:ext>
            </a:extLst>
          </p:cNvPr>
          <p:cNvSpPr txBox="1"/>
          <p:nvPr/>
        </p:nvSpPr>
        <p:spPr>
          <a:xfrm>
            <a:off x="457200" y="990600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Basic plot: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05674E-55A6-94BA-DE0D-8025F7887772}"/>
              </a:ext>
            </a:extLst>
          </p:cNvPr>
          <p:cNvSpPr txBox="1"/>
          <p:nvPr/>
        </p:nvSpPr>
        <p:spPr>
          <a:xfrm>
            <a:off x="533400" y="3048000"/>
            <a:ext cx="640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Add lines for predicted values from the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2F5991-5174-A40A-3875-A076FD11E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2209800"/>
            <a:ext cx="1440513" cy="155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631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A032E-3609-8B9F-E44A-7180CA414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Graph-craft: Error bars, direct labels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8B0F12-75F9-EFEC-A5D5-C3E018AD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65A258-318D-84F5-DCA2-2ECD3EAFC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514600"/>
            <a:ext cx="3886200" cy="32548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2681D4-78EE-D94E-3A2A-B311C679C24C}"/>
              </a:ext>
            </a:extLst>
          </p:cNvPr>
          <p:cNvSpPr txBox="1"/>
          <p:nvPr/>
        </p:nvSpPr>
        <p:spPr>
          <a:xfrm>
            <a:off x="459658" y="1143000"/>
            <a:ext cx="8227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The initial graphs I showed could be improved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Adding error bars for observed log odds: ± 1 ASE works 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Using direct labels rather than a legend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9BE0B1-15D2-96E2-FAD0-4DE72A71EC0B}"/>
              </a:ext>
            </a:extLst>
          </p:cNvPr>
          <p:cNvSpPr txBox="1"/>
          <p:nvPr/>
        </p:nvSpPr>
        <p:spPr>
          <a:xfrm>
            <a:off x="685800" y="6172200"/>
            <a:ext cx="800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Code for this example: </a:t>
            </a:r>
            <a:r>
              <a:rPr lang="en-CA" sz="1400" dirty="0">
                <a:hlinkClick r:id="rId3"/>
              </a:rPr>
              <a:t>https://friendly.github.io/psy6136/R/output/hospvisits-logodds.html</a:t>
            </a:r>
            <a:r>
              <a:rPr lang="en-CA" sz="1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5B9168-4711-85A9-326D-234DEEA339AA}"/>
              </a:ext>
            </a:extLst>
          </p:cNvPr>
          <p:cNvSpPr txBox="1"/>
          <p:nvPr/>
        </p:nvSpPr>
        <p:spPr>
          <a:xfrm>
            <a:off x="4572000" y="2514600"/>
            <a:ext cx="4114800" cy="2554545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</a:rPr>
              <a:t>library(</a:t>
            </a:r>
            <a:r>
              <a:rPr lang="en-CA" sz="1600" dirty="0" err="1">
                <a:latin typeface="Aptos Mono" panose="020B0009020202020204" pitchFamily="49" charset="0"/>
              </a:rPr>
              <a:t>directlabels</a:t>
            </a:r>
            <a:r>
              <a:rPr lang="en-CA" sz="1600" dirty="0">
                <a:latin typeface="Aptos Mono" panose="020B0009020202020204" pitchFamily="49" charset="0"/>
              </a:rPr>
              <a:t>)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gg1 &lt;- gg +   </a:t>
            </a:r>
          </a:p>
          <a:p>
            <a:r>
              <a:rPr lang="en-CA" sz="1600" dirty="0" err="1">
                <a:latin typeface="Aptos Mono" panose="020B0009020202020204" pitchFamily="49" charset="0"/>
              </a:rPr>
              <a:t>geom_errorbar</a:t>
            </a:r>
            <a:r>
              <a:rPr lang="en-CA" sz="1600" dirty="0">
                <a:latin typeface="Aptos Mono" panose="020B0009020202020204" pitchFamily="49" charset="0"/>
              </a:rPr>
              <a:t>(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  </a:t>
            </a:r>
            <a:r>
              <a:rPr lang="en-CA" sz="1600" dirty="0" err="1">
                <a:latin typeface="Aptos Mono" panose="020B0009020202020204" pitchFamily="49" charset="0"/>
              </a:rPr>
              <a:t>aes</a:t>
            </a:r>
            <a:r>
              <a:rPr lang="en-CA" sz="1600" dirty="0">
                <a:latin typeface="Aptos Mono" panose="020B0009020202020204" pitchFamily="49" charset="0"/>
              </a:rPr>
              <a:t>(</a:t>
            </a:r>
            <a:r>
              <a:rPr lang="en-CA" sz="1600" dirty="0" err="1">
                <a:latin typeface="Aptos Mono" panose="020B0009020202020204" pitchFamily="49" charset="0"/>
              </a:rPr>
              <a:t>ymin</a:t>
            </a:r>
            <a:r>
              <a:rPr lang="en-CA" sz="1600" dirty="0">
                <a:latin typeface="Aptos Mono" panose="020B0009020202020204" pitchFamily="49" charset="0"/>
              </a:rPr>
              <a:t> = </a:t>
            </a:r>
            <a:r>
              <a:rPr lang="en-CA" sz="1600" dirty="0" err="1">
                <a:latin typeface="Aptos Mono" panose="020B0009020202020204" pitchFamily="49" charset="0"/>
              </a:rPr>
              <a:t>logodds</a:t>
            </a:r>
            <a:r>
              <a:rPr lang="en-CA" sz="1600" dirty="0">
                <a:latin typeface="Aptos Mono" panose="020B0009020202020204" pitchFamily="49" charset="0"/>
              </a:rPr>
              <a:t> - ASE,                         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      </a:t>
            </a:r>
            <a:r>
              <a:rPr lang="en-CA" sz="1600" dirty="0" err="1">
                <a:latin typeface="Aptos Mono" panose="020B0009020202020204" pitchFamily="49" charset="0"/>
              </a:rPr>
              <a:t>ymax</a:t>
            </a:r>
            <a:r>
              <a:rPr lang="en-CA" sz="1600" dirty="0">
                <a:latin typeface="Aptos Mono" panose="020B0009020202020204" pitchFamily="49" charset="0"/>
              </a:rPr>
              <a:t> = </a:t>
            </a:r>
            <a:r>
              <a:rPr lang="en-CA" sz="1600" dirty="0" err="1">
                <a:latin typeface="Aptos Mono" panose="020B0009020202020204" pitchFamily="49" charset="0"/>
              </a:rPr>
              <a:t>logodds</a:t>
            </a:r>
            <a:r>
              <a:rPr lang="en-CA" sz="1600" dirty="0">
                <a:latin typeface="Aptos Mono" panose="020B0009020202020204" pitchFamily="49" charset="0"/>
              </a:rPr>
              <a:t> + ASE),                       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   width = 0.2, 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   </a:t>
            </a:r>
            <a:r>
              <a:rPr lang="en-CA" sz="1600" b="1" dirty="0">
                <a:latin typeface="Aptos Mono" panose="020B0009020202020204" pitchFamily="49" charset="0"/>
              </a:rPr>
              <a:t>position = "dodge")</a:t>
            </a:r>
          </a:p>
          <a:p>
            <a:endParaRPr lang="en-CA" sz="1600" dirty="0">
              <a:latin typeface="Aptos Mono" panose="020B0009020202020204" pitchFamily="49" charset="0"/>
            </a:endParaRPr>
          </a:p>
          <a:p>
            <a:r>
              <a:rPr lang="en-CA" sz="1600" b="1" dirty="0" err="1">
                <a:latin typeface="Aptos Mono" panose="020B0009020202020204" pitchFamily="49" charset="0"/>
              </a:rPr>
              <a:t>direct.label</a:t>
            </a:r>
            <a:r>
              <a:rPr lang="en-CA" sz="1600" dirty="0">
                <a:latin typeface="Aptos Mono" panose="020B0009020202020204" pitchFamily="49" charset="0"/>
              </a:rPr>
              <a:t>(gg1, method= "</a:t>
            </a:r>
            <a:r>
              <a:rPr lang="en-CA" sz="1600" dirty="0" err="1">
                <a:latin typeface="Aptos Mono" panose="020B0009020202020204" pitchFamily="49" charset="0"/>
              </a:rPr>
              <a:t>last.qp</a:t>
            </a:r>
            <a:r>
              <a:rPr lang="en-CA" sz="1600" dirty="0">
                <a:latin typeface="Aptos Mono" panose="020B0009020202020204" pitchFamily="49" charset="0"/>
              </a:rPr>
              <a:t>") + …</a:t>
            </a:r>
          </a:p>
        </p:txBody>
      </p:sp>
    </p:spTree>
    <p:extLst>
      <p:ext uri="{BB962C8B-B14F-4D97-AF65-F5344CB8AC3E}">
        <p14:creationId xmlns:p14="http://schemas.microsoft.com/office/powerpoint/2010/main" val="2931048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96DF-5FD7-F7D2-1243-49CEA25E8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Three-way+ tables: Log odds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DB6E3E-7824-AF3E-E738-2F3EF2C1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1A4C00-36B8-DE53-ECAA-027F7E603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71600"/>
            <a:ext cx="8171428" cy="3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754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96DF-5FD7-F7D2-1243-49CEA25E8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Three-way+ tables: Log odds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DB6E3E-7824-AF3E-E738-2F3EF2C1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A88AD8-AA17-90CB-A924-B54F8BA6B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19200"/>
            <a:ext cx="8171428" cy="20952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FD1F02-530E-3EA0-EFC4-B3C6F076A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3505200"/>
            <a:ext cx="8171428" cy="2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88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656B6-F450-DFE2-ACB7-95AD1FB2B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3-way example: Mice depletion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F38624-86AB-E4DC-7F45-8AA84B349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FE6EA8-4740-CE27-78F1-8DDC62F85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000000" cy="1276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ECDFB4-9CE2-E6B3-64E8-ABABF7698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16" y="2625856"/>
            <a:ext cx="8123809" cy="20952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69E09D-5098-C57D-9081-237B8B53E6CF}"/>
              </a:ext>
            </a:extLst>
          </p:cNvPr>
          <p:cNvSpPr txBox="1"/>
          <p:nvPr/>
        </p:nvSpPr>
        <p:spPr>
          <a:xfrm>
            <a:off x="534416" y="4953000"/>
            <a:ext cx="812380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sym typeface="Symbol" panose="05050102010706020507" pitchFamily="18" charset="2"/>
              </a:rPr>
              <a:t> </a:t>
            </a:r>
            <a:r>
              <a:rPr lang="en-CA" sz="2000" b="1" dirty="0">
                <a:solidFill>
                  <a:srgbClr val="0070C0"/>
                </a:solidFill>
              </a:rPr>
              <a:t>Adjacent</a:t>
            </a:r>
            <a:r>
              <a:rPr lang="en-CA" sz="2000" dirty="0"/>
              <a:t> categories: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Odds or log odds of 0 vs. 1 deaths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Odds or log odds of 1 vs. 2+ deaths</a:t>
            </a:r>
          </a:p>
          <a:p>
            <a:endParaRPr lang="en-CA" sz="2000" dirty="0"/>
          </a:p>
          <a:p>
            <a:r>
              <a:rPr lang="en-CA" sz="2000" dirty="0"/>
              <a:t>How do these differ with litter size &amp; treatment?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177E7-2F81-45B2-BC00-0DD9DF9BB6F6}"/>
              </a:ext>
            </a:extLst>
          </p:cNvPr>
          <p:cNvSpPr txBox="1"/>
          <p:nvPr/>
        </p:nvSpPr>
        <p:spPr>
          <a:xfrm>
            <a:off x="6553200" y="3950706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0 vs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C534F3-FD04-8382-CA22-D6BB0677FA43}"/>
              </a:ext>
            </a:extLst>
          </p:cNvPr>
          <p:cNvSpPr txBox="1"/>
          <p:nvPr/>
        </p:nvSpPr>
        <p:spPr>
          <a:xfrm>
            <a:off x="6629400" y="442039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1 vs 2+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E04252-2E17-0C9D-B946-563E79CE8E03}"/>
              </a:ext>
            </a:extLst>
          </p:cNvPr>
          <p:cNvCxnSpPr/>
          <p:nvPr/>
        </p:nvCxnSpPr>
        <p:spPr>
          <a:xfrm flipH="1">
            <a:off x="6172200" y="4135372"/>
            <a:ext cx="533400" cy="13182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6C0A425-60A4-0B66-5D1E-5173A3774BAE}"/>
              </a:ext>
            </a:extLst>
          </p:cNvPr>
          <p:cNvCxnSpPr>
            <a:cxnSpLocks/>
          </p:cNvCxnSpPr>
          <p:nvPr/>
        </p:nvCxnSpPr>
        <p:spPr>
          <a:xfrm flipH="1" flipV="1">
            <a:off x="6172200" y="4495800"/>
            <a:ext cx="533400" cy="10925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313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AF3C4-C1C4-E26C-033C-B51BA2A6D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Mice data: mosaic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9360EC-2122-9147-3435-DED8741D3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BE0F80-CB88-CCA5-11AA-067230547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62676"/>
            <a:ext cx="8171428" cy="4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835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22720-9825-560A-4D86-3FD158DE0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Mice data: MCA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955FB6-F942-1C88-396C-BB4163C0A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5F84FE-F04C-6BC1-4223-31B0E60AA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24524"/>
            <a:ext cx="8171428" cy="43904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8B337E-2C3B-5923-C64A-44E83A433795}"/>
              </a:ext>
            </a:extLst>
          </p:cNvPr>
          <p:cNvSpPr txBox="1"/>
          <p:nvPr/>
        </p:nvSpPr>
        <p:spPr>
          <a:xfrm>
            <a:off x="1366684" y="5600700"/>
            <a:ext cx="1676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Deaths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DA28D6-2619-AF37-446D-C3A10B1700D9}"/>
              </a:ext>
            </a:extLst>
          </p:cNvPr>
          <p:cNvCxnSpPr>
            <a:cxnSpLocks/>
          </p:cNvCxnSpPr>
          <p:nvPr/>
        </p:nvCxnSpPr>
        <p:spPr>
          <a:xfrm>
            <a:off x="2204884" y="5791200"/>
            <a:ext cx="290051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90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5C679-6719-B98A-60FE-EB00185ED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Calculating log odds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66BB1-8C4B-FFFC-EEB3-A53B1748C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8D674A-C2F9-06A1-A1A7-6EBE138B2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95400"/>
            <a:ext cx="8171428" cy="322857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976B2203-1A87-D3FE-5C59-C305E49F17E1}"/>
              </a:ext>
            </a:extLst>
          </p:cNvPr>
          <p:cNvGrpSpPr/>
          <p:nvPr/>
        </p:nvGrpSpPr>
        <p:grpSpPr>
          <a:xfrm>
            <a:off x="990600" y="4809317"/>
            <a:ext cx="2429121" cy="1279529"/>
            <a:chOff x="1447800" y="4809317"/>
            <a:chExt cx="2429121" cy="12795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03A5853-2638-0090-C3AF-53CF4ED8685F}"/>
                    </a:ext>
                  </a:extLst>
                </p:cNvPr>
                <p:cNvSpPr txBox="1"/>
                <p:nvPr/>
              </p:nvSpPr>
              <p:spPr>
                <a:xfrm>
                  <a:off x="1447800" y="4809317"/>
                  <a:ext cx="2429121" cy="8249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800" b="1" smtClean="0">
                            <a:latin typeface="Cambria Math" panose="02040503050406030204" pitchFamily="18" charset="0"/>
                          </a:rPr>
                          <m:t>𝐂</m:t>
                        </m:r>
                        <m:r>
                          <a:rPr lang="en-CA" sz="1800" b="0" i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sz="18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CA" sz="1800" b="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CA" sz="1800" b="0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CA" sz="1800" b="0" i="1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CA" sz="1800" b="0" i="0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CA" sz="1800" b="0" i="0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03A5853-2638-0090-C3AF-53CF4ED868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7800" y="4809317"/>
                  <a:ext cx="2429121" cy="82490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ACF439B-9385-4ACD-AB71-C281ED3A41E7}"/>
                </a:ext>
              </a:extLst>
            </p:cNvPr>
            <p:cNvSpPr txBox="1"/>
            <p:nvPr/>
          </p:nvSpPr>
          <p:spPr>
            <a:xfrm>
              <a:off x="1962150" y="5750292"/>
              <a:ext cx="18957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600" dirty="0"/>
                <a:t>Adjacent categories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226F9CB-7591-5A94-E9D9-492F39968B2E}"/>
              </a:ext>
            </a:extLst>
          </p:cNvPr>
          <p:cNvGrpSpPr/>
          <p:nvPr/>
        </p:nvGrpSpPr>
        <p:grpSpPr>
          <a:xfrm>
            <a:off x="3505200" y="4808509"/>
            <a:ext cx="2514600" cy="1278721"/>
            <a:chOff x="4000500" y="4808509"/>
            <a:chExt cx="2514600" cy="12787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056245D-F46E-2F4A-5BBE-24C6B7E47613}"/>
                    </a:ext>
                  </a:extLst>
                </p:cNvPr>
                <p:cNvSpPr txBox="1"/>
                <p:nvPr/>
              </p:nvSpPr>
              <p:spPr>
                <a:xfrm>
                  <a:off x="4000500" y="4808509"/>
                  <a:ext cx="2514600" cy="8249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800" b="1" smtClean="0">
                            <a:latin typeface="Cambria Math" panose="02040503050406030204" pitchFamily="18" charset="0"/>
                          </a:rPr>
                          <m:t>𝐂</m:t>
                        </m:r>
                        <m:r>
                          <a:rPr lang="en-CA" sz="1800" b="0" i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sz="18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CA" sz="1800" b="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CA" sz="1800" b="0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CA" sz="1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CA" sz="1800" b="0" i="1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CA" sz="1800" b="0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056245D-F46E-2F4A-5BBE-24C6B7E476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0500" y="4808509"/>
                  <a:ext cx="2514600" cy="82490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97AC0A6-0FE5-6C4D-3FC6-834A76ACF57C}"/>
                </a:ext>
              </a:extLst>
            </p:cNvPr>
            <p:cNvSpPr txBox="1"/>
            <p:nvPr/>
          </p:nvSpPr>
          <p:spPr>
            <a:xfrm>
              <a:off x="4572000" y="5748676"/>
              <a:ext cx="18957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600" dirty="0"/>
                <a:t>Reference level = 0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0D336B7-7375-F648-CC31-64929F4BBC4E}"/>
              </a:ext>
            </a:extLst>
          </p:cNvPr>
          <p:cNvSpPr txBox="1"/>
          <p:nvPr/>
        </p:nvSpPr>
        <p:spPr>
          <a:xfrm>
            <a:off x="6477000" y="4876800"/>
            <a:ext cx="205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In general, any set of K-1 {1, 0, -1} contrasts can be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8E0194-74A4-F099-9DAE-518EE3E9F301}"/>
              </a:ext>
            </a:extLst>
          </p:cNvPr>
          <p:cNvSpPr txBox="1"/>
          <p:nvPr/>
        </p:nvSpPr>
        <p:spPr>
          <a:xfrm>
            <a:off x="685800" y="6321623"/>
            <a:ext cx="800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Code for this example: </a:t>
            </a:r>
            <a:r>
              <a:rPr lang="en-CA" sz="1400" dirty="0">
                <a:hlinkClick r:id="rId5"/>
              </a:rPr>
              <a:t>https://friendly.github.io/psy6136/R/output/mice-ex.html</a:t>
            </a:r>
            <a:r>
              <a:rPr lang="en-CA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077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7746-5E19-CED1-9F8C-2628846A0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Calculating log odds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E6E17-163B-8869-067E-B8A843FF2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28881-B9CB-28BA-5E01-8E06F06D3B36}"/>
              </a:ext>
            </a:extLst>
          </p:cNvPr>
          <p:cNvSpPr txBox="1"/>
          <p:nvPr/>
        </p:nvSpPr>
        <p:spPr>
          <a:xfrm>
            <a:off x="457200" y="1295400"/>
            <a:ext cx="82296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mice.tab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litter + treatment + deaths, data=Mice)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reshape table to matrix, with deaths as cols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 &lt;- matrix(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mice.tab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nrow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=prod(dim(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mice.tab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)[1:2]),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ncol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=dim(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mice.tab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)[3])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(T)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mice.tab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)[[3]]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expand.grid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mice.tab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)[1:2])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(T) &lt;- apply(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1, paste, collapse=":")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839BC0-EE14-8050-4C08-6A56D3BC3567}"/>
              </a:ext>
            </a:extLst>
          </p:cNvPr>
          <p:cNvSpPr txBox="1"/>
          <p:nvPr/>
        </p:nvSpPr>
        <p:spPr>
          <a:xfrm>
            <a:off x="457200" y="3581400"/>
            <a:ext cx="39624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 &lt;- matrix(c(1, -1, 0,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0,  1, -1),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nrow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=3)</a:t>
            </a:r>
          </a:p>
          <a:p>
            <a:r>
              <a:rPr lang="fr-F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lodds</a:t>
            </a:r>
            <a:r>
              <a:rPr lang="fr-F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log(T) %*% C</a:t>
            </a:r>
          </a:p>
          <a:p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colnames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lodds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&lt;- c("0:1", "1:2+")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118BCD-4823-C6E0-4C38-9A316D2C0959}"/>
              </a:ext>
            </a:extLst>
          </p:cNvPr>
          <p:cNvSpPr txBox="1"/>
          <p:nvPr/>
        </p:nvSpPr>
        <p:spPr>
          <a:xfrm>
            <a:off x="4800600" y="3657600"/>
            <a:ext cx="3886200" cy="267765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lodds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0:1   1:2+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7:A   1.663  0.788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8:A   1.253  0.336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9:A   0.606  0.182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10:A  0.143 -0.143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11:A -1.099 -0.348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7:B   1.373  0.999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8:B   1.227  0.754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9:B   0.716  0.788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10:B  0.573  0.201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11:B -1.099  0.629</a:t>
            </a:r>
          </a:p>
        </p:txBody>
      </p:sp>
    </p:spTree>
    <p:extLst>
      <p:ext uri="{BB962C8B-B14F-4D97-AF65-F5344CB8AC3E}">
        <p14:creationId xmlns:p14="http://schemas.microsoft.com/office/powerpoint/2010/main" val="131682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C0A1B-5A4D-2774-D569-16A2A7A75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Calculating log odds: General case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5AAB0F-2D0F-8B56-301D-95B79875D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FE89E8-5FBA-3253-8AE8-F0C6D0480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433512"/>
            <a:ext cx="817245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896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EA8AD-59AF-2968-CEE9-D7A3DA69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Mice data: Log odds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68D33C-01B1-CBDD-7493-48FEF0814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B9982-F387-1B58-661C-650AB0AF768C}"/>
              </a:ext>
            </a:extLst>
          </p:cNvPr>
          <p:cNvSpPr txBox="1"/>
          <p:nvPr/>
        </p:nvSpPr>
        <p:spPr>
          <a:xfrm>
            <a:off x="457200" y="1295400"/>
            <a:ext cx="8229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The </a:t>
            </a:r>
            <a:r>
              <a:rPr lang="en-CA" sz="2000" dirty="0" err="1"/>
              <a:t>vcd</a:t>
            </a:r>
            <a:r>
              <a:rPr lang="en-CA" sz="2000" dirty="0"/>
              <a:t> package contains a general implementation of these ideas:</a:t>
            </a:r>
          </a:p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SzPct val="110000"/>
              <a:buFont typeface="Wingdings" panose="05000000000000000000" pitchFamily="2" charset="2"/>
              <a:buChar char="§"/>
            </a:pPr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odds() </a:t>
            </a:r>
            <a:r>
              <a:rPr lang="en-CA" sz="2000" dirty="0"/>
              <a:t>and </a:t>
            </a:r>
            <a:r>
              <a:rPr lang="en-CA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lodds</a:t>
            </a:r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2000" dirty="0"/>
              <a:t>calculate odds or log odds for 1 variable in an n-way table</a:t>
            </a:r>
          </a:p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SzPct val="110000"/>
              <a:buFont typeface="Wingdings" panose="05000000000000000000" pitchFamily="2" charset="2"/>
              <a:buChar char="§"/>
            </a:pPr>
            <a:r>
              <a:rPr lang="en-CA" sz="2000" dirty="0"/>
              <a:t>Provides methods (</a:t>
            </a:r>
            <a:r>
              <a:rPr lang="en-CA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CA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vcov</a:t>
            </a:r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CA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confint</a:t>
            </a:r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CA" sz="2000" dirty="0"/>
              <a:t>…) for “</a:t>
            </a:r>
            <a:r>
              <a:rPr lang="en-CA" sz="2000" dirty="0" err="1"/>
              <a:t>lodds</a:t>
            </a:r>
            <a:r>
              <a:rPr lang="en-CA" sz="2000" dirty="0"/>
              <a:t>” objects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D828FF-E0B0-4816-4478-07C3BBE74705}"/>
              </a:ext>
            </a:extLst>
          </p:cNvPr>
          <p:cNvSpPr txBox="1"/>
          <p:nvPr/>
        </p:nvSpPr>
        <p:spPr>
          <a:xfrm>
            <a:off x="533400" y="3276600"/>
            <a:ext cx="8153400" cy="267765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mice.lodds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as.data.frame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lodds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mice.tab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response="deaths")))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deaths litter treatment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logodds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ASE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    0:1      7         A   1.663 0.329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    1:2+      7         A   0.788 0.539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     0:1      8         A   1.253 0.303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    1:2+      8         A   0.336 0.414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5     0:1      9         A   0.606 0.293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6    1:2+      9         A   0.182 0.350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7     0:1     10         A   0.143 0.379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8    1:2+     10         A  -0.143 0.379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9     0:1     11         A  -1.099 0.577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   1:2+     11         A  -0.348 0.377</a:t>
            </a:r>
          </a:p>
        </p:txBody>
      </p:sp>
    </p:spTree>
    <p:extLst>
      <p:ext uri="{BB962C8B-B14F-4D97-AF65-F5344CB8AC3E}">
        <p14:creationId xmlns:p14="http://schemas.microsoft.com/office/powerpoint/2010/main" val="378207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D894F-8E3F-DDB2-864E-802FC7619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Mice data: Fit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FABE87-1097-45FE-29C7-E1E3C13A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B5245-02C8-89E9-AAC0-2FC5A67A5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66" y="1229352"/>
            <a:ext cx="8266667" cy="50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52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B4D6A-899A-94F5-409B-7221D02C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Visualize log odds &amp; models: Data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8BA2F-15DC-D82F-3726-91A64A599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BDB8E-EE1C-BCC6-9180-6B4448FE2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67467"/>
            <a:ext cx="8171428" cy="5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572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E7E6A4-B3A8-F05D-2065-189A2B768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0315C5-119B-C892-B813-E1B14D85D98E}"/>
              </a:ext>
            </a:extLst>
          </p:cNvPr>
          <p:cNvSpPr txBox="1"/>
          <p:nvPr/>
        </p:nvSpPr>
        <p:spPr>
          <a:xfrm>
            <a:off x="685800" y="762000"/>
            <a:ext cx="7848600" cy="224676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gg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mice.lodds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(x=litter, y=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logodds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color=deaths, group=deaths)) +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(size=4) +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("log odds of fewer deaths") +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("Litter size") +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theme_bw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base_size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16) +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theme(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legend.position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c(.9, .85),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legend.background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element_rect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(colour = "black")) +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facet_grid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(. ~ treatment, labeller=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label_both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+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theme(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strip.text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element_text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(size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(1.2)))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0FAEF6-6349-C0E4-7F1C-6EC4D4828F80}"/>
              </a:ext>
            </a:extLst>
          </p:cNvPr>
          <p:cNvSpPr txBox="1"/>
          <p:nvPr/>
        </p:nvSpPr>
        <p:spPr>
          <a:xfrm>
            <a:off x="685800" y="3581400"/>
            <a:ext cx="47244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bars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ymin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logodds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-ASE,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ymax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logodds+ASE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gg +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(size=1.2) +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geom_errorbar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(bars,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width=0.25, size=1,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position=</a:t>
            </a:r>
            <a:r>
              <a:rPr lang="en-CA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position_dodge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(width=.2))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EFD4C-D170-AABB-71B6-5CA227360D3F}"/>
              </a:ext>
            </a:extLst>
          </p:cNvPr>
          <p:cNvSpPr txBox="1"/>
          <p:nvPr/>
        </p:nvSpPr>
        <p:spPr>
          <a:xfrm>
            <a:off x="685800" y="228600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Basic plot: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DA169-05BA-8481-766A-03C2AF41C04F}"/>
              </a:ext>
            </a:extLst>
          </p:cNvPr>
          <p:cNvSpPr txBox="1"/>
          <p:nvPr/>
        </p:nvSpPr>
        <p:spPr>
          <a:xfrm>
            <a:off x="685800" y="3200400"/>
            <a:ext cx="426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Add error bars, dodged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11B55F-F4FA-8697-E610-8E4CC3E3C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3413243"/>
            <a:ext cx="2976209" cy="23538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0B854A-E17E-C2B6-080C-99A3F527DB97}"/>
              </a:ext>
            </a:extLst>
          </p:cNvPr>
          <p:cNvSpPr txBox="1"/>
          <p:nvPr/>
        </p:nvSpPr>
        <p:spPr>
          <a:xfrm>
            <a:off x="685800" y="5257800"/>
            <a:ext cx="4648200" cy="9233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 err="1"/>
              <a:t>ggplot</a:t>
            </a:r>
            <a:r>
              <a:rPr lang="en-CA" dirty="0"/>
              <a:t> thinking: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gg is my basic plot of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 can add other layers to it</a:t>
            </a:r>
          </a:p>
        </p:txBody>
      </p:sp>
    </p:spTree>
    <p:extLst>
      <p:ext uri="{BB962C8B-B14F-4D97-AF65-F5344CB8AC3E}">
        <p14:creationId xmlns:p14="http://schemas.microsoft.com/office/powerpoint/2010/main" val="3200114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B4D6A-899A-94F5-409B-7221D02C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Visualize log odds &amp; models: Smoothing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8BA2F-15DC-D82F-3726-91A64A599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804631-FE8D-A95E-A09C-CBFCC5332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29362"/>
            <a:ext cx="8171428" cy="5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3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B4D6A-899A-94F5-409B-7221D02C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Visualize log odds &amp; models: Data +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8BA2F-15DC-D82F-3726-91A64A599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0D4D8A-ED01-8931-9DD0-62D61915B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67419"/>
            <a:ext cx="8171428" cy="47523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1AF639-3FAE-4966-E3E2-6B55678CDD6E}"/>
              </a:ext>
            </a:extLst>
          </p:cNvPr>
          <p:cNvSpPr txBox="1"/>
          <p:nvPr/>
        </p:nvSpPr>
        <p:spPr>
          <a:xfrm>
            <a:off x="7620000" y="4953000"/>
            <a:ext cx="1066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One unusual point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84F2008-3A01-38A8-A328-FC59EB619053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7086600" y="5322332"/>
            <a:ext cx="533400" cy="87868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335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B4D6A-899A-94F5-409B-7221D02C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Visualize log odds &amp; models: Data +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8BA2F-15DC-D82F-3726-91A64A599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68D82-115B-6271-2FA6-3DA37D1C7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171428" cy="50761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9902BF-CA42-C7E8-930C-07D2676F18AD}"/>
              </a:ext>
            </a:extLst>
          </p:cNvPr>
          <p:cNvSpPr txBox="1"/>
          <p:nvPr/>
        </p:nvSpPr>
        <p:spPr>
          <a:xfrm>
            <a:off x="2438400" y="160020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163749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41680-AEC4-A77D-6F6A-147537930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Another Viz: Biplots of log odds ratios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76ED03-E4A6-B018-828D-CB7A09283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sz="2400" dirty="0"/>
              <a:t>Previous plots: separate panels for each factor combination — hard to see the joint structure</a:t>
            </a:r>
          </a:p>
          <a:p>
            <a:pPr lvl="1"/>
            <a:r>
              <a:rPr lang="en-CA" sz="2000" dirty="0"/>
              <a:t>Can we display rows (litter × treatment) and columns (log-odds contrasts) together in one plot?</a:t>
            </a:r>
          </a:p>
          <a:p>
            <a:r>
              <a:rPr lang="en-CA" sz="2400" dirty="0"/>
              <a:t>A biplot for LOR is your friend 𐦂𖨆𐀪𖠋</a:t>
            </a:r>
          </a:p>
          <a:p>
            <a:pPr lvl="1"/>
            <a:r>
              <a:rPr lang="en-CA" sz="2000" dirty="0"/>
              <a:t>Arrange the log odds as a matrix </a:t>
            </a:r>
            <a:r>
              <a:rPr lang="en-CA" sz="2000" b="1" dirty="0"/>
              <a:t>L</a:t>
            </a:r>
            <a:r>
              <a:rPr lang="en-CA" sz="2000" dirty="0"/>
              <a:t> with rows = </a:t>
            </a:r>
            <a:r>
              <a:rPr lang="en-CA" sz="2000" dirty="0" err="1"/>
              <a:t>obs</a:t>
            </a:r>
            <a:r>
              <a:rPr lang="en-CA" sz="2000" dirty="0"/>
              <a:t> units, cols = response contrasts</a:t>
            </a:r>
          </a:p>
          <a:p>
            <a:pPr lvl="1"/>
            <a:r>
              <a:rPr lang="en-CA" sz="2000" dirty="0"/>
              <a:t>Apply the SVD to </a:t>
            </a:r>
            <a:r>
              <a:rPr lang="en-CA" sz="2000" b="1" dirty="0"/>
              <a:t>L</a:t>
            </a:r>
            <a:r>
              <a:rPr lang="en-CA" sz="2000" dirty="0"/>
              <a:t> to find a low-D approximation</a:t>
            </a:r>
          </a:p>
          <a:p>
            <a:pPr lvl="1"/>
            <a:r>
              <a:rPr lang="en-CA" sz="2000" dirty="0"/>
              <a:t>Display result as a biplot: rows as </a:t>
            </a:r>
            <a:r>
              <a:rPr lang="en-CA" sz="2000" dirty="0">
                <a:solidFill>
                  <a:srgbClr val="FF0000"/>
                </a:solidFill>
              </a:rPr>
              <a:t>points</a:t>
            </a:r>
            <a:r>
              <a:rPr lang="en-CA" sz="2000" dirty="0"/>
              <a:t>, cols (LOR contrasts) as </a:t>
            </a:r>
            <a:r>
              <a:rPr lang="en-CA" sz="2000" dirty="0">
                <a:solidFill>
                  <a:srgbClr val="FF0000"/>
                </a:solidFill>
              </a:rPr>
              <a:t>arrows</a:t>
            </a:r>
          </a:p>
          <a:p>
            <a:r>
              <a:rPr lang="en-CA" sz="2400" dirty="0"/>
              <a:t>Why a biplot?</a:t>
            </a:r>
          </a:p>
          <a:p>
            <a:pPr lvl="1"/>
            <a:r>
              <a:rPr lang="en-CA" sz="2000" dirty="0"/>
              <a:t>Compress a multi-dimensional log-odds structure into 2D</a:t>
            </a:r>
          </a:p>
          <a:p>
            <a:pPr lvl="1"/>
            <a:r>
              <a:rPr lang="en-CA" sz="2000" dirty="0"/>
              <a:t>Rows that are similar in their log-odds </a:t>
            </a:r>
            <a:r>
              <a:rPr lang="en-CA" sz="2000" dirty="0">
                <a:solidFill>
                  <a:srgbClr val="FF0000"/>
                </a:solidFill>
              </a:rPr>
              <a:t>profiles</a:t>
            </a:r>
            <a:r>
              <a:rPr lang="en-CA" sz="2000" dirty="0"/>
              <a:t> cluster together</a:t>
            </a:r>
          </a:p>
          <a:p>
            <a:pPr lvl="1"/>
            <a:r>
              <a:rPr lang="en-CA" sz="2000" dirty="0"/>
              <a:t>Column </a:t>
            </a:r>
            <a:r>
              <a:rPr lang="en-CA" sz="2000" dirty="0">
                <a:solidFill>
                  <a:srgbClr val="FF0000"/>
                </a:solidFill>
              </a:rPr>
              <a:t>arrows</a:t>
            </a:r>
            <a:r>
              <a:rPr lang="en-CA" sz="2000" dirty="0"/>
              <a:t> show which contrasts vary most and how they co-vary</a:t>
            </a:r>
          </a:p>
          <a:p>
            <a:pPr lvl="1"/>
            <a:r>
              <a:rPr lang="en-CA" sz="2000" dirty="0"/>
              <a:t>Treatment and litter effects can be seen simultaneously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D233EA-C902-8539-AAB7-A82354401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7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4380A-1494-F7B9-A7D4-B434871E5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0758BF-D65E-7748-B4FE-23EE652DB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12" y="939265"/>
            <a:ext cx="4989194" cy="41148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B1370-5BDA-BA88-9687-2626BB289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039A44-1E55-8DA1-4D24-3274C7D87AF6}"/>
              </a:ext>
            </a:extLst>
          </p:cNvPr>
          <p:cNvSpPr txBox="1"/>
          <p:nvPr/>
        </p:nvSpPr>
        <p:spPr>
          <a:xfrm>
            <a:off x="457200" y="240890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/>
              <a:t>Here’s the result: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32DA8A-1B2A-989C-FBFB-AEAAFE604035}"/>
              </a:ext>
            </a:extLst>
          </p:cNvPr>
          <p:cNvSpPr txBox="1"/>
          <p:nvPr/>
        </p:nvSpPr>
        <p:spPr>
          <a:xfrm>
            <a:off x="4982497" y="906087"/>
            <a:ext cx="38862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2D biplot solution accts for 100% !!!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Dim 1: Litter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Dim 2: Treatment (A vs 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LOR Contrasts: (0-1), (1-2+) aligned with Dim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Outlier for </a:t>
            </a:r>
            <a:r>
              <a:rPr lang="en-CA" sz="1600" dirty="0">
                <a:solidFill>
                  <a:srgbClr val="00B050"/>
                </a:solidFill>
              </a:rPr>
              <a:t>11:B </a:t>
            </a:r>
            <a:r>
              <a:rPr lang="en-CA" sz="1600" dirty="0"/>
              <a:t>stands out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8D73A06-A222-E1B7-1389-F028582314E6}"/>
              </a:ext>
            </a:extLst>
          </p:cNvPr>
          <p:cNvGrpSpPr/>
          <p:nvPr/>
        </p:nvGrpSpPr>
        <p:grpSpPr>
          <a:xfrm>
            <a:off x="838200" y="4876800"/>
            <a:ext cx="3962400" cy="307777"/>
            <a:chOff x="838200" y="4876800"/>
            <a:chExt cx="3962400" cy="3077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7E57CD-7CD7-32FB-BB3F-86E4B1185B0F}"/>
                </a:ext>
              </a:extLst>
            </p:cNvPr>
            <p:cNvSpPr txBox="1"/>
            <p:nvPr/>
          </p:nvSpPr>
          <p:spPr>
            <a:xfrm>
              <a:off x="838200" y="4876800"/>
              <a:ext cx="1066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400" dirty="0"/>
                <a:t>Litter size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403220B-D172-C868-B91F-1590D4445F63}"/>
                </a:ext>
              </a:extLst>
            </p:cNvPr>
            <p:cNvCxnSpPr/>
            <p:nvPr/>
          </p:nvCxnSpPr>
          <p:spPr>
            <a:xfrm>
              <a:off x="1752600" y="5029200"/>
              <a:ext cx="3048000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067BFEC-8D2D-26BC-406A-0E64715AB4A8}"/>
              </a:ext>
            </a:extLst>
          </p:cNvPr>
          <p:cNvCxnSpPr/>
          <p:nvPr/>
        </p:nvCxnSpPr>
        <p:spPr>
          <a:xfrm>
            <a:off x="304800" y="2057400"/>
            <a:ext cx="0" cy="2286000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A8B986D-EF46-CFA1-4939-BB4805843AE0}"/>
              </a:ext>
            </a:extLst>
          </p:cNvPr>
          <p:cNvSpPr/>
          <p:nvPr/>
        </p:nvSpPr>
        <p:spPr>
          <a:xfrm>
            <a:off x="2963197" y="1513131"/>
            <a:ext cx="846803" cy="5161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381A49-24F4-3DA8-03D1-1F46A930B76A}"/>
              </a:ext>
            </a:extLst>
          </p:cNvPr>
          <p:cNvSpPr txBox="1"/>
          <p:nvPr/>
        </p:nvSpPr>
        <p:spPr>
          <a:xfrm>
            <a:off x="457200" y="5867400"/>
            <a:ext cx="792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These methods were presented at CARME 2015 by Jose </a:t>
            </a:r>
            <a:r>
              <a:rPr lang="en-CA" sz="1600" dirty="0" err="1"/>
              <a:t>Villardon</a:t>
            </a:r>
            <a:r>
              <a:rPr lang="en-CA" sz="1600" dirty="0"/>
              <a:t>, implemented in {</a:t>
            </a:r>
            <a:r>
              <a:rPr lang="en-CA" sz="1600" dirty="0" err="1"/>
              <a:t>MultBiplotR</a:t>
            </a:r>
            <a:r>
              <a:rPr lang="en-CA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9089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A62422-3429-8EAB-1C32-1C35D3B1E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SVD and the biplot approximation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556469B-9AA1-FEF6-6510-4DF6DE4A0F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CA" sz="2000" dirty="0"/>
                  <a:t>Singular Value Decomposition of the (centered) log-odds matrix </a:t>
                </a:r>
                <a:r>
                  <a:rPr lang="en-CA" sz="2000" b="1" dirty="0"/>
                  <a:t>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sz="2400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CA" sz="2400" b="0" i="1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2400" b="0" i="1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2400" b="0" i="1" smtClean="0">
                          <a:latin typeface="Cambria Math" panose="02040503050406030204" pitchFamily="18" charset="0"/>
                        </a:rPr>
                        <m:t>VT</m:t>
                      </m:r>
                    </m:oMath>
                  </m:oMathPara>
                </a14:m>
                <a:endParaRPr lang="en-CA" sz="2400" baseline="30000" dirty="0"/>
              </a:p>
              <a:p>
                <a:pPr marL="0" indent="0">
                  <a:buNone/>
                </a:pPr>
                <a:endParaRPr lang="en-CA" sz="2400" baseline="30000" dirty="0"/>
              </a:p>
              <a:p>
                <a:pPr lvl="1"/>
                <a:r>
                  <a:rPr lang="en-CA" b="1" baseline="30000" dirty="0"/>
                  <a:t>U </a:t>
                </a:r>
                <a:r>
                  <a:rPr lang="en-CA" baseline="30000" dirty="0"/>
                  <a:t>(n × r): left singular vectors — </a:t>
                </a:r>
                <a:r>
                  <a:rPr lang="en-CA" baseline="30000" dirty="0">
                    <a:solidFill>
                      <a:srgbClr val="FF0000"/>
                    </a:solidFill>
                  </a:rPr>
                  <a:t>row scores </a:t>
                </a:r>
                <a:r>
                  <a:rPr lang="en-CA" baseline="30000" dirty="0"/>
                  <a:t>(one per </a:t>
                </a:r>
                <a:r>
                  <a:rPr lang="en-CA" baseline="30000" dirty="0" err="1"/>
                  <a:t>litter:treatment</a:t>
                </a:r>
                <a:r>
                  <a:rPr lang="en-CA" baseline="30000" dirty="0"/>
                  <a:t> combination)</a:t>
                </a:r>
              </a:p>
              <a:p>
                <a:pPr lvl="1"/>
                <a:r>
                  <a:rPr lang="en-CA" b="1" baseline="30000" dirty="0"/>
                  <a:t>D</a:t>
                </a:r>
                <a:r>
                  <a:rPr lang="en-CA" baseline="30000" dirty="0"/>
                  <a:t> (r × r): diagonal matrix of singular values d</a:t>
                </a:r>
                <a:r>
                  <a:rPr lang="en-CA" baseline="-25000" dirty="0"/>
                  <a:t>1</a:t>
                </a:r>
                <a:r>
                  <a:rPr lang="en-CA" baseline="30000" dirty="0"/>
                  <a:t> ≥ d</a:t>
                </a:r>
                <a:r>
                  <a:rPr lang="en-CA" baseline="-25000" dirty="0"/>
                  <a:t>2</a:t>
                </a:r>
                <a:r>
                  <a:rPr lang="en-CA" baseline="30000" dirty="0"/>
                  <a:t> ≥ … </a:t>
                </a:r>
              </a:p>
              <a:p>
                <a:pPr lvl="1"/>
                <a:r>
                  <a:rPr lang="en-CA" b="1" baseline="30000" dirty="0"/>
                  <a:t>V</a:t>
                </a:r>
                <a:r>
                  <a:rPr lang="en-CA" baseline="30000" dirty="0"/>
                  <a:t> (p × r): right singular vectors — </a:t>
                </a:r>
                <a:r>
                  <a:rPr lang="en-CA" baseline="30000" dirty="0">
                    <a:solidFill>
                      <a:srgbClr val="FF0000"/>
                    </a:solidFill>
                  </a:rPr>
                  <a:t>column scores </a:t>
                </a:r>
                <a:r>
                  <a:rPr lang="en-CA" baseline="30000" dirty="0"/>
                  <a:t>(one per log-odds contrast)</a:t>
                </a:r>
              </a:p>
              <a:p>
                <a:endParaRPr lang="en-CA" baseline="30000" dirty="0"/>
              </a:p>
              <a:p>
                <a:r>
                  <a:rPr lang="en-CA" baseline="30000" dirty="0"/>
                  <a:t>Biplot approximation (using first 2 dimensions)</a:t>
                </a:r>
              </a:p>
              <a:p>
                <a:endParaRPr lang="en-CA" baseline="30000" dirty="0"/>
              </a:p>
              <a:p>
                <a:endParaRPr lang="en-CA" baseline="30000" dirty="0"/>
              </a:p>
              <a:p>
                <a:pPr lvl="1"/>
                <a:r>
                  <a:rPr lang="en-CA" b="1" baseline="30000" dirty="0"/>
                  <a:t>F</a:t>
                </a:r>
                <a:r>
                  <a:rPr lang="en-CA" baseline="30000" dirty="0"/>
                  <a:t> : row (observation) coordinates — plotted as </a:t>
                </a:r>
                <a:r>
                  <a:rPr lang="en-CA" b="1" baseline="30000" dirty="0"/>
                  <a:t>points</a:t>
                </a:r>
              </a:p>
              <a:p>
                <a:pPr lvl="1"/>
                <a:r>
                  <a:rPr lang="en-CA" b="1" baseline="30000" dirty="0"/>
                  <a:t>G</a:t>
                </a:r>
                <a:r>
                  <a:rPr lang="en-CA" baseline="30000" dirty="0"/>
                  <a:t>: column (variable) coordinates — plotted as </a:t>
                </a:r>
                <a:r>
                  <a:rPr lang="en-CA" b="1" baseline="30000" dirty="0"/>
                  <a:t>arrows</a:t>
                </a:r>
                <a:r>
                  <a:rPr lang="en-CA" baseline="30000" dirty="0"/>
                  <a:t> from the origin</a:t>
                </a:r>
              </a:p>
              <a:p>
                <a:pPr lvl="1"/>
                <a:r>
                  <a:rPr lang="en-CA" baseline="30000" dirty="0"/>
                  <a:t>α= 1 : </a:t>
                </a:r>
                <a:r>
                  <a:rPr lang="en-CA" baseline="30000" dirty="0">
                    <a:solidFill>
                      <a:srgbClr val="FF0000"/>
                    </a:solidFill>
                  </a:rPr>
                  <a:t>row-metric</a:t>
                </a:r>
                <a:r>
                  <a:rPr lang="en-CA" baseline="30000" dirty="0"/>
                  <a:t>-preserving ("form") biplot — distances among rows are accurate</a:t>
                </a:r>
              </a:p>
              <a:p>
                <a:pPr lvl="1"/>
                <a:r>
                  <a:rPr lang="en-CA" baseline="30000" dirty="0"/>
                  <a:t>α= 0 : </a:t>
                </a:r>
                <a:r>
                  <a:rPr lang="en-CA" baseline="30000" dirty="0">
                    <a:solidFill>
                      <a:srgbClr val="FF0000"/>
                    </a:solidFill>
                  </a:rPr>
                  <a:t>column-metric</a:t>
                </a:r>
                <a:r>
                  <a:rPr lang="en-CA" baseline="30000" dirty="0"/>
                  <a:t>-preserving ("covariance") biplot — inner products reflect covariance</a:t>
                </a:r>
              </a:p>
              <a:p>
                <a:r>
                  <a:rPr lang="en-CA" baseline="30000" dirty="0"/>
                  <a:t>Variance explained by each dimension k: </a:t>
                </a:r>
              </a:p>
              <a:p>
                <a:endParaRPr lang="en-CA" baseline="30000" dirty="0"/>
              </a:p>
              <a:p>
                <a:pPr marL="0" indent="0">
                  <a:buNone/>
                </a:pPr>
                <a:endParaRPr lang="en-CA" sz="2400" baseline="300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556469B-9AA1-FEF6-6510-4DF6DE4A0F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8" t="-1553" b="-310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E9C0F2-76A7-CF9F-40B1-2C8DCC74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AF5A0C-C7C9-C0AC-B7B0-D29347270D0A}"/>
                  </a:ext>
                </a:extLst>
              </p:cNvPr>
              <p:cNvSpPr txBox="1"/>
              <p:nvPr/>
            </p:nvSpPr>
            <p:spPr>
              <a:xfrm>
                <a:off x="1676400" y="3733800"/>
                <a:ext cx="5791200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800" b="1" smtClean="0">
                          <a:latin typeface="Cambria Math" panose="02040503050406030204" pitchFamily="18" charset="0"/>
                        </a:rPr>
                        <m:t>𝐋</m:t>
                      </m:r>
                      <m:r>
                        <a:rPr lang="en-CA" sz="1800" b="0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CA" sz="1800" b="1" i="0">
                          <a:latin typeface="Cambria Math" panose="02040503050406030204" pitchFamily="18" charset="0"/>
                        </a:rPr>
                        <m:t>𝐅</m:t>
                      </m:r>
                      <m:sSup>
                        <m:sSupPr>
                          <m:ctrlPr>
                            <a:rPr lang="en-CA" sz="1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800" b="1" i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  <m:sup>
                          <m:r>
                            <a:rPr lang="en-CA" sz="1800" b="0" i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CA" sz="1800" b="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CA" sz="1800" b="0" i="1"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en-CA" sz="1800" b="1" i="0"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CA" sz="1800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800" b="1" i="0">
                              <a:latin typeface="Cambria Math" panose="02040503050406030204" pitchFamily="18" charset="0"/>
                            </a:rPr>
                            <m:t>𝐔</m:t>
                          </m:r>
                        </m:e>
                        <m:sub>
                          <m:r>
                            <a:rPr lang="en-CA" sz="18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CA" sz="18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800" b="1" i="0"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  <m:sub>
                          <m:r>
                            <a:rPr lang="en-CA" sz="18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CA" sz="1800" b="0" i="1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CA" sz="1800" b="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CA" sz="1800" b="0" i="1"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en-CA" sz="1800" b="1" i="0">
                          <a:latin typeface="Cambria Math" panose="02040503050406030204" pitchFamily="18" charset="0"/>
                        </a:rPr>
                        <m:t>𝐆</m:t>
                      </m:r>
                      <m:r>
                        <a:rPr lang="en-CA" sz="1800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800" b="1" i="0"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CA" sz="18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CA" sz="18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800" b="1" i="0"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  <m:sub>
                          <m:r>
                            <a:rPr lang="en-CA" sz="18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CA" sz="1800" b="0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CA" sz="1800" b="0" i="1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AF5A0C-C7C9-C0AC-B7B0-D29347270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733800"/>
                <a:ext cx="5791200" cy="4031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94B4EA-CE3C-F245-91DA-CC2B1B4EDB3A}"/>
                  </a:ext>
                </a:extLst>
              </p:cNvPr>
              <p:cNvSpPr txBox="1"/>
              <p:nvPr/>
            </p:nvSpPr>
            <p:spPr>
              <a:xfrm>
                <a:off x="4800600" y="5506516"/>
                <a:ext cx="2057400" cy="7958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CA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CA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grow m:val="on"/>
                              <m:supHide m:val="on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CA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94B4EA-CE3C-F245-91DA-CC2B1B4ED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5506516"/>
                <a:ext cx="2057400" cy="7958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666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C2F7B46-A85A-184A-25AB-4AB955114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798" y="3657600"/>
            <a:ext cx="3547872" cy="29260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F713BC-FD3D-5188-95AF-6F16830D9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Biplot of Mice log odds: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AB220-23FD-6984-FFFE-553AF5AF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421452-9E90-D89A-9F81-C623E010E07D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Using </a:t>
            </a:r>
            <a:r>
              <a:rPr lang="en-CA" sz="1600" dirty="0" err="1">
                <a:solidFill>
                  <a:schemeClr val="accent6">
                    <a:lumMod val="50000"/>
                  </a:schemeClr>
                </a:solidFill>
                <a:latin typeface="Aptos Mono" panose="020B0009020202020204" pitchFamily="49" charset="0"/>
              </a:rPr>
              <a:t>MultBiplotR</a:t>
            </a:r>
            <a:r>
              <a:rPr lang="en-CA" sz="1600" dirty="0">
                <a:solidFill>
                  <a:schemeClr val="accent6">
                    <a:lumMod val="50000"/>
                  </a:schemeClr>
                </a:solidFill>
                <a:latin typeface="Aptos Mono" panose="020B0009020202020204" pitchFamily="49" charset="0"/>
              </a:rPr>
              <a:t>::</a:t>
            </a:r>
            <a:r>
              <a:rPr lang="en-CA" sz="1600" dirty="0" err="1">
                <a:solidFill>
                  <a:schemeClr val="accent6">
                    <a:lumMod val="50000"/>
                  </a:schemeClr>
                </a:solidFill>
                <a:latin typeface="Aptos Mono" panose="020B0009020202020204" pitchFamily="49" charset="0"/>
              </a:rPr>
              <a:t>PCA.Biplot</a:t>
            </a:r>
            <a:r>
              <a:rPr lang="en-CA" sz="1600" dirty="0">
                <a:solidFill>
                  <a:schemeClr val="accent6">
                    <a:lumMod val="50000"/>
                  </a:schemeClr>
                </a:solidFill>
                <a:latin typeface="Aptos Mono" panose="020B0009020202020204" pitchFamily="49" charset="0"/>
              </a:rPr>
              <a:t>()</a:t>
            </a:r>
            <a:r>
              <a:rPr lang="en-CA" dirty="0"/>
              <a:t>, which applies PCA (SVD of the centered matrix) and provides a biplot plot method: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967E0-4D40-65A1-8E58-BB2071CD3E97}"/>
              </a:ext>
            </a:extLst>
          </p:cNvPr>
          <p:cNvSpPr txBox="1"/>
          <p:nvPr/>
        </p:nvSpPr>
        <p:spPr>
          <a:xfrm>
            <a:off x="457200" y="1905000"/>
            <a:ext cx="6858000" cy="2123658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latin typeface="Aptos Mono" panose="020B0009020202020204" pitchFamily="49" charset="0"/>
              </a:rPr>
              <a:t>library(</a:t>
            </a:r>
            <a:r>
              <a:rPr lang="en-CA" sz="1200" dirty="0" err="1">
                <a:latin typeface="Aptos Mono" panose="020B0009020202020204" pitchFamily="49" charset="0"/>
              </a:rPr>
              <a:t>MultBiplotR</a:t>
            </a:r>
            <a:r>
              <a:rPr lang="en-CA" sz="1200" dirty="0">
                <a:latin typeface="Aptos Mono" panose="020B0009020202020204" pitchFamily="49" charset="0"/>
              </a:rPr>
              <a:t>)</a:t>
            </a:r>
          </a:p>
          <a:p>
            <a:r>
              <a:rPr lang="en-CA" sz="1200" dirty="0" err="1">
                <a:latin typeface="Aptos Mono" panose="020B0009020202020204" pitchFamily="49" charset="0"/>
              </a:rPr>
              <a:t>bip_mice</a:t>
            </a:r>
            <a:r>
              <a:rPr lang="en-CA" sz="1200" dirty="0">
                <a:latin typeface="Aptos Mono" panose="020B0009020202020204" pitchFamily="49" charset="0"/>
              </a:rPr>
              <a:t> &lt;- </a:t>
            </a:r>
            <a:r>
              <a:rPr lang="en-CA" sz="1200" b="1" dirty="0" err="1">
                <a:latin typeface="Aptos Mono" panose="020B0009020202020204" pitchFamily="49" charset="0"/>
              </a:rPr>
              <a:t>PCA.Biplot</a:t>
            </a:r>
            <a:r>
              <a:rPr lang="en-CA" sz="1200" dirty="0">
                <a:latin typeface="Aptos Mono" panose="020B0009020202020204" pitchFamily="49" charset="0"/>
              </a:rPr>
              <a:t>(</a:t>
            </a:r>
            <a:r>
              <a:rPr lang="en-CA" sz="1200" dirty="0" err="1">
                <a:latin typeface="Aptos Mono" panose="020B0009020202020204" pitchFamily="49" charset="0"/>
              </a:rPr>
              <a:t>biplot_mat</a:t>
            </a:r>
            <a:r>
              <a:rPr lang="en-CA" sz="1200" dirty="0">
                <a:latin typeface="Aptos Mono" panose="020B0009020202020204" pitchFamily="49" charset="0"/>
              </a:rPr>
              <a:t>)</a:t>
            </a:r>
          </a:p>
          <a:p>
            <a:r>
              <a:rPr lang="en-CA" sz="1200" dirty="0" err="1">
                <a:latin typeface="Aptos Mono" panose="020B0009020202020204" pitchFamily="49" charset="0"/>
              </a:rPr>
              <a:t>bip_mice</a:t>
            </a:r>
            <a:r>
              <a:rPr lang="en-CA" sz="1200" dirty="0">
                <a:latin typeface="Aptos Mono" panose="020B0009020202020204" pitchFamily="49" charset="0"/>
              </a:rPr>
              <a:t>   # prints variance explained by each PC</a:t>
            </a:r>
          </a:p>
          <a:p>
            <a:r>
              <a:rPr lang="en-CA" sz="1200" b="1" dirty="0">
                <a:latin typeface="Aptos Mono" panose="020B0009020202020204" pitchFamily="49" charset="0"/>
              </a:rPr>
              <a:t>plot</a:t>
            </a:r>
            <a:r>
              <a:rPr lang="en-CA" sz="1200" dirty="0">
                <a:latin typeface="Aptos Mono" panose="020B0009020202020204" pitchFamily="49" charset="0"/>
              </a:rPr>
              <a:t>(</a:t>
            </a:r>
            <a:r>
              <a:rPr lang="en-CA" sz="1200" dirty="0" err="1">
                <a:latin typeface="Aptos Mono" panose="020B0009020202020204" pitchFamily="49" charset="0"/>
              </a:rPr>
              <a:t>bip_mice</a:t>
            </a:r>
            <a:r>
              <a:rPr lang="en-CA" sz="1200" dirty="0">
                <a:latin typeface="Aptos Mono" panose="020B0009020202020204" pitchFamily="49" charset="0"/>
              </a:rPr>
              <a:t>,     </a:t>
            </a:r>
          </a:p>
          <a:p>
            <a:r>
              <a:rPr lang="en-CA" sz="1200" dirty="0">
                <a:latin typeface="Aptos Mono" panose="020B0009020202020204" pitchFamily="49" charset="0"/>
              </a:rPr>
              <a:t>   Title    = "Log Odds Ratio Biplot: Mice Data", </a:t>
            </a:r>
          </a:p>
          <a:p>
            <a:r>
              <a:rPr lang="en-CA" sz="1200" dirty="0">
                <a:latin typeface="Aptos Mono" panose="020B0009020202020204" pitchFamily="49" charset="0"/>
              </a:rPr>
              <a:t>   </a:t>
            </a:r>
            <a:r>
              <a:rPr lang="en-CA" sz="1200" dirty="0" err="1">
                <a:latin typeface="Aptos Mono" panose="020B0009020202020204" pitchFamily="49" charset="0"/>
              </a:rPr>
              <a:t>CexInd</a:t>
            </a:r>
            <a:r>
              <a:rPr lang="en-CA" sz="1200" dirty="0">
                <a:latin typeface="Aptos Mono" panose="020B0009020202020204" pitchFamily="49" charset="0"/>
              </a:rPr>
              <a:t>   = 1.2,     </a:t>
            </a:r>
          </a:p>
          <a:p>
            <a:r>
              <a:rPr lang="en-CA" sz="1200" dirty="0">
                <a:latin typeface="Aptos Mono" panose="020B0009020202020204" pitchFamily="49" charset="0"/>
              </a:rPr>
              <a:t>   </a:t>
            </a:r>
            <a:r>
              <a:rPr lang="en-CA" sz="1200" dirty="0" err="1">
                <a:latin typeface="Aptos Mono" panose="020B0009020202020204" pitchFamily="49" charset="0"/>
              </a:rPr>
              <a:t>ColorInd</a:t>
            </a:r>
            <a:r>
              <a:rPr lang="en-CA" sz="1200" dirty="0">
                <a:latin typeface="Aptos Mono" panose="020B0009020202020204" pitchFamily="49" charset="0"/>
              </a:rPr>
              <a:t> = c("blue", "</a:t>
            </a:r>
            <a:r>
              <a:rPr lang="en-CA" sz="1200" dirty="0" err="1">
                <a:latin typeface="Aptos Mono" panose="020B0009020202020204" pitchFamily="49" charset="0"/>
              </a:rPr>
              <a:t>darkgreen</a:t>
            </a:r>
            <a:r>
              <a:rPr lang="en-CA" sz="1200" dirty="0">
                <a:latin typeface="Aptos Mono" panose="020B0009020202020204" pitchFamily="49" charset="0"/>
              </a:rPr>
              <a:t>")[</a:t>
            </a:r>
            <a:r>
              <a:rPr lang="en-CA" sz="1200" dirty="0" err="1">
                <a:latin typeface="Aptos Mono" panose="020B0009020202020204" pitchFamily="49" charset="0"/>
              </a:rPr>
              <a:t>as.numeric</a:t>
            </a:r>
            <a:r>
              <a:rPr lang="en-CA" sz="1200" dirty="0">
                <a:latin typeface="Aptos Mono" panose="020B0009020202020204" pitchFamily="49" charset="0"/>
              </a:rPr>
              <a:t>(</a:t>
            </a:r>
            <a:r>
              <a:rPr lang="en-CA" sz="1200" dirty="0" err="1">
                <a:latin typeface="Aptos Mono" panose="020B0009020202020204" pitchFamily="49" charset="0"/>
              </a:rPr>
              <a:t>mice_df$treatment</a:t>
            </a:r>
            <a:r>
              <a:rPr lang="en-CA" sz="1200" dirty="0">
                <a:latin typeface="Aptos Mono" panose="020B0009020202020204" pitchFamily="49" charset="0"/>
              </a:rPr>
              <a:t>)],     </a:t>
            </a:r>
          </a:p>
          <a:p>
            <a:r>
              <a:rPr lang="en-CA" sz="1200" dirty="0">
                <a:latin typeface="Aptos Mono" panose="020B0009020202020204" pitchFamily="49" charset="0"/>
              </a:rPr>
              <a:t>   </a:t>
            </a:r>
            <a:r>
              <a:rPr lang="en-CA" sz="1200" dirty="0" err="1">
                <a:latin typeface="Aptos Mono" panose="020B0009020202020204" pitchFamily="49" charset="0"/>
              </a:rPr>
              <a:t>CexVar</a:t>
            </a:r>
            <a:r>
              <a:rPr lang="en-CA" sz="1200" dirty="0">
                <a:latin typeface="Aptos Mono" panose="020B0009020202020204" pitchFamily="49" charset="0"/>
              </a:rPr>
              <a:t>   = 1.4,     </a:t>
            </a:r>
          </a:p>
          <a:p>
            <a:r>
              <a:rPr lang="en-CA" sz="1200" dirty="0">
                <a:latin typeface="Aptos Mono" panose="020B0009020202020204" pitchFamily="49" charset="0"/>
              </a:rPr>
              <a:t>   </a:t>
            </a:r>
            <a:r>
              <a:rPr lang="en-CA" sz="1200" dirty="0" err="1">
                <a:latin typeface="Aptos Mono" panose="020B0009020202020204" pitchFamily="49" charset="0"/>
              </a:rPr>
              <a:t>ColorVar</a:t>
            </a:r>
            <a:r>
              <a:rPr lang="en-CA" sz="1200" dirty="0">
                <a:latin typeface="Aptos Mono" panose="020B0009020202020204" pitchFamily="49" charset="0"/>
              </a:rPr>
              <a:t> = "</a:t>
            </a:r>
            <a:r>
              <a:rPr lang="en-CA" sz="1200" dirty="0" err="1">
                <a:latin typeface="Aptos Mono" panose="020B0009020202020204" pitchFamily="49" charset="0"/>
              </a:rPr>
              <a:t>darkred</a:t>
            </a:r>
            <a:r>
              <a:rPr lang="en-CA" sz="1200" dirty="0">
                <a:latin typeface="Aptos Mono" panose="020B0009020202020204" pitchFamily="49" charset="0"/>
              </a:rPr>
              <a:t>", </a:t>
            </a:r>
          </a:p>
          <a:p>
            <a:r>
              <a:rPr lang="en-CA" sz="1200" dirty="0">
                <a:latin typeface="Aptos Mono" panose="020B0009020202020204" pitchFamily="49" charset="0"/>
              </a:rPr>
              <a:t>   </a:t>
            </a:r>
            <a:r>
              <a:rPr lang="en-CA" sz="1200" dirty="0" err="1">
                <a:latin typeface="Aptos Mono" panose="020B0009020202020204" pitchFamily="49" charset="0"/>
              </a:rPr>
              <a:t>xpd</a:t>
            </a:r>
            <a:r>
              <a:rPr lang="en-CA" sz="1200" dirty="0">
                <a:latin typeface="Aptos Mono" panose="020B0009020202020204" pitchFamily="49" charset="0"/>
              </a:rPr>
              <a:t>      = TRUE)</a:t>
            </a:r>
          </a:p>
          <a:p>
            <a:r>
              <a:rPr lang="en-CA" sz="1200" dirty="0" err="1">
                <a:latin typeface="Aptos Mono" panose="020B0009020202020204" pitchFamily="49" charset="0"/>
              </a:rPr>
              <a:t>abline</a:t>
            </a:r>
            <a:r>
              <a:rPr lang="en-CA" sz="1200" dirty="0">
                <a:latin typeface="Aptos Mono" panose="020B0009020202020204" pitchFamily="49" charset="0"/>
              </a:rPr>
              <a:t>(h = 0, v = 0, col = "gray")</a:t>
            </a:r>
          </a:p>
        </p:txBody>
      </p:sp>
    </p:spTree>
    <p:extLst>
      <p:ext uri="{BB962C8B-B14F-4D97-AF65-F5344CB8AC3E}">
        <p14:creationId xmlns:p14="http://schemas.microsoft.com/office/powerpoint/2010/main" val="38172894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823BF-2630-8AE8-C195-B5B9CE7CC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Generalized log odds ratios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1C6545-182D-BA3B-7BE7-F6D9D4242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2138BE-D2C7-D38C-9B41-E40F16AB8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71428" cy="25523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F8F78C-BB4F-E776-6F5E-A1ADD48AE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918092"/>
            <a:ext cx="2419048" cy="2419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30D951-D43E-0DB6-4BAF-248945D62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3908727"/>
            <a:ext cx="2371429" cy="2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5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823BF-2630-8AE8-C195-B5B9CE7CC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Generalized log odds ratios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1C6545-182D-BA3B-7BE7-F6D9D4242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28E586-1DAA-752A-9626-557A93613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95400"/>
            <a:ext cx="8171428" cy="16666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521686-A929-6B4A-D168-135B80650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3191114"/>
            <a:ext cx="8171428" cy="19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656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2802F-0300-126B-865C-59D03CFF2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Models for log odds ratios: Computation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35B0C7-35F0-465B-8E40-9CCCA07CD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B5C56D-79F5-3937-59AA-1A82A2CBD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95400"/>
            <a:ext cx="8171428" cy="2961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0ECBE9-964C-9CE0-53F3-A2061A64B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4383017"/>
            <a:ext cx="8171428" cy="9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173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12024-7F45-0132-7E84-497825DB7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Models for log odds ratios: Computation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770918-B935-708E-038A-60E6C524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50C69D-84B8-48F5-D56B-9CB6D797B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400791"/>
            <a:ext cx="8171428" cy="492380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5C3F3FF-4538-0A14-E6ED-D2FA2E261C71}"/>
              </a:ext>
            </a:extLst>
          </p:cNvPr>
          <p:cNvGrpSpPr/>
          <p:nvPr/>
        </p:nvGrpSpPr>
        <p:grpSpPr>
          <a:xfrm>
            <a:off x="1524000" y="2362200"/>
            <a:ext cx="914400" cy="1143000"/>
            <a:chOff x="1524000" y="2362200"/>
            <a:chExt cx="914400" cy="1143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85595-18D4-F27C-3BA8-FE9BE75F9433}"/>
                </a:ext>
              </a:extLst>
            </p:cNvPr>
            <p:cNvSpPr/>
            <p:nvPr/>
          </p:nvSpPr>
          <p:spPr>
            <a:xfrm>
              <a:off x="1524000" y="2362200"/>
              <a:ext cx="914400" cy="486000"/>
            </a:xfrm>
            <a:prstGeom prst="rect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0B8863C-80EF-1A66-6CA0-FB71C9905E75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flipH="1">
              <a:off x="1676400" y="2848200"/>
              <a:ext cx="304800" cy="6570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212228A-3A3D-CC66-F761-6274364267B8}"/>
              </a:ext>
            </a:extLst>
          </p:cNvPr>
          <p:cNvGrpSpPr/>
          <p:nvPr/>
        </p:nvGrpSpPr>
        <p:grpSpPr>
          <a:xfrm>
            <a:off x="1981200" y="2378075"/>
            <a:ext cx="914400" cy="1050925"/>
            <a:chOff x="1981200" y="2378075"/>
            <a:chExt cx="914400" cy="10509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3FA1CFD-20D8-1150-1681-D4FC06CE36BF}"/>
                </a:ext>
              </a:extLst>
            </p:cNvPr>
            <p:cNvSpPr/>
            <p:nvPr/>
          </p:nvSpPr>
          <p:spPr>
            <a:xfrm>
              <a:off x="1981200" y="2378075"/>
              <a:ext cx="914400" cy="486000"/>
            </a:xfrm>
            <a:prstGeom prst="rect">
              <a:avLst/>
            </a:prstGeom>
            <a:noFill/>
            <a:ln w="222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505C4C1-F96D-E965-FE22-3D318F29E3A5}"/>
                </a:ext>
              </a:extLst>
            </p:cNvPr>
            <p:cNvCxnSpPr/>
            <p:nvPr/>
          </p:nvCxnSpPr>
          <p:spPr>
            <a:xfrm>
              <a:off x="2438400" y="2848200"/>
              <a:ext cx="0" cy="580800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9249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EBE38-94AF-9F43-0E10-50D21F35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sz="4400" dirty="0"/>
              <a:t>Models for log odds ratios: Estimation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71B198-2D69-9A61-6561-FB0A1AA74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CE756C-11DB-13F6-A7B9-2A6F8121F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95400"/>
            <a:ext cx="8171428" cy="41333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F6DB90-D592-2483-539A-1E229265B8FE}"/>
              </a:ext>
            </a:extLst>
          </p:cNvPr>
          <p:cNvSpPr txBox="1"/>
          <p:nvPr/>
        </p:nvSpPr>
        <p:spPr>
          <a:xfrm>
            <a:off x="457200" y="5715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Technical note: for simplicity, I use 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dirty="0"/>
              <a:t>for WLS, with S</a:t>
            </a:r>
            <a:r>
              <a:rPr lang="en-CA" baseline="30000" dirty="0"/>
              <a:t>-1</a:t>
            </a:r>
            <a:r>
              <a:rPr lang="en-CA" dirty="0"/>
              <a:t> = </a:t>
            </a:r>
            <a:r>
              <a:rPr lang="en-CA" dirty="0" err="1"/>
              <a:t>diag</a:t>
            </a:r>
            <a:r>
              <a:rPr lang="en-CA" dirty="0"/>
              <a:t>(1/ASE</a:t>
            </a:r>
            <a:r>
              <a:rPr lang="en-CA" baseline="30000" dirty="0"/>
              <a:t>2</a:t>
            </a:r>
            <a:r>
              <a:rPr lang="en-CA" dirty="0"/>
              <a:t>)</a:t>
            </a:r>
          </a:p>
          <a:p>
            <a:r>
              <a:rPr lang="en-CA" dirty="0"/>
              <a:t>Should use 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nlme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gls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dirty="0"/>
              <a:t>instead using the full S</a:t>
            </a:r>
            <a:r>
              <a:rPr lang="en-CA" baseline="30000" dirty="0"/>
              <a:t>-1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4377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244B4-1230-9D03-74D4-8A533A31A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2800" dirty="0"/>
              <a:t>Example: Breathlessness &amp; wheeze in coal miners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F31B-09EE-5C69-7C1C-7F861D1F4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AB9F2A-E455-BDC2-725D-4643B7FAE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81" y="1552809"/>
            <a:ext cx="8295238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51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244B4-1230-9D03-74D4-8A533A31A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2800" dirty="0"/>
              <a:t>Example: Breathlessness &amp; wheeze in coal miners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F31B-09EE-5C69-7C1C-7F861D1F4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771399-F3B8-F5C8-1D66-3FB86FE68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53162"/>
            <a:ext cx="8171428" cy="48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94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66373-2449-35B1-73AF-F6E56F73D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Coal miners: Log odds &amp;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F8707-7726-84D8-3867-E04BFE74D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226C24-6DDC-90C2-5587-DE2920DC9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62238"/>
            <a:ext cx="8171428" cy="1304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638DD1-ED43-F38D-3011-077F5042C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47" y="2895600"/>
            <a:ext cx="8161905" cy="13238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597A6F-5B6D-80A5-CCDF-0276FF016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811" y="4419600"/>
            <a:ext cx="8171428" cy="15714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FA1F36-F84B-DBB9-82C0-5226116FEE4D}"/>
              </a:ext>
            </a:extLst>
          </p:cNvPr>
          <p:cNvSpPr txBox="1"/>
          <p:nvPr/>
        </p:nvSpPr>
        <p:spPr>
          <a:xfrm>
            <a:off x="609600" y="617220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Should be using </a:t>
            </a:r>
            <a:r>
              <a:rPr lang="en-CA" dirty="0" err="1"/>
              <a:t>gls</a:t>
            </a:r>
            <a:r>
              <a:rPr lang="en-CA" dirty="0"/>
              <a:t>() here</a:t>
            </a:r>
          </a:p>
        </p:txBody>
      </p:sp>
    </p:spTree>
    <p:extLst>
      <p:ext uri="{BB962C8B-B14F-4D97-AF65-F5344CB8AC3E}">
        <p14:creationId xmlns:p14="http://schemas.microsoft.com/office/powerpoint/2010/main" val="11190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FABD1-E12D-DC2B-1427-055D5AF4B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Coal miners: LOR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BA3F91-3635-FE44-51C6-18C78C82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C36889-2947-22D2-3AD6-8C168BBB3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29352"/>
            <a:ext cx="8171428" cy="50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FABD1-E12D-DC2B-1427-055D5AF4B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Coal miners: Model comparisons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BA3F91-3635-FE44-51C6-18C78C82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EB824F-7856-5D7A-2700-AE3723F9E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71857"/>
            <a:ext cx="8171428" cy="4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95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75282-4007-ABFB-EFFF-FEBF317B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Going further: Bivariate response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AB3895-B6A8-0CC3-C852-5D9C9C0B7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1375FF-8E53-55F5-69D9-BD57FA46E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67419"/>
            <a:ext cx="8171428" cy="47523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298861-F101-89DD-D606-2E533AB5CCC8}"/>
              </a:ext>
            </a:extLst>
          </p:cNvPr>
          <p:cNvSpPr txBox="1"/>
          <p:nvPr/>
        </p:nvSpPr>
        <p:spPr>
          <a:xfrm>
            <a:off x="1066800" y="6290846"/>
            <a:ext cx="678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(👁,‿,👁) See: DDAR, Example 10.9; Section 10.4.1.2 for these examples</a:t>
            </a:r>
          </a:p>
        </p:txBody>
      </p:sp>
    </p:spTree>
    <p:extLst>
      <p:ext uri="{BB962C8B-B14F-4D97-AF65-F5344CB8AC3E}">
        <p14:creationId xmlns:p14="http://schemas.microsoft.com/office/powerpoint/2010/main" val="3447147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9FA0C-F38F-576E-483D-FA47E1EBB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Calculating…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32CDFA-313D-A62E-0204-D5BA7FEA5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0E9332-31E1-7D1B-C75D-4049297B597D}"/>
              </a:ext>
            </a:extLst>
          </p:cNvPr>
          <p:cNvSpPr txBox="1"/>
          <p:nvPr/>
        </p:nvSpPr>
        <p:spPr>
          <a:xfrm>
            <a:off x="457200" y="1577876"/>
            <a:ext cx="8229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data(coalminers, package = "VGAM")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coalminers &lt;- transform(coalminers, Age = (age - 42) / 5)</a:t>
            </a:r>
          </a:p>
          <a:p>
            <a:endParaRPr lang="en-CA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logitsCM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&lt;-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vcdExtra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::</a:t>
            </a:r>
            <a:r>
              <a:rPr lang="en-CA" sz="1400" b="1" dirty="0" err="1">
                <a:latin typeface="Aptos Mono" panose="020B0009020202020204" pitchFamily="49" charset="0"/>
                <a:cs typeface="Courier New" panose="02070309020205020404" pitchFamily="49" charset="0"/>
              </a:rPr>
              <a:t>blogits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(coalminers[, 1:4], add = 0.5)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colnames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logitsCM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)[1:2] &lt;- c("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logitB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", "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logitW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logitsCM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&lt;-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cbind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logitsCM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coalminers[, c("age", "Age")])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logitsCM</a:t>
            </a:r>
            <a:endParaRPr lang="en-CA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5225C8-CEBC-29A5-B961-9954BD763DBC}"/>
              </a:ext>
            </a:extLst>
          </p:cNvPr>
          <p:cNvSpPr txBox="1"/>
          <p:nvPr/>
        </p:nvSpPr>
        <p:spPr>
          <a:xfrm>
            <a:off x="457200" y="1143000"/>
            <a:ext cx="8229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Logits and log odds for a bivariate response can be calculated with </a:t>
            </a:r>
            <a:r>
              <a:rPr lang="en-CA" dirty="0" err="1"/>
              <a:t>vcdExtra</a:t>
            </a:r>
            <a:r>
              <a:rPr lang="en-CA" dirty="0"/>
              <a:t>::</a:t>
            </a:r>
            <a:r>
              <a:rPr lang="en-CA" dirty="0" err="1"/>
              <a:t>blogits</a:t>
            </a:r>
            <a:r>
              <a:rPr lang="en-CA" dirty="0"/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6240DA-3D70-85C1-6C32-466F7ED30D61}"/>
              </a:ext>
            </a:extLst>
          </p:cNvPr>
          <p:cNvSpPr txBox="1"/>
          <p:nvPr/>
        </p:nvSpPr>
        <p:spPr>
          <a:xfrm>
            <a:off x="533400" y="3733800"/>
            <a:ext cx="8153400" cy="255454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logitB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logitW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logOR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age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Age</a:t>
            </a:r>
            <a:endParaRPr lang="en-CA" sz="16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1 -4.736 -2.868  3.20  22  -4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2 -3.977 -2.557  3.66  27  -3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3 -3.317 -2.094  3.38  32  -2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4 -2.733 -1.848  3.13  37  -1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5 -2.215 -1.420  3.01  42   0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6 -1.739 -1.109  2.78  47   1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7 -1.101 -0.797  2.92  52   2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8 -0.758 -0.572  2.44  57   3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9 -0.319 -0.226  2.63  62   4</a:t>
            </a:r>
          </a:p>
        </p:txBody>
      </p:sp>
    </p:spTree>
    <p:extLst>
      <p:ext uri="{BB962C8B-B14F-4D97-AF65-F5344CB8AC3E}">
        <p14:creationId xmlns:p14="http://schemas.microsoft.com/office/powerpoint/2010/main" val="3842136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72CF6-1A4E-1ACE-0A8F-90CD70F06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/>
              <a:t>Linear model for log odds and log odds ratios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342D3D-5E22-FBB3-FC53-2E485B191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72F882-678B-F214-250C-5CFEABBEC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562695"/>
            <a:ext cx="8171428" cy="47619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530166-87A4-1D76-5DD6-9E048BECFD15}"/>
              </a:ext>
            </a:extLst>
          </p:cNvPr>
          <p:cNvSpPr txBox="1"/>
          <p:nvPr/>
        </p:nvSpPr>
        <p:spPr>
          <a:xfrm>
            <a:off x="6019800" y="1676400"/>
            <a:ext cx="243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Log odds &amp; LORs have similar scales, so it is not terrible to plot them together</a:t>
            </a:r>
          </a:p>
        </p:txBody>
      </p:sp>
    </p:spTree>
    <p:extLst>
      <p:ext uri="{BB962C8B-B14F-4D97-AF65-F5344CB8AC3E}">
        <p14:creationId xmlns:p14="http://schemas.microsoft.com/office/powerpoint/2010/main" val="1292110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72CF6-1A4E-1ACE-0A8F-90CD70F06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/>
              <a:t>Linear model for log odds and log odds ratios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342D3D-5E22-FBB3-FC53-2E485B191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4F9389-5F9D-0EC3-5171-716F598B5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2057400"/>
            <a:ext cx="8171428" cy="31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72CF6-1A4E-1ACE-0A8F-90CD70F06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/>
              <a:t>Quadratic model for log odds and log odds ratios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342D3D-5E22-FBB3-FC53-2E485B191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64E18B-1A5C-A240-FEF5-B5C8FC164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629000"/>
            <a:ext cx="8171428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0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0C36E-8960-E9F8-DE10-C4D1C31CC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Plotting 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543528-9396-6D50-2AF8-CEC7EECD6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AAF648-EB82-FDB1-E45D-7FCF605C2E63}"/>
              </a:ext>
            </a:extLst>
          </p:cNvPr>
          <p:cNvSpPr txBox="1"/>
          <p:nvPr/>
        </p:nvSpPr>
        <p:spPr>
          <a:xfrm>
            <a:off x="533400" y="1586805"/>
            <a:ext cx="81534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matplot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(age,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logitsCM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[, 1:3], type = "p",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col = col,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pch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=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pch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cex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= 1.2,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cex.lab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= 1.25,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xlab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= "Age",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ylab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= "Log Odds or Odds Ratio")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abline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lm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logitsCM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[,1] ~ age), col = col[1],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lwd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= 2)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abline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lm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logitsCM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[,2] ~ age), col = col[2],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lwd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= 2)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abline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lm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logitsCM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[,3] ~ age), col = col[3],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lwd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= 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DF71AC-4426-7E5F-2F8C-931BD2660B34}"/>
              </a:ext>
            </a:extLst>
          </p:cNvPr>
          <p:cNvSpPr txBox="1"/>
          <p:nvPr/>
        </p:nvSpPr>
        <p:spPr>
          <a:xfrm>
            <a:off x="457200" y="1066800"/>
            <a:ext cx="8229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With the data in this form, we can use 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dirty="0"/>
              <a:t>to plot each column against 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8CCAB3-8E36-E06E-CDCC-116F431CE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343" y="3415103"/>
            <a:ext cx="3885714" cy="31238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91D8CC-AD49-8A26-E161-207FA9B2AF84}"/>
              </a:ext>
            </a:extLst>
          </p:cNvPr>
          <p:cNvSpPr txBox="1"/>
          <p:nvPr/>
        </p:nvSpPr>
        <p:spPr>
          <a:xfrm>
            <a:off x="533400" y="3581400"/>
            <a:ext cx="388571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To plot the quadratic fit, simply use</a:t>
            </a:r>
          </a:p>
          <a:p>
            <a:endParaRPr lang="en-CA" dirty="0"/>
          </a:p>
          <a:p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logitsCM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[,1] ~ poly(age,2)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FF25F7-70F0-0360-62BC-C64E93AC0764}"/>
              </a:ext>
            </a:extLst>
          </p:cNvPr>
          <p:cNvSpPr txBox="1"/>
          <p:nvPr/>
        </p:nvSpPr>
        <p:spPr>
          <a:xfrm>
            <a:off x="533400" y="4953000"/>
            <a:ext cx="388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But: this is NOT a model. It simply fits each set of odds separately</a:t>
            </a:r>
          </a:p>
        </p:txBody>
      </p:sp>
    </p:spTree>
    <p:extLst>
      <p:ext uri="{BB962C8B-B14F-4D97-AF65-F5344CB8AC3E}">
        <p14:creationId xmlns:p14="http://schemas.microsoft.com/office/powerpoint/2010/main" val="307090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5BF59-30EF-F05D-E649-6BF3672F2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Fitting: VGAM::</a:t>
            </a:r>
            <a:r>
              <a:rPr lang="en-CA" dirty="0" err="1"/>
              <a:t>vglm</a:t>
            </a:r>
            <a:r>
              <a:rPr lang="en-CA" dirty="0"/>
              <a:t>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113E28-46C8-2B0A-4A8E-0346D35A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3748E0-EE67-9A03-F40E-7D518997FC77}"/>
              </a:ext>
            </a:extLst>
          </p:cNvPr>
          <p:cNvSpPr txBox="1"/>
          <p:nvPr/>
        </p:nvSpPr>
        <p:spPr>
          <a:xfrm>
            <a:off x="457200" y="12192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VGAM::</a:t>
            </a:r>
            <a:r>
              <a:rPr lang="en-CA" dirty="0" err="1"/>
              <a:t>vglm</a:t>
            </a:r>
            <a:r>
              <a:rPr lang="en-CA" dirty="0"/>
              <a:t>() can fit a wide class of models for a vector of multivariate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The family 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binom2.or() </a:t>
            </a:r>
            <a:r>
              <a:rPr lang="en-CA" dirty="0"/>
              <a:t>is used for bivariate logistic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An argument 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zero= </a:t>
            </a:r>
            <a:r>
              <a:rPr lang="en-CA" dirty="0"/>
              <a:t>allows the logit or odds ratio </a:t>
            </a:r>
            <a:r>
              <a:rPr lang="en-CA" dirty="0" err="1"/>
              <a:t>submodels</a:t>
            </a:r>
            <a:r>
              <a:rPr lang="en-CA" dirty="0"/>
              <a:t> to be constrained to intercept-only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1961E-F035-AF54-F03A-69F38AFB587C}"/>
              </a:ext>
            </a:extLst>
          </p:cNvPr>
          <p:cNvSpPr txBox="1"/>
          <p:nvPr/>
        </p:nvSpPr>
        <p:spPr>
          <a:xfrm>
            <a:off x="457200" y="2514600"/>
            <a:ext cx="8229600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cm.vglm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&lt;-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vglm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cbind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nBnW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nBW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BnW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BW) ~ Age,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</a:t>
            </a:r>
            <a:r>
              <a:rPr lang="en-CA" sz="1600" b="1" dirty="0">
                <a:latin typeface="Aptos Mono" panose="020B0009020202020204" pitchFamily="49" charset="0"/>
                <a:cs typeface="Courier New" panose="02070309020205020404" pitchFamily="49" charset="0"/>
              </a:rPr>
              <a:t>binom2.or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(zero = NULL), data = coalminers)</a:t>
            </a:r>
          </a:p>
          <a:p>
            <a:endParaRPr lang="en-CA" sz="16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exp(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coef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cm.vglm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matrix = TRUE))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E70EB-5250-85F1-4F91-E8A4B01118EB}"/>
              </a:ext>
            </a:extLst>
          </p:cNvPr>
          <p:cNvSpPr txBox="1"/>
          <p:nvPr/>
        </p:nvSpPr>
        <p:spPr>
          <a:xfrm>
            <a:off x="457200" y="3810000"/>
            <a:ext cx="8229600" cy="73866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logitlink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(mu1)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logitlink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(mu2)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loglink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oratio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(Intercept)          0.104          0.226          20.530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Age                  1.673          1.385           0.877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29077A-9B9C-92B7-C991-07B01163CE0A}"/>
              </a:ext>
            </a:extLst>
          </p:cNvPr>
          <p:cNvSpPr txBox="1"/>
          <p:nvPr/>
        </p:nvSpPr>
        <p:spPr>
          <a:xfrm>
            <a:off x="533400" y="4876800"/>
            <a:ext cx="815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Each 5 years of 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Multiplies odds of breathlessness by 1.67, a 67% increase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Multiplies odds of wheeze by 1.38, a 38% increase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Multiplies the OR for association by 0.88, a 12 % decrease</a:t>
            </a:r>
          </a:p>
        </p:txBody>
      </p:sp>
    </p:spTree>
    <p:extLst>
      <p:ext uri="{BB962C8B-B14F-4D97-AF65-F5344CB8AC3E}">
        <p14:creationId xmlns:p14="http://schemas.microsoft.com/office/powerpoint/2010/main" val="387642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218D51-51DD-E296-59D3-9D106B48F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857644"/>
            <a:ext cx="4422058" cy="37717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304E45-12DA-B363-3CB9-4DE1AE9BF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Plotting the model fit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0EF58A-D89A-1D95-0C9C-2FCB2166C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45473C-187E-0F6F-B0B3-87CC619A0A96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VGAM::fitted() returns the </a:t>
            </a:r>
            <a:r>
              <a:rPr lang="en-CA" dirty="0">
                <a:solidFill>
                  <a:srgbClr val="0070C0"/>
                </a:solidFill>
              </a:rPr>
              <a:t>fitted</a:t>
            </a:r>
            <a:r>
              <a:rPr lang="en-CA" dirty="0"/>
              <a:t> values on the probability scale</a:t>
            </a:r>
          </a:p>
          <a:p>
            <a:r>
              <a:rPr lang="en-CA" dirty="0"/>
              <a:t>VGAM::</a:t>
            </a:r>
            <a:r>
              <a:rPr lang="en-CA" dirty="0" err="1"/>
              <a:t>depvar</a:t>
            </a:r>
            <a:r>
              <a:rPr lang="en-CA" dirty="0"/>
              <a:t>() returns the </a:t>
            </a:r>
            <a:r>
              <a:rPr lang="en-CA" dirty="0">
                <a:solidFill>
                  <a:srgbClr val="0070C0"/>
                </a:solidFill>
              </a:rPr>
              <a:t>observed</a:t>
            </a:r>
            <a:r>
              <a:rPr lang="en-CA" dirty="0"/>
              <a:t> values on the probability scale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F7BBA9-DB09-57D5-4481-657B1C51912A}"/>
              </a:ext>
            </a:extLst>
          </p:cNvPr>
          <p:cNvSpPr txBox="1"/>
          <p:nvPr/>
        </p:nvSpPr>
        <p:spPr>
          <a:xfrm>
            <a:off x="533400" y="2133600"/>
            <a:ext cx="3662905" cy="246221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P &lt;- fitted(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cm.vglm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 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colnames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(P) &lt;- c("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bw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", "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bW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",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"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Bw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", "BW")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P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bw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bW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Bw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BW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1 0.94 0.049 0.0046 0.0085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2 0.91 0.064 0.0070 0.0148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3 0.88 0.080 0.0105 0.0254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4 0.84 0.097 0.0158 0.0428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5 0.79 0.114 0.0239 0.0704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8BC33-7199-5456-A5B6-DA4F48499ABE}"/>
              </a:ext>
            </a:extLst>
          </p:cNvPr>
          <p:cNvSpPr txBox="1"/>
          <p:nvPr/>
        </p:nvSpPr>
        <p:spPr>
          <a:xfrm>
            <a:off x="457200" y="4724400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You can get these on the logit scale using the inverse logit function, </a:t>
            </a:r>
            <a:r>
              <a:rPr lang="en-CA" dirty="0" err="1"/>
              <a:t>qlogis</a:t>
            </a:r>
            <a:r>
              <a:rPr lang="en-CA" dirty="0"/>
              <a:t>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A3B73-F495-1076-CEDD-0E4642FF43FD}"/>
              </a:ext>
            </a:extLst>
          </p:cNvPr>
          <p:cNvSpPr txBox="1"/>
          <p:nvPr/>
        </p:nvSpPr>
        <p:spPr>
          <a:xfrm>
            <a:off x="533400" y="5638800"/>
            <a:ext cx="3662905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LP &lt;-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qlogis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(P)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LY &lt;-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qlogis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20B6FA-E8E8-413A-6CD8-155EF8FBCFDA}"/>
              </a:ext>
            </a:extLst>
          </p:cNvPr>
          <p:cNvSpPr txBox="1"/>
          <p:nvPr/>
        </p:nvSpPr>
        <p:spPr>
          <a:xfrm>
            <a:off x="4572000" y="2123768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plot is made using </a:t>
            </a:r>
            <a:r>
              <a:rPr lang="en-CA" dirty="0" err="1"/>
              <a:t>matplot</a:t>
            </a:r>
            <a:r>
              <a:rPr lang="en-CA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90267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8D1C3-5B64-D13C-6C2C-BBDC0FF9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Other possibilities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584BBA-EA5E-CE0B-6CCE-E18A3BD4F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B14D2A-09D0-1E4D-35D8-79AE1D92E442}"/>
              </a:ext>
            </a:extLst>
          </p:cNvPr>
          <p:cNvSpPr txBox="1"/>
          <p:nvPr/>
        </p:nvSpPr>
        <p:spPr>
          <a:xfrm>
            <a:off x="457200" y="1752600"/>
            <a:ext cx="8229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</a:rPr>
              <a:t>cm.vglm2 &lt;- </a:t>
            </a:r>
            <a:r>
              <a:rPr lang="en-CA" sz="1600" dirty="0" err="1">
                <a:latin typeface="Aptos Mono" panose="020B0009020202020204" pitchFamily="49" charset="0"/>
              </a:rPr>
              <a:t>vglm</a:t>
            </a:r>
            <a:r>
              <a:rPr lang="en-CA" sz="1600" dirty="0">
                <a:latin typeface="Aptos Mono" panose="020B0009020202020204" pitchFamily="49" charset="0"/>
              </a:rPr>
              <a:t>(</a:t>
            </a:r>
            <a:r>
              <a:rPr lang="en-CA" sz="1600" dirty="0" err="1">
                <a:latin typeface="Aptos Mono" panose="020B0009020202020204" pitchFamily="49" charset="0"/>
              </a:rPr>
              <a:t>cbind</a:t>
            </a:r>
            <a:r>
              <a:rPr lang="en-CA" sz="1600" dirty="0">
                <a:latin typeface="Aptos Mono" panose="020B0009020202020204" pitchFamily="49" charset="0"/>
              </a:rPr>
              <a:t>(</a:t>
            </a:r>
            <a:r>
              <a:rPr lang="en-CA" sz="1600" dirty="0" err="1">
                <a:latin typeface="Aptos Mono" panose="020B0009020202020204" pitchFamily="49" charset="0"/>
              </a:rPr>
              <a:t>nBnW</a:t>
            </a:r>
            <a:r>
              <a:rPr lang="en-CA" sz="1600" dirty="0">
                <a:latin typeface="Aptos Mono" panose="020B0009020202020204" pitchFamily="49" charset="0"/>
              </a:rPr>
              <a:t>, </a:t>
            </a:r>
            <a:r>
              <a:rPr lang="en-CA" sz="1600" dirty="0" err="1">
                <a:latin typeface="Aptos Mono" panose="020B0009020202020204" pitchFamily="49" charset="0"/>
              </a:rPr>
              <a:t>nBW</a:t>
            </a:r>
            <a:r>
              <a:rPr lang="en-CA" sz="1600" dirty="0">
                <a:latin typeface="Aptos Mono" panose="020B0009020202020204" pitchFamily="49" charset="0"/>
              </a:rPr>
              <a:t>, </a:t>
            </a:r>
            <a:r>
              <a:rPr lang="en-CA" sz="1600" dirty="0" err="1">
                <a:latin typeface="Aptos Mono" panose="020B0009020202020204" pitchFamily="49" charset="0"/>
              </a:rPr>
              <a:t>BnW</a:t>
            </a:r>
            <a:r>
              <a:rPr lang="en-CA" sz="1600" dirty="0">
                <a:latin typeface="Aptos Mono" panose="020B0009020202020204" pitchFamily="49" charset="0"/>
              </a:rPr>
              <a:t>, BW) ~ </a:t>
            </a:r>
            <a:r>
              <a:rPr lang="en-CA" sz="1600" b="1" dirty="0">
                <a:latin typeface="Aptos Mono" panose="020B0009020202020204" pitchFamily="49" charset="0"/>
              </a:rPr>
              <a:t>poly(Age,2),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                 binom2.or(zero = NULL), 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                 data = coalminers)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10618-20DC-04A6-D903-33FF80EF0FA8}"/>
              </a:ext>
            </a:extLst>
          </p:cNvPr>
          <p:cNvSpPr txBox="1"/>
          <p:nvPr/>
        </p:nvSpPr>
        <p:spPr>
          <a:xfrm>
            <a:off x="533400" y="3512403"/>
            <a:ext cx="81534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 err="1">
                <a:latin typeface="Aptos Mono" panose="020B0009020202020204" pitchFamily="49" charset="0"/>
              </a:rPr>
              <a:t>cm.vgam</a:t>
            </a:r>
            <a:r>
              <a:rPr lang="en-CA" sz="1600" dirty="0">
                <a:latin typeface="Aptos Mono" panose="020B0009020202020204" pitchFamily="49" charset="0"/>
              </a:rPr>
              <a:t> &lt;- </a:t>
            </a:r>
            <a:r>
              <a:rPr lang="en-CA" sz="1600" dirty="0" err="1">
                <a:latin typeface="Aptos Mono" panose="020B0009020202020204" pitchFamily="49" charset="0"/>
              </a:rPr>
              <a:t>vgam</a:t>
            </a:r>
            <a:r>
              <a:rPr lang="en-CA" sz="1600" dirty="0">
                <a:latin typeface="Aptos Mono" panose="020B0009020202020204" pitchFamily="49" charset="0"/>
              </a:rPr>
              <a:t>(</a:t>
            </a:r>
            <a:r>
              <a:rPr lang="en-CA" sz="1600" dirty="0" err="1">
                <a:latin typeface="Aptos Mono" panose="020B0009020202020204" pitchFamily="49" charset="0"/>
              </a:rPr>
              <a:t>cbind</a:t>
            </a:r>
            <a:r>
              <a:rPr lang="en-CA" sz="1600" dirty="0">
                <a:latin typeface="Aptos Mono" panose="020B0009020202020204" pitchFamily="49" charset="0"/>
              </a:rPr>
              <a:t>(</a:t>
            </a:r>
            <a:r>
              <a:rPr lang="en-CA" sz="1600" dirty="0" err="1">
                <a:latin typeface="Aptos Mono" panose="020B0009020202020204" pitchFamily="49" charset="0"/>
              </a:rPr>
              <a:t>nBnW</a:t>
            </a:r>
            <a:r>
              <a:rPr lang="en-CA" sz="1600" dirty="0">
                <a:latin typeface="Aptos Mono" panose="020B0009020202020204" pitchFamily="49" charset="0"/>
              </a:rPr>
              <a:t>, </a:t>
            </a:r>
            <a:r>
              <a:rPr lang="en-CA" sz="1600" dirty="0" err="1">
                <a:latin typeface="Aptos Mono" panose="020B0009020202020204" pitchFamily="49" charset="0"/>
              </a:rPr>
              <a:t>nBW</a:t>
            </a:r>
            <a:r>
              <a:rPr lang="en-CA" sz="1600" dirty="0">
                <a:latin typeface="Aptos Mono" panose="020B0009020202020204" pitchFamily="49" charset="0"/>
              </a:rPr>
              <a:t>, </a:t>
            </a:r>
            <a:r>
              <a:rPr lang="en-CA" sz="1600" dirty="0" err="1">
                <a:latin typeface="Aptos Mono" panose="020B0009020202020204" pitchFamily="49" charset="0"/>
              </a:rPr>
              <a:t>BnW</a:t>
            </a:r>
            <a:r>
              <a:rPr lang="en-CA" sz="1600" dirty="0">
                <a:latin typeface="Aptos Mono" panose="020B0009020202020204" pitchFamily="49" charset="0"/>
              </a:rPr>
              <a:t>, BW) ~ </a:t>
            </a:r>
            <a:r>
              <a:rPr lang="en-CA" sz="1600" b="1" dirty="0">
                <a:latin typeface="Aptos Mono" panose="020B0009020202020204" pitchFamily="49" charset="0"/>
              </a:rPr>
              <a:t>s(Age, </a:t>
            </a:r>
            <a:r>
              <a:rPr lang="en-CA" sz="1600" b="1" dirty="0" err="1">
                <a:latin typeface="Aptos Mono" panose="020B0009020202020204" pitchFamily="49" charset="0"/>
              </a:rPr>
              <a:t>df</a:t>
            </a:r>
            <a:r>
              <a:rPr lang="en-CA" sz="1600" b="1" dirty="0">
                <a:latin typeface="Aptos Mono" panose="020B0009020202020204" pitchFamily="49" charset="0"/>
              </a:rPr>
              <a:t> = 2),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                 binom2.or(zero = NULL), 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                 data = coalminers)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B4B82A-BA00-880D-6C39-A26D597B4EF1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We can also model the relations with age as a quadratic, cubic,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1C720-A2BB-3348-DBFD-F112102BB9BB}"/>
              </a:ext>
            </a:extLst>
          </p:cNvPr>
          <p:cNvSpPr txBox="1"/>
          <p:nvPr/>
        </p:nvSpPr>
        <p:spPr>
          <a:xfrm>
            <a:off x="533400" y="2907268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VGAM also implements vector </a:t>
            </a:r>
            <a:r>
              <a:rPr lang="en-CA" dirty="0">
                <a:solidFill>
                  <a:srgbClr val="0070C0"/>
                </a:solidFill>
              </a:rPr>
              <a:t>generalized additive </a:t>
            </a:r>
            <a:r>
              <a:rPr lang="en-CA" dirty="0"/>
              <a:t>models, fit using 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Aptos Mono" panose="020B0009020202020204" pitchFamily="49" charset="0"/>
              </a:rPr>
              <a:t>vgam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Aptos Mono" panose="020B000902020202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02492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73984-F841-7306-D766-AD2F20C0F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3200" dirty="0"/>
              <a:t>Example: Attitudes toward corporal punishment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5B575E-999C-8FFE-2F30-AF33BE1BB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8DD070-4B0A-0D18-5CDE-87DC3A1DD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14" y="1386143"/>
            <a:ext cx="8028571" cy="4085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84B36F-3A06-6EB5-0015-2EE763AFBDE0}"/>
              </a:ext>
            </a:extLst>
          </p:cNvPr>
          <p:cNvSpPr txBox="1"/>
          <p:nvPr/>
        </p:nvSpPr>
        <p:spPr>
          <a:xfrm>
            <a:off x="762000" y="5710019"/>
            <a:ext cx="769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dirty="0"/>
              <a:t>(👁,‿,👁) See: DDAR, Example </a:t>
            </a:r>
            <a:r>
              <a:rPr lang="en-CA" dirty="0"/>
              <a:t>5.11, 5.20</a:t>
            </a:r>
            <a:r>
              <a:rPr lang="en-CA" sz="1800" dirty="0"/>
              <a:t> for </a:t>
            </a:r>
            <a:r>
              <a:rPr lang="en-CA" dirty="0"/>
              <a:t>some</a:t>
            </a:r>
            <a:r>
              <a:rPr lang="en-CA" sz="1800" dirty="0"/>
              <a:t> examples</a:t>
            </a:r>
          </a:p>
        </p:txBody>
      </p:sp>
    </p:spTree>
    <p:extLst>
      <p:ext uri="{BB962C8B-B14F-4D97-AF65-F5344CB8AC3E}">
        <p14:creationId xmlns:p14="http://schemas.microsoft.com/office/powerpoint/2010/main" val="303569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DDA7B-A5CB-D814-7CE4-BDF4E04D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Attitudes: Questions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1E8907-EF0A-4493-14D7-05D41A8B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66CD9-BC8C-E30B-EC21-B7C60D64C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71600"/>
            <a:ext cx="8171428" cy="2038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E0DF96-C81A-1E30-E196-525D183D8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3733943"/>
            <a:ext cx="8171428" cy="11428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DEFEB0-1B73-569F-7524-022F627FC082}"/>
              </a:ext>
            </a:extLst>
          </p:cNvPr>
          <p:cNvSpPr txBox="1"/>
          <p:nvPr/>
        </p:nvSpPr>
        <p:spPr>
          <a:xfrm>
            <a:off x="3048000" y="2888361"/>
            <a:ext cx="27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2753830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1BB6-BE2A-7D4C-BB82-380EB29C9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Log odds model for attitude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953C22-9200-7696-F55D-FC3E28E4E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E8600E-A344-F356-0850-411B51225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38524"/>
            <a:ext cx="8171428" cy="4380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13E2D1-3FCC-B00D-3CB3-24F8F30DB02F}"/>
              </a:ext>
            </a:extLst>
          </p:cNvPr>
          <p:cNvSpPr txBox="1"/>
          <p:nvPr/>
        </p:nvSpPr>
        <p:spPr>
          <a:xfrm>
            <a:off x="3200400" y="5638800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Q: Is this sufficient to rule out all interactions?</a:t>
            </a:r>
          </a:p>
          <a:p>
            <a:r>
              <a:rPr lang="en-CA" dirty="0"/>
              <a:t>     What could I have done instead?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1FA7CE3-9F92-ADE3-23AF-47CF7208FDBD}"/>
              </a:ext>
            </a:extLst>
          </p:cNvPr>
          <p:cNvCxnSpPr/>
          <p:nvPr/>
        </p:nvCxnSpPr>
        <p:spPr>
          <a:xfrm flipH="1" flipV="1">
            <a:off x="2590800" y="5410200"/>
            <a:ext cx="609600" cy="3048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994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8D388-7C39-7F0B-B058-F5D2EF6BF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Attitude: Effect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3AAB8C-7078-584E-1C68-9192E64B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9A9485-8610-95B6-48E9-8803F8558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429352"/>
            <a:ext cx="8171428" cy="4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779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1FA44-07EF-77B0-4D14-58ABE65D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2800" dirty="0"/>
              <a:t>Association of attitude with memory: Fourfold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E937CA-80DB-7068-B241-7DF1C23D4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FFB9EE-6EBD-A6BE-8DC3-2DCAB31DC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7" y="1562695"/>
            <a:ext cx="4257143" cy="47619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6A02A5-69AE-7CE7-4775-D13DF7D02D94}"/>
              </a:ext>
            </a:extLst>
          </p:cNvPr>
          <p:cNvSpPr txBox="1"/>
          <p:nvPr/>
        </p:nvSpPr>
        <p:spPr>
          <a:xfrm>
            <a:off x="5029200" y="1447800"/>
            <a:ext cx="3657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How does the association of </a:t>
            </a:r>
            <a:r>
              <a:rPr lang="en-CA" dirty="0">
                <a:solidFill>
                  <a:srgbClr val="FF0000"/>
                </a:solidFill>
              </a:rPr>
              <a:t>attitude</a:t>
            </a:r>
            <a:r>
              <a:rPr lang="en-CA" dirty="0"/>
              <a:t> and </a:t>
            </a:r>
            <a:r>
              <a:rPr lang="en-CA" dirty="0">
                <a:solidFill>
                  <a:srgbClr val="FF0000"/>
                </a:solidFill>
              </a:rPr>
              <a:t>memory</a:t>
            </a:r>
            <a:r>
              <a:rPr lang="en-CA" dirty="0"/>
              <a:t> vary with education and age?</a:t>
            </a:r>
          </a:p>
          <a:p>
            <a:endParaRPr lang="en-CA" dirty="0"/>
          </a:p>
          <a:p>
            <a:r>
              <a:rPr lang="en-CA" dirty="0"/>
              <a:t>Each fourfold plot visualizes the log odds ratio between them</a:t>
            </a:r>
          </a:p>
          <a:p>
            <a:endParaRPr lang="en-CA" dirty="0"/>
          </a:p>
          <a:p>
            <a:r>
              <a:rPr lang="en-CA" dirty="0"/>
              <a:t>What’s going on here?</a:t>
            </a:r>
          </a:p>
          <a:p>
            <a:r>
              <a:rPr lang="en-CA" dirty="0"/>
              <a:t>Can you see a pattern?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ED12CB-F806-552B-49E1-3C873D3C8D44}"/>
              </a:ext>
            </a:extLst>
          </p:cNvPr>
          <p:cNvSpPr txBox="1"/>
          <p:nvPr/>
        </p:nvSpPr>
        <p:spPr>
          <a:xfrm>
            <a:off x="681109" y="1224141"/>
            <a:ext cx="1223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Education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9B3F9D-A688-E5FE-4440-E93FDF76E5AB}"/>
              </a:ext>
            </a:extLst>
          </p:cNvPr>
          <p:cNvCxnSpPr/>
          <p:nvPr/>
        </p:nvCxnSpPr>
        <p:spPr>
          <a:xfrm>
            <a:off x="1828800" y="1393418"/>
            <a:ext cx="289560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DAED31F-2AC2-45A8-C19B-553E65928A5E}"/>
              </a:ext>
            </a:extLst>
          </p:cNvPr>
          <p:cNvSpPr txBox="1"/>
          <p:nvPr/>
        </p:nvSpPr>
        <p:spPr>
          <a:xfrm rot="16200000">
            <a:off x="-222689" y="2027486"/>
            <a:ext cx="1223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sz="1600" dirty="0"/>
              <a:t>Age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EA10C0F-A6B3-AC3F-53C6-BFBC091C283D}"/>
              </a:ext>
            </a:extLst>
          </p:cNvPr>
          <p:cNvCxnSpPr/>
          <p:nvPr/>
        </p:nvCxnSpPr>
        <p:spPr>
          <a:xfrm>
            <a:off x="389256" y="2196763"/>
            <a:ext cx="0" cy="344203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86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7168C-629E-BEDE-D9CB-EA13EBC56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Log odds ratio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165D09-A529-0CC4-4CE3-57D3E3C6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46022A-D4A1-2D41-C0B0-EFA3B859A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143000"/>
            <a:ext cx="8171428" cy="55047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BF43F3-A9AB-822D-7D2D-88B9C6279E77}"/>
              </a:ext>
            </a:extLst>
          </p:cNvPr>
          <p:cNvSpPr txBox="1"/>
          <p:nvPr/>
        </p:nvSpPr>
        <p:spPr>
          <a:xfrm>
            <a:off x="3505200" y="5181600"/>
            <a:ext cx="533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40+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252DFAB-2F11-EC6D-917B-B35F81B2BB9B}"/>
              </a:ext>
            </a:extLst>
          </p:cNvPr>
          <p:cNvCxnSpPr/>
          <p:nvPr/>
        </p:nvCxnSpPr>
        <p:spPr>
          <a:xfrm flipH="1" flipV="1">
            <a:off x="4038600" y="4267200"/>
            <a:ext cx="304800" cy="2286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1B686A-0C70-6D92-9559-2D7D2341BEF8}"/>
              </a:ext>
            </a:extLst>
          </p:cNvPr>
          <p:cNvCxnSpPr/>
          <p:nvPr/>
        </p:nvCxnSpPr>
        <p:spPr>
          <a:xfrm flipH="1">
            <a:off x="4038600" y="4953000"/>
            <a:ext cx="304800" cy="3810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46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4057-DE6B-D8B6-FA96-E87040696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52713-832F-4B5E-6031-133763E8B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Logit models for a binary response generalize readily to a polytomous response</a:t>
            </a:r>
          </a:p>
          <a:p>
            <a:pPr lvl="1"/>
            <a:r>
              <a:rPr lang="en-CA" dirty="0">
                <a:sym typeface="Symbol" panose="05050102010706020507" pitchFamily="18" charset="2"/>
              </a:rPr>
              <a:t></a:t>
            </a:r>
            <a:r>
              <a:rPr lang="en-CA" dirty="0"/>
              <a:t>Models for log odds, familiar interpretation</a:t>
            </a:r>
          </a:p>
          <a:p>
            <a:pPr lvl="1"/>
            <a:r>
              <a:rPr lang="en-CA" dirty="0"/>
              <a:t>Handles 3+ way table, ordinal variables</a:t>
            </a:r>
          </a:p>
          <a:p>
            <a:pPr lvl="1"/>
            <a:r>
              <a:rPr lang="en-CA" dirty="0"/>
              <a:t>Simple plots for interpretation</a:t>
            </a:r>
          </a:p>
          <a:p>
            <a:r>
              <a:rPr lang="en-CA" dirty="0"/>
              <a:t>Generalized odds ratios handle bivariate responses</a:t>
            </a:r>
          </a:p>
          <a:p>
            <a:pPr lvl="1"/>
            <a:r>
              <a:rPr lang="en-CA" dirty="0"/>
              <a:t>Simple linear models for LOR</a:t>
            </a:r>
          </a:p>
          <a:p>
            <a:pPr lvl="1"/>
            <a:r>
              <a:rPr lang="en-CA" dirty="0"/>
              <a:t>Easy to model log odds for each response and the LOR simultaneously</a:t>
            </a:r>
          </a:p>
          <a:p>
            <a:pPr lvl="1"/>
            <a:r>
              <a:rPr lang="en-CA" dirty="0"/>
              <a:t>Easy to visualize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349F06-2252-2DCD-A157-50517888F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33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5400">
          <a:solidFill>
            <a:srgbClr val="FF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9787</TotalTime>
  <Words>3289</Words>
  <Application>Microsoft Office PowerPoint</Application>
  <PresentationFormat>On-screen Show (4:3)</PresentationFormat>
  <Paragraphs>451</Paragraphs>
  <Slides>63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2" baseType="lpstr">
      <vt:lpstr>Wingdings</vt:lpstr>
      <vt:lpstr>Aptos Mono</vt:lpstr>
      <vt:lpstr>Courier New</vt:lpstr>
      <vt:lpstr>Arial</vt:lpstr>
      <vt:lpstr>Calibri</vt:lpstr>
      <vt:lpstr>Symbol</vt:lpstr>
      <vt:lpstr>Cambria Math</vt:lpstr>
      <vt:lpstr>1_Office Theme</vt:lpstr>
      <vt:lpstr>Acrobat Document</vt:lpstr>
      <vt:lpstr>Models &amp; graphs for log odds and log odds ratios</vt:lpstr>
      <vt:lpstr>Today’s topics</vt:lpstr>
      <vt:lpstr>Main ideas</vt:lpstr>
      <vt:lpstr>PowerPoint Presentation</vt:lpstr>
      <vt:lpstr>Plots: Data, Model, Data+Model</vt:lpstr>
      <vt:lpstr>Plots: Data, Model, Data+Model</vt:lpstr>
      <vt:lpstr>Logit models  Log odds models</vt:lpstr>
      <vt:lpstr>J responses  J-1 contrasts/logits</vt:lpstr>
      <vt:lpstr>2-way example: Hospital visits</vt:lpstr>
      <vt:lpstr>Exploratory plots: Doubledecker</vt:lpstr>
      <vt:lpstr>Exploratory plots: ca</vt:lpstr>
      <vt:lpstr>Models for log odds</vt:lpstr>
      <vt:lpstr>Models for log odds</vt:lpstr>
      <vt:lpstr>Fit some models</vt:lpstr>
      <vt:lpstr>Ordinal variables</vt:lpstr>
      <vt:lpstr>Visualizing log odds and models</vt:lpstr>
      <vt:lpstr>Visualizing log odds and models</vt:lpstr>
      <vt:lpstr>Graph-craft: Error bars, direct labels</vt:lpstr>
      <vt:lpstr>Three-way+ tables: Log odds</vt:lpstr>
      <vt:lpstr>Three-way+ tables: Log odds</vt:lpstr>
      <vt:lpstr>3-way example: Mice depletion data</vt:lpstr>
      <vt:lpstr>Mice data: mosaic plot</vt:lpstr>
      <vt:lpstr>Mice data: MCA</vt:lpstr>
      <vt:lpstr>Calculating log odds</vt:lpstr>
      <vt:lpstr>Calculating log odds</vt:lpstr>
      <vt:lpstr>Calculating log odds: General case</vt:lpstr>
      <vt:lpstr>Mice data: Log odds</vt:lpstr>
      <vt:lpstr>Mice data: Fit models</vt:lpstr>
      <vt:lpstr>Visualize log odds &amp; models: Data plot</vt:lpstr>
      <vt:lpstr>PowerPoint Presentation</vt:lpstr>
      <vt:lpstr>Visualize log odds &amp; models: Smoothing</vt:lpstr>
      <vt:lpstr>Visualize log odds &amp; models: Data + Model</vt:lpstr>
      <vt:lpstr>Visualize log odds &amp; models: Data + Model</vt:lpstr>
      <vt:lpstr>Another Viz: Biplots of log odds ratios</vt:lpstr>
      <vt:lpstr>PowerPoint Presentation</vt:lpstr>
      <vt:lpstr>SVD and the biplot approximation</vt:lpstr>
      <vt:lpstr>Biplot of Mice log odds: Code</vt:lpstr>
      <vt:lpstr>Generalized log odds ratios</vt:lpstr>
      <vt:lpstr>Generalized log odds ratios</vt:lpstr>
      <vt:lpstr>Models for log odds ratios: Computation</vt:lpstr>
      <vt:lpstr>Models for log odds ratios: Computation</vt:lpstr>
      <vt:lpstr>Models for log odds ratios: Estimation</vt:lpstr>
      <vt:lpstr>Example: Breathlessness &amp; wheeze in coal miners</vt:lpstr>
      <vt:lpstr>Example: Breathlessness &amp; wheeze in coal miners</vt:lpstr>
      <vt:lpstr>Coal miners: Log odds &amp; models</vt:lpstr>
      <vt:lpstr>Coal miners: LOR plot</vt:lpstr>
      <vt:lpstr>Coal miners: Model comparisons</vt:lpstr>
      <vt:lpstr>Going further: Bivariate response models</vt:lpstr>
      <vt:lpstr>Calculating…</vt:lpstr>
      <vt:lpstr>Linear model for log odds and log odds ratios</vt:lpstr>
      <vt:lpstr>Linear model for log odds and log odds ratios</vt:lpstr>
      <vt:lpstr>Quadratic model for log odds and log odds ratios</vt:lpstr>
      <vt:lpstr>Plotting …</vt:lpstr>
      <vt:lpstr>Fitting: VGAM::vglm()</vt:lpstr>
      <vt:lpstr>Plotting the model fit</vt:lpstr>
      <vt:lpstr>Other possibilities</vt:lpstr>
      <vt:lpstr>Example: Attitudes toward corporal punishment</vt:lpstr>
      <vt:lpstr>Attitudes: Questions</vt:lpstr>
      <vt:lpstr>Log odds model for attitude</vt:lpstr>
      <vt:lpstr>Attitude: Effect plots</vt:lpstr>
      <vt:lpstr>Association of attitude with memory: Fourfold plots</vt:lpstr>
      <vt:lpstr>Log odds ratio plot</vt:lpstr>
      <vt:lpstr>Summary</vt:lpstr>
    </vt:vector>
  </TitlesOfParts>
  <Company>YORK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Michael Friendly</dc:creator>
  <cp:lastModifiedBy>Michael L Friendly</cp:lastModifiedBy>
  <cp:revision>45</cp:revision>
  <cp:lastPrinted>2026-03-26T17:50:09Z</cp:lastPrinted>
  <dcterms:created xsi:type="dcterms:W3CDTF">2017-10-14T20:35:56Z</dcterms:created>
  <dcterms:modified xsi:type="dcterms:W3CDTF">2026-03-26T17:52:42Z</dcterms:modified>
</cp:coreProperties>
</file>