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6"/>
  </p:notesMasterIdLst>
  <p:handoutMasterIdLst>
    <p:handoutMasterId r:id="rId97"/>
  </p:handout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351" r:id="rId10"/>
    <p:sldId id="346" r:id="rId11"/>
    <p:sldId id="349" r:id="rId12"/>
    <p:sldId id="348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50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91" r:id="rId37"/>
    <p:sldId id="292" r:id="rId38"/>
    <p:sldId id="294" r:id="rId39"/>
    <p:sldId id="293" r:id="rId40"/>
    <p:sldId id="286" r:id="rId41"/>
    <p:sldId id="287" r:id="rId42"/>
    <p:sldId id="288" r:id="rId43"/>
    <p:sldId id="289" r:id="rId44"/>
    <p:sldId id="344" r:id="rId45"/>
    <p:sldId id="343" r:id="rId46"/>
    <p:sldId id="290" r:id="rId47"/>
    <p:sldId id="295" r:id="rId48"/>
    <p:sldId id="34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6" r:id="rId59"/>
    <p:sldId id="305" r:id="rId60"/>
    <p:sldId id="307" r:id="rId61"/>
    <p:sldId id="308" r:id="rId62"/>
    <p:sldId id="309" r:id="rId63"/>
    <p:sldId id="323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42" r:id="rId76"/>
    <p:sldId id="321" r:id="rId77"/>
    <p:sldId id="322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4" r:id="rId87"/>
    <p:sldId id="335" r:id="rId88"/>
    <p:sldId id="332" r:id="rId89"/>
    <p:sldId id="336" r:id="rId90"/>
    <p:sldId id="337" r:id="rId91"/>
    <p:sldId id="338" r:id="rId92"/>
    <p:sldId id="339" r:id="rId93"/>
    <p:sldId id="340" r:id="rId94"/>
    <p:sldId id="341" r:id="rId9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98"/>
    </p:embeddedFont>
    <p:embeddedFont>
      <p:font typeface="Consolas" panose="020B0609020204030204" pitchFamily="49" charset="0"/>
      <p:regular r:id="rId99"/>
      <p:bold r:id="rId100"/>
      <p:italic r:id="rId101"/>
      <p:boldItalic r:id="rId10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B62C2F-CE0C-4633-A50C-9859C6718FAA}">
          <p14:sldIdLst>
            <p14:sldId id="256"/>
            <p14:sldId id="257"/>
            <p14:sldId id="261"/>
            <p14:sldId id="258"/>
            <p14:sldId id="259"/>
            <p14:sldId id="260"/>
            <p14:sldId id="262"/>
            <p14:sldId id="263"/>
            <p14:sldId id="351"/>
            <p14:sldId id="346"/>
            <p14:sldId id="349"/>
            <p14:sldId id="348"/>
          </p14:sldIdLst>
        </p14:section>
        <p14:section name="Loglinear models" id="{4C98319F-11EA-44A8-BECF-DCB0D6026BF9}">
          <p14:sldIdLst>
            <p14:sldId id="264"/>
            <p14:sldId id="265"/>
            <p14:sldId id="266"/>
            <p14:sldId id="267"/>
          </p14:sldIdLst>
        </p14:section>
        <p14:section name="Two-way tables" id="{2FCE0859-EDEE-4925-9996-0A2B84BD79B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350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91"/>
            <p14:sldId id="292"/>
            <p14:sldId id="294"/>
            <p14:sldId id="293"/>
          </p14:sldIdLst>
        </p14:section>
        <p14:section name="Three-way tables" id="{B87DFAA9-34FD-4260-95F1-FB484C037FC6}">
          <p14:sldIdLst>
            <p14:sldId id="286"/>
            <p14:sldId id="287"/>
            <p14:sldId id="288"/>
            <p14:sldId id="289"/>
            <p14:sldId id="344"/>
            <p14:sldId id="343"/>
            <p14:sldId id="290"/>
            <p14:sldId id="295"/>
            <p14:sldId id="34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Visual fitting" id="{30187241-5456-438D-977D-B65C02FB634C}">
          <p14:sldIdLst>
            <p14:sldId id="306"/>
            <p14:sldId id="305"/>
            <p14:sldId id="307"/>
            <p14:sldId id="308"/>
            <p14:sldId id="309"/>
          </p14:sldIdLst>
        </p14:section>
        <p14:section name="Titanic" id="{76DC9C67-7C97-4F0A-87D7-8C2A73642802}">
          <p14:sldIdLst>
            <p14:sldId id="323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42"/>
          </p14:sldIdLst>
        </p14:section>
        <p14:section name="Sequential plots &amp; models" id="{6356486A-1998-4EE5-8915-CF1E1737FC6A}">
          <p14:sldIdLst>
            <p14:sldId id="321"/>
            <p14:sldId id="322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4"/>
            <p14:sldId id="335"/>
            <p14:sldId id="332"/>
            <p14:sldId id="336"/>
            <p14:sldId id="337"/>
          </p14:sldIdLst>
        </p14:section>
        <p14:section name="Partial association" id="{63EA7E7A-EA5E-410D-AB06-52C6B5E3B40D}">
          <p14:sldIdLst>
            <p14:sldId id="338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3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10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BD832-B243-4C93-98C6-9AD3A5BA3797}" type="datetimeFigureOut">
              <a:rPr lang="en-CA" smtClean="0"/>
              <a:t>12/22/25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13E3-B588-4B80-A9C1-76D80DBFD8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30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674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27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198/10618600231737563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significance_Friendly_Titanic.pdf" TargetMode="External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jcgs-extending.pdf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89389"/>
            <a:ext cx="7772400" cy="860425"/>
          </a:xfrm>
        </p:spPr>
        <p:txBody>
          <a:bodyPr>
            <a:normAutofit fontScale="90000"/>
          </a:bodyPr>
          <a:lstStyle/>
          <a:p>
            <a:r>
              <a:rPr lang="en-US" dirty="0"/>
              <a:t>Loglinear models &amp; mosaic displays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http://friendly.github.io/psy6136 </a:t>
            </a: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28FF8-2B86-5AFD-8B8A-62887D86F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52" y="236890"/>
            <a:ext cx="8038095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DD02-C021-D484-0A52-4C365E36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576B-8849-6599-7BC9-DF9974A9C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Mosaic displays: basic ideas</a:t>
            </a:r>
          </a:p>
          <a:p>
            <a:r>
              <a:rPr lang="en-CA" dirty="0"/>
              <a:t>Models for count data</a:t>
            </a:r>
          </a:p>
          <a:p>
            <a:pPr lvl="1"/>
            <a:r>
              <a:rPr lang="en-CA" dirty="0"/>
              <a:t>Fitting loglinear models</a:t>
            </a:r>
          </a:p>
          <a:p>
            <a:r>
              <a:rPr lang="en-CA" dirty="0"/>
              <a:t>Two-way tables</a:t>
            </a:r>
          </a:p>
          <a:p>
            <a:r>
              <a:rPr lang="en-CA" dirty="0"/>
              <a:t>Fitting &amp; graphing LLMs</a:t>
            </a:r>
          </a:p>
          <a:p>
            <a:r>
              <a:rPr lang="en-CA" dirty="0"/>
              <a:t>Three-way tables: different kinds of independence</a:t>
            </a:r>
          </a:p>
          <a:p>
            <a:r>
              <a:rPr lang="en-CA" dirty="0"/>
              <a:t>Sequential plots &amp; models</a:t>
            </a:r>
          </a:p>
          <a:p>
            <a:r>
              <a:rPr lang="en-CA" dirty="0"/>
              <a:t>Marginal &amp; partial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3E706-8ADB-D876-BDD3-D8FF0BD3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8482B-CD9E-0EC3-A2BE-78D297968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5400"/>
            <a:ext cx="1687318" cy="1687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DE059-0D99-B5D3-9472-066851A5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798" y="4229332"/>
            <a:ext cx="1394803" cy="13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2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2B6-1614-7C2E-3E62-6298B6A2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A316-B497-9462-15D7-EF0F583A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Similar to sieve plot, tile plot, using </a:t>
            </a:r>
            <a:r>
              <a:rPr lang="en-CA" dirty="0">
                <a:solidFill>
                  <a:srgbClr val="0070C0"/>
                </a:solidFill>
              </a:rPr>
              <a:t>area ~ frequency</a:t>
            </a:r>
          </a:p>
          <a:p>
            <a:r>
              <a:rPr lang="en-CA" dirty="0"/>
              <a:t>Mosaic plots generalize more readily to </a:t>
            </a:r>
            <a:r>
              <a:rPr lang="en-CA" i="1" dirty="0">
                <a:solidFill>
                  <a:srgbClr val="0070C0"/>
                </a:solidFill>
              </a:rPr>
              <a:t>n</a:t>
            </a:r>
            <a:r>
              <a:rPr lang="en-CA" dirty="0">
                <a:solidFill>
                  <a:srgbClr val="0070C0"/>
                </a:solidFill>
              </a:rPr>
              <a:t>-way tables </a:t>
            </a:r>
            <a:r>
              <a:rPr lang="en-CA" dirty="0"/>
              <a:t>(subject to resolution of the display)</a:t>
            </a:r>
          </a:p>
          <a:p>
            <a:r>
              <a:rPr lang="en-CA" dirty="0"/>
              <a:t>Intimately connected to loglinear &amp; generalized linear models</a:t>
            </a:r>
          </a:p>
          <a:p>
            <a:pPr lvl="1"/>
            <a:r>
              <a:rPr lang="en-CA" dirty="0"/>
              <a:t>Can fit </a:t>
            </a:r>
            <a:r>
              <a:rPr lang="en-CA" dirty="0">
                <a:solidFill>
                  <a:srgbClr val="0070C0"/>
                </a:solidFill>
              </a:rPr>
              <a:t>sequential</a:t>
            </a:r>
            <a:r>
              <a:rPr lang="en-CA" dirty="0"/>
              <a:t> models as variables are entered</a:t>
            </a:r>
          </a:p>
          <a:p>
            <a:pPr lvl="1"/>
            <a:r>
              <a:rPr lang="en-CA" dirty="0"/>
              <a:t>Show the </a:t>
            </a:r>
            <a:r>
              <a:rPr lang="en-CA" dirty="0">
                <a:solidFill>
                  <a:srgbClr val="0070C0"/>
                </a:solidFill>
              </a:rPr>
              <a:t>pattern</a:t>
            </a:r>
            <a:r>
              <a:rPr lang="en-CA" dirty="0"/>
              <a:t> of association not accounted for in a given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1ED50-6285-4C0A-94E2-F4004B15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0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59D0A-B932-411A-68BD-3DEC338737DF}"/>
              </a:ext>
            </a:extLst>
          </p:cNvPr>
          <p:cNvSpPr txBox="1"/>
          <p:nvPr/>
        </p:nvSpPr>
        <p:spPr>
          <a:xfrm>
            <a:off x="4876800" y="1764268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CC5AC-2778-E0F1-E9E7-74884341750E}"/>
              </a:ext>
            </a:extLst>
          </p:cNvPr>
          <p:cNvSpPr txBox="1"/>
          <p:nvPr/>
        </p:nvSpPr>
        <p:spPr>
          <a:xfrm>
            <a:off x="457200" y="1219200"/>
            <a:ext cx="8210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Mosaic displays theory: Hartigan &amp; Kleiner (1981); Friendly (1994, 1999)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67DD6-1FC6-472E-4A80-6FB8A8DDE5A3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</a:t>
            </a:r>
            <a:r>
              <a:rPr lang="en-CA" dirty="0">
                <a:solidFill>
                  <a:srgbClr val="0070C0"/>
                </a:solidFill>
              </a:rPr>
              <a:t>recursive</a:t>
            </a:r>
            <a:r>
              <a:rPr lang="en-CA" dirty="0"/>
              <a:t>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height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 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92E8C6-50AC-3623-19E2-E12AD635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2C5F3-26A9-1746-B82A-38A27AD7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E38DB-B300-A9B3-3CCD-594A54284AEF}"/>
              </a:ext>
            </a:extLst>
          </p:cNvPr>
          <p:cNvSpPr txBox="1"/>
          <p:nvPr/>
        </p:nvSpPr>
        <p:spPr>
          <a:xfrm>
            <a:off x="4876800" y="1564192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x Admit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E21DB-94BB-92F4-C44A-5535FE373AC6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30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B5D10-180D-F8F7-24DB-3880F45D3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07EC0A-F265-BDBD-3647-8D53E19DE0EC}"/>
              </a:ext>
            </a:extLst>
          </p:cNvPr>
          <p:cNvSpPr txBox="1"/>
          <p:nvPr/>
        </p:nvSpPr>
        <p:spPr>
          <a:xfrm>
            <a:off x="4876800" y="1564192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Gender  x Admit x Dept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8DF39-0884-A464-46A3-39C89A3E580C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n-way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3</a:t>
            </a:r>
            <a:r>
              <a:rPr lang="en-CA" dirty="0"/>
              <a:t>: width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V</a:t>
            </a:r>
            <a:r>
              <a:rPr lang="en-CA" baseline="-25000" dirty="0"/>
              <a:t>3</a:t>
            </a:r>
            <a:r>
              <a:rPr lang="en-CA" dirty="0"/>
              <a:t> | V</a:t>
            </a:r>
            <a:r>
              <a:rPr lang="en-CA" baseline="-25000" dirty="0"/>
              <a:t>1</a:t>
            </a:r>
            <a:r>
              <a:rPr lang="en-CA" dirty="0"/>
              <a:t>, V</a:t>
            </a:r>
            <a:r>
              <a:rPr lang="en-CA" baseline="-25000" dirty="0"/>
              <a:t>2</a:t>
            </a:r>
            <a:r>
              <a:rPr lang="en-CA" dirty="0"/>
              <a:t> = </a:t>
            </a:r>
            <a:r>
              <a:rPr lang="en-CA" dirty="0" err="1"/>
              <a:t>n</a:t>
            </a:r>
            <a:r>
              <a:rPr lang="en-CA" baseline="-25000" dirty="0" err="1"/>
              <a:t>ikj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baseline="-25000" dirty="0"/>
              <a:t>+</a:t>
            </a:r>
          </a:p>
          <a:p>
            <a:endParaRPr lang="en-CA" dirty="0"/>
          </a:p>
          <a:p>
            <a:r>
              <a:rPr lang="en-CA" dirty="0"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ym typeface="Symbol" panose="05050102010706020507" pitchFamily="18" charset="2"/>
              </a:rPr>
              <a:t>ijk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409333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AC69-58C5-2420-4C0F-7015982E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4073F-5357-31F6-43C2-A9316F6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A5C27-6B65-DF33-2EEF-37B4F49C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191363" cy="4191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DBBE8-EFC4-20A2-08E9-7A1945606999}"/>
              </a:ext>
            </a:extLst>
          </p:cNvPr>
          <p:cNvSpPr txBox="1"/>
          <p:nvPr/>
        </p:nvSpPr>
        <p:spPr>
          <a:xfrm>
            <a:off x="4754879" y="1524000"/>
            <a:ext cx="419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Expected frequencies if Admit </a:t>
            </a:r>
            <a:r>
              <a:rPr lang="en-CA" dirty="0">
                <a:sym typeface="Symbol" panose="05050102010706020507" pitchFamily="18" charset="2"/>
              </a:rPr>
              <a:t> Gender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D9D1D-DA6E-5905-5333-C987D015FDFB}"/>
              </a:ext>
            </a:extLst>
          </p:cNvPr>
          <p:cNvSpPr txBox="1"/>
          <p:nvPr/>
        </p:nvSpPr>
        <p:spPr>
          <a:xfrm>
            <a:off x="685800" y="2362200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Expected frequencies under independence are products of the row / col margins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833B28-B240-6403-8652-EC53C64E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0155"/>
            <a:ext cx="3535986" cy="708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8F549-E293-BAB7-1515-3213E1D43CD1}"/>
              </a:ext>
            </a:extLst>
          </p:cNvPr>
          <p:cNvSpPr txBox="1"/>
          <p:nvPr/>
        </p:nvSpPr>
        <p:spPr>
          <a:xfrm>
            <a:off x="685800" y="4876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Row and col tiles align when variables are independent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202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DDEE-4A60-B6BD-98C5-51A71358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Residuals &amp; shading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2F1E3-9D10-B91D-6AD2-6AE1DF68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D07A4-0AB5-DE3D-8AAA-1FC766C3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1" y="1447800"/>
            <a:ext cx="8055038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6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CA8E-A63B-C5EA-AB31-A16C2B2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7912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History corner: von Mayr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5571C-07B5-2B86-2D6B-E05BBC36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6F4BA-55F5-EF66-3ACC-A269BD413B78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Georg von Mayr (1877) was the first to suggest an area-proportional display for two categorical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46735-5A5D-411C-6318-238695982CA5}"/>
              </a:ext>
            </a:extLst>
          </p:cNvPr>
          <p:cNvSpPr txBox="1"/>
          <p:nvPr/>
        </p:nvSpPr>
        <p:spPr>
          <a:xfrm>
            <a:off x="5486400" y="2057400"/>
            <a:ext cx="320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Total count = 1000</a:t>
            </a:r>
          </a:p>
          <a:p>
            <a:endParaRPr lang="en-CA" dirty="0"/>
          </a:p>
          <a:p>
            <a:r>
              <a:rPr lang="en-CA" dirty="0"/>
              <a:t>Divided into (cows, pigs, sheep?)</a:t>
            </a:r>
          </a:p>
          <a:p>
            <a:r>
              <a:rPr lang="en-CA" dirty="0"/>
              <a:t>A = 600, B= 300, C= 100)</a:t>
            </a:r>
          </a:p>
          <a:p>
            <a:endParaRPr lang="en-CA" dirty="0"/>
          </a:p>
          <a:p>
            <a:r>
              <a:rPr lang="en-CA" dirty="0"/>
              <a:t>Each of these sub-divided by a  2</a:t>
            </a:r>
            <a:r>
              <a:rPr lang="en-CA" baseline="30000" dirty="0"/>
              <a:t>nd</a:t>
            </a:r>
            <a:r>
              <a:rPr lang="en-CA" dirty="0"/>
              <a:t> variable (region: a, b, c)</a:t>
            </a:r>
          </a:p>
          <a:p>
            <a:endParaRPr lang="en-CA" dirty="0"/>
          </a:p>
          <a:p>
            <a:r>
              <a:rPr lang="en-CA" dirty="0"/>
              <a:t>The name: “bottle diagram with double divisions” suggests further splits </a:t>
            </a:r>
          </a:p>
        </p:txBody>
      </p:sp>
      <p:pic>
        <p:nvPicPr>
          <p:cNvPr id="9" name="Picture 8" descr="A picture containing person, person, wall, wearing&#10;&#10;Description automatically generated">
            <a:extLst>
              <a:ext uri="{FF2B5EF4-FFF2-40B4-BE49-F238E27FC236}">
                <a16:creationId xmlns:a16="http://schemas.microsoft.com/office/drawing/2014/main" id="{1092CA73-5732-D1B0-47F4-2747D60BE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04080"/>
            <a:ext cx="761847" cy="8570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CDFFCF-CCCB-091D-881A-4415EBF339B1}"/>
              </a:ext>
            </a:extLst>
          </p:cNvPr>
          <p:cNvSpPr txBox="1"/>
          <p:nvPr/>
        </p:nvSpPr>
        <p:spPr>
          <a:xfrm>
            <a:off x="5486400" y="5715000"/>
            <a:ext cx="32004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See: Friendly (2002), “A Brief History of the Mosaic Display”, </a:t>
            </a:r>
            <a:r>
              <a:rPr lang="en-CA" sz="1100" i="1" dirty="0"/>
              <a:t>JCGS</a:t>
            </a:r>
            <a:r>
              <a:rPr lang="en-CA" sz="1100" dirty="0"/>
              <a:t>, 11:1,89-107, </a:t>
            </a:r>
            <a:r>
              <a:rPr lang="en-CA" sz="1100" dirty="0">
                <a:hlinkClick r:id="rId3"/>
              </a:rPr>
              <a:t>http://dx.doi.org/10.1198/106186002317375631</a:t>
            </a:r>
            <a:r>
              <a:rPr lang="en-CA" sz="1100" dirty="0"/>
              <a:t> </a:t>
            </a:r>
          </a:p>
        </p:txBody>
      </p:sp>
      <p:pic>
        <p:nvPicPr>
          <p:cNvPr id="8" name="Picture 7" descr="A picture containing letter&#10;&#10;Description automatically generated">
            <a:extLst>
              <a:ext uri="{FF2B5EF4-FFF2-40B4-BE49-F238E27FC236}">
                <a16:creationId xmlns:a16="http://schemas.microsoft.com/office/drawing/2014/main" id="{48A1F324-E776-4C8A-2126-A8F246A5F1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40" y="1828800"/>
            <a:ext cx="501106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4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F97B-1E44-0A79-6409-D32F962D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Minard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71FE7-50C2-C569-3316-5E770B6B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4A5CC220-F02C-3A76-3DF1-0D79B9E079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47053"/>
            <a:ext cx="5257800" cy="4174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61ABF-64A3-1187-3676-0644358F3B4C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Charles Joseph Minard used an early form of an area-proportional plot to show the  value of transport of goods along the Canal du Centre, from Chalon to Dijon.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Width ~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Height ~ amount of goods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98AF2-9C93-4711-CF4F-728082DD2B99}"/>
              </a:ext>
            </a:extLst>
          </p:cNvPr>
          <p:cNvSpPr txBox="1"/>
          <p:nvPr/>
        </p:nvSpPr>
        <p:spPr>
          <a:xfrm>
            <a:off x="4114800" y="181654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Value = distance × amount</a:t>
            </a:r>
          </a:p>
        </p:txBody>
      </p:sp>
    </p:spTree>
    <p:extLst>
      <p:ext uri="{BB962C8B-B14F-4D97-AF65-F5344CB8AC3E}">
        <p14:creationId xmlns:p14="http://schemas.microsoft.com/office/powerpoint/2010/main" val="397814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0C8C-C29E-B33C-5341-3F717069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Francis Walker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DEFEE-2D1E-0CB0-0A9A-DB5EC9B8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picture containing text, toiletry, cosmetic&#10;&#10;Description automatically generated">
            <a:extLst>
              <a:ext uri="{FF2B5EF4-FFF2-40B4-BE49-F238E27FC236}">
                <a16:creationId xmlns:a16="http://schemas.microsoft.com/office/drawing/2014/main" id="{6CD00E7E-D703-48FC-C4BF-002D5914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4509"/>
            <a:ext cx="5486400" cy="4185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9086D-4284-4C28-7F7F-E05E5DE1F8DE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the 1870 </a:t>
            </a:r>
            <a:r>
              <a:rPr lang="en-CA" i="1" dirty="0"/>
              <a:t>Statistical Album of the US Census</a:t>
            </a:r>
            <a:r>
              <a:rPr lang="en-CA" dirty="0"/>
              <a:t>, Francis Walker wanted to show the populations of the states as comprised of {foreign,  native colored, native white}</a:t>
            </a:r>
          </a:p>
          <a:p>
            <a:r>
              <a:rPr lang="en-CA" dirty="0"/>
              <a:t>and born {within, outside} their state of residence.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72ED8-52F5-1808-2C27-596558766605}"/>
              </a:ext>
            </a:extLst>
          </p:cNvPr>
          <p:cNvSpPr txBox="1"/>
          <p:nvPr/>
        </p:nvSpPr>
        <p:spPr>
          <a:xfrm>
            <a:off x="48006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B6365-572D-6921-E7B4-CC9DD67A3667}"/>
              </a:ext>
            </a:extLst>
          </p:cNvPr>
          <p:cNvSpPr txBox="1"/>
          <p:nvPr/>
        </p:nvSpPr>
        <p:spPr>
          <a:xfrm>
            <a:off x="3352800" y="574357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Penn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7C285-EFCB-A8B1-A239-59469211AA9B}"/>
              </a:ext>
            </a:extLst>
          </p:cNvPr>
          <p:cNvSpPr txBox="1"/>
          <p:nvPr/>
        </p:nvSpPr>
        <p:spPr>
          <a:xfrm>
            <a:off x="1905000" y="574357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Ohio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7613A-D0DB-3B83-28C9-BB3F811474A1}"/>
              </a:ext>
            </a:extLst>
          </p:cNvPr>
          <p:cNvSpPr txBox="1"/>
          <p:nvPr/>
        </p:nvSpPr>
        <p:spPr>
          <a:xfrm>
            <a:off x="9144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7965C-576A-E515-D202-895751469B80}"/>
              </a:ext>
            </a:extLst>
          </p:cNvPr>
          <p:cNvSpPr txBox="1"/>
          <p:nvPr/>
        </p:nvSpPr>
        <p:spPr>
          <a:xfrm>
            <a:off x="50292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5762B-ADFA-4640-C350-BC9753634B6C}"/>
              </a:ext>
            </a:extLst>
          </p:cNvPr>
          <p:cNvSpPr txBox="1"/>
          <p:nvPr/>
        </p:nvSpPr>
        <p:spPr>
          <a:xfrm>
            <a:off x="4148137" y="4796988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Tenn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F9E1F-A8E9-76A9-3CC1-DA08607B7231}"/>
              </a:ext>
            </a:extLst>
          </p:cNvPr>
          <p:cNvSpPr txBox="1"/>
          <p:nvPr/>
        </p:nvSpPr>
        <p:spPr>
          <a:xfrm>
            <a:off x="5257800" y="35955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33F9D-784C-70AD-F0C2-F1A4147ECB7A}"/>
              </a:ext>
            </a:extLst>
          </p:cNvPr>
          <p:cNvSpPr txBox="1"/>
          <p:nvPr/>
        </p:nvSpPr>
        <p:spPr>
          <a:xfrm>
            <a:off x="5257800" y="309735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73EC9-34D7-40C0-D379-34A018502C8F}"/>
              </a:ext>
            </a:extLst>
          </p:cNvPr>
          <p:cNvSpPr txBox="1"/>
          <p:nvPr/>
        </p:nvSpPr>
        <p:spPr>
          <a:xfrm>
            <a:off x="4648200" y="35688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531BD-C4E3-C363-024F-36919F93D23F}"/>
              </a:ext>
            </a:extLst>
          </p:cNvPr>
          <p:cNvSpPr txBox="1"/>
          <p:nvPr/>
        </p:nvSpPr>
        <p:spPr>
          <a:xfrm>
            <a:off x="762000" y="36573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Miss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ECE35-D721-0DB0-7D1E-4A147F938C87}"/>
              </a:ext>
            </a:extLst>
          </p:cNvPr>
          <p:cNvSpPr txBox="1"/>
          <p:nvPr/>
        </p:nvSpPr>
        <p:spPr>
          <a:xfrm>
            <a:off x="762000" y="4225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68A89-33D9-9194-7B9E-B05E09A172DC}"/>
              </a:ext>
            </a:extLst>
          </p:cNvPr>
          <p:cNvSpPr txBox="1"/>
          <p:nvPr/>
        </p:nvSpPr>
        <p:spPr>
          <a:xfrm>
            <a:off x="6172200" y="2438400"/>
            <a:ext cx="251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States are ordered by total pop, shown by area</a:t>
            </a:r>
          </a:p>
          <a:p>
            <a:endParaRPr lang="en-CA" dirty="0"/>
          </a:p>
          <a:p>
            <a:r>
              <a:rPr lang="en-CA" dirty="0"/>
              <a:t>For each state, a small mosaic, supplemented by a marginal one (w/in, outside)</a:t>
            </a:r>
          </a:p>
        </p:txBody>
      </p:sp>
    </p:spTree>
    <p:extLst>
      <p:ext uri="{BB962C8B-B14F-4D97-AF65-F5344CB8AC3E}">
        <p14:creationId xmlns:p14="http://schemas.microsoft.com/office/powerpoint/2010/main" val="119677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9A83-F5A1-4BD7-B3F7-FDDB530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cartograms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E2B65-E158-40E1-A5DC-3F6DFA9F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Chart, treemap chart&#10;&#10;Description automatically generated">
            <a:extLst>
              <a:ext uri="{FF2B5EF4-FFF2-40B4-BE49-F238E27FC236}">
                <a16:creationId xmlns:a16="http://schemas.microsoft.com/office/drawing/2014/main" id="{432BF1AB-75F9-4EB1-AFAC-957098350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51649"/>
            <a:ext cx="5894070" cy="528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3CAEC-DA81-414F-A385-F92B0F5D9296}"/>
              </a:ext>
            </a:extLst>
          </p:cNvPr>
          <p:cNvSpPr txBox="1"/>
          <p:nvPr/>
        </p:nvSpPr>
        <p:spPr>
          <a:xfrm>
            <a:off x="457200" y="1295400"/>
            <a:ext cx="2209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 map provides a spatial framework for showing the distribution of categorical data</a:t>
            </a:r>
          </a:p>
          <a:p>
            <a:endParaRPr lang="en-US" dirty="0"/>
          </a:p>
          <a:p>
            <a:r>
              <a:rPr lang="en-US" dirty="0"/>
              <a:t>Each mosaic is positioned as in a schematic US map</a:t>
            </a:r>
          </a:p>
        </p:txBody>
      </p:sp>
    </p:spTree>
    <p:extLst>
      <p:ext uri="{BB962C8B-B14F-4D97-AF65-F5344CB8AC3E}">
        <p14:creationId xmlns:p14="http://schemas.microsoft.com/office/powerpoint/2010/main" val="334195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8638-6B8B-0CBF-BDFF-BE08273E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models: Perspectives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3076C-5A7C-D52D-F8C0-4E91FA00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Loglinear models grew up and developed from three different ideas and ways of thinking about notions of independence in frequency data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Loglinear approach</a:t>
            </a:r>
            <a:r>
              <a:rPr lang="en-CA" sz="2400" dirty="0"/>
              <a:t>: analog of ANOVA; associations are ~ </a:t>
            </a:r>
            <a:r>
              <a:rPr lang="en-CA" sz="2400" dirty="0">
                <a:solidFill>
                  <a:srgbClr val="0070C0"/>
                </a:solidFill>
              </a:rPr>
              <a:t>interactions</a:t>
            </a:r>
          </a:p>
          <a:p>
            <a:r>
              <a:rPr lang="en-CA" sz="2400" b="1" dirty="0" err="1">
                <a:solidFill>
                  <a:srgbClr val="0070C0"/>
                </a:solidFill>
              </a:rPr>
              <a:t>glm</a:t>
            </a:r>
            <a:r>
              <a:rPr lang="en-CA" sz="2400" b="1" dirty="0">
                <a:solidFill>
                  <a:srgbClr val="0070C0"/>
                </a:solidFill>
              </a:rPr>
              <a:t>() approach</a:t>
            </a:r>
            <a:r>
              <a:rPr lang="en-CA" sz="2400" dirty="0"/>
              <a:t>: analog of general regression model, for log(Freq), with </a:t>
            </a:r>
            <a:r>
              <a:rPr lang="en-CA" sz="2400" dirty="0">
                <a:solidFill>
                  <a:srgbClr val="0070C0"/>
                </a:solidFill>
              </a:rPr>
              <a:t>Poisson</a:t>
            </a:r>
            <a:r>
              <a:rPr lang="en-CA" sz="2400" dirty="0"/>
              <a:t> </a:t>
            </a:r>
            <a:r>
              <a:rPr lang="en-CA" sz="2400" dirty="0" err="1"/>
              <a:t>dist</a:t>
            </a:r>
            <a:r>
              <a:rPr lang="en-CA" sz="2400" baseline="30000" dirty="0" err="1"/>
              <a:t>n</a:t>
            </a:r>
            <a:r>
              <a:rPr lang="en-CA" sz="2400" dirty="0"/>
              <a:t> of errors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Logit models</a:t>
            </a:r>
            <a:r>
              <a:rPr lang="en-CA" sz="2400" dirty="0"/>
              <a:t>: Loglinear, simplified for a </a:t>
            </a:r>
            <a:r>
              <a:rPr lang="en-CA" sz="2400" dirty="0">
                <a:solidFill>
                  <a:srgbClr val="0070C0"/>
                </a:solidFill>
              </a:rPr>
              <a:t>binary</a:t>
            </a:r>
            <a:r>
              <a:rPr lang="en-CA" sz="2400" dirty="0"/>
              <a:t> response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E2ED2A-7633-2402-8289-DE5D560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CE86-FDE0-4F79-B559-9401F7A4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FE63-5ECF-1D87-3E48-9A3BE125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038600"/>
          </a:xfrm>
        </p:spPr>
        <p:txBody>
          <a:bodyPr/>
          <a:lstStyle/>
          <a:p>
            <a:pPr marL="0" indent="0">
              <a:buNone/>
            </a:pPr>
            <a:r>
              <a:rPr lang="en-CA" sz="2200" dirty="0"/>
              <a:t>First developed as analog of classical ANOVA models, where multiplicative relations are re-expressed in additive form as models for log(Freq)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sz="2000" dirty="0"/>
              <a:t>This expresses the independence model for a 2-way table as no A*B association</a:t>
            </a:r>
          </a:p>
          <a:p>
            <a:r>
              <a:rPr lang="en-CA" sz="2000" dirty="0"/>
              <a:t>Short-hand notations: [A][B] = A </a:t>
            </a:r>
            <a:r>
              <a:rPr lang="en-CA" sz="2000" dirty="0">
                <a:sym typeface="Symbol" panose="05050102010706020507" pitchFamily="18" charset="2"/>
              </a:rPr>
              <a:t> B = ~ A + B</a:t>
            </a:r>
          </a:p>
          <a:p>
            <a:r>
              <a:rPr lang="en-CA" sz="2000" dirty="0">
                <a:sym typeface="Symbol" panose="05050102010706020507" pitchFamily="18" charset="2"/>
              </a:rPr>
              <a:t>Fit by simple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iterative proportional scaling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MASS::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loglm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()</a:t>
            </a:r>
          </a:p>
          <a:p>
            <a:pPr lvl="1"/>
            <a:r>
              <a:rPr lang="en-CA" sz="1600" dirty="0">
                <a:cs typeface="Courier New" panose="02070309020205020404" pitchFamily="49" charset="0"/>
                <a:sym typeface="Symbol" panose="05050102010706020507" pitchFamily="18" charset="2"/>
              </a:rPr>
              <a:t>Parameters aren’t estimated; only fitted frequencies.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B9663-3E45-0BFA-BDA8-C5170D2E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01E23-87ED-DD44-4AC9-F522939C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93568"/>
            <a:ext cx="4404742" cy="602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A3FB3C-1B53-D4FD-73EA-71081ECE8F38}"/>
              </a:ext>
            </a:extLst>
          </p:cNvPr>
          <p:cNvSpPr txBox="1"/>
          <p:nvPr/>
        </p:nvSpPr>
        <p:spPr>
          <a:xfrm>
            <a:off x="909320" y="5341203"/>
            <a:ext cx="6705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+ B +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[A][B][C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+ C )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B][C]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*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 C]</a:t>
            </a:r>
          </a:p>
        </p:txBody>
      </p:sp>
    </p:spTree>
    <p:extLst>
      <p:ext uri="{BB962C8B-B14F-4D97-AF65-F5344CB8AC3E}">
        <p14:creationId xmlns:p14="http://schemas.microsoft.com/office/powerpoint/2010/main" val="2614373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F3D8-45B2-4695-AF79-118D6A58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glm</a:t>
            </a:r>
            <a:r>
              <a:rPr lang="en-US" dirty="0"/>
              <a:t>()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Extension of classical linear models recognized loglinear models as a model for log(Freq), with Poisson </a:t>
                </a:r>
                <a:r>
                  <a:rPr lang="en-US" sz="2400" dirty="0" err="1"/>
                  <a:t>dist</a:t>
                </a:r>
                <a:r>
                  <a:rPr lang="en-US" sz="2400" baseline="30000" dirty="0" err="1"/>
                  <a:t>n</a:t>
                </a:r>
                <a:r>
                  <a:rPr lang="en-US" sz="2400" dirty="0"/>
                  <a:t> for cell counts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Looks like std ANOVA/regression model, but for log(Freq)</a:t>
                </a:r>
              </a:p>
              <a:p>
                <a:r>
                  <a:rPr lang="en-US" sz="2400" dirty="0"/>
                  <a:t>This allows </a:t>
                </a:r>
                <a:r>
                  <a:rPr lang="en-US" sz="2400" dirty="0">
                    <a:solidFill>
                      <a:srgbClr val="0070C0"/>
                    </a:solidFill>
                  </a:rPr>
                  <a:t>quantitative</a:t>
                </a:r>
                <a:r>
                  <a:rPr lang="en-US" sz="2400" dirty="0"/>
                  <a:t> predictors and special ways to treat </a:t>
                </a:r>
                <a:r>
                  <a:rPr lang="en-US" sz="2400" dirty="0">
                    <a:solidFill>
                      <a:srgbClr val="0070C0"/>
                    </a:solidFill>
                  </a:rPr>
                  <a:t>ordinal</a:t>
                </a:r>
                <a:r>
                  <a:rPr lang="en-US" sz="2400" dirty="0"/>
                  <a:t> factors</a:t>
                </a:r>
              </a:p>
              <a:p>
                <a:r>
                  <a:rPr lang="en-US" sz="2400" dirty="0"/>
                  <a:t>Fit by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maximum likelihood </a:t>
                </a:r>
                <a:r>
                  <a:rPr lang="en-US" sz="2400" dirty="0"/>
                  <a:t>using </a:t>
                </a:r>
                <a:r>
                  <a:rPr lang="en-US" sz="2400" dirty="0" err="1"/>
                  <a:t>glm</a:t>
                </a:r>
                <a:r>
                  <a:rPr lang="en-US" sz="2400" dirty="0"/>
                  <a:t>(…, family=</a:t>
                </a:r>
                <a:r>
                  <a:rPr lang="en-US" sz="2400" dirty="0" err="1"/>
                  <a:t>poisson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sz="2000" dirty="0"/>
                  <a:t>Can estimate parameters; do structured tests</a:t>
                </a:r>
              </a:p>
              <a:p>
                <a:r>
                  <a:rPr lang="en-US" sz="2400" dirty="0"/>
                  <a:t>Standard diagnostic methods available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  <a:blipFill>
                <a:blip r:embed="rId2"/>
                <a:stretch>
                  <a:fillRect l="-1185" t="-20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E64B0-3F2D-4B28-B940-B4FE5301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7F0A3-35A9-4517-9A51-3349E263B0FA}"/>
              </a:ext>
            </a:extLst>
          </p:cNvPr>
          <p:cNvSpPr txBox="1"/>
          <p:nvPr/>
        </p:nvSpPr>
        <p:spPr>
          <a:xfrm>
            <a:off x="914400" y="5341203"/>
            <a:ext cx="73152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+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 [B]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(B+C),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[A C]</a:t>
            </a:r>
          </a:p>
        </p:txBody>
      </p:sp>
    </p:spTree>
    <p:extLst>
      <p:ext uri="{BB962C8B-B14F-4D97-AF65-F5344CB8AC3E}">
        <p14:creationId xmlns:p14="http://schemas.microsoft.com/office/powerpoint/2010/main" val="218361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9AE1-C84D-4A25-9AE8-6E054601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DFB4-4C26-4C77-87CC-883DF77B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When one variable is a </a:t>
            </a:r>
            <a:r>
              <a:rPr lang="en-US" sz="2400" dirty="0">
                <a:solidFill>
                  <a:srgbClr val="0070C0"/>
                </a:solidFill>
              </a:rPr>
              <a:t>binary</a:t>
            </a:r>
            <a:r>
              <a:rPr lang="en-US" sz="2400" dirty="0"/>
              <a:t> response, a logit model is a simpler way to specify a loglinear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log(m</a:t>
            </a:r>
            <a:r>
              <a:rPr lang="en-US" sz="2400" baseline="-25000" dirty="0"/>
              <a:t>1jk</a:t>
            </a:r>
            <a:r>
              <a:rPr lang="en-US" sz="2400" dirty="0"/>
              <a:t>/m</a:t>
            </a:r>
            <a:r>
              <a:rPr lang="en-US" sz="2400" baseline="-25000" dirty="0"/>
              <a:t>2jk</a:t>
            </a:r>
            <a:r>
              <a:rPr lang="en-US" sz="2400" dirty="0"/>
              <a:t>) is the log odds of response A1 vs A2</a:t>
            </a:r>
          </a:p>
          <a:p>
            <a:r>
              <a:rPr lang="en-US" sz="2400" dirty="0"/>
              <a:t>The model only includes terms for the effect of A on B &amp; C</a:t>
            </a:r>
          </a:p>
          <a:p>
            <a:r>
              <a:rPr lang="en-US" sz="2400" dirty="0"/>
              <a:t>Equivalent loglinear model: [AB][AC]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[BC]</a:t>
            </a:r>
          </a:p>
          <a:p>
            <a:r>
              <a:rPr lang="en-US" sz="2400" dirty="0"/>
              <a:t>The logit models </a:t>
            </a:r>
            <a:r>
              <a:rPr lang="en-US" sz="2400" dirty="0">
                <a:solidFill>
                  <a:srgbClr val="0070C0"/>
                </a:solidFill>
              </a:rPr>
              <a:t>assumes</a:t>
            </a:r>
            <a:r>
              <a:rPr lang="en-US" sz="2400" dirty="0"/>
              <a:t> the [BC] association; </a:t>
            </a:r>
          </a:p>
          <a:p>
            <a:pPr marL="0" indent="0">
              <a:buNone/>
            </a:pPr>
            <a:r>
              <a:rPr lang="en-US" sz="2400" dirty="0"/>
              <a:t>                                    [AB] </a:t>
            </a:r>
            <a:r>
              <a:rPr lang="en-US" sz="2400" dirty="0">
                <a:sym typeface="Symbol" panose="05050102010706020507" pitchFamily="18" charset="2"/>
              </a:rPr>
              <a:t> </a:t>
            </a:r>
            <a:r>
              <a:rPr lang="en-US" sz="2400" baseline="-25000" dirty="0" err="1">
                <a:sym typeface="Symbol" panose="05050102010706020507" pitchFamily="18" charset="2"/>
              </a:rPr>
              <a:t>j</a:t>
            </a:r>
            <a:r>
              <a:rPr lang="en-US" sz="2400" baseline="30000" dirty="0" err="1">
                <a:sym typeface="Symbol" panose="05050102010706020507" pitchFamily="18" charset="2"/>
              </a:rPr>
              <a:t>B</a:t>
            </a:r>
            <a:r>
              <a:rPr lang="en-US" sz="2400" dirty="0">
                <a:sym typeface="Symbol" panose="05050102010706020507" pitchFamily="18" charset="2"/>
              </a:rPr>
              <a:t>    [AC]  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baseline="30000" dirty="0" err="1">
                <a:sym typeface="Symbol" panose="05050102010706020507" pitchFamily="18" charset="2"/>
              </a:rPr>
              <a:t>C</a:t>
            </a:r>
            <a:endParaRPr lang="en-US" sz="2400" baseline="30000" dirty="0"/>
          </a:p>
          <a:p>
            <a:r>
              <a:rPr lang="en-US" sz="2400" dirty="0"/>
              <a:t>Fit using </a:t>
            </a:r>
            <a:r>
              <a:rPr lang="en-US" sz="2400" dirty="0">
                <a:solidFill>
                  <a:srgbClr val="0070C0"/>
                </a:solidFill>
              </a:rPr>
              <a:t>family=binomial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8C384-8FA3-46F9-B1DC-03EB15FE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1E8A3-6157-40A6-B7A3-F359CDEC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133600"/>
            <a:ext cx="4971429" cy="5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1AED7-35AB-4FD8-839B-5BF655B80485}"/>
              </a:ext>
            </a:extLst>
          </p:cNvPr>
          <p:cNvSpPr txBox="1"/>
          <p:nvPr/>
        </p:nvSpPr>
        <p:spPr>
          <a:xfrm>
            <a:off x="914400" y="5840829"/>
            <a:ext cx="7086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(outcome==“survived” ~ B + C, family = binomial)</a:t>
            </a:r>
          </a:p>
        </p:txBody>
      </p:sp>
    </p:spTree>
    <p:extLst>
      <p:ext uri="{BB962C8B-B14F-4D97-AF65-F5344CB8AC3E}">
        <p14:creationId xmlns:p14="http://schemas.microsoft.com/office/powerpoint/2010/main" val="320944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3051E-9AD5-4EE8-9F37-5F65C6DC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61905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D6C4B-CB73-4048-8413-549A76F1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71428" cy="3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98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BC256-C87B-433F-A278-4AAABA12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238"/>
            <a:ext cx="8171428" cy="19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05AB9-7160-4499-A532-DBA70708E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91209"/>
            <a:ext cx="8171428" cy="942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C8F0D-ED4D-4EE4-97AE-BBBA07667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96275"/>
            <a:ext cx="817142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5932-225E-44C4-9FD2-7B1C3E6D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77D-E90E-4D6E-83E4-8D72BD2A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71E52-3BF9-47DD-BD83-AC5648FBEBD9}"/>
              </a:ext>
            </a:extLst>
          </p:cNvPr>
          <p:cNvSpPr txBox="1"/>
          <p:nvPr/>
        </p:nvSpPr>
        <p:spPr>
          <a:xfrm>
            <a:off x="457200" y="1628775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educ &lt;- c(50, 100, 50)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names(educ) &lt;- c("Low", "Med", "High")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party &lt;- c(20, 50, 30)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names(party) &lt;- c("NDP", "Liberal", "Cons")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(educ, party) / sum(party)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cell = row * col /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(table)) &lt;- c("Education", "Party")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Party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Education NDP Liberal Cons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Low   10      25   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Med   20      50   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High  10      25   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FE486-9626-4E59-8AE7-C14CD5DF613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a table of Education by Party preference, strictly independent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4C15A-E845-472D-BB51-3607B22D26D9}"/>
              </a:ext>
            </a:extLst>
          </p:cNvPr>
          <p:cNvSpPr txBox="1"/>
          <p:nvPr/>
        </p:nvSpPr>
        <p:spPr>
          <a:xfrm>
            <a:off x="457200" y="4815899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Education + Party, table)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~Education + Party, data = table)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  0  4       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  0  4      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F3BB4-468C-432B-8F20-1C62F1028121}"/>
              </a:ext>
            </a:extLst>
          </p:cNvPr>
          <p:cNvSpPr txBox="1"/>
          <p:nvPr/>
        </p:nvSpPr>
        <p:spPr>
          <a:xfrm>
            <a:off x="457200" y="4422874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fit: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C2C20-92CE-B39A-32E2-BF41179CD123}"/>
              </a:ext>
            </a:extLst>
          </p:cNvPr>
          <p:cNvSpPr txBox="1"/>
          <p:nvPr/>
        </p:nvSpPr>
        <p:spPr>
          <a:xfrm>
            <a:off x="4191000" y="6075605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6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42FF13-6A4F-4C40-9AEC-99B7621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8C403-CF99-415C-9E2A-CC7FC80C8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02" y="2271078"/>
            <a:ext cx="4080027" cy="4023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6AF19-B5BF-482A-8D4D-B9BDA707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1" y="2271078"/>
            <a:ext cx="4080028" cy="4023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0AF21-6C55-47E8-BB39-DAE314BBFD3C}"/>
              </a:ext>
            </a:extLst>
          </p:cNvPr>
          <p:cNvSpPr txBox="1"/>
          <p:nvPr/>
        </p:nvSpPr>
        <p:spPr>
          <a:xfrm>
            <a:off x="654685" y="1618694"/>
            <a:ext cx="34290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sieve(table, shade=TRUE)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CCC87-EE7E-4498-97F4-7BB38987DB95}"/>
              </a:ext>
            </a:extLst>
          </p:cNvPr>
          <p:cNvSpPr txBox="1"/>
          <p:nvPr/>
        </p:nvSpPr>
        <p:spPr>
          <a:xfrm>
            <a:off x="4845533" y="1618694"/>
            <a:ext cx="3765067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mosaic(table, shade=TRUE)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88B18-99CC-422F-8D5B-9FC1CFB7E9F9}"/>
              </a:ext>
            </a:extLst>
          </p:cNvPr>
          <p:cNvSpPr txBox="1"/>
          <p:nvPr/>
        </p:nvSpPr>
        <p:spPr>
          <a:xfrm>
            <a:off x="533400" y="6096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Both sieve diagrams and mosaic plots show what independence “looks like”</a:t>
            </a:r>
          </a:p>
        </p:txBody>
      </p:sp>
    </p:spTree>
    <p:extLst>
      <p:ext uri="{BB962C8B-B14F-4D97-AF65-F5344CB8AC3E}">
        <p14:creationId xmlns:p14="http://schemas.microsoft.com/office/powerpoint/2010/main" val="23641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7C524D-6F5C-4E73-B456-83977C59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</a:t>
            </a:r>
            <a:r>
              <a:rPr lang="en-US" dirty="0" err="1"/>
              <a:t>glm</a:t>
            </a:r>
            <a:r>
              <a:rPr lang="en-US" dirty="0"/>
              <a:t>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30CE49-D9B0-4FA5-95A6-21D3F46F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376B8-D704-4D3A-AAFE-50C75096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6617"/>
            <a:ext cx="8171428" cy="20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C7CED-8947-4ED7-8AC2-AF8E005B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8171428" cy="1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0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1776B-6565-4CD9-8E8A-6F55AFD7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5E9E5-4CE5-4FE1-AC4B-3E912555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762000"/>
            <a:ext cx="8171428" cy="3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42F81B-0265-43EC-9863-712B2842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4648200"/>
            <a:ext cx="8171428" cy="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52A72-BB06-4982-B9CB-BF6BD787016F}"/>
              </a:ext>
            </a:extLst>
          </p:cNvPr>
          <p:cNvSpPr txBox="1"/>
          <p:nvPr/>
        </p:nvSpPr>
        <p:spPr>
          <a:xfrm>
            <a:off x="7315200" y="1905000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</a:t>
            </a:r>
          </a:p>
          <a:p>
            <a:r>
              <a:rPr lang="en-US" dirty="0"/>
              <a:t>margin A</a:t>
            </a:r>
          </a:p>
          <a:p>
            <a:r>
              <a:rPr lang="en-US" dirty="0"/>
              <a:t>margin B</a:t>
            </a:r>
          </a:p>
          <a:p>
            <a:r>
              <a:rPr lang="en-US" dirty="0"/>
              <a:t>association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6C8C9-4A4D-093C-5BF9-12CF8E73CAF8}"/>
              </a:ext>
            </a:extLst>
          </p:cNvPr>
          <p:cNvSpPr txBox="1"/>
          <p:nvPr/>
        </p:nvSpPr>
        <p:spPr>
          <a:xfrm>
            <a:off x="4714568" y="14478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i="1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05214-60C6-15FC-19FB-F60EE57C4B94}"/>
              </a:ext>
            </a:extLst>
          </p:cNvPr>
          <p:cNvSpPr txBox="1"/>
          <p:nvPr/>
        </p:nvSpPr>
        <p:spPr>
          <a:xfrm>
            <a:off x="6324600" y="1433052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dirty="0"/>
              <a:t>β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436565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8FE58F-C405-4F84-8B4B-BAAAB1EE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goodness of fit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432F8-CF87-488B-BA06-86A762F2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823C9-AAAA-4397-A175-F4CEC5CB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171428" cy="27714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F4963-D461-4E84-917F-051687A7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4191000"/>
            <a:ext cx="8171428" cy="1990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E62B9F-364F-4CAE-9CC8-24DD711C6713}"/>
              </a:ext>
            </a:extLst>
          </p:cNvPr>
          <p:cNvSpPr/>
          <p:nvPr/>
        </p:nvSpPr>
        <p:spPr>
          <a:xfrm>
            <a:off x="2971800" y="3513496"/>
            <a:ext cx="3886200" cy="496666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50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3A1A-0C10-16A0-C97D-27813530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Degrees of freedom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59C92-8597-5912-4EEC-BBC24C13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5530E-C99E-DF3D-4BB8-AD8D2CB800B3}"/>
              </a:ext>
            </a:extLst>
          </p:cNvPr>
          <p:cNvSpPr txBox="1"/>
          <p:nvPr/>
        </p:nvSpPr>
        <p:spPr>
          <a:xfrm>
            <a:off x="609600" y="2624078"/>
            <a:ext cx="807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(HE) |&gt;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knitr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kable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   | Black| Brown| Red| Blond|</a:t>
            </a:r>
            <a:r>
              <a:rPr lang="en-CA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|Brown |    68|   119|  26|     7|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220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|Blue  |    20|    84|  17|    94|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215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|Hazel |    15|    54|  14|    10|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|Green |     5|    29|  14|    16|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286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127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592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1DD19-0EE6-9EFC-EAC8-527E4B6AE71B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Why do degrees of freedom for an</a:t>
            </a:r>
            <a:r>
              <a:rPr lang="en-CA" i="1" dirty="0"/>
              <a:t> r </a:t>
            </a:r>
            <a:r>
              <a:rPr lang="en-CA" dirty="0"/>
              <a:t>× </a:t>
            </a:r>
            <a:r>
              <a:rPr lang="en-CA" i="1" dirty="0"/>
              <a:t>c</a:t>
            </a:r>
            <a:r>
              <a:rPr lang="en-CA" dirty="0"/>
              <a:t> table = (</a:t>
            </a:r>
            <a:r>
              <a:rPr lang="en-CA" i="1" dirty="0"/>
              <a:t>r</a:t>
            </a:r>
            <a:r>
              <a:rPr lang="en-CA" dirty="0"/>
              <a:t>-1) * (</a:t>
            </a:r>
            <a:r>
              <a:rPr lang="en-CA" i="1" dirty="0"/>
              <a:t>c</a:t>
            </a:r>
            <a:r>
              <a:rPr lang="en-CA" dirty="0"/>
              <a:t>-1)?</a:t>
            </a:r>
          </a:p>
          <a:p>
            <a:r>
              <a:rPr lang="en-CA" dirty="0"/>
              <a:t>A: Because the row &amp; column totals are used to calculate expected frequencies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CA" dirty="0">
                <a:sym typeface="Symbol" panose="05050102010706020507" pitchFamily="18" charset="2"/>
              </a:rPr>
              <a:t>Only (r-1) independent parameters for each column</a:t>
            </a:r>
          </a:p>
          <a:p>
            <a:r>
              <a:rPr lang="en-CA" dirty="0">
                <a:sym typeface="Symbol" panose="05050102010706020507" pitchFamily="18" charset="2"/>
              </a:rPr>
              <a:t> Only (c-1) independent parameters for each row</a:t>
            </a:r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ECB0EC-E62D-9F46-20C4-6DC3B6146352}"/>
              </a:ext>
            </a:extLst>
          </p:cNvPr>
          <p:cNvGrpSpPr/>
          <p:nvPr/>
        </p:nvGrpSpPr>
        <p:grpSpPr>
          <a:xfrm>
            <a:off x="743564" y="3200400"/>
            <a:ext cx="5195120" cy="2209800"/>
            <a:chOff x="743564" y="3200400"/>
            <a:chExt cx="5195120" cy="2209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3A50F-6ABE-9532-CDDA-30D5789235EC}"/>
                </a:ext>
              </a:extLst>
            </p:cNvPr>
            <p:cNvSpPr/>
            <p:nvPr/>
          </p:nvSpPr>
          <p:spPr>
            <a:xfrm>
              <a:off x="2086896" y="3657600"/>
              <a:ext cx="2209800" cy="914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E0E1A2-1BD3-1C39-1982-49258C694540}"/>
                </a:ext>
              </a:extLst>
            </p:cNvPr>
            <p:cNvSpPr/>
            <p:nvPr/>
          </p:nvSpPr>
          <p:spPr>
            <a:xfrm>
              <a:off x="5334000" y="3200400"/>
              <a:ext cx="604684" cy="22098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A219E-94D9-EFE6-FC2E-4975E12C2C09}"/>
                </a:ext>
              </a:extLst>
            </p:cNvPr>
            <p:cNvSpPr/>
            <p:nvPr/>
          </p:nvSpPr>
          <p:spPr>
            <a:xfrm>
              <a:off x="743564" y="5045074"/>
              <a:ext cx="4461388" cy="365126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00408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411D-D4BA-4E27-8C2B-10E3A86D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for loglinear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AD305-5BA8-4DBB-A7F5-0B05C66D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only 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 tests for two-way tables; not a model (no parameters; no residuals)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general loglinear models for </a:t>
            </a:r>
            <a:r>
              <a:rPr lang="en-US" sz="2400" i="1" dirty="0"/>
              <a:t>n</a:t>
            </a:r>
            <a:r>
              <a:rPr lang="en-US" sz="2400" dirty="0"/>
              <a:t>-way tables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subset,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all generalized linear models; loglinear with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family =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poisson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weights, subset, …)</a:t>
            </a:r>
          </a:p>
          <a:p>
            <a:r>
              <a:rPr lang="en-US" sz="2400" dirty="0"/>
              <a:t>Model formulas have the form: 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table</a:t>
            </a:r>
            <a:r>
              <a:rPr lang="en-US" sz="2000" dirty="0"/>
              <a:t> form: ~ A + B + … (independence); </a:t>
            </a:r>
          </a:p>
          <a:p>
            <a:pPr lvl="1"/>
            <a:r>
              <a:rPr lang="en-US" sz="2000" dirty="0"/>
              <a:t>                     ~ A * B + C  (allow A*B association)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frequency</a:t>
            </a:r>
            <a:r>
              <a:rPr lang="en-US" sz="2000" dirty="0"/>
              <a:t> data frame: Freq ~ A * B +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D3453-4DC6-48BC-B4C0-3865954B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5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717D-B669-4688-918E-C125B1B3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2847-79B5-4BA9-A9C4-84E79FF2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and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return an R object with named components and with 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class()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here “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Objects have </a:t>
            </a:r>
            <a:r>
              <a:rPr lang="en-US" sz="2400" dirty="0">
                <a:solidFill>
                  <a:srgbClr val="0070C0"/>
                </a:solidFill>
              </a:rPr>
              <a:t>methods</a:t>
            </a:r>
            <a:r>
              <a:rPr lang="en-US" sz="2400" dirty="0"/>
              <a:t>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print(), summary(),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residuals()</a:t>
            </a:r>
            <a:r>
              <a:rPr lang="en-US" sz="1800" dirty="0"/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sz="2400" dirty="0"/>
              <a:t>and other methods</a:t>
            </a:r>
          </a:p>
          <a:p>
            <a:pPr lvl="1"/>
            <a:r>
              <a:rPr lang="en-US" sz="2000" dirty="0"/>
              <a:t>Methods are specific to the class of the object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print.loglm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residuals.loglm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346A5-444D-499E-B1D4-4979F410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C4064-CD06-4544-A088-B76D332E3BD4}"/>
              </a:ext>
            </a:extLst>
          </p:cNvPr>
          <p:cNvSpPr txBox="1"/>
          <p:nvPr/>
        </p:nvSpPr>
        <p:spPr>
          <a:xfrm>
            <a:off x="641931" y="2121068"/>
            <a:ext cx="7860138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arth.mod &lt;- 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(~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Treatment+Improved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arth.tab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fitted=TRUE)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names(arth.mod)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names(arth.mod)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lrt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   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pearson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"df"          "margin"      "fitted"      "param"      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[7] "call"        "formula"     "frequencies" "deviance"    "nobs"        "terms“</a:t>
            </a:r>
          </a:p>
          <a:p>
            <a:endParaRPr lang="en-US" sz="12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class(arth.mod)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922559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EE4E-9807-485E-9AC3-F8724500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Model-based methods: Fitting &amp; graphing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5F789-ADCA-436F-B44A-623ECF39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69D152-0736-EC74-9342-D80C61BDFDFC}"/>
              </a:ext>
            </a:extLst>
          </p:cNvPr>
          <p:cNvGrpSpPr/>
          <p:nvPr/>
        </p:nvGrpSpPr>
        <p:grpSpPr>
          <a:xfrm>
            <a:off x="457200" y="2816291"/>
            <a:ext cx="3016911" cy="876791"/>
            <a:chOff x="457200" y="2816291"/>
            <a:chExt cx="3016911" cy="876791"/>
          </a:xfrm>
        </p:grpSpPr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AAE3DFA2-F5D0-43A2-9D02-0C25F969B2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2816291"/>
              <a:ext cx="1357610" cy="850078"/>
              <a:chOff x="4788" y="1122"/>
              <a:chExt cx="702" cy="541"/>
            </a:xfrm>
          </p:grpSpPr>
          <p:sp>
            <p:nvSpPr>
              <p:cNvPr id="21" name="AutoShape 19">
                <a:extLst>
                  <a:ext uri="{FF2B5EF4-FFF2-40B4-BE49-F238E27FC236}">
                    <a16:creationId xmlns:a16="http://schemas.microsoft.com/office/drawing/2014/main" id="{3457B9A5-1797-46F0-BBEE-CBF23516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1122"/>
                <a:ext cx="702" cy="540"/>
              </a:xfrm>
              <a:prstGeom prst="flowChartInternalStorage">
                <a:avLst/>
              </a:prstGeom>
              <a:solidFill>
                <a:srgbClr val="FF0000">
                  <a:alpha val="20000"/>
                </a:srgbClr>
              </a:solidFill>
              <a:ln w="158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" name="Text Box 20">
                <a:extLst>
                  <a:ext uri="{FF2B5EF4-FFF2-40B4-BE49-F238E27FC236}">
                    <a16:creationId xmlns:a16="http://schemas.microsoft.com/office/drawing/2014/main" id="{EE3235BC-98A7-4E0F-99EA-7BD9D8E60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6" y="1212"/>
                <a:ext cx="612" cy="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input </a:t>
                </a:r>
              </a:p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data</a:t>
                </a:r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B1F29717-F8F0-4A79-90C5-38557319C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1924" y="2816292"/>
              <a:ext cx="1282187" cy="876790"/>
              <a:chOff x="2494" y="2160"/>
              <a:chExt cx="1044" cy="558"/>
            </a:xfrm>
          </p:grpSpPr>
          <p:sp>
            <p:nvSpPr>
              <p:cNvPr id="19" name="AutoShape 22">
                <a:extLst>
                  <a:ext uri="{FF2B5EF4-FFF2-40B4-BE49-F238E27FC236}">
                    <a16:creationId xmlns:a16="http://schemas.microsoft.com/office/drawing/2014/main" id="{B813779F-FBF0-4CF7-80DB-1C6CE015D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2190"/>
                <a:ext cx="1044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1D5B694D-98E3-4E94-8808-B573BE7E71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160"/>
                <a:ext cx="936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 err="1"/>
                  <a:t>glm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/>
                  <a:t> </a:t>
                </a:r>
                <a:r>
                  <a:rPr lang="en-US" altLang="en-US" sz="1600" dirty="0" err="1"/>
                  <a:t>polr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 err="1"/>
                  <a:t>multinom</a:t>
                </a:r>
                <a:r>
                  <a:rPr lang="en-US" altLang="en-US" sz="1600" dirty="0"/>
                  <a:t>()</a:t>
                </a:r>
              </a:p>
            </p:txBody>
          </p:sp>
        </p:grpSp>
        <p:sp>
          <p:nvSpPr>
            <p:cNvPr id="11" name="Line 51">
              <a:extLst>
                <a:ext uri="{FF2B5EF4-FFF2-40B4-BE49-F238E27FC236}">
                  <a16:creationId xmlns:a16="http://schemas.microsoft.com/office/drawing/2014/main" id="{55FF224B-3450-41C2-80C7-723AAF180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387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FBACAC-735D-E532-9DBB-26E787E25AC1}"/>
              </a:ext>
            </a:extLst>
          </p:cNvPr>
          <p:cNvGrpSpPr/>
          <p:nvPr/>
        </p:nvGrpSpPr>
        <p:grpSpPr>
          <a:xfrm>
            <a:off x="3398689" y="2816292"/>
            <a:ext cx="1810147" cy="980497"/>
            <a:chOff x="3398689" y="2816292"/>
            <a:chExt cx="1810147" cy="980497"/>
          </a:xfrm>
        </p:grpSpPr>
        <p:grpSp>
          <p:nvGrpSpPr>
            <p:cNvPr id="8" name="Group 28">
              <a:extLst>
                <a:ext uri="{FF2B5EF4-FFF2-40B4-BE49-F238E27FC236}">
                  <a16:creationId xmlns:a16="http://schemas.microsoft.com/office/drawing/2014/main" id="{9B1F2440-70C1-4365-A0BE-52FA77C85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1226" y="2816292"/>
              <a:ext cx="1357610" cy="980497"/>
              <a:chOff x="2064" y="2736"/>
              <a:chExt cx="1104" cy="768"/>
            </a:xfrm>
          </p:grpSpPr>
          <p:sp>
            <p:nvSpPr>
              <p:cNvPr id="17" name="AutoShape 26">
                <a:extLst>
                  <a:ext uri="{FF2B5EF4-FFF2-40B4-BE49-F238E27FC236}">
                    <a16:creationId xmlns:a16="http://schemas.microsoft.com/office/drawing/2014/main" id="{92D6FB39-6C77-4879-B290-8B8BE4A05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736"/>
                <a:ext cx="1104" cy="768"/>
              </a:xfrm>
              <a:prstGeom prst="flowChartMultidocument">
                <a:avLst/>
              </a:prstGeom>
              <a:solidFill>
                <a:srgbClr val="FFFF99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1EE460A9-0991-42E2-B6C5-7A9246875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28"/>
                <a:ext cx="673" cy="4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dirty="0"/>
                  <a:t>model object</a:t>
                </a:r>
              </a:p>
            </p:txBody>
          </p:sp>
        </p:grpSp>
        <p:sp>
          <p:nvSpPr>
            <p:cNvPr id="12" name="Line 52">
              <a:extLst>
                <a:ext uri="{FF2B5EF4-FFF2-40B4-BE49-F238E27FC236}">
                  <a16:creationId xmlns:a16="http://schemas.microsoft.com/office/drawing/2014/main" id="{B4E4B5F4-3600-4B9F-B656-6FB9E667B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689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35BD85-C30A-87A5-7E32-6DB07B833D72}"/>
              </a:ext>
            </a:extLst>
          </p:cNvPr>
          <p:cNvGrpSpPr/>
          <p:nvPr/>
        </p:nvGrpSpPr>
        <p:grpSpPr>
          <a:xfrm>
            <a:off x="5133413" y="2816292"/>
            <a:ext cx="1885570" cy="829651"/>
            <a:chOff x="5133413" y="2816292"/>
            <a:chExt cx="1885570" cy="829651"/>
          </a:xfrm>
        </p:grpSpPr>
        <p:grpSp>
          <p:nvGrpSpPr>
            <p:cNvPr id="9" name="Group 29">
              <a:extLst>
                <a:ext uri="{FF2B5EF4-FFF2-40B4-BE49-F238E27FC236}">
                  <a16:creationId xmlns:a16="http://schemas.microsoft.com/office/drawing/2014/main" id="{6E91E9A5-24AA-4616-B394-7510C1AA7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950" y="2816292"/>
              <a:ext cx="1433033" cy="829651"/>
              <a:chOff x="1614" y="1062"/>
              <a:chExt cx="756" cy="528"/>
            </a:xfrm>
          </p:grpSpPr>
          <p:sp>
            <p:nvSpPr>
              <p:cNvPr id="15" name="AutoShape 30">
                <a:extLst>
                  <a:ext uri="{FF2B5EF4-FFF2-40B4-BE49-F238E27FC236}">
                    <a16:creationId xmlns:a16="http://schemas.microsoft.com/office/drawing/2014/main" id="{8B0EBB8B-ED1E-43A2-BE93-248C61D39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1062"/>
                <a:ext cx="756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40DF6206-28A1-40E4-B7B8-726CE2324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0" y="1128"/>
                <a:ext cx="67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plot(mod)</a:t>
                </a:r>
              </a:p>
              <a:p>
                <a:pPr algn="ctr" eaLnBrk="1" hangingPunct="1"/>
                <a:r>
                  <a:rPr lang="en-US" altLang="en-US" sz="1600"/>
                  <a:t>plot(f(mod))</a:t>
                </a:r>
              </a:p>
            </p:txBody>
          </p:sp>
        </p:grpSp>
        <p:sp>
          <p:nvSpPr>
            <p:cNvPr id="13" name="Line 53">
              <a:extLst>
                <a:ext uri="{FF2B5EF4-FFF2-40B4-BE49-F238E27FC236}">
                  <a16:creationId xmlns:a16="http://schemas.microsoft.com/office/drawing/2014/main" id="{10A5BCE7-6566-4620-9F10-2792B3CF4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3413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534C12-6743-08DB-90C3-35889B2CEBA8}"/>
              </a:ext>
            </a:extLst>
          </p:cNvPr>
          <p:cNvGrpSpPr/>
          <p:nvPr/>
        </p:nvGrpSpPr>
        <p:grpSpPr>
          <a:xfrm>
            <a:off x="6943560" y="2514601"/>
            <a:ext cx="2017560" cy="1420463"/>
            <a:chOff x="6943560" y="2514601"/>
            <a:chExt cx="2017560" cy="1420463"/>
          </a:xfrm>
        </p:grpSpPr>
        <p:pic>
          <p:nvPicPr>
            <p:cNvPr id="10" name="Picture 32">
              <a:extLst>
                <a:ext uri="{FF2B5EF4-FFF2-40B4-BE49-F238E27FC236}">
                  <a16:creationId xmlns:a16="http://schemas.microsoft.com/office/drawing/2014/main" id="{ECE5310C-FC87-4D3A-955B-E820BDF19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6097" y="2514601"/>
              <a:ext cx="1565023" cy="1420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Line 54">
              <a:extLst>
                <a:ext uri="{FF2B5EF4-FFF2-40B4-BE49-F238E27FC236}">
                  <a16:creationId xmlns:a16="http://schemas.microsoft.com/office/drawing/2014/main" id="{AC89C141-18D0-4CB6-A10A-93C3A711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3560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8B1C31-6296-B34F-93C0-F678A452C391}"/>
              </a:ext>
            </a:extLst>
          </p:cNvPr>
          <p:cNvGrpSpPr/>
          <p:nvPr/>
        </p:nvGrpSpPr>
        <p:grpSpPr>
          <a:xfrm>
            <a:off x="4855907" y="1383317"/>
            <a:ext cx="2305333" cy="1432974"/>
            <a:chOff x="4855907" y="1383317"/>
            <a:chExt cx="2305333" cy="1432974"/>
          </a:xfrm>
        </p:grpSpPr>
        <p:sp>
          <p:nvSpPr>
            <p:cNvPr id="26" name="AutoShape 30">
              <a:extLst>
                <a:ext uri="{FF2B5EF4-FFF2-40B4-BE49-F238E27FC236}">
                  <a16:creationId xmlns:a16="http://schemas.microsoft.com/office/drawing/2014/main" id="{D656E6EA-C33E-4311-AD81-392BAB0D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183" y="1383317"/>
              <a:ext cx="1433033" cy="829651"/>
            </a:xfrm>
            <a:prstGeom prst="flowChartAlternateProcess">
              <a:avLst/>
            </a:prstGeom>
            <a:solidFill>
              <a:schemeClr val="bg2">
                <a:lumMod val="50000"/>
                <a:alpha val="39999"/>
              </a:schemeClr>
            </a:solidFill>
            <a:ln w="19050" algn="ctr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6F43EF6-BA24-40AF-A3E4-F0DE78171964}"/>
                </a:ext>
              </a:extLst>
            </p:cNvPr>
            <p:cNvSpPr txBox="1"/>
            <p:nvPr/>
          </p:nvSpPr>
          <p:spPr>
            <a:xfrm>
              <a:off x="5535539" y="1588461"/>
              <a:ext cx="1625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residuals(mod)</a:t>
              </a:r>
            </a:p>
          </p:txBody>
        </p:sp>
        <p:sp>
          <p:nvSpPr>
            <p:cNvPr id="31" name="Line 51">
              <a:extLst>
                <a:ext uri="{FF2B5EF4-FFF2-40B4-BE49-F238E27FC236}">
                  <a16:creationId xmlns:a16="http://schemas.microsoft.com/office/drawing/2014/main" id="{A65C74B2-8908-4902-AFF8-1425D6DB0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5907" y="1785290"/>
              <a:ext cx="616909" cy="103100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3F0335-DD32-2615-A242-57D1105F1663}"/>
              </a:ext>
            </a:extLst>
          </p:cNvPr>
          <p:cNvGrpSpPr/>
          <p:nvPr/>
        </p:nvGrpSpPr>
        <p:grpSpPr>
          <a:xfrm>
            <a:off x="6939370" y="4092109"/>
            <a:ext cx="1732671" cy="986867"/>
            <a:chOff x="6939370" y="4092109"/>
            <a:chExt cx="1732671" cy="986867"/>
          </a:xfrm>
        </p:grpSpPr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8EE8BCA8-AA3B-4D45-8B6B-58269B514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174" y="4092109"/>
              <a:ext cx="986867" cy="986867"/>
            </a:xfrm>
            <a:prstGeom prst="rect">
              <a:avLst/>
            </a:prstGeom>
          </p:spPr>
        </p:pic>
        <p:sp>
          <p:nvSpPr>
            <p:cNvPr id="32" name="Line 51">
              <a:extLst>
                <a:ext uri="{FF2B5EF4-FFF2-40B4-BE49-F238E27FC236}">
                  <a16:creationId xmlns:a16="http://schemas.microsoft.com/office/drawing/2014/main" id="{085342A2-85B9-4EE0-8D9C-06F8724B9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9370" y="4651298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3AE1BA3-615A-6AA5-8916-96598445AE3A}"/>
              </a:ext>
            </a:extLst>
          </p:cNvPr>
          <p:cNvGrpSpPr/>
          <p:nvPr/>
        </p:nvGrpSpPr>
        <p:grpSpPr>
          <a:xfrm>
            <a:off x="7018983" y="1571561"/>
            <a:ext cx="1706608" cy="400785"/>
            <a:chOff x="7018983" y="1571561"/>
            <a:chExt cx="1706608" cy="40078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B8AB6A0-39BE-468D-BE15-EE0E91E32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1520" y="1571561"/>
              <a:ext cx="1254071" cy="400785"/>
            </a:xfrm>
            <a:prstGeom prst="rect">
              <a:avLst/>
            </a:prstGeom>
          </p:spPr>
        </p:pic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CD6F3D80-C9E8-42C4-838D-CB645A76A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8983" y="1785291"/>
              <a:ext cx="377115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F58FC7-540A-6A8F-F83E-269826670E4B}"/>
              </a:ext>
            </a:extLst>
          </p:cNvPr>
          <p:cNvGrpSpPr/>
          <p:nvPr/>
        </p:nvGrpSpPr>
        <p:grpSpPr>
          <a:xfrm>
            <a:off x="4752775" y="3769174"/>
            <a:ext cx="2260521" cy="1309802"/>
            <a:chOff x="4752775" y="3769174"/>
            <a:chExt cx="2260521" cy="13098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481675F-C191-D1BB-A76F-D9C7C19AC268}"/>
                </a:ext>
              </a:extLst>
            </p:cNvPr>
            <p:cNvGrpSpPr/>
            <p:nvPr/>
          </p:nvGrpSpPr>
          <p:grpSpPr>
            <a:xfrm>
              <a:off x="5580263" y="4249325"/>
              <a:ext cx="1433033" cy="829651"/>
              <a:chOff x="5580263" y="4249325"/>
              <a:chExt cx="1433033" cy="82965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CE3452-E979-4E88-BFF9-72B54B8656AE}"/>
                  </a:ext>
                </a:extLst>
              </p:cNvPr>
              <p:cNvSpPr txBox="1"/>
              <p:nvPr/>
            </p:nvSpPr>
            <p:spPr>
              <a:xfrm>
                <a:off x="5625075" y="4371762"/>
                <a:ext cx="134340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(mod)</a:t>
                </a:r>
              </a:p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23" name="AutoShape 30">
                <a:extLst>
                  <a:ext uri="{FF2B5EF4-FFF2-40B4-BE49-F238E27FC236}">
                    <a16:creationId xmlns:a16="http://schemas.microsoft.com/office/drawing/2014/main" id="{99BD8B93-D9BF-4BF0-BC53-7224397BD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263" y="4249325"/>
                <a:ext cx="1433033" cy="829651"/>
              </a:xfrm>
              <a:prstGeom prst="flowChartAlternateProcess">
                <a:avLst/>
              </a:prstGeom>
              <a:solidFill>
                <a:schemeClr val="accent3">
                  <a:lumMod val="60000"/>
                  <a:lumOff val="40000"/>
                  <a:alpha val="39999"/>
                </a:schemeClr>
              </a:solidFill>
              <a:ln w="19050" algn="ctr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</p:grp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368BC483-DACD-4537-B725-260922041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775" y="3769174"/>
              <a:ext cx="718566" cy="953573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BB7DF0E-1601-43C8-97CC-5FB27082F56C}"/>
              </a:ext>
            </a:extLst>
          </p:cNvPr>
          <p:cNvSpPr txBox="1"/>
          <p:nvPr/>
        </p:nvSpPr>
        <p:spPr>
          <a:xfrm>
            <a:off x="550028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D931EE-7450-4ADC-A594-595C4D9809F1}"/>
              </a:ext>
            </a:extLst>
          </p:cNvPr>
          <p:cNvSpPr txBox="1"/>
          <p:nvPr/>
        </p:nvSpPr>
        <p:spPr>
          <a:xfrm>
            <a:off x="1907638" y="5454778"/>
            <a:ext cx="1791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function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4F56C0-AB6C-4AD8-85E3-07F1EF8C5037}"/>
              </a:ext>
            </a:extLst>
          </p:cNvPr>
          <p:cNvSpPr txBox="1"/>
          <p:nvPr/>
        </p:nvSpPr>
        <p:spPr>
          <a:xfrm>
            <a:off x="5705021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method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76F707-51DF-4D1F-AC8B-AE1C62A9870F}"/>
              </a:ext>
            </a:extLst>
          </p:cNvPr>
          <p:cNvSpPr txBox="1"/>
          <p:nvPr/>
        </p:nvSpPr>
        <p:spPr>
          <a:xfrm>
            <a:off x="7499802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output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6ED1B0-A004-4529-BEA0-C3B64BB015EF}"/>
              </a:ext>
            </a:extLst>
          </p:cNvPr>
          <p:cNvSpPr txBox="1"/>
          <p:nvPr/>
        </p:nvSpPr>
        <p:spPr>
          <a:xfrm>
            <a:off x="3699519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2502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22C0-A5B7-4794-841D-1CB98036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0C248-F112-43D4-AD2F-6CAA8E26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7EEC-A125-4B6E-AA6E-AACE99428648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on effects of treatment for rheumatoid arthritis (in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 form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21402-1695-45B5-985D-BF0F195DDE13}"/>
              </a:ext>
            </a:extLst>
          </p:cNvPr>
          <p:cNvSpPr txBox="1"/>
          <p:nvPr/>
        </p:nvSpPr>
        <p:spPr>
          <a:xfrm>
            <a:off x="457200" y="1817132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str(Arthritis)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':	84 obs. of  5 variables: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ID       : int  57 46 77 17 36 23 75 39 33 55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Treatment: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Placebo","Treated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Sex      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Female","Male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Age      : int  27 29 30 32 46 58 59 59 63 63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Improved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3 levels "None"&lt;"Some"&lt;..: 2 1 1 3 3 3 1 3 1 1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0FA47-598F-4996-AF88-FF913F7DE354}"/>
              </a:ext>
            </a:extLst>
          </p:cNvPr>
          <p:cNvSpPr txBox="1"/>
          <p:nvPr/>
        </p:nvSpPr>
        <p:spPr>
          <a:xfrm>
            <a:off x="533400" y="3657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now, ignore Age; consider the 2 x 3 table of Treatment x Improved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DCC82-C7BD-4A8F-AEB9-B66503269AA1}"/>
              </a:ext>
            </a:extLst>
          </p:cNvPr>
          <p:cNvSpPr txBox="1"/>
          <p:nvPr/>
        </p:nvSpPr>
        <p:spPr>
          <a:xfrm>
            <a:off x="533400" y="4297740"/>
            <a:ext cx="8153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with(Arthritis,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(Treatment, Improved))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None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 29    7 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  13    7    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77024-8D3A-62ED-6340-469632EC0A58}"/>
              </a:ext>
            </a:extLst>
          </p:cNvPr>
          <p:cNvSpPr txBox="1"/>
          <p:nvPr/>
        </p:nvSpPr>
        <p:spPr>
          <a:xfrm>
            <a:off x="5638800" y="5181600"/>
            <a:ext cx="2504440" cy="523220"/>
          </a:xfrm>
          <a:custGeom>
            <a:avLst/>
            <a:gdLst>
              <a:gd name="connsiteX0" fmla="*/ 0 w 2504440"/>
              <a:gd name="connsiteY0" fmla="*/ 0 h 523220"/>
              <a:gd name="connsiteX1" fmla="*/ 475844 w 2504440"/>
              <a:gd name="connsiteY1" fmla="*/ 0 h 523220"/>
              <a:gd name="connsiteX2" fmla="*/ 976732 w 2504440"/>
              <a:gd name="connsiteY2" fmla="*/ 0 h 523220"/>
              <a:gd name="connsiteX3" fmla="*/ 1502664 w 2504440"/>
              <a:gd name="connsiteY3" fmla="*/ 0 h 523220"/>
              <a:gd name="connsiteX4" fmla="*/ 2028596 w 2504440"/>
              <a:gd name="connsiteY4" fmla="*/ 0 h 523220"/>
              <a:gd name="connsiteX5" fmla="*/ 2504440 w 2504440"/>
              <a:gd name="connsiteY5" fmla="*/ 0 h 523220"/>
              <a:gd name="connsiteX6" fmla="*/ 2504440 w 2504440"/>
              <a:gd name="connsiteY6" fmla="*/ 523220 h 523220"/>
              <a:gd name="connsiteX7" fmla="*/ 1953463 w 2504440"/>
              <a:gd name="connsiteY7" fmla="*/ 523220 h 523220"/>
              <a:gd name="connsiteX8" fmla="*/ 1402486 w 2504440"/>
              <a:gd name="connsiteY8" fmla="*/ 523220 h 523220"/>
              <a:gd name="connsiteX9" fmla="*/ 901598 w 2504440"/>
              <a:gd name="connsiteY9" fmla="*/ 523220 h 523220"/>
              <a:gd name="connsiteX10" fmla="*/ 0 w 2504440"/>
              <a:gd name="connsiteY10" fmla="*/ 523220 h 523220"/>
              <a:gd name="connsiteX11" fmla="*/ 0 w 2504440"/>
              <a:gd name="connsiteY11" fmla="*/ 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 err="1"/>
              <a:t>arth.tab</a:t>
            </a:r>
            <a:r>
              <a:rPr lang="en-CA" sz="1400" dirty="0"/>
              <a:t>  is a “table” object </a:t>
            </a:r>
            <a:r>
              <a:rPr lang="en-CA" sz="1400" dirty="0" err="1"/>
              <a:t>print.table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1682441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D6DD-396A-47CE-863B-F5D8DB87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E7FE7-0B15-4D60-8EAF-1918C21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DCF13-2F3E-4BBF-B1AD-5C99FF746D22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Fit the independence model,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~ Treatment + Improved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DE256-2B8B-4213-8184-384AEF942A7B}"/>
              </a:ext>
            </a:extLst>
          </p:cNvPr>
          <p:cNvSpPr txBox="1"/>
          <p:nvPr/>
        </p:nvSpPr>
        <p:spPr>
          <a:xfrm>
            <a:off x="457200" y="1731962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arth.mod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fitted=TRUE)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 = TRUE)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13.53  2 0.001154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13.06  2 0.001463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91233-2972-4DA0-B06A-4A594093BC5E}"/>
              </a:ext>
            </a:extLst>
          </p:cNvPr>
          <p:cNvSpPr txBox="1"/>
          <p:nvPr/>
        </p:nvSpPr>
        <p:spPr>
          <a:xfrm>
            <a:off x="457200" y="4189114"/>
            <a:ext cx="3962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(arth.mod), 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None   Some Marked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1.535 -0.063 -2.152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-1.777  0.064  1.837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Likelihood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ratio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chisquare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deviance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13.53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95FD5-D993-40AF-B481-E92055F60A6F}"/>
              </a:ext>
            </a:extLst>
          </p:cNvPr>
          <p:cNvSpPr txBox="1"/>
          <p:nvPr/>
        </p:nvSpPr>
        <p:spPr>
          <a:xfrm>
            <a:off x="4561840" y="4189114"/>
            <a:ext cx="37338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$`(Intercept)`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2.543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$Treatment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Placebo  Treated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0.0238  -0.0238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None     Some   Marked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0.5014  -0.5972   0.0959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F17CE-A713-40AB-8E2F-41DC6C157038}"/>
              </a:ext>
            </a:extLst>
          </p:cNvPr>
          <p:cNvSpPr txBox="1"/>
          <p:nvPr/>
        </p:nvSpPr>
        <p:spPr>
          <a:xfrm>
            <a:off x="457200" y="3683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methods: residuals(), deviance(), </a:t>
            </a:r>
            <a:r>
              <a:rPr lang="en-US" dirty="0" err="1"/>
              <a:t>coef</a:t>
            </a:r>
            <a:r>
              <a:rPr lang="en-US" dirty="0"/>
              <a:t>(),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61299-2812-F9E4-7B30-FC2E45494DAE}"/>
              </a:ext>
            </a:extLst>
          </p:cNvPr>
          <p:cNvSpPr txBox="1"/>
          <p:nvPr/>
        </p:nvSpPr>
        <p:spPr>
          <a:xfrm>
            <a:off x="5791200" y="2819400"/>
            <a:ext cx="2504440" cy="523220"/>
          </a:xfrm>
          <a:custGeom>
            <a:avLst/>
            <a:gdLst>
              <a:gd name="connsiteX0" fmla="*/ 0 w 2504440"/>
              <a:gd name="connsiteY0" fmla="*/ 0 h 523220"/>
              <a:gd name="connsiteX1" fmla="*/ 475844 w 2504440"/>
              <a:gd name="connsiteY1" fmla="*/ 0 h 523220"/>
              <a:gd name="connsiteX2" fmla="*/ 976732 w 2504440"/>
              <a:gd name="connsiteY2" fmla="*/ 0 h 523220"/>
              <a:gd name="connsiteX3" fmla="*/ 1502664 w 2504440"/>
              <a:gd name="connsiteY3" fmla="*/ 0 h 523220"/>
              <a:gd name="connsiteX4" fmla="*/ 2028596 w 2504440"/>
              <a:gd name="connsiteY4" fmla="*/ 0 h 523220"/>
              <a:gd name="connsiteX5" fmla="*/ 2504440 w 2504440"/>
              <a:gd name="connsiteY5" fmla="*/ 0 h 523220"/>
              <a:gd name="connsiteX6" fmla="*/ 2504440 w 2504440"/>
              <a:gd name="connsiteY6" fmla="*/ 523220 h 523220"/>
              <a:gd name="connsiteX7" fmla="*/ 1953463 w 2504440"/>
              <a:gd name="connsiteY7" fmla="*/ 523220 h 523220"/>
              <a:gd name="connsiteX8" fmla="*/ 1402486 w 2504440"/>
              <a:gd name="connsiteY8" fmla="*/ 523220 h 523220"/>
              <a:gd name="connsiteX9" fmla="*/ 901598 w 2504440"/>
              <a:gd name="connsiteY9" fmla="*/ 523220 h 523220"/>
              <a:gd name="connsiteX10" fmla="*/ 0 w 2504440"/>
              <a:gd name="connsiteY10" fmla="*/ 523220 h 523220"/>
              <a:gd name="connsiteX11" fmla="*/ 0 w 2504440"/>
              <a:gd name="connsiteY11" fmla="*/ 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/>
              <a:t>The method </a:t>
            </a:r>
            <a:r>
              <a:rPr lang="en-CA" sz="1400" dirty="0" err="1"/>
              <a:t>print.loglm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25910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3BA5-FBB0-4BA7-A88B-ED84AE85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D79603-4A3D-4EF1-BD9E-71415E9B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0AB00-BDFC-4D95-9787-46D293A477C5}"/>
              </a:ext>
            </a:extLst>
          </p:cNvPr>
          <p:cNvSpPr txBox="1"/>
          <p:nvPr/>
        </p:nvSpPr>
        <p:spPr>
          <a:xfrm>
            <a:off x="457200" y="118364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Visualization: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mosaic() </a:t>
            </a:r>
            <a:r>
              <a:rPr lang="en-US" dirty="0"/>
              <a:t>or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dirty="0"/>
              <a:t>the model </a:t>
            </a:r>
            <a:r>
              <a:rPr lang="en-US" i="1" dirty="0"/>
              <a:t>or</a:t>
            </a:r>
            <a:r>
              <a:rPr lang="en-US" dirty="0"/>
              <a:t>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2E07D-482A-4FBF-AE06-8C95F1B12812}"/>
              </a:ext>
            </a:extLst>
          </p:cNvPr>
          <p:cNvSpPr txBox="1"/>
          <p:nvPr/>
        </p:nvSpPr>
        <p:spPr>
          <a:xfrm>
            <a:off x="457200" y="165576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arth.mod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gp_args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=list(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interpolate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=1:4),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E1D74-6CAF-48BA-955F-1999F5AE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8506"/>
            <a:ext cx="5114286" cy="3876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00F5F-98CC-4770-985E-656F261ACC14}"/>
              </a:ext>
            </a:extLst>
          </p:cNvPr>
          <p:cNvSpPr txBox="1"/>
          <p:nvPr/>
        </p:nvSpPr>
        <p:spPr>
          <a:xfrm>
            <a:off x="6172200" y="3124200"/>
            <a:ext cx="259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Splits by the response,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en-US" dirty="0"/>
              <a:t> first</a:t>
            </a:r>
          </a:p>
          <a:p>
            <a:endParaRPr lang="en-US" dirty="0"/>
          </a:p>
          <a:p>
            <a:r>
              <a:rPr lang="en-US" dirty="0"/>
              <a:t>Custom scheme for shading levels; normally</a:t>
            </a:r>
          </a:p>
          <a:p>
            <a:r>
              <a:rPr lang="en-US" dirty="0"/>
              <a:t>c(2, 4) for |residual|</a:t>
            </a:r>
          </a:p>
          <a:p>
            <a:endParaRPr lang="en-US" dirty="0"/>
          </a:p>
          <a:p>
            <a:r>
              <a:rPr lang="en-US" dirty="0"/>
              <a:t>Cells can be labeled by </a:t>
            </a:r>
            <a:r>
              <a:rPr lang="en-US" dirty="0" err="1"/>
              <a:t>freq</a:t>
            </a:r>
            <a:r>
              <a:rPr lang="en-US" dirty="0"/>
              <a:t>, residual, …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3CE108-7169-0168-4E90-8850D5AB3A62}"/>
              </a:ext>
            </a:extLst>
          </p:cNvPr>
          <p:cNvCxnSpPr/>
          <p:nvPr/>
        </p:nvCxnSpPr>
        <p:spPr>
          <a:xfrm flipH="1" flipV="1">
            <a:off x="7010400" y="2057400"/>
            <a:ext cx="76200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3677F0-9CF3-90E9-A8D3-A5391C31DA18}"/>
              </a:ext>
            </a:extLst>
          </p:cNvPr>
          <p:cNvCxnSpPr/>
          <p:nvPr/>
        </p:nvCxnSpPr>
        <p:spPr>
          <a:xfrm flipH="1" flipV="1">
            <a:off x="5181600" y="2286000"/>
            <a:ext cx="1066800" cy="2819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1F2C-3A4C-4052-BF6F-8DE9D753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557D0-BFC0-46BA-932E-7E5B9CD7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4F235-99A3-4EF4-8793-33EA404035A8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glm</a:t>
            </a:r>
            <a:r>
              <a:rPr lang="en-US" sz="2000" dirty="0"/>
              <a:t>() for loglinear models easiest w/ the data as a </a:t>
            </a:r>
            <a:r>
              <a:rPr lang="en-US" sz="2000" dirty="0" err="1"/>
              <a:t>data.frame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frequency</a:t>
            </a:r>
            <a:r>
              <a:rPr lang="en-US" sz="2000" dirty="0"/>
              <a:t> form, </a:t>
            </a:r>
            <a:r>
              <a:rPr lang="en-US" sz="2000" dirty="0">
                <a:solidFill>
                  <a:srgbClr val="0070C0"/>
                </a:solidFill>
              </a:rPr>
              <a:t>family=</a:t>
            </a:r>
            <a:r>
              <a:rPr lang="en-US" sz="2000" dirty="0" err="1">
                <a:solidFill>
                  <a:srgbClr val="0070C0"/>
                </a:solidFill>
              </a:rPr>
              <a:t>poisson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0F4C0-761C-4D26-BD8F-F15009D11EEB}"/>
              </a:ext>
            </a:extLst>
          </p:cNvPr>
          <p:cNvSpPr txBox="1"/>
          <p:nvPr/>
        </p:nvSpPr>
        <p:spPr>
          <a:xfrm>
            <a:off x="457200" y="2009497"/>
            <a:ext cx="83058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Treatment + Improved,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data=Arthritis))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Treatment Improved Freq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Placebo     None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Treated     None   13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Placebo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Treated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Placebo   Marked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Treated   Marked  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DF89A-B4E8-4EB4-A00A-33B47B7B6308}"/>
              </a:ext>
            </a:extLst>
          </p:cNvPr>
          <p:cNvSpPr txBox="1"/>
          <p:nvPr/>
        </p:nvSpPr>
        <p:spPr>
          <a:xfrm>
            <a:off x="457200" y="4953000"/>
            <a:ext cx="83058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Treatment + Improved,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48AF6-95EF-48A7-BD34-4D119EF0A66B}"/>
              </a:ext>
            </a:extLst>
          </p:cNvPr>
          <p:cNvSpPr txBox="1"/>
          <p:nvPr/>
        </p:nvSpPr>
        <p:spPr>
          <a:xfrm>
            <a:off x="457200" y="5791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on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models later</a:t>
            </a:r>
          </a:p>
        </p:txBody>
      </p:sp>
    </p:spTree>
    <p:extLst>
      <p:ext uri="{BB962C8B-B14F-4D97-AF65-F5344CB8AC3E}">
        <p14:creationId xmlns:p14="http://schemas.microsoft.com/office/powerpoint/2010/main" val="3855001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3D6C0-43AD-4F4B-8DCE-039300F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Hair color &amp; Eye color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33840-5DBA-49C4-991F-1ADA8C0B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3F9FC-0BCA-4381-91EF-4B177DC1E46C}"/>
              </a:ext>
            </a:extLst>
          </p:cNvPr>
          <p:cNvSpPr txBox="1"/>
          <p:nvPr/>
        </p:nvSpPr>
        <p:spPr>
          <a:xfrm>
            <a:off x="457200" y="1295400"/>
            <a:ext cx="8229600" cy="452431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1:2)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(HE.mod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Hair + Eye,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~Hair + Eye,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  9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138.3  9        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round(residuals(HE.mod), 2)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Re-fitting to get frequencies and fitted values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4.00 -3.39 -0.49 -2.21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1.21 -2.02  1.31 -0.35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-0.08 -1.85  0.82  2.04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-7.33  6.17 -2.47  0.60</a:t>
            </a:r>
          </a:p>
        </p:txBody>
      </p:sp>
    </p:spTree>
    <p:extLst>
      <p:ext uri="{BB962C8B-B14F-4D97-AF65-F5344CB8AC3E}">
        <p14:creationId xmlns:p14="http://schemas.microsoft.com/office/powerpoint/2010/main" val="28786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2825-1C41-4018-8468-15FE40D8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0094A-B700-4031-BF63-899E0546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743200"/>
          </a:xfrm>
        </p:spPr>
        <p:txBody>
          <a:bodyPr/>
          <a:lstStyle/>
          <a:p>
            <a:r>
              <a:rPr lang="en-US" sz="2400" dirty="0"/>
              <a:t>In two-way models, residuals contain the info on lack of independence</a:t>
            </a:r>
          </a:p>
          <a:p>
            <a:pPr lvl="1"/>
            <a:r>
              <a:rPr lang="en-US" sz="2000" dirty="0"/>
              <a:t>Equivalently: help to understand the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pattern</a:t>
            </a:r>
            <a:r>
              <a:rPr lang="en-US" sz="2000" dirty="0"/>
              <a:t> of association</a:t>
            </a:r>
          </a:p>
          <a:p>
            <a:pPr lvl="1"/>
            <a:r>
              <a:rPr lang="en-US" sz="2000" dirty="0"/>
              <a:t>Effect ordering: permuting the rows / cols often makes the pattern more apparent</a:t>
            </a:r>
          </a:p>
          <a:p>
            <a:r>
              <a:rPr lang="en-US" sz="2400" dirty="0"/>
              <a:t>Correspondence analysis: </a:t>
            </a:r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/>
              <a:t>reorder by scores on Dim 1</a:t>
            </a:r>
          </a:p>
          <a:p>
            <a:pPr lvl="1"/>
            <a:r>
              <a:rPr lang="en-US" sz="2000" dirty="0"/>
              <a:t>seriation::permute(order=“CA”) does this for two-way tables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D7A47-2BB4-4642-A8E8-EEAAE24C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A7BBF-A22D-44E8-B5E4-3B2837DCB631}"/>
              </a:ext>
            </a:extLst>
          </p:cNvPr>
          <p:cNvSpPr txBox="1"/>
          <p:nvPr/>
        </p:nvSpPr>
        <p:spPr>
          <a:xfrm>
            <a:off x="457200" y="4343400"/>
            <a:ext cx="3733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Blue Hazel Green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20    15 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84    54 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17    14 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94    10   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4071C-CA46-408D-A909-2918C0CB9AEA}"/>
              </a:ext>
            </a:extLst>
          </p:cNvPr>
          <p:cNvSpPr txBox="1"/>
          <p:nvPr/>
        </p:nvSpPr>
        <p:spPr>
          <a:xfrm>
            <a:off x="4686300" y="4294247"/>
            <a:ext cx="37338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library(seriation)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permute(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Hazel Green Blue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 15     5   20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 54    29   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 14    14  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 10    16   94</a:t>
            </a:r>
          </a:p>
        </p:txBody>
      </p:sp>
    </p:spTree>
    <p:extLst>
      <p:ext uri="{BB962C8B-B14F-4D97-AF65-F5344CB8AC3E}">
        <p14:creationId xmlns:p14="http://schemas.microsoft.com/office/powerpoint/2010/main" val="1120215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E1C5-EB67-938A-0B79-465FEA60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AACF-54C8-481C-A8A4-7C5C9CD6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028D57CA-46E4-4260-843D-908402B98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55" y="2468562"/>
            <a:ext cx="4114800" cy="4114800"/>
          </a:xfrm>
          <a:prstGeom prst="rect">
            <a:avLst/>
          </a:prstGeom>
        </p:spPr>
      </p:pic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CFABA239-BF98-46EC-8D24-46B42FCA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468562"/>
            <a:ext cx="41148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564D3F-A86A-409B-8FFF-BB01C116C279}"/>
              </a:ext>
            </a:extLst>
          </p:cNvPr>
          <p:cNvSpPr txBox="1"/>
          <p:nvPr/>
        </p:nvSpPr>
        <p:spPr>
          <a:xfrm>
            <a:off x="457200" y="1273906"/>
            <a:ext cx="8191845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permute(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07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88D78C-84A5-7A81-5BF7-122A84B8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Bee abundance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923C8-7500-2040-2FDF-D397DBC9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3D352-8C59-9DC7-1ABF-556B77B0D98A}"/>
              </a:ext>
            </a:extLst>
          </p:cNvPr>
          <p:cNvSpPr txBox="1"/>
          <p:nvPr/>
        </p:nvSpPr>
        <p:spPr>
          <a:xfrm>
            <a:off x="381000" y="12192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study by Taylor Kerekes examined the abundance of bee species in Ontario over three periods of time.  </a:t>
            </a:r>
          </a:p>
          <a:p>
            <a:endParaRPr lang="en-CA" dirty="0"/>
          </a:p>
          <a:p>
            <a:r>
              <a:rPr lang="en-CA" dirty="0"/>
              <a:t>Q: Does relative abundance of species differ over years?</a:t>
            </a:r>
          </a:p>
          <a:p>
            <a:endParaRPr lang="en-CA" dirty="0"/>
          </a:p>
          <a:p>
            <a:r>
              <a:rPr lang="en-CA" dirty="0"/>
              <a:t>A: Do a chi-square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1D26D-65B2-27A7-B4A4-674448532196}"/>
              </a:ext>
            </a:extLst>
          </p:cNvPr>
          <p:cNvSpPr txBox="1"/>
          <p:nvPr/>
        </p:nvSpPr>
        <p:spPr>
          <a:xfrm>
            <a:off x="4387640" y="1295400"/>
            <a:ext cx="4419600" cy="375487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A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14 x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species       `2002` `2005` `2021`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&lt;chr&gt;        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Affinis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508      0      0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Bimaculatus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362    345    137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 Borealis          30      6     11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Fervidus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634     19     10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Griseocollis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35     21     21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 Impatiens        638    564    616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Pensylvanicus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112      0      0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8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Perplexus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160     57      9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9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Rufocinctus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51     46     17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10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Ternarius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9     16      9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Terricola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119      1      4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Vagans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713     82     39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13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Ashtoni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  27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Citrinus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234     38    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6C82-DA52-272E-B427-311B22BABEDF}"/>
              </a:ext>
            </a:extLst>
          </p:cNvPr>
          <p:cNvSpPr txBox="1"/>
          <p:nvPr/>
        </p:nvSpPr>
        <p:spPr>
          <a:xfrm>
            <a:off x="381000" y="4034611"/>
            <a:ext cx="39624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[,-1])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Pearson's Chi-squared test</a:t>
            </a:r>
          </a:p>
          <a:p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data:  bees[, -1]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1981,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26, p-value &lt;2e-16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8AD28-AB02-CB53-A1BC-3FB4ADC31065}"/>
              </a:ext>
            </a:extLst>
          </p:cNvPr>
          <p:cNvSpPr txBox="1"/>
          <p:nvPr/>
        </p:nvSpPr>
        <p:spPr>
          <a:xfrm>
            <a:off x="381000" y="54864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to understand the pattern of association?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869D5-7FD7-BF4A-DFF8-DB55C035E712}"/>
              </a:ext>
            </a:extLst>
          </p:cNvPr>
          <p:cNvSpPr txBox="1"/>
          <p:nvPr/>
        </p:nvSpPr>
        <p:spPr>
          <a:xfrm>
            <a:off x="3581400" y="44196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</a:t>
            </a:r>
            <a:endParaRPr lang="en-C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432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4E263396-7398-4A26-E8A9-3452E6602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4AC0C-F1F1-8BD7-177C-8DE014B307F6}"/>
              </a:ext>
            </a:extLst>
          </p:cNvPr>
          <p:cNvSpPr txBox="1"/>
          <p:nvPr/>
        </p:nvSpPr>
        <p:spPr>
          <a:xfrm>
            <a:off x="6248400" y="17526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Alphabetic order of species:</a:t>
            </a:r>
          </a:p>
          <a:p>
            <a:r>
              <a:rPr lang="en-CA" dirty="0"/>
              <a:t>No clear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A562-A160-1480-4DE1-A938BC041A2D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</a:t>
            </a:r>
            <a:r>
              <a:rPr lang="en-CA" dirty="0" err="1"/>
              <a:t>bees.mat</a:t>
            </a:r>
            <a:r>
              <a:rPr lang="en-CA" dirty="0"/>
              <a:t>, shade=TRUE, …) </a:t>
            </a:r>
          </a:p>
        </p:txBody>
      </p:sp>
    </p:spTree>
    <p:extLst>
      <p:ext uri="{BB962C8B-B14F-4D97-AF65-F5344CB8AC3E}">
        <p14:creationId xmlns:p14="http://schemas.microsoft.com/office/powerpoint/2010/main" val="170293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0B5517-E9E5-F39F-F863-E1E3B04E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11B83-7821-B04E-AD7F-758754A332D2}"/>
              </a:ext>
            </a:extLst>
          </p:cNvPr>
          <p:cNvSpPr txBox="1"/>
          <p:nvPr/>
        </p:nvSpPr>
        <p:spPr>
          <a:xfrm>
            <a:off x="685800" y="1524000"/>
            <a:ext cx="7391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bees.ca &lt;- ca(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bees.mat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plot(bees.ca,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lines=c(FALSE,TRUE),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 years with lines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mass = c(TRUE, TRUE))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symbol size ~ marginal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AC2E6-9859-0CE1-81A3-7D1277B3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62" y="2763822"/>
            <a:ext cx="6266667" cy="3780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8CC0C-83D2-F8DE-0557-9BC7FB958604}"/>
              </a:ext>
            </a:extLst>
          </p:cNvPr>
          <p:cNvSpPr txBox="1"/>
          <p:nvPr/>
        </p:nvSpPr>
        <p:spPr>
          <a:xfrm>
            <a:off x="685800" y="6858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Correspondence analysis </a:t>
            </a:r>
            <a:r>
              <a:rPr lang="en-CA" dirty="0"/>
              <a:t>finds scores for the row &amp; col categories to account for maximum </a:t>
            </a:r>
            <a:r>
              <a:rPr lang="en-CA" dirty="0">
                <a:sym typeface="Symbol" panose="05050102010706020507" pitchFamily="18" charset="2"/>
              </a:rPr>
              <a:t>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endParaRPr lang="en-CA" baseline="30000" dirty="0"/>
          </a:p>
        </p:txBody>
      </p:sp>
    </p:spTree>
    <p:extLst>
      <p:ext uri="{BB962C8B-B14F-4D97-AF65-F5344CB8AC3E}">
        <p14:creationId xmlns:p14="http://schemas.microsoft.com/office/powerpoint/2010/main" val="2053384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776AD2EC-BB46-C382-07A0-491B3BAA4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A69CA-36F4-B9D8-B313-0A768F9061BF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mosaic(permute(</a:t>
            </a:r>
            <a:r>
              <a:rPr lang="en-CA" dirty="0" err="1"/>
              <a:t>bees.mat</a:t>
            </a:r>
            <a:r>
              <a:rPr lang="en-CA" dirty="0"/>
              <a:t>, “CA”), shade=TRUE, …)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233FA-E504-47D7-BDAE-732DA01BDBE3}"/>
              </a:ext>
            </a:extLst>
          </p:cNvPr>
          <p:cNvSpPr txBox="1"/>
          <p:nvPr/>
        </p:nvSpPr>
        <p:spPr>
          <a:xfrm>
            <a:off x="6248400" y="1981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main cluster was very prevalent in 2002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1386D-8E70-4FD1-8CB8-7A894F1D55D9}"/>
              </a:ext>
            </a:extLst>
          </p:cNvPr>
          <p:cNvSpPr txBox="1"/>
          <p:nvPr/>
        </p:nvSpPr>
        <p:spPr>
          <a:xfrm>
            <a:off x="6248400" y="4343400"/>
            <a:ext cx="216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few species became prominent in later years</a:t>
            </a:r>
          </a:p>
        </p:txBody>
      </p:sp>
    </p:spTree>
    <p:extLst>
      <p:ext uri="{BB962C8B-B14F-4D97-AF65-F5344CB8AC3E}">
        <p14:creationId xmlns:p14="http://schemas.microsoft.com/office/powerpoint/2010/main" val="2522726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D9D289-4489-4659-98EA-262BE7A9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Three-way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B25BD1-56D7-4C65-A5D4-E83332F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DEBD8-9933-479B-864D-3078F97C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2523"/>
            <a:ext cx="8171428" cy="23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C903D4-7F65-4183-9B00-B095A7FBF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752043"/>
            <a:ext cx="8171428" cy="11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01B35-9FE2-4139-9016-F6ED35A8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5041164"/>
            <a:ext cx="8171428" cy="11523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32EDC6-3815-49E7-88AE-7B621A61D32B}"/>
              </a:ext>
            </a:extLst>
          </p:cNvPr>
          <p:cNvSpPr/>
          <p:nvPr/>
        </p:nvSpPr>
        <p:spPr>
          <a:xfrm>
            <a:off x="3886200" y="2743200"/>
            <a:ext cx="1600200" cy="389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13902-84D0-4D15-83B8-0C3772D595E2}"/>
              </a:ext>
            </a:extLst>
          </p:cNvPr>
          <p:cNvSpPr/>
          <p:nvPr/>
        </p:nvSpPr>
        <p:spPr>
          <a:xfrm>
            <a:off x="3962400" y="3151650"/>
            <a:ext cx="1781686" cy="497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C1359-419A-40DB-B261-88C05CB2A96D}"/>
              </a:ext>
            </a:extLst>
          </p:cNvPr>
          <p:cNvSpPr/>
          <p:nvPr/>
        </p:nvSpPr>
        <p:spPr>
          <a:xfrm>
            <a:off x="5918200" y="3125615"/>
            <a:ext cx="604520" cy="52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2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0859-01F7-4A93-83F9-BDA6CFED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95C6-809E-418A-9493-7E6CE8AB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Goal: fit the </a:t>
            </a:r>
            <a:r>
              <a:rPr lang="en-US" sz="2400" dirty="0">
                <a:solidFill>
                  <a:srgbClr val="0070C0"/>
                </a:solidFill>
              </a:rPr>
              <a:t>smallest</a:t>
            </a:r>
            <a:r>
              <a:rPr lang="en-US" sz="2400" dirty="0"/>
              <a:t> model sufficient to explain/describe the observed frequencies</a:t>
            </a:r>
          </a:p>
          <a:p>
            <a:pPr lvl="1"/>
            <a:r>
              <a:rPr lang="en-US" sz="2000" dirty="0"/>
              <a:t>Similar to </a:t>
            </a:r>
            <a:r>
              <a:rPr lang="en-US" sz="2000" dirty="0" err="1"/>
              <a:t>Anova</a:t>
            </a:r>
            <a:r>
              <a:rPr lang="en-US" sz="2000" dirty="0"/>
              <a:t> models, e.g., ~(A + B + C)</a:t>
            </a:r>
            <a:r>
              <a:rPr lang="en-US" sz="2000" baseline="30000" dirty="0"/>
              <a:t>3</a:t>
            </a:r>
            <a:r>
              <a:rPr lang="en-US" sz="2000" dirty="0"/>
              <a:t> with all interactions</a:t>
            </a:r>
          </a:p>
          <a:p>
            <a:pPr lvl="1"/>
            <a:r>
              <a:rPr lang="en-US" sz="2000" dirty="0"/>
              <a:t>Do we need all those interaction terms?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Hierarchical</a:t>
            </a:r>
            <a:r>
              <a:rPr lang="en-US" sz="2400" dirty="0"/>
              <a:t> models</a:t>
            </a:r>
          </a:p>
          <a:p>
            <a:pPr lvl="1"/>
            <a:r>
              <a:rPr lang="en-US" sz="2000" dirty="0"/>
              <a:t>Most loglinear models are taken to be hierarchical:</a:t>
            </a:r>
          </a:p>
          <a:p>
            <a:pPr lvl="1"/>
            <a:r>
              <a:rPr lang="en-US" sz="2000" dirty="0"/>
              <a:t>A high-order term, like </a:t>
            </a:r>
            <a:r>
              <a:rPr lang="en-US" sz="2000" dirty="0">
                <a:sym typeface="Symbol" panose="05050102010706020507" pitchFamily="18" charset="2"/>
              </a:rPr>
              <a:t></a:t>
            </a:r>
            <a:r>
              <a:rPr lang="en-US" sz="2000" baseline="-25000" dirty="0" err="1">
                <a:sym typeface="Symbol" panose="05050102010706020507" pitchFamily="18" charset="2"/>
              </a:rPr>
              <a:t>ijk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baseline="30000" dirty="0">
                <a:sym typeface="Symbol" panose="05050102010706020507" pitchFamily="18" charset="2"/>
              </a:rPr>
              <a:t>ABC</a:t>
            </a:r>
            <a:r>
              <a:rPr lang="en-US" sz="2000" dirty="0">
                <a:sym typeface="Symbol" panose="05050102010706020507" pitchFamily="18" charset="2"/>
              </a:rPr>
              <a:t>  all </a:t>
            </a:r>
            <a:r>
              <a:rPr 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lower order terms </a:t>
            </a:r>
            <a:r>
              <a:rPr lang="en-US" sz="2000" dirty="0">
                <a:sym typeface="Symbol" panose="05050102010706020507" pitchFamily="18" charset="2"/>
              </a:rPr>
              <a:t>included</a:t>
            </a:r>
          </a:p>
          <a:p>
            <a:pPr lvl="2"/>
            <a:r>
              <a:rPr lang="en-CA" sz="1600" dirty="0">
                <a:sym typeface="Symbol" panose="05050102010706020507" pitchFamily="18" charset="2"/>
              </a:rPr>
              <a:t>Why: principle of </a:t>
            </a:r>
            <a:r>
              <a:rPr lang="en-CA" sz="1600" dirty="0">
                <a:solidFill>
                  <a:srgbClr val="0070C0"/>
                </a:solidFill>
                <a:sym typeface="Symbol" panose="05050102010706020507" pitchFamily="18" charset="2"/>
              </a:rPr>
              <a:t>marginality</a:t>
            </a:r>
            <a:r>
              <a:rPr lang="en-CA" sz="1600" dirty="0">
                <a:sym typeface="Symbol" panose="05050102010706020507" pitchFamily="18" charset="2"/>
              </a:rPr>
              <a:t>– hard to interpret w/o low order relatives</a:t>
            </a:r>
            <a:endParaRPr lang="en-US" sz="1600" dirty="0">
              <a:sym typeface="Symbol" panose="05050102010706020507" pitchFamily="18" charset="2"/>
            </a:endParaRPr>
          </a:p>
          <a:p>
            <a:r>
              <a:rPr lang="en-US" sz="2400" dirty="0"/>
              <a:t>Thus, a shorthand notation for a loglinear model lists only the </a:t>
            </a:r>
            <a:r>
              <a:rPr lang="en-US" sz="2400" dirty="0">
                <a:solidFill>
                  <a:srgbClr val="0070C0"/>
                </a:solidFill>
              </a:rPr>
              <a:t>high-order</a:t>
            </a:r>
            <a:r>
              <a:rPr lang="en-US" sz="2400" dirty="0"/>
              <a:t> terms. For example: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+ AB + AC + BC </a:t>
            </a:r>
            <a:r>
              <a:rPr lang="en-US" sz="2400" dirty="0">
                <a:sym typeface="Symbol" panose="05050102010706020507" pitchFamily="18" charset="2"/>
              </a:rPr>
              <a:t>+ ABC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[AB][AC]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</a:t>
            </a:r>
            <a:r>
              <a:rPr lang="en-US" sz="2400" dirty="0">
                <a:sym typeface="Symbol" panose="05050102010706020507" pitchFamily="18" charset="2"/>
              </a:rPr>
              <a:t>+ AB + AC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FAB251-1BD4-421E-B2FD-E6BB198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3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AC53-1443-4399-A30D-4F084401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6516-59E5-466C-9E1E-D361A614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For a three-way table there is a range of models between mutual independence, [A][B][C], and the saturated model, [ABC]</a:t>
            </a:r>
          </a:p>
          <a:p>
            <a:r>
              <a:rPr lang="en-US" sz="2000" dirty="0"/>
              <a:t>Each model has an independence interpretation: </a:t>
            </a:r>
          </a:p>
          <a:p>
            <a:pPr marL="0" indent="0">
              <a:buNone/>
            </a:pPr>
            <a:r>
              <a:rPr lang="en-US" sz="2400" dirty="0"/>
              <a:t>                [A][B]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</a:t>
            </a:r>
            <a:r>
              <a:rPr lang="en-US" sz="2400" dirty="0"/>
              <a:t>   A </a:t>
            </a:r>
            <a:r>
              <a:rPr lang="en-US" sz="2400" dirty="0">
                <a:sym typeface="Symbol" panose="05050102010706020507" pitchFamily="18" charset="2"/>
              </a:rPr>
              <a:t> B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</a:t>
            </a:r>
            <a:r>
              <a:rPr lang="en-US" sz="2400" dirty="0">
                <a:sym typeface="Symbol" panose="05050102010706020507" pitchFamily="18" charset="2"/>
              </a:rPr>
              <a:t>   A independent of B</a:t>
            </a:r>
          </a:p>
          <a:p>
            <a:r>
              <a:rPr lang="en-US" sz="2000" dirty="0"/>
              <a:t>Special names for various </a:t>
            </a:r>
            <a:r>
              <a:rPr lang="en-US" sz="2000" dirty="0" err="1"/>
              <a:t>submodels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92F79-588A-4477-A4CB-4423576A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C6FC-676C-472B-9BA5-EA61A773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81400"/>
            <a:ext cx="8171428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533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3BE-FCA4-4467-9441-CDD5A09B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06F9E-E46A-4EE3-8AE1-32DED34F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05981-84D9-4BAA-B6DC-AAB349AE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47800"/>
            <a:ext cx="8000000" cy="12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869003-3296-40EC-A5F4-C072A4AC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905190"/>
            <a:ext cx="8000000" cy="104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F0041-DCED-4D30-97BF-540C4BC0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267200"/>
            <a:ext cx="8000000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2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568C-399F-8852-5E4F-74F6E3C9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Association graphs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A5E28B-ACA7-6CD4-8D50-DDB1B36D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472315"/>
          </a:xfrm>
        </p:spPr>
        <p:txBody>
          <a:bodyPr/>
          <a:lstStyle/>
          <a:p>
            <a:r>
              <a:rPr lang="en-CA" sz="2800" dirty="0"/>
              <a:t>An association graph represents variables in an </a:t>
            </a:r>
            <a:r>
              <a:rPr lang="en-CA" sz="2800" i="1" dirty="0"/>
              <a:t>n</a:t>
            </a:r>
            <a:r>
              <a:rPr lang="en-CA" sz="2800" dirty="0"/>
              <a:t>-way frequency table by an </a:t>
            </a:r>
            <a:r>
              <a:rPr lang="en-CA" sz="2800" dirty="0">
                <a:solidFill>
                  <a:srgbClr val="0070C0"/>
                </a:solidFill>
              </a:rPr>
              <a:t>undirected graph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Nodes are the variables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Edges are first-order (2-way) </a:t>
            </a:r>
            <a:r>
              <a:rPr lang="en-CA" dirty="0">
                <a:solidFill>
                  <a:srgbClr val="0070C0"/>
                </a:solidFill>
              </a:rPr>
              <a:t>associations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>
                <a:sym typeface="Symbol" panose="05050102010706020507" pitchFamily="18" charset="2"/>
              </a:rPr>
              <a:t> two variables are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independent</a:t>
            </a:r>
            <a:r>
              <a:rPr lang="en-CA" dirty="0">
                <a:sym typeface="Symbol" panose="05050102010706020507" pitchFamily="18" charset="2"/>
              </a:rPr>
              <a:t> if not joined by an edge</a:t>
            </a:r>
            <a:endParaRPr lang="en-CA" dirty="0"/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7BBA9-B22D-223A-8708-A86B45B9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E69581-9F10-0C6F-E522-9C1F1941BE37}"/>
              </a:ext>
            </a:extLst>
          </p:cNvPr>
          <p:cNvGrpSpPr/>
          <p:nvPr/>
        </p:nvGrpSpPr>
        <p:grpSpPr>
          <a:xfrm>
            <a:off x="762000" y="4191000"/>
            <a:ext cx="1892210" cy="1046955"/>
            <a:chOff x="762000" y="4191000"/>
            <a:chExt cx="1892210" cy="104695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11A44BF-6563-4E10-1636-AED098BB437F}"/>
                </a:ext>
              </a:extLst>
            </p:cNvPr>
            <p:cNvGrpSpPr/>
            <p:nvPr/>
          </p:nvGrpSpPr>
          <p:grpSpPr>
            <a:xfrm>
              <a:off x="762000" y="4191000"/>
              <a:ext cx="609600" cy="504000"/>
              <a:chOff x="1699800" y="4525200"/>
              <a:chExt cx="609600" cy="504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CA0C80D-598E-5199-049F-F3B3C6B6A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C2C41-5D36-F8C3-F3EA-E5D575DAE585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F2827D8-9324-8EDF-DA32-6B7C4DDA824E}"/>
                </a:ext>
              </a:extLst>
            </p:cNvPr>
            <p:cNvGrpSpPr/>
            <p:nvPr/>
          </p:nvGrpSpPr>
          <p:grpSpPr>
            <a:xfrm>
              <a:off x="2044610" y="4191000"/>
              <a:ext cx="609600" cy="504000"/>
              <a:chOff x="2982410" y="4525200"/>
              <a:chExt cx="609600" cy="504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2AE9704-9D6E-C35A-29DA-71D75A2C25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9F4772-785E-FE52-75E2-40980ED1AF2A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1C15BB-13A8-E88A-DB62-38C448C2BDD7}"/>
                </a:ext>
              </a:extLst>
            </p:cNvPr>
            <p:cNvSpPr txBox="1"/>
            <p:nvPr/>
          </p:nvSpPr>
          <p:spPr>
            <a:xfrm>
              <a:off x="1195800" y="4837845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[A] [B]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492191-83AA-EADF-3E95-13A7D79596C6}"/>
              </a:ext>
            </a:extLst>
          </p:cNvPr>
          <p:cNvGrpSpPr/>
          <p:nvPr/>
        </p:nvGrpSpPr>
        <p:grpSpPr>
          <a:xfrm>
            <a:off x="3657600" y="4191000"/>
            <a:ext cx="1892210" cy="1043150"/>
            <a:chOff x="3657600" y="4191000"/>
            <a:chExt cx="1892210" cy="104315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AED4B1-FF99-2EF1-917C-FAA2BF6E015F}"/>
                </a:ext>
              </a:extLst>
            </p:cNvPr>
            <p:cNvGrpSpPr/>
            <p:nvPr/>
          </p:nvGrpSpPr>
          <p:grpSpPr>
            <a:xfrm>
              <a:off x="3657600" y="4191000"/>
              <a:ext cx="609600" cy="504000"/>
              <a:chOff x="1699800" y="4525200"/>
              <a:chExt cx="609600" cy="50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1D8055D-3559-3090-322E-AEC0FD9492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C915E3-8120-AF41-FF3C-56AB1A67A727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A0CB129-20CC-2D93-0A83-5B8F9C7CF15F}"/>
                </a:ext>
              </a:extLst>
            </p:cNvPr>
            <p:cNvGrpSpPr/>
            <p:nvPr/>
          </p:nvGrpSpPr>
          <p:grpSpPr>
            <a:xfrm>
              <a:off x="4940210" y="4191000"/>
              <a:ext cx="609600" cy="504000"/>
              <a:chOff x="2982410" y="4525200"/>
              <a:chExt cx="609600" cy="50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3F9548-2818-7E52-672A-0003D026E7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7DEDED-6DF6-1A96-9E61-49459A57AEF4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E3088B-9113-3D76-3232-DC87C5169A16}"/>
                </a:ext>
              </a:extLst>
            </p:cNvPr>
            <p:cNvSpPr txBox="1"/>
            <p:nvPr/>
          </p:nvSpPr>
          <p:spPr>
            <a:xfrm>
              <a:off x="4125408" y="4834040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 B]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83562AF-5C0D-78C5-E301-9DA72E573904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>
              <a:off x="4267200" y="4433408"/>
              <a:ext cx="719310" cy="95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B469A9-E831-00F9-898F-78D33014A4C6}"/>
              </a:ext>
            </a:extLst>
          </p:cNvPr>
          <p:cNvGrpSpPr/>
          <p:nvPr/>
        </p:nvGrpSpPr>
        <p:grpSpPr>
          <a:xfrm>
            <a:off x="6248400" y="3886200"/>
            <a:ext cx="1892210" cy="2202363"/>
            <a:chOff x="6248400" y="3886200"/>
            <a:chExt cx="1892210" cy="220236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371236-517E-E757-6A3A-78B386AC8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4309" y="4144753"/>
              <a:ext cx="814802" cy="1736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9D6F01-0619-5106-C1BE-C02F022481A8}"/>
                </a:ext>
              </a:extLst>
            </p:cNvPr>
            <p:cNvGrpSpPr/>
            <p:nvPr/>
          </p:nvGrpSpPr>
          <p:grpSpPr>
            <a:xfrm>
              <a:off x="6248400" y="3886200"/>
              <a:ext cx="1892210" cy="2202363"/>
              <a:chOff x="6248400" y="3886200"/>
              <a:chExt cx="1892210" cy="220236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D26D7E0-8615-EEC3-4CAD-26A5D45C6252}"/>
                  </a:ext>
                </a:extLst>
              </p:cNvPr>
              <p:cNvGrpSpPr/>
              <p:nvPr/>
            </p:nvGrpSpPr>
            <p:grpSpPr>
              <a:xfrm>
                <a:off x="6248400" y="3886200"/>
                <a:ext cx="609600" cy="504000"/>
                <a:chOff x="1699800" y="4525200"/>
                <a:chExt cx="609600" cy="504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BDD314C-967A-91F6-6971-0D975CE0B7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993373F-09A9-0A4E-C8DD-1DFA1E7A3388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A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56CC6FA-D626-1557-41A6-B1D4EAC6486A}"/>
                  </a:ext>
                </a:extLst>
              </p:cNvPr>
              <p:cNvGrpSpPr/>
              <p:nvPr/>
            </p:nvGrpSpPr>
            <p:grpSpPr>
              <a:xfrm>
                <a:off x="7531010" y="3886200"/>
                <a:ext cx="609600" cy="504000"/>
                <a:chOff x="2982410" y="4525200"/>
                <a:chExt cx="609600" cy="504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A009BDA-AEB2-290C-62DE-34511A1163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480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1AA8C64-6D1B-2E2A-8D89-9ED12FDC1AD2}"/>
                    </a:ext>
                  </a:extLst>
                </p:cNvPr>
                <p:cNvSpPr txBox="1"/>
                <p:nvPr/>
              </p:nvSpPr>
              <p:spPr>
                <a:xfrm>
                  <a:off x="2982410" y="4525200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B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3F53B24-A372-F99B-4AE4-C654C852EF3C}"/>
                  </a:ext>
                </a:extLst>
              </p:cNvPr>
              <p:cNvGrpSpPr/>
              <p:nvPr/>
            </p:nvGrpSpPr>
            <p:grpSpPr>
              <a:xfrm>
                <a:off x="6858780" y="5049267"/>
                <a:ext cx="609600" cy="504000"/>
                <a:chOff x="1699800" y="4525200"/>
                <a:chExt cx="609600" cy="504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FFE67EF-B0F9-6148-46E4-DE64781713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D767801-2E8C-A60D-01EB-7661B3963030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C</a:t>
                  </a:r>
                </a:p>
              </p:txBody>
            </p: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2AC5CDE-1CC7-E61B-798A-DA861BCA94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78895" y="4390199"/>
                <a:ext cx="383790" cy="703519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9866BE-8860-08F0-416E-1A13F64E8B51}"/>
                  </a:ext>
                </a:extLst>
              </p:cNvPr>
              <p:cNvSpPr txBox="1"/>
              <p:nvPr/>
            </p:nvSpPr>
            <p:spPr>
              <a:xfrm>
                <a:off x="6488085" y="5688453"/>
                <a:ext cx="13509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[A B] [</a:t>
                </a:r>
                <a:r>
                  <a:rPr lang="en-CA" sz="2000" b="1" dirty="0"/>
                  <a:t>A C</a:t>
                </a:r>
                <a:r>
                  <a:rPr lang="en-CA" sz="2000" dirty="0"/>
                  <a:t>]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609FD3-B662-663A-0FAE-7450E3CAA023}"/>
              </a:ext>
            </a:extLst>
          </p:cNvPr>
          <p:cNvSpPr txBox="1"/>
          <p:nvPr/>
        </p:nvSpPr>
        <p:spPr>
          <a:xfrm>
            <a:off x="914400" y="5562600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Under-solved problem</a:t>
            </a:r>
            <a:r>
              <a:rPr lang="en-CA" dirty="0"/>
              <a:t>: Use an association graph to represent </a:t>
            </a:r>
            <a:r>
              <a:rPr lang="en-CA" dirty="0">
                <a:solidFill>
                  <a:srgbClr val="0070C0"/>
                </a:solidFill>
              </a:rPr>
              <a:t>strength</a:t>
            </a:r>
            <a:r>
              <a:rPr lang="en-CA" dirty="0"/>
              <a:t> of conditional associations or as a widget for model fitting</a:t>
            </a:r>
          </a:p>
        </p:txBody>
      </p:sp>
    </p:spTree>
    <p:extLst>
      <p:ext uri="{BB962C8B-B14F-4D97-AF65-F5344CB8AC3E}">
        <p14:creationId xmlns:p14="http://schemas.microsoft.com/office/powerpoint/2010/main" val="386217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FFDA-CD21-EF88-A829-D8A441E6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types &amp; association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BCA76-C365-54E4-101B-C941076B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A28C40D-8E3C-427D-EAC3-92756B90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47" y="1557960"/>
            <a:ext cx="6561905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4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E0B4-75C8-41AF-9721-2A86D34A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types: </a:t>
            </a:r>
            <a:r>
              <a:rPr lang="en-US" dirty="0" err="1"/>
              <a:t>loglm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580A5C-5298-48AE-8D1F-811AF974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D5C64-04D1-43BE-9ABB-60389ED89EDD}"/>
              </a:ext>
            </a:extLst>
          </p:cNvPr>
          <p:cNvSpPr txBox="1"/>
          <p:nvPr/>
        </p:nvSpPr>
        <p:spPr>
          <a:xfrm>
            <a:off x="457200" y="2571552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+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mutual independence      [A][B][C]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joint independence       [AB][C]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A*C + B*C)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conditional independence 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(A + B + C)^2)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homogeneous, all 2-way   [AB][AC][BC]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*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saturated model          [ABC]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BA525-2177-40A5-B121-05879863618F}"/>
              </a:ext>
            </a:extLst>
          </p:cNvPr>
          <p:cNvSpPr txBox="1"/>
          <p:nvPr/>
        </p:nvSpPr>
        <p:spPr>
          <a:xfrm>
            <a:off x="457200" y="1295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of these have simple translations into the model formulae for </a:t>
            </a:r>
            <a:r>
              <a:rPr lang="en-US" sz="2400" dirty="0" err="1"/>
              <a:t>loglm</a:t>
            </a:r>
            <a:r>
              <a:rPr lang="en-US" sz="2400" dirty="0"/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DD5D7B-C7B0-1EF2-244E-4351A7E7CE9C}"/>
              </a:ext>
            </a:extLst>
          </p:cNvPr>
          <p:cNvSpPr txBox="1"/>
          <p:nvPr/>
        </p:nvSpPr>
        <p:spPr>
          <a:xfrm>
            <a:off x="609600" y="4572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e.g., Berkeley data</a:t>
            </a:r>
          </a:p>
          <a:p>
            <a:r>
              <a:rPr lang="en-CA" dirty="0" err="1"/>
              <a:t>loglm</a:t>
            </a:r>
            <a:r>
              <a:rPr lang="en-CA" dirty="0"/>
              <a:t>(~ (Admit + Gender) * Dept)</a:t>
            </a:r>
          </a:p>
          <a:p>
            <a:r>
              <a:rPr lang="en-CA" dirty="0" err="1"/>
              <a:t>loglm</a:t>
            </a:r>
            <a:r>
              <a:rPr lang="en-CA" dirty="0"/>
              <a:t>(~Admit*Dept + Gender * Dept)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774190-38C1-EF31-D7ED-69DEE44C6C87}"/>
              </a:ext>
            </a:extLst>
          </p:cNvPr>
          <p:cNvGrpSpPr/>
          <p:nvPr/>
        </p:nvGrpSpPr>
        <p:grpSpPr>
          <a:xfrm>
            <a:off x="4686300" y="4422811"/>
            <a:ext cx="3352800" cy="1791222"/>
            <a:chOff x="4686300" y="4422811"/>
            <a:chExt cx="3352800" cy="179122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FFF49DA-445C-4457-C9CA-E8B1220303A1}"/>
                </a:ext>
              </a:extLst>
            </p:cNvPr>
            <p:cNvGrpSpPr/>
            <p:nvPr/>
          </p:nvGrpSpPr>
          <p:grpSpPr>
            <a:xfrm>
              <a:off x="5105400" y="4895295"/>
              <a:ext cx="2514600" cy="397000"/>
              <a:chOff x="762000" y="4648200"/>
              <a:chExt cx="2514600" cy="397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9D89840-3373-FD96-8258-5455D366B627}"/>
                  </a:ext>
                </a:extLst>
              </p:cNvPr>
              <p:cNvGrpSpPr/>
              <p:nvPr/>
            </p:nvGrpSpPr>
            <p:grpSpPr>
              <a:xfrm>
                <a:off x="7620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CDD4B15-EC85-AB43-3D3A-68F190B8901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40E38A-76C1-58A7-FA66-3523EB85A0DB}"/>
                    </a:ext>
                  </a:extLst>
                </p:cNvPr>
                <p:cNvSpPr txBox="1"/>
                <p:nvPr/>
              </p:nvSpPr>
              <p:spPr>
                <a:xfrm>
                  <a:off x="1699800" y="4546366"/>
                  <a:ext cx="609600" cy="3732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A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2A87ED1-1715-D8B4-2E9E-CFAE74F3EAEB}"/>
                  </a:ext>
                </a:extLst>
              </p:cNvPr>
              <p:cNvGrpSpPr/>
              <p:nvPr/>
            </p:nvGrpSpPr>
            <p:grpSpPr>
              <a:xfrm>
                <a:off x="17526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F8B3A698-2776-00D8-6EBD-D6B69943C5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204BC7-5C10-E594-F481-F57A27319D07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D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C9F44C1-7EF3-FE85-1C81-0AB468EF8D96}"/>
                  </a:ext>
                </a:extLst>
              </p:cNvPr>
              <p:cNvGrpSpPr/>
              <p:nvPr/>
            </p:nvGrpSpPr>
            <p:grpSpPr>
              <a:xfrm>
                <a:off x="2743200" y="4664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CA43664-068B-759D-47A5-83DD838057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609EF98-98CB-B348-3A40-EB7E8527B582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G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EB3D1C-1CD2-D803-5543-3F8DD5171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4833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119B847-3371-2FCF-C337-43912D60D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0" y="4849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74FCA5-1658-94C7-0AC3-F39DC885F507}"/>
                </a:ext>
              </a:extLst>
            </p:cNvPr>
            <p:cNvSpPr txBox="1"/>
            <p:nvPr/>
          </p:nvSpPr>
          <p:spPr>
            <a:xfrm>
              <a:off x="4991100" y="4422811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Association graph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F6242-2740-248E-37C3-16BC3C5106C9}"/>
                </a:ext>
              </a:extLst>
            </p:cNvPr>
            <p:cNvSpPr txBox="1"/>
            <p:nvPr/>
          </p:nvSpPr>
          <p:spPr>
            <a:xfrm>
              <a:off x="4686300" y="5506147"/>
              <a:ext cx="3352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Symbol" panose="05050102010706020507" pitchFamily="18" charset="2"/>
                <a:buChar char="®"/>
              </a:pPr>
              <a:r>
                <a:rPr lang="en-CA" sz="2000" dirty="0">
                  <a:sym typeface="Symbol" panose="05050102010706020507" pitchFamily="18" charset="2"/>
                </a:rPr>
                <a:t>A  G | D</a:t>
              </a:r>
            </a:p>
            <a:p>
              <a:pPr algn="ctr"/>
              <a:r>
                <a:rPr lang="en-CA" sz="2000" dirty="0">
                  <a:sym typeface="Symbol" panose="05050102010706020507" pitchFamily="18" charset="2"/>
                </a:rPr>
                <a:t>(just put your finger over D)</a:t>
              </a:r>
              <a:endParaRPr lang="en-CA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01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03E1-C404-7572-6A02-66CA73CA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Collapsibility: Marginal &amp; conditional associations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17ADE-87C2-239D-955B-CE758D3F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Q: When can we legitimately collapse a table, {ABC}, over some variable (C)?</a:t>
            </a:r>
          </a:p>
          <a:p>
            <a:r>
              <a:rPr lang="en-CA" sz="2400" dirty="0"/>
              <a:t>A: When the </a:t>
            </a:r>
            <a:r>
              <a:rPr lang="en-CA" sz="2400" dirty="0">
                <a:solidFill>
                  <a:srgbClr val="0070C0"/>
                </a:solidFill>
              </a:rPr>
              <a:t>marginal</a:t>
            </a:r>
            <a:r>
              <a:rPr lang="en-CA" sz="2400" dirty="0"/>
              <a:t> association of AB is the same as the </a:t>
            </a:r>
            <a:r>
              <a:rPr lang="en-CA" sz="2400" dirty="0">
                <a:solidFill>
                  <a:srgbClr val="0070C0"/>
                </a:solidFill>
              </a:rPr>
              <a:t>conditional</a:t>
            </a:r>
            <a:r>
              <a:rPr lang="en-CA" sz="2400" dirty="0"/>
              <a:t> association, AB | C</a:t>
            </a:r>
          </a:p>
          <a:p>
            <a:r>
              <a:rPr lang="en-CA" sz="2400" dirty="0"/>
              <a:t>Recall the Berkeley data</a:t>
            </a:r>
          </a:p>
          <a:p>
            <a:pPr lvl="1"/>
            <a:r>
              <a:rPr lang="en-CA" sz="2000" dirty="0"/>
              <a:t>Margin of [Admit, Gender] ignoring Dept showed strong association</a:t>
            </a:r>
          </a:p>
          <a:p>
            <a:pPr lvl="1"/>
            <a:r>
              <a:rPr lang="en-CA" sz="2000" dirty="0"/>
              <a:t>The partial assoc. within Dept were mostly NS</a:t>
            </a:r>
          </a:p>
          <a:p>
            <a:pPr lvl="1"/>
            <a:r>
              <a:rPr lang="en-CA" sz="2000" dirty="0"/>
              <a:t>Conditional association [Admit, Gender | Dept] ≠ marginal [A, G]</a:t>
            </a:r>
          </a:p>
          <a:p>
            <a:r>
              <a:rPr lang="en-CA" sz="2400" dirty="0"/>
              <a:t>Three-way tables: The AB marginal and AB | C conditional associations are the same, if either:</a:t>
            </a:r>
          </a:p>
          <a:p>
            <a:pPr lvl="1"/>
            <a:r>
              <a:rPr lang="en-CA" sz="2000" dirty="0"/>
              <a:t>A &amp; C are conditionally independent, A </a:t>
            </a:r>
            <a:r>
              <a:rPr lang="en-CA" sz="2000" dirty="0">
                <a:sym typeface="Symbol" panose="05050102010706020507" pitchFamily="18" charset="2"/>
              </a:rPr>
              <a:t> C| B = [AB][CB]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B &amp; C are conditionally independent, B  C | A = [AB][AC]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 no three-way association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03C8D-B755-B47A-E820-2748F682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FAF4-BA1E-8EBB-050A-CEBB9546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Higher-way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1904-9674-663A-CA56-D3BCF217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E7526-6E18-4D6F-9C25-BF50D500FCF9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DaytonSurvey</a:t>
            </a:r>
            <a:r>
              <a:rPr lang="en-CA" dirty="0"/>
              <a:t> data: A 2</a:t>
            </a:r>
            <a:r>
              <a:rPr lang="en-CA" baseline="30000" dirty="0"/>
              <a:t>5</a:t>
            </a:r>
            <a:r>
              <a:rPr lang="en-CA" dirty="0"/>
              <a:t> table</a:t>
            </a:r>
          </a:p>
          <a:p>
            <a:r>
              <a:rPr lang="en-CA" dirty="0"/>
              <a:t>2,276 HS seniors asked if they had ever used cigarettes, alcohol, or marijuana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7FD56-A441-8352-35B9-8F3C20837E75}"/>
              </a:ext>
            </a:extLst>
          </p:cNvPr>
          <p:cNvSpPr txBox="1"/>
          <p:nvPr/>
        </p:nvSpPr>
        <p:spPr>
          <a:xfrm>
            <a:off x="476250" y="1905000"/>
            <a:ext cx="53340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cigarette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            No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alcohol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    No     Yes      No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marijuana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No Yes  No Yes  No Yes  No</a:t>
            </a:r>
          </a:p>
          <a:p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race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female white           405 268   1  17  13 218   1 117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23  23   0   1   2  19   0  12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male   white           453 228   1  17  28 201   1 133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30  19   1   8   1  18   0  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A6373-B9B4-F8BA-0247-110F6F7E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448493"/>
            <a:ext cx="3123809" cy="28476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3E1FC-4EED-566B-2814-5B26D670E92F}"/>
              </a:ext>
            </a:extLst>
          </p:cNvPr>
          <p:cNvSpPr txBox="1"/>
          <p:nvPr/>
        </p:nvSpPr>
        <p:spPr>
          <a:xfrm>
            <a:off x="457200" y="3579674"/>
            <a:ext cx="495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Suppose we wish to fit the model:</a:t>
            </a:r>
          </a:p>
          <a:p>
            <a:r>
              <a:rPr lang="en-CA" dirty="0"/>
              <a:t>   [A M] [A C] [M C]   [A R] [A G] [R G]</a:t>
            </a:r>
          </a:p>
          <a:p>
            <a:endParaRPr lang="en-CA" dirty="0"/>
          </a:p>
          <a:p>
            <a:r>
              <a:rPr lang="en-CA" dirty="0"/>
              <a:t>The association graph implies:</a:t>
            </a:r>
          </a:p>
          <a:p>
            <a:endParaRPr lang="en-CA" dirty="0"/>
          </a:p>
          <a:p>
            <a:r>
              <a:rPr lang="en-CA" dirty="0"/>
              <a:t>{race, gender} </a:t>
            </a:r>
            <a:r>
              <a:rPr lang="en-CA" sz="1800" dirty="0">
                <a:sym typeface="Symbol" panose="05050102010706020507" pitchFamily="18" charset="2"/>
              </a:rPr>
              <a:t> {marijuana, cigarette} | alcohol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r>
              <a:rPr lang="en-CA" dirty="0">
                <a:sym typeface="Symbol" panose="05050102010706020507" pitchFamily="18" charset="2"/>
              </a:rPr>
              <a:t>If it fits, we can collapse the table over {race, gender} to study associations among A, M &amp; C.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17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B7CC-6717-3EB1-0450-6A6B0D70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Response vs. Association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70B58-3C99-BFD6-BE9A-F4C90AD4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7BAFF-49D3-E8D4-71FD-657D5F69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6" y="1502046"/>
            <a:ext cx="7952381" cy="14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18DCC-94AC-ADBC-A186-31A86C44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33" y="3292523"/>
            <a:ext cx="7961905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8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AFE-9AC5-67F1-BD34-E48113FB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Goodness of fit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BAAF2-8625-B620-7112-A7267F07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90121-0A64-9728-3894-3B255655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20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0BEF7-B203-F0D1-1A21-F7A24F87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63" y="3638295"/>
            <a:ext cx="8171428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45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E331-37F4-3DF3-30D7-A8359E76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Nested models &amp; ANOVA-type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3997-3F0C-39D4-9AC0-047DF633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Two models, M</a:t>
            </a:r>
            <a:r>
              <a:rPr lang="en-CA" sz="2000" baseline="-25000" dirty="0"/>
              <a:t>1</a:t>
            </a:r>
            <a:r>
              <a:rPr lang="en-CA" sz="2000" dirty="0"/>
              <a:t> and M</a:t>
            </a:r>
            <a:r>
              <a:rPr lang="en-CA" sz="2000" baseline="-25000" dirty="0"/>
              <a:t>2</a:t>
            </a:r>
            <a:r>
              <a:rPr lang="en-CA" sz="2000" dirty="0"/>
              <a:t> are </a:t>
            </a:r>
            <a:r>
              <a:rPr lang="en-CA" sz="2000" dirty="0">
                <a:solidFill>
                  <a:srgbClr val="0070C0"/>
                </a:solidFill>
              </a:rPr>
              <a:t>nested</a:t>
            </a:r>
            <a:r>
              <a:rPr lang="en-CA" sz="2000" dirty="0"/>
              <a:t> when one (say, M</a:t>
            </a:r>
            <a:r>
              <a:rPr lang="en-CA" sz="2000" baseline="-25000" dirty="0"/>
              <a:t>2</a:t>
            </a:r>
            <a:r>
              <a:rPr lang="en-CA" sz="2000" dirty="0"/>
              <a:t>) is a special case of the other</a:t>
            </a:r>
          </a:p>
          <a:p>
            <a:r>
              <a:rPr lang="en-CA" sz="2000" dirty="0"/>
              <a:t>Model M</a:t>
            </a:r>
            <a:r>
              <a:rPr lang="en-CA" sz="2000" baseline="-25000" dirty="0"/>
              <a:t>2</a:t>
            </a:r>
            <a:r>
              <a:rPr lang="en-CA" sz="2000" dirty="0"/>
              <a:t> (w/ </a:t>
            </a:r>
            <a:r>
              <a:rPr lang="en-CA" sz="2000" dirty="0">
                <a:sym typeface="Symbol" panose="05050102010706020507" pitchFamily="18" charset="2"/>
              </a:rPr>
              <a:t>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 fits a subset of the parameters  of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(w/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is more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restrictive</a:t>
            </a:r>
            <a:r>
              <a:rPr lang="en-CA" sz="2000" dirty="0">
                <a:sym typeface="Symbol" panose="05050102010706020507" pitchFamily="18" charset="2"/>
              </a:rPr>
              <a:t> – cannot fit better than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) ≥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The least restrictive model is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saturated</a:t>
            </a:r>
            <a:r>
              <a:rPr lang="en-CA" sz="2000" dirty="0">
                <a:sym typeface="Symbol" panose="05050102010706020507" pitchFamily="18" charset="2"/>
              </a:rPr>
              <a:t> model [ABC …], w/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0</a:t>
            </a:r>
          </a:p>
          <a:p>
            <a:endParaRPr lang="en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sz="2000" dirty="0">
                <a:sym typeface="Symbol" panose="05050102010706020507" pitchFamily="18" charset="2"/>
              </a:rPr>
              <a:t>Therefore, we can test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difference in G</a:t>
            </a:r>
            <a:r>
              <a:rPr lang="en-CA" sz="2000" baseline="30000" dirty="0">
                <a:solidFill>
                  <a:srgbClr val="0070C0"/>
                </a:solidFill>
                <a:sym typeface="Symbol" panose="05050102010706020507" pitchFamily="18" charset="2"/>
              </a:rPr>
              <a:t>2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CA" sz="2000" dirty="0">
                <a:sym typeface="Symbol" panose="05050102010706020507" pitchFamily="18" charset="2"/>
              </a:rPr>
              <a:t>as a specific test of the added restrictions in 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compared to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.</a:t>
            </a:r>
          </a:p>
          <a:p>
            <a:r>
              <a:rPr lang="en-CA" sz="2000" dirty="0">
                <a:sym typeface="Symbol" panose="05050102010706020507" pitchFamily="18" charset="2"/>
              </a:rPr>
              <a:t>This test has a 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distribution with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 = 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 -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DB78B-F6AD-5C59-0A38-9E4BCDE3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7A524-16D4-D535-2D27-09C52A38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800600"/>
            <a:ext cx="6742857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16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8E2A-F71D-344F-F5BA-11FE98A1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A3D3-E83C-668A-390E-CCE08F99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2E927-BCC1-9A66-E654-2B17F364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2" y="1148864"/>
            <a:ext cx="8171428" cy="355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022CB6-E10B-E72F-080A-A4DE61ADFE12}"/>
              </a:ext>
            </a:extLst>
          </p:cNvPr>
          <p:cNvSpPr txBox="1"/>
          <p:nvPr/>
        </p:nvSpPr>
        <p:spPr>
          <a:xfrm>
            <a:off x="486902" y="4887306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Only testing the </a:t>
            </a:r>
            <a:r>
              <a:rPr lang="en-CA" dirty="0">
                <a:solidFill>
                  <a:srgbClr val="0070C0"/>
                </a:solidFill>
              </a:rPr>
              <a:t>decrease</a:t>
            </a:r>
            <a:r>
              <a:rPr lang="en-CA" dirty="0"/>
              <a:t> in G</a:t>
            </a:r>
            <a:r>
              <a:rPr lang="en-CA" baseline="30000" dirty="0"/>
              <a:t>2</a:t>
            </a:r>
            <a:r>
              <a:rPr lang="en-CA" dirty="0"/>
              <a:t> from one model to the next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Here, each model is significantly better than the previous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Joint vs. all two-way: Does Admit depend on Dept and/or Gender?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Absolute fit of all 2-way model is not terrible.  Investigate this further!</a:t>
            </a:r>
          </a:p>
        </p:txBody>
      </p:sp>
    </p:spTree>
    <p:extLst>
      <p:ext uri="{BB962C8B-B14F-4D97-AF65-F5344CB8AC3E}">
        <p14:creationId xmlns:p14="http://schemas.microsoft.com/office/powerpoint/2010/main" val="24485983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1D18-742A-5445-A8EB-C7B047D9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these in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C35E1-D454-FC97-5006-E5C37021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282C4-7093-A9D6-FEBF-7221D5F7B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15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F6246-81D8-3E6D-65E8-320E541C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8171428" cy="12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36AC8-F90F-D1CE-7F13-328E6794C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56321"/>
            <a:ext cx="8180952" cy="1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298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6CCA-1A59-DAA5-A557-BB9F0079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7DAD5-F53C-A0F9-52A1-64122617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30849-4A95-7AD5-3CD4-DC2181784B92}"/>
              </a:ext>
            </a:extLst>
          </p:cNvPr>
          <p:cNvSpPr txBox="1"/>
          <p:nvPr/>
        </p:nvSpPr>
        <p:spPr>
          <a:xfrm>
            <a:off x="457200" y="111842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Fit the model of mutual independence, using </a:t>
            </a:r>
            <a:r>
              <a:rPr lang="en-CA" sz="2400" dirty="0" err="1"/>
              <a:t>loglm</a:t>
            </a:r>
            <a:r>
              <a:rPr lang="en-CA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70E5D-3AEB-FBCB-BEC4-B240C4C4FC86}"/>
              </a:ext>
            </a:extLst>
          </p:cNvPr>
          <p:cNvSpPr txBox="1"/>
          <p:nvPr/>
        </p:nvSpPr>
        <p:spPr>
          <a:xfrm>
            <a:off x="457200" y="16262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Dept + Gender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Dept + Gender,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2097.7 16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2000.3 16       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D758-2234-DCBE-A81A-2C1D2FC9DBDB}"/>
              </a:ext>
            </a:extLst>
          </p:cNvPr>
          <p:cNvSpPr txBox="1"/>
          <p:nvPr/>
        </p:nvSpPr>
        <p:spPr>
          <a:xfrm>
            <a:off x="457200" y="38817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D8A3F-9E79-E6B6-945B-F4AF25F030B8}"/>
              </a:ext>
            </a:extLst>
          </p:cNvPr>
          <p:cNvSpPr txBox="1"/>
          <p:nvPr/>
        </p:nvSpPr>
        <p:spPr>
          <a:xfrm>
            <a:off x="457200" y="44456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* (Dept +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* (Dept +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1148.9 10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1015.7 10        0</a:t>
            </a:r>
          </a:p>
        </p:txBody>
      </p:sp>
    </p:spTree>
    <p:extLst>
      <p:ext uri="{BB962C8B-B14F-4D97-AF65-F5344CB8AC3E}">
        <p14:creationId xmlns:p14="http://schemas.microsoft.com/office/powerpoint/2010/main" val="133923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20B4E-BFA9-FCB2-343B-08959BED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38084-56C0-CD99-0B62-99763DB9C8E2}"/>
              </a:ext>
            </a:extLst>
          </p:cNvPr>
          <p:cNvSpPr txBox="1"/>
          <p:nvPr/>
        </p:nvSpPr>
        <p:spPr>
          <a:xfrm>
            <a:off x="609600" y="838200"/>
            <a:ext cx="8077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(Dept *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(Dept *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877.06 11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797.70 11       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78D8-18F8-277D-4C16-CFDFA26B39B4}"/>
              </a:ext>
            </a:extLst>
          </p:cNvPr>
          <p:cNvSpPr txBox="1"/>
          <p:nvPr/>
        </p:nvSpPr>
        <p:spPr>
          <a:xfrm>
            <a:off x="685800" y="3759875"/>
            <a:ext cx="7696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 &lt;-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Admit+Dept+Gender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)^2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~(Admit + Dept + Gender)^2,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20.204  5 0.0011441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18.823  5 0.0020740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818A9-1B1A-063A-2F6F-E22B16465879}"/>
              </a:ext>
            </a:extLst>
          </p:cNvPr>
          <p:cNvSpPr txBox="1"/>
          <p:nvPr/>
        </p:nvSpPr>
        <p:spPr>
          <a:xfrm>
            <a:off x="685800" y="3810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independence,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F0CB8-252C-00CE-CE4F-9E3545FD7C83}"/>
              </a:ext>
            </a:extLst>
          </p:cNvPr>
          <p:cNvSpPr txBox="1"/>
          <p:nvPr/>
        </p:nvSpPr>
        <p:spPr>
          <a:xfrm>
            <a:off x="685800" y="3195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All two-way model, [AD] [AG] [DG]</a:t>
            </a:r>
          </a:p>
        </p:txBody>
      </p:sp>
    </p:spTree>
    <p:extLst>
      <p:ext uri="{BB962C8B-B14F-4D97-AF65-F5344CB8AC3E}">
        <p14:creationId xmlns:p14="http://schemas.microsoft.com/office/powerpoint/2010/main" val="19660889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D02348-6B95-DCBD-23F2-D3F67EC3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ANOVA tests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872C2-0684-6C26-6870-8F301D14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1D0FB-338B-C36F-A04C-043BD95B6B78}"/>
              </a:ext>
            </a:extLst>
          </p:cNvPr>
          <p:cNvSpPr txBox="1"/>
          <p:nvPr/>
        </p:nvSpPr>
        <p:spPr>
          <a:xfrm>
            <a:off x="457200" y="16764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berk.loglm3, test="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+ Dept + Gender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* (Dept + Gender)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~(Admit + Dept + Gender)^2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2097.671 16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1148.901 10    948.770         6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20.204  5   1128.697         5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0.000  0     20.204         5        0.00114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CADC1-8B8D-CCC0-5C9E-870CE6E16D12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These are nested. Compare with </a:t>
            </a:r>
            <a:r>
              <a:rPr lang="en-CA" sz="24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45B52-8946-B624-A979-FFC812FD8D1C}"/>
              </a:ext>
            </a:extLst>
          </p:cNvPr>
          <p:cNvSpPr txBox="1"/>
          <p:nvPr/>
        </p:nvSpPr>
        <p:spPr>
          <a:xfrm>
            <a:off x="533400" y="57150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These are tests of </a:t>
            </a:r>
            <a:r>
              <a:rPr lang="en-CA" sz="2000" dirty="0">
                <a:solidFill>
                  <a:srgbClr val="0070C0"/>
                </a:solidFill>
              </a:rPr>
              <a:t>relative fit</a:t>
            </a:r>
            <a:r>
              <a:rPr lang="en-CA" sz="2000" dirty="0"/>
              <a:t>, </a:t>
            </a:r>
            <a:r>
              <a:rPr lang="en-CA" sz="2000" dirty="0">
                <a:sym typeface="Symbol" panose="05050102010706020507" pitchFamily="18" charset="2"/>
              </a:rPr>
              <a:t>G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</a:t>
            </a:r>
            <a:r>
              <a:rPr lang="en-CA" sz="2000" dirty="0"/>
              <a:t> G</a:t>
            </a:r>
            <a:r>
              <a:rPr lang="en-CA" sz="2000" baseline="30000" dirty="0"/>
              <a:t>2</a:t>
            </a:r>
            <a:r>
              <a:rPr lang="en-CA" sz="2000" dirty="0"/>
              <a:t> (M</a:t>
            </a:r>
            <a:r>
              <a:rPr lang="en-CA" sz="2000" baseline="-25000" dirty="0"/>
              <a:t>i</a:t>
            </a:r>
            <a:r>
              <a:rPr lang="en-CA" sz="2000" dirty="0"/>
              <a:t> | M</a:t>
            </a:r>
            <a:r>
              <a:rPr lang="en-CA" sz="2000" baseline="-25000" dirty="0"/>
              <a:t>i-1</a:t>
            </a:r>
            <a:r>
              <a:rPr lang="en-CA" sz="2000" dirty="0"/>
              <a:t> ) </a:t>
            </a:r>
          </a:p>
        </p:txBody>
      </p:sp>
    </p:spTree>
    <p:extLst>
      <p:ext uri="{BB962C8B-B14F-4D97-AF65-F5344CB8AC3E}">
        <p14:creationId xmlns:p14="http://schemas.microsoft.com/office/powerpoint/2010/main" val="6071592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A692-2F92-2315-C6A5-6A5657C7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LRstats</a:t>
            </a:r>
            <a:r>
              <a:rPr lang="en-CA" dirty="0"/>
              <a:t>: AIC &amp; BIC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46FA9-0563-C9A2-2E4A-EBE3A008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3F93B-D1A1-C14D-4E2F-D35AABFA0BFD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one-line summaries of a collection of models</a:t>
            </a:r>
          </a:p>
          <a:p>
            <a:r>
              <a:rPr lang="en-CA" dirty="0"/>
              <a:t>These are tests of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goodness of 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39635-6DD8-BF8B-FBE3-3DE3F4E280BD}"/>
              </a:ext>
            </a:extLst>
          </p:cNvPr>
          <p:cNvSpPr txBox="1"/>
          <p:nvPr/>
        </p:nvSpPr>
        <p:spPr>
          <a:xfrm>
            <a:off x="533400" y="2128680"/>
            <a:ext cx="8153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berk.loglm2, berk.loglm3)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berk.loglm0 2273 2282     2098 16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berk.loglm1 1336 1352     1149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berk.loglm2 1062 1077      877 11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berk.loglm3  217  240       20  5     0.0011 **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D280B-9121-CD14-0105-AF60B036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4472184"/>
            <a:ext cx="8161905" cy="2009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64CAFC-9420-A4A0-D1C2-FD9C51F2B59E}"/>
              </a:ext>
            </a:extLst>
          </p:cNvPr>
          <p:cNvSpPr/>
          <p:nvPr/>
        </p:nvSpPr>
        <p:spPr>
          <a:xfrm>
            <a:off x="1828800" y="2597446"/>
            <a:ext cx="1142999" cy="1158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4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F842-BA39-3452-63F6-74560B43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Visual 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B99DA-6FF6-F67B-6B94-F3D7E6CC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Each mosaic shows:</a:t>
            </a:r>
          </a:p>
          <a:p>
            <a:pPr lvl="1"/>
            <a:r>
              <a:rPr lang="en-CA" sz="2000" dirty="0"/>
              <a:t>The DATA – size of tiles</a:t>
            </a:r>
          </a:p>
          <a:p>
            <a:pPr lvl="1"/>
            <a:r>
              <a:rPr lang="en-CA" sz="2000" dirty="0"/>
              <a:t>(some) marginal frequencies – initial splits (visual grouping)</a:t>
            </a:r>
          </a:p>
          <a:p>
            <a:pPr lvl="1"/>
            <a:r>
              <a:rPr lang="en-CA" sz="2000" dirty="0"/>
              <a:t>RESIDUALS (shading) – what associations have been omitted?</a:t>
            </a:r>
          </a:p>
          <a:p>
            <a:r>
              <a:rPr lang="en-CA" sz="2400" dirty="0"/>
              <a:t>Visual fitting</a:t>
            </a:r>
          </a:p>
          <a:p>
            <a:pPr lvl="1"/>
            <a:r>
              <a:rPr lang="en-CA" sz="2000" dirty="0"/>
              <a:t>Start with a simple model: mutual independence or joint independence for response models</a:t>
            </a:r>
          </a:p>
          <a:p>
            <a:pPr lvl="1"/>
            <a:r>
              <a:rPr lang="en-CA" sz="2000" dirty="0"/>
              <a:t>Pattern of residuals: suggest a better model </a:t>
            </a:r>
            <a:r>
              <a:rPr lang="en-CA" sz="2000" dirty="0">
                <a:sym typeface="Symbol" panose="05050102010706020507" pitchFamily="18" charset="2"/>
              </a:rPr>
              <a:t> smaller residuals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Add terms:  smaller residuals, less shading: “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cleaning the mosaic</a:t>
            </a:r>
            <a:r>
              <a:rPr lang="en-CA" sz="2000" dirty="0">
                <a:sym typeface="Symbol" panose="05050102010706020507" pitchFamily="18" charset="2"/>
              </a:rPr>
              <a:t>”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Good fitting model will have mostly unshaded tiles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AC754-D333-DE72-594F-5483A4E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1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D2CB-5B0D-3FC9-608A-48DD689D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Predictor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1B60F-9A0C-24EA-72CF-3CADC24D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A14D6-490E-68F7-BF32-E07AD33E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038095" cy="51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09E9D-D6EE-C4EB-59E7-ED9797E5F9DB}"/>
              </a:ext>
            </a:extLst>
          </p:cNvPr>
          <p:cNvSpPr txBox="1"/>
          <p:nvPr/>
        </p:nvSpPr>
        <p:spPr>
          <a:xfrm>
            <a:off x="4782052" y="2313061"/>
            <a:ext cx="3542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response models, the mosaic of the predictors gives a graphic summary of </a:t>
            </a:r>
            <a:r>
              <a:rPr lang="en-CA" dirty="0">
                <a:solidFill>
                  <a:srgbClr val="0070C0"/>
                </a:solidFill>
              </a:rPr>
              <a:t>background</a:t>
            </a:r>
            <a:r>
              <a:rPr lang="en-CA" dirty="0"/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905625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542565-6756-0A29-B519-EF552ECD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response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B751B-ACD0-FED1-5489-1B79B23D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15645-E58E-0AD6-6512-F32A3C24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7495"/>
            <a:ext cx="4752381" cy="4761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F9D02-2E3B-F3B3-236D-E1AAE217BFDE}"/>
              </a:ext>
            </a:extLst>
          </p:cNvPr>
          <p:cNvSpPr txBox="1"/>
          <p:nvPr/>
        </p:nvSpPr>
        <p:spPr>
          <a:xfrm>
            <a:off x="533400" y="110626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the Berkeley data, start with the model of </a:t>
            </a:r>
            <a:r>
              <a:rPr lang="en-CA" dirty="0">
                <a:solidFill>
                  <a:srgbClr val="0070C0"/>
                </a:solidFill>
              </a:rPr>
              <a:t>joint independence</a:t>
            </a:r>
            <a:r>
              <a:rPr lang="en-CA" dirty="0"/>
              <a:t>, [A][DG]</a:t>
            </a:r>
          </a:p>
          <a:p>
            <a:r>
              <a:rPr lang="en-CA" dirty="0"/>
              <a:t>Fits badly: 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(11) </a:t>
            </a:r>
            <a:r>
              <a:rPr lang="en-CA" dirty="0"/>
              <a:t>= 877.1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5080E-1DE0-75B9-DBCD-EB2220C6589E}"/>
              </a:ext>
            </a:extLst>
          </p:cNvPr>
          <p:cNvSpPr txBox="1"/>
          <p:nvPr/>
        </p:nvSpPr>
        <p:spPr>
          <a:xfrm>
            <a:off x="5638800" y="2374880"/>
            <a:ext cx="304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the </a:t>
            </a:r>
            <a:r>
              <a:rPr lang="en-CA" dirty="0">
                <a:solidFill>
                  <a:srgbClr val="0070C0"/>
                </a:solidFill>
              </a:rPr>
              <a:t>null, </a:t>
            </a:r>
            <a:r>
              <a:rPr lang="en-CA" dirty="0"/>
              <a:t>or</a:t>
            </a:r>
            <a:r>
              <a:rPr lang="en-CA" dirty="0">
                <a:solidFill>
                  <a:srgbClr val="0070C0"/>
                </a:solidFill>
              </a:rPr>
              <a:t> baseline </a:t>
            </a:r>
            <a:r>
              <a:rPr lang="en-CA" dirty="0"/>
              <a:t>model when Admit is the response variable.</a:t>
            </a:r>
          </a:p>
          <a:p>
            <a:endParaRPr lang="en-CA" dirty="0"/>
          </a:p>
          <a:p>
            <a:r>
              <a:rPr lang="en-CA" dirty="0"/>
              <a:t>Allows/fits assoc. of [Dept Gender], not shown in shading</a:t>
            </a:r>
          </a:p>
          <a:p>
            <a:endParaRPr lang="en-CA" dirty="0"/>
          </a:p>
          <a:p>
            <a:r>
              <a:rPr lang="en-CA" dirty="0"/>
              <a:t>Remaining shading suggests:</a:t>
            </a:r>
          </a:p>
          <a:p>
            <a:r>
              <a:rPr lang="en-CA" dirty="0"/>
              <a:t>[AD] : Admit varies w/ Dept</a:t>
            </a:r>
          </a:p>
          <a:p>
            <a:r>
              <a:rPr lang="en-CA" dirty="0"/>
              <a:t>[AG] : Admit varies w/ Gender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9357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2E090D-CB4D-1B71-500D-090A09DF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 an association term…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17A17-191F-C8AC-7195-61295809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AE297-8B9A-E6B3-B97E-AE1F0DA6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" y="1419857"/>
            <a:ext cx="8142857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10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D1B5DB-1C07-4D40-8491-B7350CFA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Double decker plots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E4E1B-F5C3-41F2-46E5-C517821C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BC877-16DB-F3DD-BBE3-0522930E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5874"/>
            <a:ext cx="5695238" cy="359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F18E0-84CA-1F18-71C4-5D70CE5037B7}"/>
              </a:ext>
            </a:extLst>
          </p:cNvPr>
          <p:cNvSpPr txBox="1"/>
          <p:nvPr/>
        </p:nvSpPr>
        <p:spPr>
          <a:xfrm>
            <a:off x="4572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Visualize dependence of one </a:t>
            </a:r>
            <a:r>
              <a:rPr lang="en-CA" sz="1600" dirty="0">
                <a:solidFill>
                  <a:srgbClr val="0070C0"/>
                </a:solidFill>
              </a:rPr>
              <a:t>response</a:t>
            </a:r>
            <a:r>
              <a:rPr lang="en-CA" sz="1600" dirty="0"/>
              <a:t> variable (typically binary) on combinations of predictors</a:t>
            </a:r>
          </a:p>
          <a:p>
            <a:r>
              <a:rPr lang="en-CA" sz="1600" dirty="0"/>
              <a:t>Formally: mosaic plots with vertical splits for all predictors, </a:t>
            </a:r>
            <a:r>
              <a:rPr lang="en-CA" sz="1600" dirty="0">
                <a:solidFill>
                  <a:srgbClr val="FF0000"/>
                </a:solidFill>
              </a:rPr>
              <a:t>highlighting</a:t>
            </a:r>
            <a:r>
              <a:rPr lang="en-CA" sz="1600" dirty="0"/>
              <a:t> the response by shading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CC623-0A9C-1C5D-CC34-6901D69946EE}"/>
              </a:ext>
            </a:extLst>
          </p:cNvPr>
          <p:cNvSpPr txBox="1"/>
          <p:nvPr/>
        </p:nvSpPr>
        <p:spPr>
          <a:xfrm>
            <a:off x="457200" y="22098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doubledecker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(Admit ~ Dept + Gender, data =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[2:1, ,])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22339-62F6-D9E5-0B8A-B04747EDD327}"/>
              </a:ext>
            </a:extLst>
          </p:cNvPr>
          <p:cNvSpPr txBox="1"/>
          <p:nvPr/>
        </p:nvSpPr>
        <p:spPr>
          <a:xfrm>
            <a:off x="7086600" y="59436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DDAR Fig 5.34, p 211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A4A6E-9AB5-A9DA-46F4-C539CE0DE20E}"/>
              </a:ext>
            </a:extLst>
          </p:cNvPr>
          <p:cNvSpPr txBox="1"/>
          <p:nvPr/>
        </p:nvSpPr>
        <p:spPr>
          <a:xfrm>
            <a:off x="6629400" y="2971800"/>
            <a:ext cx="1981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 exploratory plot</a:t>
            </a:r>
          </a:p>
          <a:p>
            <a:endParaRPr lang="en-CA" dirty="0"/>
          </a:p>
          <a:p>
            <a:r>
              <a:rPr lang="en-CA" dirty="0"/>
              <a:t>Highlights the M-F </a:t>
            </a:r>
            <a:r>
              <a:rPr lang="en-CA" dirty="0" err="1"/>
              <a:t>diff</a:t>
            </a:r>
            <a:r>
              <a:rPr lang="en-CA" baseline="30000" dirty="0" err="1"/>
              <a:t>ce</a:t>
            </a:r>
            <a:r>
              <a:rPr lang="en-CA" dirty="0"/>
              <a:t>  in Admit for Dept 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BB830F-1A77-A90E-669A-26552E66B420}"/>
              </a:ext>
            </a:extLst>
          </p:cNvPr>
          <p:cNvSpPr/>
          <p:nvPr/>
        </p:nvSpPr>
        <p:spPr>
          <a:xfrm>
            <a:off x="914400" y="3293851"/>
            <a:ext cx="1828800" cy="833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44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7D7B8D-EF99-4CA1-AB1E-4C0C04740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2917370"/>
            <a:ext cx="9143999" cy="3940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27CD7-8146-44FF-0C7B-B74CE5DF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6" y="4559523"/>
            <a:ext cx="8176104" cy="123644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dirty="0"/>
              <a:t>Survival on the </a:t>
            </a:r>
            <a:r>
              <a:rPr lang="en-US" sz="6000" i="1" dirty="0"/>
              <a:t>Titanic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E748F-FD22-8B8E-25C3-DB2F4C9E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836" y="5795963"/>
            <a:ext cx="8176104" cy="56038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An epic data set, revealed with loglinear models</a:t>
            </a:r>
          </a:p>
        </p:txBody>
      </p:sp>
      <p:pic>
        <p:nvPicPr>
          <p:cNvPr id="7" name="Picture 6" descr="A picture containing text, outdoor, watercraft, boat&#10;&#10;Description automatically generated">
            <a:extLst>
              <a:ext uri="{FF2B5EF4-FFF2-40B4-BE49-F238E27FC236}">
                <a16:creationId xmlns:a16="http://schemas.microsoft.com/office/drawing/2014/main" id="{F4948D81-CF04-7D2C-1F29-5FE6438ED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6"/>
          <a:stretch/>
        </p:blipFill>
        <p:spPr>
          <a:xfrm>
            <a:off x="20" y="1"/>
            <a:ext cx="9143979" cy="42394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DA48D-5917-EB36-35C9-187D33BD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1225AB-15B9-4C79-A121-04D1DC7E2307}" type="slidenum">
              <a:rPr lang="en-US">
                <a:solidFill>
                  <a:schemeClr val="bg1">
                    <a:alpha val="8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63</a:t>
            </a:fld>
            <a:endParaRPr lang="en-US">
              <a:solidFill>
                <a:schemeClr val="bg1">
                  <a:alpha val="8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033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1879-175D-D364-7A0E-06C905DC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4-way tables: Survival on the </a:t>
            </a:r>
            <a:r>
              <a:rPr lang="en-CA" i="1" dirty="0"/>
              <a:t>Titanic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AF962-2BE8-356A-60CA-B3974991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FDF35-33AD-B930-B7F5-0A5A36E6BAFB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Data on the fate of passengers &amp; crew on the HMS </a:t>
            </a:r>
            <a:r>
              <a:rPr lang="en-CA" sz="2000" i="1" dirty="0"/>
              <a:t>Titanic</a:t>
            </a:r>
            <a:r>
              <a:rPr lang="en-CA" sz="2000" dirty="0"/>
              <a:t>: a 4 × 2 × 2 × 2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50336-F7D5-55A4-FC20-82418B05C050}"/>
              </a:ext>
            </a:extLst>
          </p:cNvPr>
          <p:cNvSpPr txBox="1"/>
          <p:nvPr/>
        </p:nvSpPr>
        <p:spPr>
          <a:xfrm>
            <a:off x="533400" y="1905000"/>
            <a:ext cx="81534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data(Titanic, package=“datasets”)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'table' num [1:4, 1:2, 1:2, 1:2] 0 0 35 0 0 0 17 0 118 154 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Class   : chr [1:4] "1st" "2nd" "3rd" "Crew"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Sex     : chr [1:2] "Male" "Female"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Age     : chr [1:2] "Child" "Adult"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Survived: chr [1:2] "No" "Yes"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EB161-0638-9855-1D51-D66464A48F17}"/>
              </a:ext>
            </a:extLst>
          </p:cNvPr>
          <p:cNvSpPr txBox="1"/>
          <p:nvPr/>
        </p:nvSpPr>
        <p:spPr>
          <a:xfrm>
            <a:off x="533400" y="39624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What proportion survived?  Ans: 711/2201 = 32.3%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830C-E872-C2ED-E9B5-46456BAAB17D}"/>
              </a:ext>
            </a:extLst>
          </p:cNvPr>
          <p:cNvSpPr txBox="1"/>
          <p:nvPr/>
        </p:nvSpPr>
        <p:spPr>
          <a:xfrm>
            <a:off x="533400" y="4495800"/>
            <a:ext cx="80010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  Yes  Sum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1490  711 2201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 / sum(Titanic)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No   Yes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0.677 0.323 </a:t>
            </a:r>
          </a:p>
        </p:txBody>
      </p:sp>
    </p:spTree>
    <p:extLst>
      <p:ext uri="{BB962C8B-B14F-4D97-AF65-F5344CB8AC3E}">
        <p14:creationId xmlns:p14="http://schemas.microsoft.com/office/powerpoint/2010/main" val="11820342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DD9C-7E48-503A-21A5-E1A0B230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Zero cells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6F40-53E9-47AF-304A-B9755DB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D0CE7-4F6C-F4A9-2BCA-4F2A3F2BDF74}"/>
              </a:ext>
            </a:extLst>
          </p:cNvPr>
          <p:cNvSpPr txBox="1"/>
          <p:nvPr/>
        </p:nvSpPr>
        <p:spPr>
          <a:xfrm>
            <a:off x="457200" y="1216744"/>
            <a:ext cx="82296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Sex      Male     Female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Survived   No Yes     No Yes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Age                           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1st   Child             0   5      0   1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118  57      4 140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2nd   Child             0  11      0  13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154  14     13  80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3rd   Child            35  13     17  14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387  75     89  76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Crew  Child             0   0      0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670 192      3 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E49EB-7633-EC70-DA64-69852708F9AA}"/>
              </a:ext>
            </a:extLst>
          </p:cNvPr>
          <p:cNvSpPr txBox="1"/>
          <p:nvPr/>
        </p:nvSpPr>
        <p:spPr>
          <a:xfrm>
            <a:off x="533400" y="4558699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types of zero cells: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Structural zeros</a:t>
            </a:r>
            <a:r>
              <a:rPr lang="en-CA" dirty="0"/>
              <a:t>: could not occur (children in crew)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Sampling zeros</a:t>
            </a:r>
            <a:r>
              <a:rPr lang="en-CA" dirty="0"/>
              <a:t>: did not happen to occur (children in 1</a:t>
            </a:r>
            <a:r>
              <a:rPr lang="en-CA" baseline="30000" dirty="0"/>
              <a:t>st</a:t>
            </a:r>
            <a:r>
              <a:rPr lang="en-CA" dirty="0"/>
              <a:t> &amp; 2</a:t>
            </a:r>
            <a:r>
              <a:rPr lang="en-CA" baseline="30000" dirty="0"/>
              <a:t>nd</a:t>
            </a:r>
            <a:r>
              <a:rPr lang="en-CA" dirty="0"/>
              <a:t> who died)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Beware: zeros can cause problems: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Loss of </a:t>
            </a:r>
            <a:r>
              <a:rPr lang="en-CA" dirty="0" err="1"/>
              <a:t>df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0/0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 err="1">
                <a:sym typeface="Symbol" panose="05050102010706020507" pitchFamily="18" charset="2"/>
              </a:rPr>
              <a:t>NaN</a:t>
            </a:r>
            <a:r>
              <a:rPr lang="en-CA" dirty="0">
                <a:sym typeface="Symbol" panose="05050102010706020507" pitchFamily="18" charset="2"/>
              </a:rPr>
              <a:t> in 2 tests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06C0B-DA38-B4D9-FBA4-BD788E296198}"/>
              </a:ext>
            </a:extLst>
          </p:cNvPr>
          <p:cNvSpPr/>
          <p:nvPr/>
        </p:nvSpPr>
        <p:spPr>
          <a:xfrm>
            <a:off x="2971800" y="3667432"/>
            <a:ext cx="25146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2683D-8C63-4C34-A9C2-3667C249A27D}"/>
              </a:ext>
            </a:extLst>
          </p:cNvPr>
          <p:cNvSpPr/>
          <p:nvPr/>
        </p:nvSpPr>
        <p:spPr>
          <a:xfrm>
            <a:off x="31242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ECFAE-1BF0-4160-B1C7-C6379978A066}"/>
              </a:ext>
            </a:extLst>
          </p:cNvPr>
          <p:cNvSpPr/>
          <p:nvPr/>
        </p:nvSpPr>
        <p:spPr>
          <a:xfrm>
            <a:off x="44958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59F66-3210-42FE-8BD6-092F0A3F3F5A}"/>
              </a:ext>
            </a:extLst>
          </p:cNvPr>
          <p:cNvSpPr/>
          <p:nvPr/>
        </p:nvSpPr>
        <p:spPr>
          <a:xfrm>
            <a:off x="3124200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BBE28E-6F61-445A-B523-B0A995C88D95}"/>
              </a:ext>
            </a:extLst>
          </p:cNvPr>
          <p:cNvSpPr/>
          <p:nvPr/>
        </p:nvSpPr>
        <p:spPr>
          <a:xfrm>
            <a:off x="4495398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95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F1B2-965C-1AD5-4A72-314CC7CC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707C7-B962-200E-EA68-2C19B80D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73A5-D75C-0DF2-AD29-A4C1CF71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1326"/>
            <a:ext cx="8171428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68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9432-493E-7677-CBB3-3DB21F85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A9B26-EB02-B61B-EFD4-9D8095F2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4C0A3-4888-078C-A0E3-E13B6577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6645"/>
            <a:ext cx="8190476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84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19F-F79C-3543-23C1-AE792EBC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&amp; visualizing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2D3BC-A15C-F129-570F-4B4F56E0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9F4FB-193D-679B-7846-0187A27AEE7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mod0 &lt;- </a:t>
            </a:r>
            <a:r>
              <a:rPr lang="en-CA" dirty="0" err="1"/>
              <a:t>loglm</a:t>
            </a:r>
            <a:r>
              <a:rPr lang="en-CA" dirty="0"/>
              <a:t>(~ 1 + 2 + 3 + 4, data=Titanic)</a:t>
            </a:r>
          </a:p>
          <a:p>
            <a:r>
              <a:rPr lang="en-CA" dirty="0"/>
              <a:t>mosaic(mod0, main="Titanic: Model [C][G][A][S]")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DA556361-F5E7-E6BA-9470-AB3B6B0A5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4415" cy="4476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2FF0F-9719-9F38-45DA-A5F7AFCC4816}"/>
              </a:ext>
            </a:extLst>
          </p:cNvPr>
          <p:cNvSpPr txBox="1"/>
          <p:nvPr/>
        </p:nvSpPr>
        <p:spPr>
          <a:xfrm>
            <a:off x="6019800" y="1219200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In the model formulas, I’m using variable numbers 1-4 for </a:t>
            </a:r>
            <a:r>
              <a:rPr lang="en-CA" sz="1600" i="1" dirty="0">
                <a:solidFill>
                  <a:srgbClr val="0070C0"/>
                </a:solidFill>
              </a:rPr>
              <a:t>C</a:t>
            </a:r>
            <a:r>
              <a:rPr lang="en-CA" sz="1600" dirty="0"/>
              <a:t>lass, </a:t>
            </a:r>
            <a:r>
              <a:rPr lang="en-CA" sz="1600" i="1" dirty="0">
                <a:solidFill>
                  <a:srgbClr val="0070C0"/>
                </a:solidFill>
              </a:rPr>
              <a:t>G</a:t>
            </a:r>
            <a:r>
              <a:rPr lang="en-CA" sz="1600" dirty="0"/>
              <a:t>ender, </a:t>
            </a:r>
            <a:r>
              <a:rPr lang="en-CA" sz="1600" i="1" dirty="0">
                <a:solidFill>
                  <a:srgbClr val="0070C0"/>
                </a:solidFill>
              </a:rPr>
              <a:t>A</a:t>
            </a:r>
            <a:r>
              <a:rPr lang="en-CA" sz="1600" dirty="0"/>
              <a:t>ge and </a:t>
            </a:r>
            <a:r>
              <a:rPr lang="en-CA" sz="1600" i="1" dirty="0">
                <a:solidFill>
                  <a:srgbClr val="0070C0"/>
                </a:solidFill>
              </a:rPr>
              <a:t>S</a:t>
            </a:r>
            <a:r>
              <a:rPr lang="en-CA" sz="1600" dirty="0"/>
              <a:t>urvived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42D92-BBC1-7D40-F11D-5A9B41B8EDF9}"/>
              </a:ext>
            </a:extLst>
          </p:cNvPr>
          <p:cNvSpPr txBox="1"/>
          <p:nvPr/>
        </p:nvSpPr>
        <p:spPr>
          <a:xfrm>
            <a:off x="6019800" y="2819400"/>
            <a:ext cx="259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independence</a:t>
            </a:r>
            <a:r>
              <a:rPr lang="en-CA" dirty="0"/>
              <a:t> model serves only as a background for the total associations in the table</a:t>
            </a:r>
          </a:p>
          <a:p>
            <a:endParaRPr lang="en-CA" dirty="0"/>
          </a:p>
          <a:p>
            <a:r>
              <a:rPr lang="en-CA" dirty="0"/>
              <a:t>Let’s clean this mosaic!!</a:t>
            </a:r>
          </a:p>
          <a:p>
            <a:endParaRPr lang="en-CA" dirty="0"/>
          </a:p>
          <a:p>
            <a:r>
              <a:rPr lang="en-CA" sz="1400" dirty="0"/>
              <a:t>Note the scale of residuals: </a:t>
            </a:r>
          </a:p>
          <a:p>
            <a:r>
              <a:rPr lang="en-CA" sz="1400" dirty="0"/>
              <a:t>                    +26 -- -11</a:t>
            </a:r>
          </a:p>
        </p:txBody>
      </p:sp>
    </p:spTree>
    <p:extLst>
      <p:ext uri="{BB962C8B-B14F-4D97-AF65-F5344CB8AC3E}">
        <p14:creationId xmlns:p14="http://schemas.microsoft.com/office/powerpoint/2010/main" val="23137825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C11A-773F-85E2-DA12-BDED33A1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model for Survived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A6D86-FAA6-DCA9-2A13-BF686F0A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DDE6E-4FD6-BD71-4513-AA46FF86550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mod1 &lt;- </a:t>
            </a:r>
            <a:r>
              <a:rPr lang="en-CA" dirty="0" err="1"/>
              <a:t>loglm</a:t>
            </a:r>
            <a:r>
              <a:rPr lang="en-CA" dirty="0"/>
              <a:t>(~ 1*2*3 + 4, data=Titanic)</a:t>
            </a:r>
          </a:p>
          <a:p>
            <a:r>
              <a:rPr lang="en-CA" dirty="0"/>
              <a:t>mosaic(mod1, main="Titanic: Model [CGA][S]")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F60880AF-1FA7-B099-1670-4C5007E35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CD857-EEB6-5B7F-A207-9847DB7B7840}"/>
              </a:ext>
            </a:extLst>
          </p:cNvPr>
          <p:cNvSpPr txBox="1"/>
          <p:nvPr/>
        </p:nvSpPr>
        <p:spPr>
          <a:xfrm>
            <a:off x="5867400" y="2286000"/>
            <a:ext cx="281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With </a:t>
            </a:r>
            <a:r>
              <a:rPr lang="en-CA" i="1" dirty="0">
                <a:solidFill>
                  <a:srgbClr val="0070C0"/>
                </a:solidFill>
              </a:rPr>
              <a:t>S</a:t>
            </a:r>
            <a:r>
              <a:rPr lang="en-CA" dirty="0"/>
              <a:t> as response, the </a:t>
            </a:r>
            <a:r>
              <a:rPr lang="en-CA" dirty="0">
                <a:solidFill>
                  <a:srgbClr val="0070C0"/>
                </a:solidFill>
              </a:rPr>
              <a:t>baseline</a:t>
            </a:r>
            <a:r>
              <a:rPr lang="en-CA" dirty="0"/>
              <a:t> model includes all associations among [CGA]</a:t>
            </a:r>
          </a:p>
          <a:p>
            <a:endParaRPr lang="en-CA" dirty="0"/>
          </a:p>
          <a:p>
            <a:r>
              <a:rPr lang="en-CA" dirty="0"/>
              <a:t>But this model asserts survival is independent of all of these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(15) </a:t>
            </a:r>
            <a:r>
              <a:rPr lang="en-CA" dirty="0"/>
              <a:t>= 671.96, a very poor fit</a:t>
            </a:r>
          </a:p>
        </p:txBody>
      </p:sp>
    </p:spTree>
    <p:extLst>
      <p:ext uri="{BB962C8B-B14F-4D97-AF65-F5344CB8AC3E}">
        <p14:creationId xmlns:p14="http://schemas.microsoft.com/office/powerpoint/2010/main" val="3329761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E23C-76BC-C24D-893E-A596F357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Adding associations: Main effects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F4377-6E1E-9F68-5011-3EC8D065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161-33F1-AD5F-42D0-068904CA0809}"/>
              </a:ext>
            </a:extLst>
          </p:cNvPr>
          <p:cNvSpPr txBox="1"/>
          <p:nvPr/>
        </p:nvSpPr>
        <p:spPr>
          <a:xfrm>
            <a:off x="457200" y="1219200"/>
            <a:ext cx="57150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mod2 &lt;- </a:t>
            </a:r>
            <a:r>
              <a:rPr lang="en-CA" dirty="0" err="1"/>
              <a:t>loglm</a:t>
            </a:r>
            <a:r>
              <a:rPr lang="en-CA" dirty="0"/>
              <a:t>(~ 1*2*3 + (1+2+3)*4, data=Titanic)</a:t>
            </a:r>
          </a:p>
          <a:p>
            <a:r>
              <a:rPr lang="en-CA" dirty="0"/>
              <a:t>mosaic(mod2, main="Titanic: Model [CGA] </a:t>
            </a:r>
            <a:r>
              <a:rPr lang="en-CA" b="1" dirty="0"/>
              <a:t>[CS][GS][AS]")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2E8DE91D-4D53-9844-4390-1BE1FCE7A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95323-EE1A-45B3-1F11-EAD5858B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240" y="2553735"/>
            <a:ext cx="3566160" cy="810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49B48-D08A-5F2F-5BB3-743E93212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81400"/>
            <a:ext cx="3566160" cy="998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5BF19-3625-A79D-878A-5427B77F6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736227"/>
            <a:ext cx="3566160" cy="72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E7D1-7373-CDD9-72A9-0BBF9D13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Final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253F2-88D3-DE33-D503-24BE26D1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75C3-8AF4-720E-0ACC-C37EA933099A}"/>
              </a:ext>
            </a:extLst>
          </p:cNvPr>
          <p:cNvSpPr txBox="1"/>
          <p:nvPr/>
        </p:nvSpPr>
        <p:spPr>
          <a:xfrm>
            <a:off x="457200" y="1219200"/>
            <a:ext cx="5943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mod3 &lt;- </a:t>
            </a:r>
            <a:r>
              <a:rPr lang="en-CA" dirty="0" err="1"/>
              <a:t>loglm</a:t>
            </a:r>
            <a:r>
              <a:rPr lang="en-CA" dirty="0"/>
              <a:t>(~ 1*2*3 + (1*2)*4 + (1*3)*4, data=Titanic)</a:t>
            </a:r>
          </a:p>
          <a:p>
            <a:r>
              <a:rPr lang="en-CA" dirty="0"/>
              <a:t>mosaic(mod3, main="Titanic: Model [CGA] </a:t>
            </a:r>
            <a:r>
              <a:rPr lang="en-CA" b="1" dirty="0"/>
              <a:t>[CGS][CAS]")</a:t>
            </a:r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567F79C-D7AF-B853-2BC2-AD6ACC03E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DC6455-1D49-A48C-0DCC-57BD16B0F999}"/>
              </a:ext>
            </a:extLst>
          </p:cNvPr>
          <p:cNvSpPr txBox="1"/>
          <p:nvPr/>
        </p:nvSpPr>
        <p:spPr>
          <a:xfrm>
            <a:off x="5867400" y="2819400"/>
            <a:ext cx="281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Nice &amp; clean!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 </a:t>
            </a:r>
            <a:r>
              <a:rPr lang="en-CA" baseline="-25000" dirty="0"/>
              <a:t>(4) </a:t>
            </a:r>
            <a:r>
              <a:rPr lang="en-CA" dirty="0"/>
              <a:t>= 1.69, p=0.79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FFE80-3B0B-42C5-9E64-3F81148B8EE2}"/>
              </a:ext>
            </a:extLst>
          </p:cNvPr>
          <p:cNvSpPr txBox="1"/>
          <p:nvPr/>
        </p:nvSpPr>
        <p:spPr>
          <a:xfrm>
            <a:off x="5943600" y="4267200"/>
            <a:ext cx="281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accepting this, should compare models, and consider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parsimony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explanations</a:t>
            </a:r>
          </a:p>
        </p:txBody>
      </p:sp>
    </p:spTree>
    <p:extLst>
      <p:ext uri="{BB962C8B-B14F-4D97-AF65-F5344CB8AC3E}">
        <p14:creationId xmlns:p14="http://schemas.microsoft.com/office/powerpoint/2010/main" val="16928617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4282-9A49-76F3-8C5B-2289983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0550B-836A-30D1-840A-672F26E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3A701-5128-C452-590F-7D8234D64F9A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usual,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 compact </a:t>
            </a:r>
            <a:r>
              <a:rPr lang="en-CA" dirty="0">
                <a:solidFill>
                  <a:srgbClr val="0070C0"/>
                </a:solidFill>
              </a:rPr>
              <a:t>relative</a:t>
            </a:r>
            <a:r>
              <a:rPr lang="en-CA" dirty="0"/>
              <a:t> comparisons of a set of nested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26136-C5AF-CBA4-48A5-3F17E2D36783}"/>
              </a:ext>
            </a:extLst>
          </p:cNvPr>
          <p:cNvSpPr txBox="1"/>
          <p:nvPr/>
        </p:nvSpPr>
        <p:spPr>
          <a:xfrm>
            <a:off x="457200" y="1828800"/>
            <a:ext cx="82296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+ 2 + 3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+ 2 + 3) *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* 2) * 4 + (1 * 3) * 4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 1243.66 25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  671.96 15     571.70        10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112.57 10     559.40         5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       1.69  4     110.88         6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 0.00  0       1.69         4          0.793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A4565-6F4D-7B81-7152-D721720DBC6B}"/>
              </a:ext>
            </a:extLst>
          </p:cNvPr>
          <p:cNvSpPr txBox="1"/>
          <p:nvPr/>
        </p:nvSpPr>
        <p:spPr>
          <a:xfrm>
            <a:off x="457200" y="6019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Please help me interpret these results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08009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08FF-6C33-306A-9464-5C3ECEB9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7FF9C7-AA23-2D28-2497-5C411B0F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459E7-49A1-DE9C-3BAA-56DBE313D867}"/>
              </a:ext>
            </a:extLst>
          </p:cNvPr>
          <p:cNvSpPr txBox="1"/>
          <p:nvPr/>
        </p:nvSpPr>
        <p:spPr>
          <a:xfrm>
            <a:off x="457200" y="1371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GOF tests; also provides AIC, BIC stats: model parsimony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8A7E9-7AA6-7FDF-8159-E6ADCFDA47EE}"/>
              </a:ext>
            </a:extLst>
          </p:cNvPr>
          <p:cNvSpPr txBox="1"/>
          <p:nvPr/>
        </p:nvSpPr>
        <p:spPr>
          <a:xfrm>
            <a:off x="457200" y="2121932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mod0 1385 1395     1244 25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mod1  833  858      672 15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mod2  284  316      113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mod3  185  226        2  4       0.79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7FD02-BBC3-833C-F461-63D96186F5C5}"/>
              </a:ext>
            </a:extLst>
          </p:cNvPr>
          <p:cNvSpPr txBox="1"/>
          <p:nvPr/>
        </p:nvSpPr>
        <p:spPr>
          <a:xfrm>
            <a:off x="457200" y="45720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mod3 [CGA] [CGS] [CAS] wins!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Acceptable </a:t>
            </a:r>
            <a:r>
              <a:rPr lang="en-CA" i="1" dirty="0"/>
              <a:t>G</a:t>
            </a:r>
            <a:r>
              <a:rPr lang="en-CA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Looks best by AIC &amp; BIC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0E96A-0304-F01F-A603-88AD04315504}"/>
              </a:ext>
            </a:extLst>
          </p:cNvPr>
          <p:cNvSpPr/>
          <p:nvPr/>
        </p:nvSpPr>
        <p:spPr>
          <a:xfrm>
            <a:off x="1143000" y="3429000"/>
            <a:ext cx="3429000" cy="306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19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B53E-CFB1-5B99-7578-696EFA2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F022A-C994-5D77-FEF4-AD665DEE5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Recall that the goal of analysis is to tell a story</a:t>
            </a:r>
          </a:p>
          <a:p>
            <a:r>
              <a:rPr lang="en-CA" sz="2400" dirty="0"/>
              <a:t>Greatest impact: lower class </a:t>
            </a:r>
            <a:r>
              <a:rPr lang="en-CA" sz="2400" dirty="0">
                <a:sym typeface="Symbol" panose="05050102010706020507" pitchFamily="18" charset="2"/>
              </a:rPr>
              <a:t> decreased survival, regardless of Gender &amp; Age</a:t>
            </a:r>
          </a:p>
          <a:p>
            <a:r>
              <a:rPr lang="en-CA" sz="2400" dirty="0">
                <a:sym typeface="Symbol" panose="05050102010706020507" pitchFamily="18" charset="2"/>
              </a:rPr>
              <a:t>Differences in survival by Class were </a:t>
            </a:r>
            <a:r>
              <a:rPr lang="en-CA" sz="2400" dirty="0">
                <a:solidFill>
                  <a:srgbClr val="0070C0"/>
                </a:solidFill>
                <a:sym typeface="Symbol" panose="05050102010706020507" pitchFamily="18" charset="2"/>
              </a:rPr>
              <a:t>moderated</a:t>
            </a:r>
            <a:r>
              <a:rPr lang="en-CA" sz="2400" dirty="0">
                <a:sym typeface="Symbol" panose="05050102010706020507" pitchFamily="18" charset="2"/>
              </a:rPr>
              <a:t> by both Gender &amp; Age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[CGS]: Women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 not have an advantage, while men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did vs. other classes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[CAS]: No children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or 2</a:t>
            </a:r>
            <a:r>
              <a:rPr lang="en-CA" sz="2000" baseline="30000" dirty="0">
                <a:sym typeface="Symbol" panose="05050102010706020507" pitchFamily="18" charset="2"/>
              </a:rPr>
              <a:t>nd</a:t>
            </a:r>
            <a:r>
              <a:rPr lang="en-CA" sz="2000" dirty="0">
                <a:sym typeface="Symbol" panose="05050102010706020507" pitchFamily="18" charset="2"/>
              </a:rPr>
              <a:t> class died, but nearly 2/3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</a:t>
            </a:r>
          </a:p>
          <a:p>
            <a:r>
              <a:rPr lang="en-CA" sz="2400" dirty="0">
                <a:sym typeface="Symbol" panose="05050102010706020507" pitchFamily="18" charset="2"/>
              </a:rPr>
              <a:t>Summary: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Not so much “women &amp; children first”, rather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Women &amp; children, ordered by class, and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men!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772C9-5893-C42C-8B68-41270C83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096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468CE1-E1E0-2CBC-C819-60C31704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8100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Historical 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4E10F-5529-F424-BBFA-1448FC19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B5E50A9E-2714-57A9-884F-47243AC851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296" y="274638"/>
            <a:ext cx="484670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34A31C-F887-70D7-2D5A-AC38E060332D}"/>
              </a:ext>
            </a:extLst>
          </p:cNvPr>
          <p:cNvSpPr txBox="1"/>
          <p:nvPr/>
        </p:nvSpPr>
        <p:spPr>
          <a:xfrm>
            <a:off x="457200" y="1295400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i="1" dirty="0"/>
              <a:t>Titanic</a:t>
            </a:r>
            <a:r>
              <a:rPr lang="en-CA" dirty="0"/>
              <a:t> sank on Apr. 15, 1912</a:t>
            </a:r>
          </a:p>
          <a:p>
            <a:endParaRPr lang="en-CA" dirty="0"/>
          </a:p>
          <a:p>
            <a:r>
              <a:rPr lang="en-CA" dirty="0"/>
              <a:t>On May 4, the technical illustrator, G. </a:t>
            </a:r>
            <a:r>
              <a:rPr lang="en-CA" dirty="0" err="1"/>
              <a:t>Bron</a:t>
            </a:r>
            <a:r>
              <a:rPr lang="en-CA" dirty="0"/>
              <a:t> published this graph in </a:t>
            </a:r>
            <a:r>
              <a:rPr lang="en-CA" i="1" dirty="0"/>
              <a:t>The Sphere</a:t>
            </a:r>
            <a:r>
              <a:rPr lang="en-CA" dirty="0"/>
              <a:t>, a popular magazine.</a:t>
            </a:r>
          </a:p>
          <a:p>
            <a:endParaRPr lang="en-CA" dirty="0"/>
          </a:p>
          <a:p>
            <a:r>
              <a:rPr lang="en-CA" dirty="0"/>
              <a:t>He used a remarkably modern graph to show the differences in survival by class, gender &amp; 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D7F6A-3232-BEC3-9604-0DCE691E996E}"/>
              </a:ext>
            </a:extLst>
          </p:cNvPr>
          <p:cNvSpPr txBox="1"/>
          <p:nvPr/>
        </p:nvSpPr>
        <p:spPr>
          <a:xfrm>
            <a:off x="381000" y="5715000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Read the story:</a:t>
            </a:r>
          </a:p>
          <a:p>
            <a:r>
              <a:rPr lang="en-CA" sz="1400" dirty="0"/>
              <a:t>Friendly, </a:t>
            </a:r>
            <a:r>
              <a:rPr lang="en-CA" sz="1400" dirty="0" err="1"/>
              <a:t>Symanzik</a:t>
            </a:r>
            <a:r>
              <a:rPr lang="en-CA" sz="1400" dirty="0"/>
              <a:t>, </a:t>
            </a:r>
            <a:r>
              <a:rPr lang="en-CA" sz="1400" dirty="0" err="1"/>
              <a:t>Onder</a:t>
            </a:r>
            <a:r>
              <a:rPr lang="en-CA" sz="1400" dirty="0"/>
              <a:t>, </a:t>
            </a:r>
            <a:r>
              <a:rPr lang="en-CA" sz="1400" dirty="0">
                <a:hlinkClick r:id="rId3"/>
              </a:rPr>
              <a:t>Visualizing the Titanic Disaster</a:t>
            </a:r>
            <a:r>
              <a:rPr lang="en-CA" sz="1400" dirty="0"/>
              <a:t>, </a:t>
            </a:r>
            <a:r>
              <a:rPr lang="en-CA" sz="1400" i="1" dirty="0"/>
              <a:t>Significance</a:t>
            </a:r>
            <a:r>
              <a:rPr lang="en-CA" sz="1400" dirty="0"/>
              <a:t>, Feb.,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DA01A-1EFC-3E81-8E58-3046157AF6D5}"/>
              </a:ext>
            </a:extLst>
          </p:cNvPr>
          <p:cNvSpPr txBox="1"/>
          <p:nvPr/>
        </p:nvSpPr>
        <p:spPr>
          <a:xfrm>
            <a:off x="44196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died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48535-9ACC-AB28-652F-44F5C38C716E}"/>
              </a:ext>
            </a:extLst>
          </p:cNvPr>
          <p:cNvSpPr txBox="1"/>
          <p:nvPr/>
        </p:nvSpPr>
        <p:spPr>
          <a:xfrm>
            <a:off x="76200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survived</a:t>
            </a:r>
          </a:p>
        </p:txBody>
      </p:sp>
    </p:spTree>
    <p:extLst>
      <p:ext uri="{BB962C8B-B14F-4D97-AF65-F5344CB8AC3E}">
        <p14:creationId xmlns:p14="http://schemas.microsoft.com/office/powerpoint/2010/main" val="39425254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5590-4237-6A42-3024-3169A48E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E718-9F70-03F2-7257-397093A9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Mosaic for an n-way table </a:t>
            </a:r>
            <a:r>
              <a:rPr lang="en-CA" sz="2000" dirty="0">
                <a:sym typeface="Symbol" panose="05050102010706020507" pitchFamily="18" charset="2"/>
              </a:rPr>
              <a:t> hierarchical decomposition of association</a:t>
            </a:r>
          </a:p>
          <a:p>
            <a:r>
              <a:rPr lang="en-CA" sz="2000" dirty="0">
                <a:sym typeface="Symbol" panose="05050102010706020507" pitchFamily="18" charset="2"/>
              </a:rPr>
              <a:t>Joint cell probabilities are decomposed as:</a:t>
            </a:r>
          </a:p>
          <a:p>
            <a:endParaRPr lang="en-CA" sz="2400" dirty="0">
              <a:sym typeface="Symbol" panose="05050102010706020507" pitchFamily="18" charset="2"/>
            </a:endParaRPr>
          </a:p>
          <a:p>
            <a:endParaRPr lang="en-CA" sz="24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First 2 terms: </a:t>
            </a:r>
            <a:r>
              <a:rPr lang="en-CA" sz="2000" dirty="0">
                <a:sym typeface="Symbol" panose="05050102010706020507" pitchFamily="18" charset="2"/>
              </a:rPr>
              <a:t>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First 3 terms: 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… and so on</a:t>
            </a:r>
          </a:p>
          <a:p>
            <a:r>
              <a:rPr lang="en-CA" sz="2000" dirty="0">
                <a:sym typeface="Symbol" panose="05050102010706020507" pitchFamily="18" charset="2"/>
              </a:rPr>
              <a:t>Roughly analogous to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sequential</a:t>
            </a:r>
            <a:r>
              <a:rPr lang="en-CA" sz="2000" dirty="0">
                <a:sym typeface="Symbol" panose="05050102010706020507" pitchFamily="18" charset="2"/>
              </a:rPr>
              <a:t> fitting in regression: 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; 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 </a:t>
            </a:r>
            <a:r>
              <a:rPr lang="en-CA" sz="2000" dirty="0">
                <a:sym typeface="Symbol" panose="05050102010706020507" pitchFamily="18" charset="2"/>
              </a:rPr>
              <a:t>; X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</a:p>
          <a:p>
            <a:r>
              <a:rPr lang="en-CA" sz="2000" dirty="0">
                <a:sym typeface="Symbol" panose="05050102010706020507" pitchFamily="18" charset="2"/>
              </a:rPr>
              <a:t>Order of variables matters for interpretation 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1</a:t>
            </a:r>
            <a:r>
              <a:rPr lang="en-CA" sz="1600" baseline="30000" dirty="0">
                <a:sym typeface="Symbol" panose="05050102010706020507" pitchFamily="18" charset="2"/>
              </a:rPr>
              <a:t>st</a:t>
            </a:r>
            <a:r>
              <a:rPr lang="en-CA" sz="1600" dirty="0">
                <a:sym typeface="Symbol" panose="05050102010706020507" pitchFamily="18" charset="2"/>
              </a:rPr>
              <a:t> split: easiest to see the marginal proportions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2</a:t>
            </a:r>
            <a:r>
              <a:rPr lang="en-CA" sz="1600" baseline="30000" dirty="0">
                <a:sym typeface="Symbol" panose="05050102010706020507" pitchFamily="18" charset="2"/>
              </a:rPr>
              <a:t>nd</a:t>
            </a:r>
            <a:r>
              <a:rPr lang="en-CA" sz="1600" dirty="0">
                <a:sym typeface="Symbol" panose="05050102010706020507" pitchFamily="18" charset="2"/>
              </a:rPr>
              <a:t> variable seen as conditional proportions, given the 1st</a:t>
            </a:r>
          </a:p>
          <a:p>
            <a:pPr lvl="1"/>
            <a:endParaRPr lang="en-C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9FEF1-B372-4F6B-D7D9-3C009587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52C2C-0D07-4F56-5BB8-64E3EF2E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28" y="1905000"/>
            <a:ext cx="4657143" cy="111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8876E-9D04-2E77-77AD-63B56D92547F}"/>
              </a:ext>
            </a:extLst>
          </p:cNvPr>
          <p:cNvSpPr txBox="1"/>
          <p:nvPr/>
        </p:nvSpPr>
        <p:spPr>
          <a:xfrm>
            <a:off x="533400" y="609600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Friendly (1999), </a:t>
            </a:r>
            <a:r>
              <a:rPr lang="en-CA" sz="1400" dirty="0">
                <a:hlinkClick r:id="rId3"/>
              </a:rPr>
              <a:t>Extending Mosaic Displays: Marginal, Conditional, and Partial Views of Categorical Data</a:t>
            </a:r>
            <a:r>
              <a:rPr lang="en-CA" sz="1400" dirty="0"/>
              <a:t>, </a:t>
            </a:r>
            <a:r>
              <a:rPr lang="en-CA" sz="1400" i="1" dirty="0"/>
              <a:t>JCGS</a:t>
            </a:r>
            <a:r>
              <a:rPr lang="en-CA" sz="1400" dirty="0"/>
              <a:t>, 8:3, 373-395, DOI: 10.1080/10618600.1999.10474820 </a:t>
            </a:r>
          </a:p>
        </p:txBody>
      </p:sp>
    </p:spTree>
    <p:extLst>
      <p:ext uri="{BB962C8B-B14F-4D97-AF65-F5344CB8AC3E}">
        <p14:creationId xmlns:p14="http://schemas.microsoft.com/office/powerpoint/2010/main" val="404748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D658-D4B6-F094-2767-9FACAB9F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B241-E278-FCD1-B868-F1A69CB5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Sequential models of joint independence</a:t>
            </a:r>
          </a:p>
          <a:p>
            <a:pPr lvl="1"/>
            <a:r>
              <a:rPr lang="en-CA" sz="2000" dirty="0"/>
              <a:t>Give an </a:t>
            </a:r>
            <a:r>
              <a:rPr lang="en-CA" sz="2000" dirty="0">
                <a:solidFill>
                  <a:srgbClr val="0070C0"/>
                </a:solidFill>
              </a:rPr>
              <a:t>additive</a:t>
            </a:r>
            <a:r>
              <a:rPr lang="en-CA" sz="2000" dirty="0"/>
              <a:t> decomposition of </a:t>
            </a:r>
            <a:r>
              <a:rPr lang="en-CA" sz="2000" dirty="0">
                <a:solidFill>
                  <a:srgbClr val="0070C0"/>
                </a:solidFill>
              </a:rPr>
              <a:t>total</a:t>
            </a:r>
            <a:r>
              <a:rPr lang="en-CA" sz="2000" dirty="0"/>
              <a:t> association – mutual independence [v</a:t>
            </a:r>
            <a:r>
              <a:rPr lang="en-CA" sz="2000" baseline="-25000" dirty="0"/>
              <a:t>1</a:t>
            </a:r>
            <a:r>
              <a:rPr lang="en-CA" sz="2000" dirty="0"/>
              <a:t>][v</a:t>
            </a:r>
            <a:r>
              <a:rPr lang="en-CA" sz="2000" baseline="-25000" dirty="0"/>
              <a:t>2</a:t>
            </a:r>
            <a:r>
              <a:rPr lang="en-CA" sz="2000" dirty="0"/>
              <a:t>] … [</a:t>
            </a:r>
            <a:r>
              <a:rPr lang="en-CA" sz="2000" dirty="0" err="1"/>
              <a:t>v</a:t>
            </a:r>
            <a:r>
              <a:rPr lang="en-CA" sz="2000" baseline="-25000" dirty="0" err="1"/>
              <a:t>p</a:t>
            </a:r>
            <a:r>
              <a:rPr lang="en-CA" sz="2000" dirty="0"/>
              <a:t>]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endParaRPr lang="en-CA" sz="2400" dirty="0"/>
          </a:p>
          <a:p>
            <a:r>
              <a:rPr lang="en-CA" sz="2400" dirty="0"/>
              <a:t>E.g., for Hair Eye color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280F-F5B5-1FF9-F3B0-F02764D4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30D3A-2C4A-2D88-28B1-4574DB7C9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33481"/>
            <a:ext cx="6866667" cy="6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066A10-D6F8-DE87-20B0-E4AE764C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238" y="4267200"/>
            <a:ext cx="4809524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244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Hair color × Eye color marginal table (ignoring Sex)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DDBF19-577B-4A21-9AD6-206EC81B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907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Joint independence model [Hair Eye][Sex]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2035F-1625-46A7-B517-C6896986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516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Mutual independence [Hair] [Eye][Sex]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8042D-3260-441A-8B0A-4D0DF908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434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Putting these together: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26FC4-0D6F-4CA7-B14F-86494BB0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0" y="1828800"/>
            <a:ext cx="822514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8284DA-0183-47F7-00BD-4A878BC0C1F0}"/>
              </a:ext>
            </a:extLst>
          </p:cNvPr>
          <p:cNvSpPr txBox="1"/>
          <p:nvPr/>
        </p:nvSpPr>
        <p:spPr>
          <a:xfrm>
            <a:off x="685800" y="5943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TIP: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generates a variety of sequential models</a:t>
            </a:r>
          </a:p>
        </p:txBody>
      </p:sp>
    </p:spTree>
    <p:extLst>
      <p:ext uri="{BB962C8B-B14F-4D97-AF65-F5344CB8AC3E}">
        <p14:creationId xmlns:p14="http://schemas.microsoft.com/office/powerpoint/2010/main" val="25040137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00CD-833B-406D-B15B-A0710FC4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models: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3E362-2643-4CD4-BF0B-F83BC004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7851D-A067-4DFC-A8C8-D94F85E3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500"/>
            <a:ext cx="8171428" cy="21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A66610-402E-4732-81EB-36468A7E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807825"/>
            <a:ext cx="8171428" cy="2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AC16-7C81-4043-BEE1-92C6D95E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Marital status, pre- &amp; extra-marital sex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D6215-27A5-452E-8EE1-D942B3DF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F776-4C54-4756-B54D-0DDD0446B4E9}"/>
              </a:ext>
            </a:extLst>
          </p:cNvPr>
          <p:cNvSpPr txBox="1"/>
          <p:nvPr/>
        </p:nvSpPr>
        <p:spPr>
          <a:xfrm>
            <a:off x="457200" y="1117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Thornes and Collard (1979) studied divorce patterns in relation to premarital</a:t>
            </a:r>
          </a:p>
          <a:p>
            <a:r>
              <a:rPr lang="en-US" dirty="0"/>
              <a:t>and extramarital sex, a 2</a:t>
            </a:r>
            <a:r>
              <a:rPr lang="en-US" baseline="30000" dirty="0"/>
              <a:t>4</a:t>
            </a:r>
            <a:r>
              <a:rPr lang="en-US" dirty="0"/>
              <a:t> table,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dirty="0"/>
              <a:t> in </a:t>
            </a:r>
            <a:r>
              <a:rPr lang="en-US" dirty="0" err="1"/>
              <a:t>vcd</a:t>
            </a:r>
            <a:r>
              <a:rPr lang="en-US" dirty="0"/>
              <a:t> ( G × P × E × M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F069F-9E7E-45EC-8549-1C917FD52C66}"/>
              </a:ext>
            </a:extLst>
          </p:cNvPr>
          <p:cNvSpPr txBox="1"/>
          <p:nvPr/>
        </p:nvSpPr>
        <p:spPr>
          <a:xfrm>
            <a:off x="533400" y="1940560"/>
            <a:ext cx="8153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(Gender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Gender          Women             Men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Yes      No     Yes      No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No Yes  No Yes  No Yes  No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Divorced                         17  54  36 214  28  60  17  68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Married                           4  25   4 322  11  42   4 130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89A8C-E8C7-44DB-AD46-C6EDD6BB780E}"/>
              </a:ext>
            </a:extLst>
          </p:cNvPr>
          <p:cNvSpPr txBox="1"/>
          <p:nvPr/>
        </p:nvSpPr>
        <p:spPr>
          <a:xfrm>
            <a:off x="533400" y="4876800"/>
            <a:ext cx="8153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Submodels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[G][P] :       Do men &amp; women differ by pre-marital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[GP][E]:      Given G &amp; P, are there differences in extra-marital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[GPE][M]:  Are there differences in divorce among the G, P, E groups?</a:t>
            </a:r>
          </a:p>
        </p:txBody>
      </p:sp>
    </p:spTree>
    <p:extLst>
      <p:ext uri="{BB962C8B-B14F-4D97-AF65-F5344CB8AC3E}">
        <p14:creationId xmlns:p14="http://schemas.microsoft.com/office/powerpoint/2010/main" val="14988177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E1F-FCB5-48B5-9175-DD57C020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white"/>
                </a:solidFill>
              </a:rPr>
              <a:t>Example: Marital status, pre- &amp; extra-marital sex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53CB4-412C-43A5-9825-1F21B4EA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A4FAC-7C6E-46E9-A943-FB8CC48618FB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 the table variables as G  </a:t>
            </a:r>
            <a:r>
              <a:rPr lang="en-US" sz="2400" dirty="0">
                <a:sym typeface="Symbol" panose="05050102010706020507" pitchFamily="18" charset="2"/>
              </a:rPr>
              <a:t>  P   E    M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D386A-8E76-4861-8FA0-0A4616FD365F}"/>
              </a:ext>
            </a:extLst>
          </p:cNvPr>
          <p:cNvSpPr txBox="1"/>
          <p:nvPr/>
        </p:nvSpPr>
        <p:spPr>
          <a:xfrm>
            <a:off x="457200" y="1766771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 # table variable names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"Gender“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4:1)   # order variables G, P, E,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8354C-4CFA-4227-A367-1A02F494EC0A}"/>
              </a:ext>
            </a:extLst>
          </p:cNvPr>
          <p:cNvSpPr txBox="1"/>
          <p:nvPr/>
        </p:nvSpPr>
        <p:spPr>
          <a:xfrm>
            <a:off x="457200" y="308864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each sequential model to the marginal sub-table.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generates these models of joint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33433-CEA1-4136-9F60-C56348C1839A}"/>
              </a:ext>
            </a:extLst>
          </p:cNvPr>
          <p:cNvSpPr txBox="1"/>
          <p:nvPr/>
        </p:nvSpPr>
        <p:spPr>
          <a:xfrm>
            <a:off x="457200" y="3888969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type="joint",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marginals = 2:4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D4AE-329D-BAEB-6A6A-DA0E00C98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997075"/>
            <a:ext cx="3680779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255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00637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841144"/>
            <a:ext cx="4114800" cy="35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511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4114800" cy="3571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932F8-647A-4AAF-BA67-BDE783D9311C}"/>
              </a:ext>
            </a:extLst>
          </p:cNvPr>
          <p:cNvSpPr txBox="1"/>
          <p:nvPr/>
        </p:nvSpPr>
        <p:spPr>
          <a:xfrm>
            <a:off x="4800600" y="2133600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Twice as many women in this sample</a:t>
            </a:r>
          </a:p>
          <a:p>
            <a:endParaRPr lang="en-US" dirty="0"/>
          </a:p>
          <a:p>
            <a:r>
              <a:rPr lang="en-US" dirty="0"/>
              <a:t>Men far more likely to report pre-marital sex than women (odds ratio = 3.7)</a:t>
            </a:r>
          </a:p>
        </p:txBody>
      </p:sp>
    </p:spTree>
    <p:extLst>
      <p:ext uri="{BB962C8B-B14F-4D97-AF65-F5344CB8AC3E}">
        <p14:creationId xmlns:p14="http://schemas.microsoft.com/office/powerpoint/2010/main" val="40452000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83372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AD488-3FCA-4E33-B035-7483858B75B2}"/>
              </a:ext>
            </a:extLst>
          </p:cNvPr>
          <p:cNvSpPr txBox="1"/>
          <p:nvPr/>
        </p:nvSpPr>
        <p:spPr>
          <a:xfrm>
            <a:off x="5029200" y="2590800"/>
            <a:ext cx="350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 &amp; women who reported Pre- far more likely to report Extra- sex</a:t>
            </a:r>
          </a:p>
          <a:p>
            <a:endParaRPr lang="en-US" dirty="0"/>
          </a:p>
          <a:p>
            <a:r>
              <a:rPr lang="en-US" dirty="0"/>
              <a:t>Odds ratio of Extra- given Pre- about the same for men  &amp; women</a:t>
            </a:r>
          </a:p>
          <a:p>
            <a:r>
              <a:rPr lang="en-US" dirty="0"/>
              <a:t>(3.61 vs. 3.56)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748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620" y="2622203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03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3AE0-827E-4B96-BC7B-5128E080C89A}"/>
              </a:ext>
            </a:extLst>
          </p:cNvPr>
          <p:cNvSpPr txBox="1"/>
          <p:nvPr/>
        </p:nvSpPr>
        <p:spPr>
          <a:xfrm>
            <a:off x="4953000" y="2743200"/>
            <a:ext cx="3591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model [GPE][M], marital status depends in a complex way</a:t>
            </a:r>
          </a:p>
          <a:p>
            <a:endParaRPr lang="en-US" dirty="0"/>
          </a:p>
          <a:p>
            <a:r>
              <a:rPr lang="en-US" dirty="0"/>
              <a:t>Among women, those reporting Pre- more likely to be divorced</a:t>
            </a:r>
          </a:p>
          <a:p>
            <a:endParaRPr lang="en-US" dirty="0"/>
          </a:p>
          <a:p>
            <a:r>
              <a:rPr lang="en-US" dirty="0"/>
              <a:t>Among men, those reporting Pre- only more likely to be divorced if Extra-</a:t>
            </a:r>
          </a:p>
          <a:p>
            <a:endParaRPr lang="en-US" dirty="0"/>
          </a:p>
          <a:p>
            <a:r>
              <a:rPr lang="en-US" dirty="0"/>
              <a:t>This suggests adding associations of M with P and E: [PEM] term</a:t>
            </a:r>
          </a:p>
        </p:txBody>
      </p:sp>
    </p:spTree>
    <p:extLst>
      <p:ext uri="{BB962C8B-B14F-4D97-AF65-F5344CB8AC3E}">
        <p14:creationId xmlns:p14="http://schemas.microsoft.com/office/powerpoint/2010/main" val="25309358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" y="2607251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A8D24-C3CC-4C3F-B73B-F0EE5FB6B6CC}"/>
              </a:ext>
            </a:extLst>
          </p:cNvPr>
          <p:cNvSpPr txBox="1"/>
          <p:nvPr/>
        </p:nvSpPr>
        <p:spPr>
          <a:xfrm>
            <a:off x="5181600" y="2667000"/>
            <a:ext cx="350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model fits well, G</a:t>
            </a:r>
            <a:r>
              <a:rPr lang="en-US" baseline="30000" dirty="0"/>
              <a:t>2</a:t>
            </a:r>
            <a:r>
              <a:rPr lang="en-US" dirty="0"/>
              <a:t>(4) = 5.26, p=0.26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Loglinear thinking</a:t>
            </a:r>
            <a:r>
              <a:rPr lang="en-US" dirty="0"/>
              <a:t>: once we take GPE into account, are there simpler models for association with M?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Looking forward</a:t>
            </a:r>
            <a:r>
              <a:rPr lang="en-US" dirty="0"/>
              <a:t>: logit models for </a:t>
            </a:r>
            <a:r>
              <a:rPr lang="en-US" dirty="0" err="1"/>
              <a:t>MaritalStatus</a:t>
            </a:r>
            <a:r>
              <a:rPr lang="en-US" dirty="0"/>
              <a:t> often provide an easier path</a:t>
            </a:r>
          </a:p>
        </p:txBody>
      </p:sp>
    </p:spTree>
    <p:extLst>
      <p:ext uri="{BB962C8B-B14F-4D97-AF65-F5344CB8AC3E}">
        <p14:creationId xmlns:p14="http://schemas.microsoft.com/office/powerpoint/2010/main" val="16711148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72A11-78F2-4119-BD45-B91513D7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F03BD-2D17-47F0-AA5F-A2B3E7ED9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828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Sometimes useful to do a </a:t>
            </a:r>
            <a:r>
              <a:rPr lang="en-US" sz="2400" dirty="0">
                <a:solidFill>
                  <a:srgbClr val="0070C0"/>
                </a:solidFill>
              </a:rPr>
              <a:t>stratified analysis</a:t>
            </a:r>
          </a:p>
          <a:p>
            <a:r>
              <a:rPr lang="en-US" sz="1800" dirty="0"/>
              <a:t>How does association between two (or more) variables vary over levels of other variables?</a:t>
            </a:r>
          </a:p>
          <a:p>
            <a:r>
              <a:rPr lang="en-US" sz="1800" dirty="0"/>
              <a:t>Mosaic plots for main variables show </a:t>
            </a:r>
            <a:r>
              <a:rPr lang="en-US" sz="1800" dirty="0">
                <a:solidFill>
                  <a:srgbClr val="0070C0"/>
                </a:solidFill>
              </a:rPr>
              <a:t>partial association </a:t>
            </a:r>
            <a:r>
              <a:rPr lang="en-US" sz="1800" dirty="0"/>
              <a:t>at each level of others</a:t>
            </a:r>
          </a:p>
          <a:p>
            <a:r>
              <a:rPr lang="en-US" sz="1800" dirty="0"/>
              <a:t>E.g., Hair color, Eye color, subset by Sex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163B4-DD74-4676-9918-C759181B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81554-B31E-441D-95A0-679DD0DE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77325"/>
            <a:ext cx="6923809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230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0C93-125B-4F16-A9A0-794BA61A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70979-5833-4903-BE2D-9F428BA2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91713-AEE6-4851-ADA5-CC1656E8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4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073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E87F-3621-4D7C-B096-70736824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association: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A066-DE96-49E9-AB72-2388574A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Overall, there is a strong association of hair color and eye color, controlling for sex, G</a:t>
            </a:r>
            <a:r>
              <a:rPr lang="en-US" sz="2400" baseline="30000" dirty="0"/>
              <a:t>2</a:t>
            </a:r>
            <a:r>
              <a:rPr lang="en-US" sz="2400" baseline="-25000" dirty="0"/>
              <a:t>(18) </a:t>
            </a:r>
            <a:r>
              <a:rPr lang="en-US" sz="2400" dirty="0"/>
              <a:t>= 156.67</a:t>
            </a:r>
          </a:p>
          <a:p>
            <a:pPr lvl="1"/>
            <a:r>
              <a:rPr lang="en-US" sz="2000" dirty="0"/>
              <a:t>For F, G</a:t>
            </a:r>
            <a:r>
              <a:rPr lang="en-US" sz="2000" baseline="30000" dirty="0"/>
              <a:t>2</a:t>
            </a:r>
            <a:r>
              <a:rPr lang="en-US" sz="2000" baseline="-25000" dirty="0"/>
              <a:t>(9) </a:t>
            </a:r>
            <a:r>
              <a:rPr lang="en-US" sz="2000" dirty="0"/>
              <a:t>= 112.23 accounts for 72% of this association</a:t>
            </a:r>
          </a:p>
          <a:p>
            <a:r>
              <a:rPr lang="en-US" sz="2400" dirty="0"/>
              <a:t>The pattern of association is similar for M &amp; F</a:t>
            </a:r>
          </a:p>
          <a:p>
            <a:pPr lvl="1"/>
            <a:r>
              <a:rPr lang="en-US" sz="2000" dirty="0"/>
              <a:t>The largest difference is for blue-eyed blonds, much more prevalent among F than M. Is there a hair dye effect?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83EAE-3939-46A2-8FA7-F9AA3D5F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CBAD-382C-4629-8258-665AC5AB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0724"/>
            <a:ext cx="5323608" cy="266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05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6671-18E2-4931-80D9-DAD89F59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What we’ve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61E5-3ECC-4FD6-93A0-BBB245FF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Mosaic plots use sequential splits to show marginal and conditional frequencies in an </a:t>
            </a:r>
            <a:r>
              <a:rPr lang="en-US" sz="2400" i="1" dirty="0"/>
              <a:t>n</a:t>
            </a:r>
            <a:r>
              <a:rPr lang="en-US" sz="2400" dirty="0"/>
              <a:t>-way table</a:t>
            </a:r>
          </a:p>
          <a:p>
            <a:pPr lvl="1"/>
            <a:r>
              <a:rPr lang="en-US" sz="2000" dirty="0"/>
              <a:t>Shading: </a:t>
            </a:r>
            <a:r>
              <a:rPr lang="en-US" sz="2000" dirty="0">
                <a:solidFill>
                  <a:srgbClr val="0070C0"/>
                </a:solidFill>
              </a:rPr>
              <a:t>sign</a:t>
            </a:r>
            <a:r>
              <a:rPr lang="en-US" sz="2000" dirty="0"/>
              <a:t> and </a:t>
            </a:r>
            <a:r>
              <a:rPr lang="en-US" sz="2000" b="1" dirty="0"/>
              <a:t>magnitude</a:t>
            </a:r>
            <a:r>
              <a:rPr lang="en-US" sz="2000" dirty="0"/>
              <a:t> </a:t>
            </a:r>
            <a:r>
              <a:rPr lang="en-US" sz="2000"/>
              <a:t>of residuals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/>
              <a:t> </a:t>
            </a:r>
            <a:r>
              <a:rPr lang="en-US" sz="2000" dirty="0"/>
              <a:t>contributions to χ</a:t>
            </a:r>
            <a:r>
              <a:rPr lang="en-US" sz="2000" baseline="30000" dirty="0"/>
              <a:t>2</a:t>
            </a:r>
          </a:p>
          <a:p>
            <a:pPr lvl="1"/>
            <a:r>
              <a:rPr lang="en-US" sz="2000" dirty="0"/>
              <a:t>Shows the pattern of association not accounted for</a:t>
            </a:r>
          </a:p>
          <a:p>
            <a:pPr lvl="1"/>
            <a:r>
              <a:rPr lang="en-US" sz="2000" dirty="0"/>
              <a:t>Permuting rows/cols often helps</a:t>
            </a:r>
          </a:p>
          <a:p>
            <a:r>
              <a:rPr lang="en-US" sz="2400" dirty="0"/>
              <a:t>Loglinear models </a:t>
            </a:r>
          </a:p>
          <a:p>
            <a:pPr lvl="1"/>
            <a:r>
              <a:rPr lang="en-US" sz="2000" dirty="0"/>
              <a:t>Express associations with ANOVA-like interaction terms: A*B, A*C</a:t>
            </a:r>
          </a:p>
          <a:p>
            <a:pPr lvl="2"/>
            <a:r>
              <a:rPr lang="en-US" sz="1800" dirty="0"/>
              <a:t>Joint independence: [AB][C]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</a:t>
            </a:r>
            <a:r>
              <a:rPr lang="en-US" sz="1800" dirty="0">
                <a:sym typeface="Symbol MT" panose="05050102010706020507" pitchFamily="18" charset="2"/>
              </a:rPr>
              <a:t> A * B + C</a:t>
            </a:r>
            <a:endParaRPr lang="en-US" sz="1800" dirty="0"/>
          </a:p>
          <a:p>
            <a:pPr lvl="2"/>
            <a:r>
              <a:rPr lang="en-US" sz="1800" dirty="0"/>
              <a:t>Conditional independence: [AC][BC]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 </a:t>
            </a:r>
            <a:r>
              <a:rPr lang="en-US" sz="1800" dirty="0">
                <a:sym typeface="Symbol MT" panose="05050102010706020507" pitchFamily="18" charset="2"/>
              </a:rPr>
              <a:t>A </a:t>
            </a:r>
            <a:r>
              <a:rPr lang="en-US" sz="1800" dirty="0">
                <a:sym typeface="Symbol" panose="05050102010706020507" pitchFamily="18" charset="2"/>
              </a:rPr>
              <a:t> B | C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Fitting models  “cleaning the mosaic”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Response models: include all associations among predictors</a:t>
            </a:r>
          </a:p>
          <a:p>
            <a:r>
              <a:rPr lang="en-US" sz="2400" dirty="0">
                <a:sym typeface="Symbol" panose="05050102010706020507" pitchFamily="18" charset="2"/>
              </a:rPr>
              <a:t>Sequential / partial plots &amp; models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Sequential: Decompose all associations: 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|V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|{V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}, …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Partial: Decompose conditional associations: [V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 ]|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= {a, b, …}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FA1E9-B6E8-4A7F-8556-FFF9AD62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7906</TotalTime>
  <Words>7155</Words>
  <Application>Microsoft Office PowerPoint</Application>
  <PresentationFormat>On-screen Show (4:3)</PresentationFormat>
  <Paragraphs>954</Paragraphs>
  <Slides>94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3" baseType="lpstr">
      <vt:lpstr>Arial</vt:lpstr>
      <vt:lpstr>Calibri</vt:lpstr>
      <vt:lpstr>Consolas</vt:lpstr>
      <vt:lpstr>Symbol</vt:lpstr>
      <vt:lpstr>Courier New</vt:lpstr>
      <vt:lpstr>Symbol MT</vt:lpstr>
      <vt:lpstr>Cambria Math</vt:lpstr>
      <vt:lpstr>Wingdings</vt:lpstr>
      <vt:lpstr>1_Office Theme</vt:lpstr>
      <vt:lpstr>Loglinear models &amp; mosaic displays</vt:lpstr>
      <vt:lpstr>Today’s topics</vt:lpstr>
      <vt:lpstr>Mosaic displays</vt:lpstr>
      <vt:lpstr>Mosaic displays: basic ideas</vt:lpstr>
      <vt:lpstr>Mosaic displays: basic ideas</vt:lpstr>
      <vt:lpstr>Mosaic displays: basic ideas</vt:lpstr>
      <vt:lpstr>Mosaic displays: Independence</vt:lpstr>
      <vt:lpstr>Mosaic displays: Residuals &amp; shading</vt:lpstr>
      <vt:lpstr>History corner: von Mayr</vt:lpstr>
      <vt:lpstr>History corner: Minard</vt:lpstr>
      <vt:lpstr>History corner: Francis Walker</vt:lpstr>
      <vt:lpstr>Mosaic cartograms</vt:lpstr>
      <vt:lpstr>Loglinear models: Perspectives</vt:lpstr>
      <vt:lpstr>Loglinear approach</vt:lpstr>
      <vt:lpstr>glm() approach</vt:lpstr>
      <vt:lpstr>Logit models</vt:lpstr>
      <vt:lpstr>Two-way tables: loglinear approach</vt:lpstr>
      <vt:lpstr>Two-way tables: loglinear approach</vt:lpstr>
      <vt:lpstr>Two-way tables: loglinear approach</vt:lpstr>
      <vt:lpstr>Example: Independence</vt:lpstr>
      <vt:lpstr>PowerPoint Presentation</vt:lpstr>
      <vt:lpstr>Two-way tables: glm approach</vt:lpstr>
      <vt:lpstr>PowerPoint Presentation</vt:lpstr>
      <vt:lpstr>Assessing goodness of fit</vt:lpstr>
      <vt:lpstr>Degrees of freedom</vt:lpstr>
      <vt:lpstr>R functions for loglinear models</vt:lpstr>
      <vt:lpstr>R functions &amp; methods</vt:lpstr>
      <vt:lpstr>Model-based methods: Fitting &amp; graphing</vt:lpstr>
      <vt:lpstr>Example: Arthritis treatment</vt:lpstr>
      <vt:lpstr>Arthritis treatment</vt:lpstr>
      <vt:lpstr>Arthritis treatment: Plots</vt:lpstr>
      <vt:lpstr>Arthritis treatment: glm()</vt:lpstr>
      <vt:lpstr>Example: Hair color &amp; Eye color</vt:lpstr>
      <vt:lpstr>Mosaic displays: Seeing patterns</vt:lpstr>
      <vt:lpstr>Mosaic displays: Seeing patterns</vt:lpstr>
      <vt:lpstr>Bee abundance data</vt:lpstr>
      <vt:lpstr>PowerPoint Presentation</vt:lpstr>
      <vt:lpstr>PowerPoint Presentation</vt:lpstr>
      <vt:lpstr>PowerPoint Presentation</vt:lpstr>
      <vt:lpstr>Three-way tables</vt:lpstr>
      <vt:lpstr>Reduced models</vt:lpstr>
      <vt:lpstr>Reduced models</vt:lpstr>
      <vt:lpstr>Model types</vt:lpstr>
      <vt:lpstr>Association graphs</vt:lpstr>
      <vt:lpstr>Model types &amp; association graphs</vt:lpstr>
      <vt:lpstr>Model types: loglm()</vt:lpstr>
      <vt:lpstr>Collapsibility: Marginal &amp; conditional associations</vt:lpstr>
      <vt:lpstr>Higher-way tables</vt:lpstr>
      <vt:lpstr>Response vs. Association models</vt:lpstr>
      <vt:lpstr>Goodness of fit tests</vt:lpstr>
      <vt:lpstr>Nested models &amp; ANOVA-type tests</vt:lpstr>
      <vt:lpstr>Example: Berkeley admissions</vt:lpstr>
      <vt:lpstr>Fitting these in R</vt:lpstr>
      <vt:lpstr>Example: Berkeley admissions</vt:lpstr>
      <vt:lpstr>PowerPoint Presentation</vt:lpstr>
      <vt:lpstr>ANOVA tests</vt:lpstr>
      <vt:lpstr>LRstats: AIC &amp; BIC</vt:lpstr>
      <vt:lpstr>Mosaic displays: Visual fitting</vt:lpstr>
      <vt:lpstr>Mosaic displays: Predictor variables</vt:lpstr>
      <vt:lpstr>Baseline response model</vt:lpstr>
      <vt:lpstr>Add an association term…</vt:lpstr>
      <vt:lpstr>Double decker plots</vt:lpstr>
      <vt:lpstr>Survival on the Titanic</vt:lpstr>
      <vt:lpstr>4-way tables: Survival on the Titanic</vt:lpstr>
      <vt:lpstr>Zero cells</vt:lpstr>
      <vt:lpstr>Exploratory plots</vt:lpstr>
      <vt:lpstr>Exploratory plots</vt:lpstr>
      <vt:lpstr>Fitting &amp; visualizing models</vt:lpstr>
      <vt:lpstr>Baseline model for Survived</vt:lpstr>
      <vt:lpstr>Adding associations: Main effects</vt:lpstr>
      <vt:lpstr>Final model</vt:lpstr>
      <vt:lpstr>Comparing models</vt:lpstr>
      <vt:lpstr>Comparing models</vt:lpstr>
      <vt:lpstr>Model interpretation</vt:lpstr>
      <vt:lpstr>Historical note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models: Applications</vt:lpstr>
      <vt:lpstr>Example: Marital status, pre- &amp; extra-marital sex</vt:lpstr>
      <vt:lpstr>Example: Marital status, pre- &amp; extra-marital sex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Partial association, partial mosaics</vt:lpstr>
      <vt:lpstr>Partial association, partial mosaics</vt:lpstr>
      <vt:lpstr>Partial association: Summary</vt:lpstr>
      <vt:lpstr>Summary: What we’ve learned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04-Loglin</dc:title>
  <dc:creator>Michael Friendly</dc:creator>
  <cp:lastModifiedBy>Michael L Friendly</cp:lastModifiedBy>
  <cp:revision>149</cp:revision>
  <dcterms:created xsi:type="dcterms:W3CDTF">2017-10-14T20:35:56Z</dcterms:created>
  <dcterms:modified xsi:type="dcterms:W3CDTF">2025-12-23T02:22:52Z</dcterms:modified>
</cp:coreProperties>
</file>