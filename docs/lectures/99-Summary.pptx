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47"/>
  </p:handoutMasterIdLst>
  <p:sldIdLst>
    <p:sldId id="256" r:id="rId2"/>
    <p:sldId id="257" r:id="rId3"/>
    <p:sldId id="374" r:id="rId4"/>
    <p:sldId id="339" r:id="rId5"/>
    <p:sldId id="365" r:id="rId6"/>
    <p:sldId id="298" r:id="rId7"/>
    <p:sldId id="366" r:id="rId8"/>
    <p:sldId id="360" r:id="rId9"/>
    <p:sldId id="367" r:id="rId10"/>
    <p:sldId id="341" r:id="rId11"/>
    <p:sldId id="368" r:id="rId12"/>
    <p:sldId id="317" r:id="rId13"/>
    <p:sldId id="369" r:id="rId14"/>
    <p:sldId id="323" r:id="rId15"/>
    <p:sldId id="371" r:id="rId16"/>
    <p:sldId id="310" r:id="rId17"/>
    <p:sldId id="370" r:id="rId18"/>
    <p:sldId id="325" r:id="rId19"/>
    <p:sldId id="372" r:id="rId20"/>
    <p:sldId id="334" r:id="rId21"/>
    <p:sldId id="373" r:id="rId22"/>
    <p:sldId id="361" r:id="rId23"/>
    <p:sldId id="391" r:id="rId24"/>
    <p:sldId id="385" r:id="rId25"/>
    <p:sldId id="375" r:id="rId26"/>
    <p:sldId id="376" r:id="rId27"/>
    <p:sldId id="377" r:id="rId28"/>
    <p:sldId id="389" r:id="rId29"/>
    <p:sldId id="378" r:id="rId30"/>
    <p:sldId id="379" r:id="rId31"/>
    <p:sldId id="380" r:id="rId32"/>
    <p:sldId id="383" r:id="rId33"/>
    <p:sldId id="384" r:id="rId34"/>
    <p:sldId id="382" r:id="rId35"/>
    <p:sldId id="268" r:id="rId36"/>
    <p:sldId id="269" r:id="rId37"/>
    <p:sldId id="386" r:id="rId38"/>
    <p:sldId id="258" r:id="rId39"/>
    <p:sldId id="259" r:id="rId40"/>
    <p:sldId id="387" r:id="rId41"/>
    <p:sldId id="388" r:id="rId42"/>
    <p:sldId id="362" r:id="rId43"/>
    <p:sldId id="363" r:id="rId44"/>
    <p:sldId id="364" r:id="rId45"/>
    <p:sldId id="260" r:id="rId4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5A21DC-61C5-424A-9CA2-8E947F0C0C3F}">
          <p14:sldIdLst>
            <p14:sldId id="256"/>
            <p14:sldId id="257"/>
            <p14:sldId id="374"/>
          </p14:sldIdLst>
        </p14:section>
        <p14:section name="Lectures" id="{353E83E3-3613-4B60-98A5-152933E0343B}">
          <p14:sldIdLst>
            <p14:sldId id="339"/>
            <p14:sldId id="365"/>
            <p14:sldId id="298"/>
            <p14:sldId id="366"/>
            <p14:sldId id="360"/>
            <p14:sldId id="367"/>
            <p14:sldId id="341"/>
            <p14:sldId id="368"/>
            <p14:sldId id="317"/>
            <p14:sldId id="369"/>
            <p14:sldId id="323"/>
            <p14:sldId id="371"/>
            <p14:sldId id="310"/>
            <p14:sldId id="370"/>
            <p14:sldId id="325"/>
            <p14:sldId id="372"/>
            <p14:sldId id="334"/>
            <p14:sldId id="373"/>
            <p14:sldId id="361"/>
            <p14:sldId id="391"/>
          </p14:sldIdLst>
        </p14:section>
        <p14:section name="Going further" id="{DC54840F-5D21-45A2-955E-ACF05109EA35}">
          <p14:sldIdLst>
            <p14:sldId id="385"/>
            <p14:sldId id="375"/>
            <p14:sldId id="376"/>
            <p14:sldId id="377"/>
            <p14:sldId id="389"/>
          </p14:sldIdLst>
        </p14:section>
        <p14:section name="Hierarchical-longitudinal" id="{A8195179-1E2A-425D-9BB4-5CFCCA4EFEF4}">
          <p14:sldIdLst>
            <p14:sldId id="378"/>
            <p14:sldId id="379"/>
            <p14:sldId id="380"/>
            <p14:sldId id="383"/>
            <p14:sldId id="384"/>
            <p14:sldId id="382"/>
            <p14:sldId id="268"/>
            <p14:sldId id="269"/>
            <p14:sldId id="386"/>
            <p14:sldId id="258"/>
            <p14:sldId id="259"/>
            <p14:sldId id="387"/>
            <p14:sldId id="388"/>
          </p14:sldIdLst>
        </p14:section>
        <p14:section name="YourTurn" id="{5A41B337-DEEE-4A5F-9F64-699044CB2F01}">
          <p14:sldIdLst>
            <p14:sldId id="362"/>
            <p14:sldId id="363"/>
            <p14:sldId id="364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155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3433E0-C328-4AD6-84B4-CF9934BF7D4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C41A998-E98F-4A80-AA96-A9E78B6013DE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Start with descriptive, hypothesis testing methods, then progress to model-based methods</a:t>
          </a:r>
          <a:endParaRPr lang="en-US"/>
        </a:p>
      </dgm:t>
    </dgm:pt>
    <dgm:pt modelId="{1E3CDD6C-41E9-4A59-82C6-557372934E25}" type="parTrans" cxnId="{B48BD7B3-D0E0-418F-945F-C5016DF6B557}">
      <dgm:prSet/>
      <dgm:spPr/>
      <dgm:t>
        <a:bodyPr/>
        <a:lstStyle/>
        <a:p>
          <a:endParaRPr lang="en-US"/>
        </a:p>
      </dgm:t>
    </dgm:pt>
    <dgm:pt modelId="{3FBC0116-B8FC-46A7-8C92-CF66DF383A16}" type="sibTrans" cxnId="{B48BD7B3-D0E0-418F-945F-C5016DF6B557}">
      <dgm:prSet/>
      <dgm:spPr/>
      <dgm:t>
        <a:bodyPr/>
        <a:lstStyle/>
        <a:p>
          <a:endParaRPr lang="en-US"/>
        </a:p>
      </dgm:t>
    </dgm:pt>
    <dgm:pt modelId="{B847ED0E-3461-46E7-8113-58C7DADB798A}">
      <dgm:prSet/>
      <dgm:spPr/>
      <dgm:t>
        <a:bodyPr/>
        <a:lstStyle/>
        <a:p>
          <a:pPr>
            <a:lnSpc>
              <a:spcPct val="100000"/>
            </a:lnSpc>
          </a:pPr>
          <a:r>
            <a:rPr lang="en-CA" dirty="0"/>
            <a:t>Visual tools for thinking &amp; understanding</a:t>
          </a:r>
          <a:endParaRPr lang="en-US" dirty="0"/>
        </a:p>
      </dgm:t>
    </dgm:pt>
    <dgm:pt modelId="{26392040-F129-46D5-A68E-B2CD173C8CB0}" type="parTrans" cxnId="{6981B48C-E571-4635-8E20-6AB6D8EDA21D}">
      <dgm:prSet/>
      <dgm:spPr/>
      <dgm:t>
        <a:bodyPr/>
        <a:lstStyle/>
        <a:p>
          <a:endParaRPr lang="en-US"/>
        </a:p>
      </dgm:t>
    </dgm:pt>
    <dgm:pt modelId="{97B6E262-6EE4-41B9-B582-620159111A13}" type="sibTrans" cxnId="{6981B48C-E571-4635-8E20-6AB6D8EDA21D}">
      <dgm:prSet/>
      <dgm:spPr/>
      <dgm:t>
        <a:bodyPr/>
        <a:lstStyle/>
        <a:p>
          <a:endParaRPr lang="en-US"/>
        </a:p>
      </dgm:t>
    </dgm:pt>
    <dgm:pt modelId="{B3A3FBE6-5A5B-4BAF-A034-CF324BEBA275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Sieve plots, mosaic plots, spineplots, …</a:t>
          </a:r>
          <a:endParaRPr lang="en-US"/>
        </a:p>
      </dgm:t>
    </dgm:pt>
    <dgm:pt modelId="{5CB18CDF-5F0D-4943-AF49-765310B66696}" type="parTrans" cxnId="{C679CA07-3455-484B-8FFC-79EFCE618136}">
      <dgm:prSet/>
      <dgm:spPr/>
      <dgm:t>
        <a:bodyPr/>
        <a:lstStyle/>
        <a:p>
          <a:endParaRPr lang="en-US"/>
        </a:p>
      </dgm:t>
    </dgm:pt>
    <dgm:pt modelId="{9B581706-6038-4B25-98C3-C69B38000DF6}" type="sibTrans" cxnId="{C679CA07-3455-484B-8FFC-79EFCE618136}">
      <dgm:prSet/>
      <dgm:spPr/>
      <dgm:t>
        <a:bodyPr/>
        <a:lstStyle/>
        <a:p>
          <a:endParaRPr lang="en-US"/>
        </a:p>
      </dgm:t>
    </dgm:pt>
    <dgm:pt modelId="{92EE31BA-C7B8-45ED-AEAA-ED48AEE18C73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Correspondence analysis: best 2D summary</a:t>
          </a:r>
          <a:endParaRPr lang="en-US"/>
        </a:p>
      </dgm:t>
    </dgm:pt>
    <dgm:pt modelId="{6E2F7F77-4323-4F52-9C49-8A7E036B4B37}" type="parTrans" cxnId="{97D1C87E-BF9E-4C8E-8E1E-16AF896BF239}">
      <dgm:prSet/>
      <dgm:spPr/>
      <dgm:t>
        <a:bodyPr/>
        <a:lstStyle/>
        <a:p>
          <a:endParaRPr lang="en-US"/>
        </a:p>
      </dgm:t>
    </dgm:pt>
    <dgm:pt modelId="{3592959C-46F0-4140-B8D8-E1C84FD8C671}" type="sibTrans" cxnId="{97D1C87E-BF9E-4C8E-8E1E-16AF896BF239}">
      <dgm:prSet/>
      <dgm:spPr/>
      <dgm:t>
        <a:bodyPr/>
        <a:lstStyle/>
        <a:p>
          <a:endParaRPr lang="en-US"/>
        </a:p>
      </dgm:t>
    </dgm:pt>
    <dgm:pt modelId="{16FE35DB-D9EB-46E2-B728-CCAFE079EB2F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Effect plots, Data + Model plots</a:t>
          </a:r>
          <a:endParaRPr lang="en-US"/>
        </a:p>
      </dgm:t>
    </dgm:pt>
    <dgm:pt modelId="{34184181-909A-4704-88CB-7870493351E9}" type="parTrans" cxnId="{1882BD74-176F-4425-B4F8-0022F6969C62}">
      <dgm:prSet/>
      <dgm:spPr/>
      <dgm:t>
        <a:bodyPr/>
        <a:lstStyle/>
        <a:p>
          <a:endParaRPr lang="en-US"/>
        </a:p>
      </dgm:t>
    </dgm:pt>
    <dgm:pt modelId="{716C9CCC-A2AC-4163-9783-7CDD66AF5320}" type="sibTrans" cxnId="{1882BD74-176F-4425-B4F8-0022F6969C62}">
      <dgm:prSet/>
      <dgm:spPr/>
      <dgm:t>
        <a:bodyPr/>
        <a:lstStyle/>
        <a:p>
          <a:endParaRPr lang="en-US"/>
        </a:p>
      </dgm:t>
    </dgm:pt>
    <dgm:pt modelId="{A65E3886-7C7A-442B-B982-A99A9EDAA531}">
      <dgm:prSet/>
      <dgm:spPr/>
      <dgm:t>
        <a:bodyPr/>
        <a:lstStyle/>
        <a:p>
          <a:pPr>
            <a:lnSpc>
              <a:spcPct val="100000"/>
            </a:lnSpc>
          </a:pPr>
          <a:r>
            <a:rPr lang="en-CA"/>
            <a:t>Build from simple, loglinear models to more complex ones</a:t>
          </a:r>
          <a:endParaRPr lang="en-US"/>
        </a:p>
      </dgm:t>
    </dgm:pt>
    <dgm:pt modelId="{4DEA5D59-1732-4FD3-B61D-0EC9327BFAE7}" type="parTrans" cxnId="{826141D3-6CF9-42D3-B8AE-3DA51D9655B1}">
      <dgm:prSet/>
      <dgm:spPr/>
      <dgm:t>
        <a:bodyPr/>
        <a:lstStyle/>
        <a:p>
          <a:endParaRPr lang="en-US"/>
        </a:p>
      </dgm:t>
    </dgm:pt>
    <dgm:pt modelId="{B52950F8-1DBA-49AA-B10D-53F2AA00AD45}" type="sibTrans" cxnId="{826141D3-6CF9-42D3-B8AE-3DA51D9655B1}">
      <dgm:prSet/>
      <dgm:spPr/>
      <dgm:t>
        <a:bodyPr/>
        <a:lstStyle/>
        <a:p>
          <a:endParaRPr lang="en-US"/>
        </a:p>
      </dgm:t>
    </dgm:pt>
    <dgm:pt modelId="{00A7CA57-BD6F-4618-837D-83CE16D9643A}" type="pres">
      <dgm:prSet presAssocID="{233433E0-C328-4AD6-84B4-CF9934BF7D41}" presName="root" presStyleCnt="0">
        <dgm:presLayoutVars>
          <dgm:dir/>
          <dgm:resizeHandles val="exact"/>
        </dgm:presLayoutVars>
      </dgm:prSet>
      <dgm:spPr/>
    </dgm:pt>
    <dgm:pt modelId="{92E051DA-07D5-4C2E-8F47-35EE7C10203A}" type="pres">
      <dgm:prSet presAssocID="{FC41A998-E98F-4A80-AA96-A9E78B6013DE}" presName="compNode" presStyleCnt="0"/>
      <dgm:spPr/>
    </dgm:pt>
    <dgm:pt modelId="{2827F806-2CC6-430D-9518-519AE77A5BD9}" type="pres">
      <dgm:prSet presAssocID="{FC41A998-E98F-4A80-AA96-A9E78B6013DE}" presName="bgRect" presStyleLbl="bgShp" presStyleIdx="0" presStyleCnt="3"/>
      <dgm:spPr/>
    </dgm:pt>
    <dgm:pt modelId="{E5B51C0D-A214-41A9-9D47-FD7524BA06E7}" type="pres">
      <dgm:prSet presAssocID="{FC41A998-E98F-4A80-AA96-A9E78B6013D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62C06899-BDA4-48AB-BF10-70475ADE1665}" type="pres">
      <dgm:prSet presAssocID="{FC41A998-E98F-4A80-AA96-A9E78B6013DE}" presName="spaceRect" presStyleCnt="0"/>
      <dgm:spPr/>
    </dgm:pt>
    <dgm:pt modelId="{719D622A-F770-4981-9143-CFC8B6B98CBC}" type="pres">
      <dgm:prSet presAssocID="{FC41A998-E98F-4A80-AA96-A9E78B6013DE}" presName="parTx" presStyleLbl="revTx" presStyleIdx="0" presStyleCnt="4">
        <dgm:presLayoutVars>
          <dgm:chMax val="0"/>
          <dgm:chPref val="0"/>
        </dgm:presLayoutVars>
      </dgm:prSet>
      <dgm:spPr/>
    </dgm:pt>
    <dgm:pt modelId="{A9D139BA-913B-48ED-8260-88C6F98E808F}" type="pres">
      <dgm:prSet presAssocID="{3FBC0116-B8FC-46A7-8C92-CF66DF383A16}" presName="sibTrans" presStyleCnt="0"/>
      <dgm:spPr/>
    </dgm:pt>
    <dgm:pt modelId="{E5B2A3F0-73C6-4ABC-A5BF-ED99D98EC0DB}" type="pres">
      <dgm:prSet presAssocID="{B847ED0E-3461-46E7-8113-58C7DADB798A}" presName="compNode" presStyleCnt="0"/>
      <dgm:spPr/>
    </dgm:pt>
    <dgm:pt modelId="{8301F6CE-D42A-4A73-810D-88F92C6C4C5D}" type="pres">
      <dgm:prSet presAssocID="{B847ED0E-3461-46E7-8113-58C7DADB798A}" presName="bgRect" presStyleLbl="bgShp" presStyleIdx="1" presStyleCnt="3"/>
      <dgm:spPr/>
    </dgm:pt>
    <dgm:pt modelId="{5426F10A-1809-4CA3-B933-E0048DCB6DDA}" type="pres">
      <dgm:prSet presAssocID="{B847ED0E-3461-46E7-8113-58C7DADB798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ED1A72-F68D-4BC5-8991-CDB0B3C9C292}" type="pres">
      <dgm:prSet presAssocID="{B847ED0E-3461-46E7-8113-58C7DADB798A}" presName="spaceRect" presStyleCnt="0"/>
      <dgm:spPr/>
    </dgm:pt>
    <dgm:pt modelId="{36CE07EE-29A2-491D-8A4B-D82925FD2D2E}" type="pres">
      <dgm:prSet presAssocID="{B847ED0E-3461-46E7-8113-58C7DADB798A}" presName="parTx" presStyleLbl="revTx" presStyleIdx="1" presStyleCnt="4">
        <dgm:presLayoutVars>
          <dgm:chMax val="0"/>
          <dgm:chPref val="0"/>
        </dgm:presLayoutVars>
      </dgm:prSet>
      <dgm:spPr/>
    </dgm:pt>
    <dgm:pt modelId="{23932328-9F65-40D1-9330-DD2D59D992BC}" type="pres">
      <dgm:prSet presAssocID="{B847ED0E-3461-46E7-8113-58C7DADB798A}" presName="desTx" presStyleLbl="revTx" presStyleIdx="2" presStyleCnt="4">
        <dgm:presLayoutVars/>
      </dgm:prSet>
      <dgm:spPr/>
    </dgm:pt>
    <dgm:pt modelId="{CF5E90B2-92F9-46F7-8B4A-84F05AE3214D}" type="pres">
      <dgm:prSet presAssocID="{97B6E262-6EE4-41B9-B582-620159111A13}" presName="sibTrans" presStyleCnt="0"/>
      <dgm:spPr/>
    </dgm:pt>
    <dgm:pt modelId="{A7EB078C-DA6B-479D-BA10-7D579C5B5B52}" type="pres">
      <dgm:prSet presAssocID="{A65E3886-7C7A-442B-B982-A99A9EDAA531}" presName="compNode" presStyleCnt="0"/>
      <dgm:spPr/>
    </dgm:pt>
    <dgm:pt modelId="{CDBC4275-C7C5-4F71-9D47-CCB2D1EE3D0A}" type="pres">
      <dgm:prSet presAssocID="{A65E3886-7C7A-442B-B982-A99A9EDAA531}" presName="bgRect" presStyleLbl="bgShp" presStyleIdx="2" presStyleCnt="3"/>
      <dgm:spPr/>
    </dgm:pt>
    <dgm:pt modelId="{1D3D79CA-CE57-4583-9095-2E0C5BD58180}" type="pres">
      <dgm:prSet presAssocID="{A65E3886-7C7A-442B-B982-A99A9EDAA53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yramid with Levels"/>
        </a:ext>
      </dgm:extLst>
    </dgm:pt>
    <dgm:pt modelId="{CA179525-B90E-4E8C-B869-1B8CBBF4453F}" type="pres">
      <dgm:prSet presAssocID="{A65E3886-7C7A-442B-B982-A99A9EDAA531}" presName="spaceRect" presStyleCnt="0"/>
      <dgm:spPr/>
    </dgm:pt>
    <dgm:pt modelId="{C25CACD3-C3F0-467F-BFBC-6E6A8CBC6379}" type="pres">
      <dgm:prSet presAssocID="{A65E3886-7C7A-442B-B982-A99A9EDAA53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679CA07-3455-484B-8FFC-79EFCE618136}" srcId="{B847ED0E-3461-46E7-8113-58C7DADB798A}" destId="{B3A3FBE6-5A5B-4BAF-A034-CF324BEBA275}" srcOrd="0" destOrd="0" parTransId="{5CB18CDF-5F0D-4943-AF49-765310B66696}" sibTransId="{9B581706-6038-4B25-98C3-C69B38000DF6}"/>
    <dgm:cxn modelId="{D6F84D10-A723-4C0D-A219-65FF130EF97A}" type="presOf" srcId="{B3A3FBE6-5A5B-4BAF-A034-CF324BEBA275}" destId="{23932328-9F65-40D1-9330-DD2D59D992BC}" srcOrd="0" destOrd="0" presId="urn:microsoft.com/office/officeart/2018/2/layout/IconVerticalSolidList"/>
    <dgm:cxn modelId="{62D3DD60-29AA-4E1F-9E32-31322ABFF024}" type="presOf" srcId="{FC41A998-E98F-4A80-AA96-A9E78B6013DE}" destId="{719D622A-F770-4981-9143-CFC8B6B98CBC}" srcOrd="0" destOrd="0" presId="urn:microsoft.com/office/officeart/2018/2/layout/IconVerticalSolidList"/>
    <dgm:cxn modelId="{7FC7C041-7AE2-44B6-8278-49DCC5039393}" type="presOf" srcId="{92EE31BA-C7B8-45ED-AEAA-ED48AEE18C73}" destId="{23932328-9F65-40D1-9330-DD2D59D992BC}" srcOrd="0" destOrd="1" presId="urn:microsoft.com/office/officeart/2018/2/layout/IconVerticalSolidList"/>
    <dgm:cxn modelId="{D1F7CD42-2899-4475-91FB-00B80D3F4088}" type="presOf" srcId="{233433E0-C328-4AD6-84B4-CF9934BF7D41}" destId="{00A7CA57-BD6F-4618-837D-83CE16D9643A}" srcOrd="0" destOrd="0" presId="urn:microsoft.com/office/officeart/2018/2/layout/IconVerticalSolidList"/>
    <dgm:cxn modelId="{4D9FF163-F988-48F2-B622-FE0CA41D3012}" type="presOf" srcId="{A65E3886-7C7A-442B-B982-A99A9EDAA531}" destId="{C25CACD3-C3F0-467F-BFBC-6E6A8CBC6379}" srcOrd="0" destOrd="0" presId="urn:microsoft.com/office/officeart/2018/2/layout/IconVerticalSolidList"/>
    <dgm:cxn modelId="{E0C3A34F-EBB8-4EC5-B73E-AEAC7C351F4C}" type="presOf" srcId="{16FE35DB-D9EB-46E2-B728-CCAFE079EB2F}" destId="{23932328-9F65-40D1-9330-DD2D59D992BC}" srcOrd="0" destOrd="2" presId="urn:microsoft.com/office/officeart/2018/2/layout/IconVerticalSolidList"/>
    <dgm:cxn modelId="{1882BD74-176F-4425-B4F8-0022F6969C62}" srcId="{B847ED0E-3461-46E7-8113-58C7DADB798A}" destId="{16FE35DB-D9EB-46E2-B728-CCAFE079EB2F}" srcOrd="2" destOrd="0" parTransId="{34184181-909A-4704-88CB-7870493351E9}" sibTransId="{716C9CCC-A2AC-4163-9783-7CDD66AF5320}"/>
    <dgm:cxn modelId="{60FBBD7A-380C-4AC5-9426-8331AEB8F6FE}" type="presOf" srcId="{B847ED0E-3461-46E7-8113-58C7DADB798A}" destId="{36CE07EE-29A2-491D-8A4B-D82925FD2D2E}" srcOrd="0" destOrd="0" presId="urn:microsoft.com/office/officeart/2018/2/layout/IconVerticalSolidList"/>
    <dgm:cxn modelId="{97D1C87E-BF9E-4C8E-8E1E-16AF896BF239}" srcId="{B847ED0E-3461-46E7-8113-58C7DADB798A}" destId="{92EE31BA-C7B8-45ED-AEAA-ED48AEE18C73}" srcOrd="1" destOrd="0" parTransId="{6E2F7F77-4323-4F52-9C49-8A7E036B4B37}" sibTransId="{3592959C-46F0-4140-B8D8-E1C84FD8C671}"/>
    <dgm:cxn modelId="{6981B48C-E571-4635-8E20-6AB6D8EDA21D}" srcId="{233433E0-C328-4AD6-84B4-CF9934BF7D41}" destId="{B847ED0E-3461-46E7-8113-58C7DADB798A}" srcOrd="1" destOrd="0" parTransId="{26392040-F129-46D5-A68E-B2CD173C8CB0}" sibTransId="{97B6E262-6EE4-41B9-B582-620159111A13}"/>
    <dgm:cxn modelId="{B48BD7B3-D0E0-418F-945F-C5016DF6B557}" srcId="{233433E0-C328-4AD6-84B4-CF9934BF7D41}" destId="{FC41A998-E98F-4A80-AA96-A9E78B6013DE}" srcOrd="0" destOrd="0" parTransId="{1E3CDD6C-41E9-4A59-82C6-557372934E25}" sibTransId="{3FBC0116-B8FC-46A7-8C92-CF66DF383A16}"/>
    <dgm:cxn modelId="{826141D3-6CF9-42D3-B8AE-3DA51D9655B1}" srcId="{233433E0-C328-4AD6-84B4-CF9934BF7D41}" destId="{A65E3886-7C7A-442B-B982-A99A9EDAA531}" srcOrd="2" destOrd="0" parTransId="{4DEA5D59-1732-4FD3-B61D-0EC9327BFAE7}" sibTransId="{B52950F8-1DBA-49AA-B10D-53F2AA00AD45}"/>
    <dgm:cxn modelId="{23A85D87-2D4A-487C-8DA5-ED0D894F030A}" type="presParOf" srcId="{00A7CA57-BD6F-4618-837D-83CE16D9643A}" destId="{92E051DA-07D5-4C2E-8F47-35EE7C10203A}" srcOrd="0" destOrd="0" presId="urn:microsoft.com/office/officeart/2018/2/layout/IconVerticalSolidList"/>
    <dgm:cxn modelId="{5C8E053E-07DB-4417-8293-5A8E4C9E66A0}" type="presParOf" srcId="{92E051DA-07D5-4C2E-8F47-35EE7C10203A}" destId="{2827F806-2CC6-430D-9518-519AE77A5BD9}" srcOrd="0" destOrd="0" presId="urn:microsoft.com/office/officeart/2018/2/layout/IconVerticalSolidList"/>
    <dgm:cxn modelId="{DD44499F-7EA6-42DB-9E77-DE8C0B020FD2}" type="presParOf" srcId="{92E051DA-07D5-4C2E-8F47-35EE7C10203A}" destId="{E5B51C0D-A214-41A9-9D47-FD7524BA06E7}" srcOrd="1" destOrd="0" presId="urn:microsoft.com/office/officeart/2018/2/layout/IconVerticalSolidList"/>
    <dgm:cxn modelId="{AD671954-FF4A-4769-9CF1-5BE6D036AA69}" type="presParOf" srcId="{92E051DA-07D5-4C2E-8F47-35EE7C10203A}" destId="{62C06899-BDA4-48AB-BF10-70475ADE1665}" srcOrd="2" destOrd="0" presId="urn:microsoft.com/office/officeart/2018/2/layout/IconVerticalSolidList"/>
    <dgm:cxn modelId="{62EC1209-994E-4031-9512-2111FAF9FAA2}" type="presParOf" srcId="{92E051DA-07D5-4C2E-8F47-35EE7C10203A}" destId="{719D622A-F770-4981-9143-CFC8B6B98CBC}" srcOrd="3" destOrd="0" presId="urn:microsoft.com/office/officeart/2018/2/layout/IconVerticalSolidList"/>
    <dgm:cxn modelId="{088F8E8B-3780-4787-9757-5FE8A21F417D}" type="presParOf" srcId="{00A7CA57-BD6F-4618-837D-83CE16D9643A}" destId="{A9D139BA-913B-48ED-8260-88C6F98E808F}" srcOrd="1" destOrd="0" presId="urn:microsoft.com/office/officeart/2018/2/layout/IconVerticalSolidList"/>
    <dgm:cxn modelId="{CAAB2444-48C4-4CA4-9DF6-B5DA57099F91}" type="presParOf" srcId="{00A7CA57-BD6F-4618-837D-83CE16D9643A}" destId="{E5B2A3F0-73C6-4ABC-A5BF-ED99D98EC0DB}" srcOrd="2" destOrd="0" presId="urn:microsoft.com/office/officeart/2018/2/layout/IconVerticalSolidList"/>
    <dgm:cxn modelId="{209D64CB-5406-467D-AF10-860840FD068B}" type="presParOf" srcId="{E5B2A3F0-73C6-4ABC-A5BF-ED99D98EC0DB}" destId="{8301F6CE-D42A-4A73-810D-88F92C6C4C5D}" srcOrd="0" destOrd="0" presId="urn:microsoft.com/office/officeart/2018/2/layout/IconVerticalSolidList"/>
    <dgm:cxn modelId="{227EC472-A44B-42EC-A1BA-4CC97EB1EF79}" type="presParOf" srcId="{E5B2A3F0-73C6-4ABC-A5BF-ED99D98EC0DB}" destId="{5426F10A-1809-4CA3-B933-E0048DCB6DDA}" srcOrd="1" destOrd="0" presId="urn:microsoft.com/office/officeart/2018/2/layout/IconVerticalSolidList"/>
    <dgm:cxn modelId="{3049B136-A4DF-4554-8CA1-5EBDFDBA03A5}" type="presParOf" srcId="{E5B2A3F0-73C6-4ABC-A5BF-ED99D98EC0DB}" destId="{F5ED1A72-F68D-4BC5-8991-CDB0B3C9C292}" srcOrd="2" destOrd="0" presId="urn:microsoft.com/office/officeart/2018/2/layout/IconVerticalSolidList"/>
    <dgm:cxn modelId="{DBBE4855-74DE-42D5-A7B5-8918D44D51F6}" type="presParOf" srcId="{E5B2A3F0-73C6-4ABC-A5BF-ED99D98EC0DB}" destId="{36CE07EE-29A2-491D-8A4B-D82925FD2D2E}" srcOrd="3" destOrd="0" presId="urn:microsoft.com/office/officeart/2018/2/layout/IconVerticalSolidList"/>
    <dgm:cxn modelId="{14EE2D5E-2BFD-47CB-B71B-C6A14C379F76}" type="presParOf" srcId="{E5B2A3F0-73C6-4ABC-A5BF-ED99D98EC0DB}" destId="{23932328-9F65-40D1-9330-DD2D59D992BC}" srcOrd="4" destOrd="0" presId="urn:microsoft.com/office/officeart/2018/2/layout/IconVerticalSolidList"/>
    <dgm:cxn modelId="{51DC54C7-B1CF-4202-8FAE-E6812C1D048A}" type="presParOf" srcId="{00A7CA57-BD6F-4618-837D-83CE16D9643A}" destId="{CF5E90B2-92F9-46F7-8B4A-84F05AE3214D}" srcOrd="3" destOrd="0" presId="urn:microsoft.com/office/officeart/2018/2/layout/IconVerticalSolidList"/>
    <dgm:cxn modelId="{E407F8E8-B636-4005-836A-C88492F55C6F}" type="presParOf" srcId="{00A7CA57-BD6F-4618-837D-83CE16D9643A}" destId="{A7EB078C-DA6B-479D-BA10-7D579C5B5B52}" srcOrd="4" destOrd="0" presId="urn:microsoft.com/office/officeart/2018/2/layout/IconVerticalSolidList"/>
    <dgm:cxn modelId="{65EF2FF8-6341-4BF9-954A-346C6BF50B53}" type="presParOf" srcId="{A7EB078C-DA6B-479D-BA10-7D579C5B5B52}" destId="{CDBC4275-C7C5-4F71-9D47-CCB2D1EE3D0A}" srcOrd="0" destOrd="0" presId="urn:microsoft.com/office/officeart/2018/2/layout/IconVerticalSolidList"/>
    <dgm:cxn modelId="{4B483ECC-3A13-4439-ADC0-ABDA54AD3E63}" type="presParOf" srcId="{A7EB078C-DA6B-479D-BA10-7D579C5B5B52}" destId="{1D3D79CA-CE57-4583-9095-2E0C5BD58180}" srcOrd="1" destOrd="0" presId="urn:microsoft.com/office/officeart/2018/2/layout/IconVerticalSolidList"/>
    <dgm:cxn modelId="{5458C0D9-EDD2-44DB-8275-7DE498389964}" type="presParOf" srcId="{A7EB078C-DA6B-479D-BA10-7D579C5B5B52}" destId="{CA179525-B90E-4E8C-B869-1B8CBBF4453F}" srcOrd="2" destOrd="0" presId="urn:microsoft.com/office/officeart/2018/2/layout/IconVerticalSolidList"/>
    <dgm:cxn modelId="{54DC7766-4C26-4131-8F9C-5A2489C28378}" type="presParOf" srcId="{A7EB078C-DA6B-479D-BA10-7D579C5B5B52}" destId="{C25CACD3-C3F0-467F-BFBC-6E6A8CBC637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27F806-2CC6-430D-9518-519AE77A5BD9}">
      <dsp:nvSpPr>
        <dsp:cNvPr id="0" name=""/>
        <dsp:cNvSpPr/>
      </dsp:nvSpPr>
      <dsp:spPr>
        <a:xfrm>
          <a:off x="0" y="623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B51C0D-A214-41A9-9D47-FD7524BA06E7}">
      <dsp:nvSpPr>
        <dsp:cNvPr id="0" name=""/>
        <dsp:cNvSpPr/>
      </dsp:nvSpPr>
      <dsp:spPr>
        <a:xfrm>
          <a:off x="441144" y="328747"/>
          <a:ext cx="802081" cy="8020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9D622A-F770-4981-9143-CFC8B6B98CBC}">
      <dsp:nvSpPr>
        <dsp:cNvPr id="0" name=""/>
        <dsp:cNvSpPr/>
      </dsp:nvSpPr>
      <dsp:spPr>
        <a:xfrm>
          <a:off x="1684370" y="623"/>
          <a:ext cx="654522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/>
            <a:t>Start with descriptive, hypothesis testing methods, then progress to model-based methods</a:t>
          </a:r>
          <a:endParaRPr lang="en-US" sz="2400" kern="1200"/>
        </a:p>
      </dsp:txBody>
      <dsp:txXfrm>
        <a:off x="1684370" y="623"/>
        <a:ext cx="6545229" cy="1458329"/>
      </dsp:txXfrm>
    </dsp:sp>
    <dsp:sp modelId="{8301F6CE-D42A-4A73-810D-88F92C6C4C5D}">
      <dsp:nvSpPr>
        <dsp:cNvPr id="0" name=""/>
        <dsp:cNvSpPr/>
      </dsp:nvSpPr>
      <dsp:spPr>
        <a:xfrm>
          <a:off x="0" y="1823535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26F10A-1809-4CA3-B933-E0048DCB6DDA}">
      <dsp:nvSpPr>
        <dsp:cNvPr id="0" name=""/>
        <dsp:cNvSpPr/>
      </dsp:nvSpPr>
      <dsp:spPr>
        <a:xfrm>
          <a:off x="441144" y="2151659"/>
          <a:ext cx="802081" cy="8020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CE07EE-29A2-491D-8A4B-D82925FD2D2E}">
      <dsp:nvSpPr>
        <dsp:cNvPr id="0" name=""/>
        <dsp:cNvSpPr/>
      </dsp:nvSpPr>
      <dsp:spPr>
        <a:xfrm>
          <a:off x="1684370" y="1823535"/>
          <a:ext cx="3703320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 dirty="0"/>
            <a:t>Visual tools for thinking &amp; understanding</a:t>
          </a:r>
          <a:endParaRPr lang="en-US" sz="2400" kern="1200" dirty="0"/>
        </a:p>
      </dsp:txBody>
      <dsp:txXfrm>
        <a:off x="1684370" y="1823535"/>
        <a:ext cx="3703320" cy="1458329"/>
      </dsp:txXfrm>
    </dsp:sp>
    <dsp:sp modelId="{23932328-9F65-40D1-9330-DD2D59D992BC}">
      <dsp:nvSpPr>
        <dsp:cNvPr id="0" name=""/>
        <dsp:cNvSpPr/>
      </dsp:nvSpPr>
      <dsp:spPr>
        <a:xfrm>
          <a:off x="5387690" y="1823535"/>
          <a:ext cx="284190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Sieve plots, mosaic plots, spineplots, …</a:t>
          </a:r>
          <a:endParaRPr lang="en-US" sz="1300" kern="120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Correspondence analysis: best 2D summary</a:t>
          </a:r>
          <a:endParaRPr lang="en-US" sz="1300" kern="1200"/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300" kern="1200"/>
            <a:t>Effect plots, Data + Model plots</a:t>
          </a:r>
          <a:endParaRPr lang="en-US" sz="1300" kern="1200"/>
        </a:p>
      </dsp:txBody>
      <dsp:txXfrm>
        <a:off x="5387690" y="1823535"/>
        <a:ext cx="2841909" cy="1458329"/>
      </dsp:txXfrm>
    </dsp:sp>
    <dsp:sp modelId="{CDBC4275-C7C5-4F71-9D47-CCB2D1EE3D0A}">
      <dsp:nvSpPr>
        <dsp:cNvPr id="0" name=""/>
        <dsp:cNvSpPr/>
      </dsp:nvSpPr>
      <dsp:spPr>
        <a:xfrm>
          <a:off x="0" y="3646447"/>
          <a:ext cx="8229600" cy="145832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3D79CA-CE57-4583-9095-2E0C5BD58180}">
      <dsp:nvSpPr>
        <dsp:cNvPr id="0" name=""/>
        <dsp:cNvSpPr/>
      </dsp:nvSpPr>
      <dsp:spPr>
        <a:xfrm>
          <a:off x="441144" y="3974571"/>
          <a:ext cx="802081" cy="8020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5CACD3-C3F0-467F-BFBC-6E6A8CBC6379}">
      <dsp:nvSpPr>
        <dsp:cNvPr id="0" name=""/>
        <dsp:cNvSpPr/>
      </dsp:nvSpPr>
      <dsp:spPr>
        <a:xfrm>
          <a:off x="1684370" y="3646447"/>
          <a:ext cx="6545229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400" kern="1200"/>
            <a:t>Build from simple, loglinear models to more complex ones</a:t>
          </a:r>
          <a:endParaRPr lang="en-US" sz="2400" kern="1200"/>
        </a:p>
      </dsp:txBody>
      <dsp:txXfrm>
        <a:off x="1684370" y="3646447"/>
        <a:ext cx="6545229" cy="1458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6136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t.co/7mMecV2EI1" TargetMode="External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Broadway" panose="04040905080B02020502" pitchFamily="82" charset="0"/>
              </a:rPr>
              <a:t>The Last Waltz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6E86CD-F0D8-D44D-E22A-8A15C4DA7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522" y="218908"/>
            <a:ext cx="6363336" cy="241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l="-7000" r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44701-A8B6-5D40-E14D-833BA2375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410200"/>
            <a:ext cx="7772400" cy="1143000"/>
          </a:xfrm>
        </p:spPr>
        <p:txBody>
          <a:bodyPr>
            <a:noAutofit/>
          </a:bodyPr>
          <a:lstStyle/>
          <a:p>
            <a:pPr algn="ctr"/>
            <a:r>
              <a:rPr lang="en-CA" sz="6000" dirty="0">
                <a:latin typeface="Broadway" panose="04040905080B02020502" pitchFamily="82" charset="0"/>
              </a:rPr>
              <a:t>The Last Waltz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EB9BA8-E1DA-75BF-7FB0-463174294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2514600"/>
            <a:ext cx="7772400" cy="2581275"/>
          </a:xfrm>
          <a:solidFill>
            <a:schemeClr val="bg1">
              <a:alpha val="55000"/>
            </a:schemeClr>
          </a:solidFill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Where did we start?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have </a:t>
            </a:r>
            <a:r>
              <a:rPr lang="en-CA" sz="3600" i="1" dirty="0">
                <a:solidFill>
                  <a:schemeClr val="tx1"/>
                </a:solidFill>
              </a:rPr>
              <a:t>I</a:t>
            </a:r>
            <a:r>
              <a:rPr lang="en-CA" sz="3600" dirty="0">
                <a:solidFill>
                  <a:schemeClr val="tx1"/>
                </a:solidFill>
              </a:rPr>
              <a:t> tried to teach?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did </a:t>
            </a:r>
            <a:r>
              <a:rPr lang="en-CA" sz="3600" i="1" dirty="0">
                <a:solidFill>
                  <a:schemeClr val="tx1"/>
                </a:solidFill>
              </a:rPr>
              <a:t>you</a:t>
            </a:r>
            <a:r>
              <a:rPr lang="en-CA" sz="3600" dirty="0">
                <a:solidFill>
                  <a:schemeClr val="tx1"/>
                </a:solidFill>
              </a:rPr>
              <a:t> learn?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3600" dirty="0">
                <a:solidFill>
                  <a:schemeClr val="tx1"/>
                </a:solidFill>
              </a:rPr>
              <a:t>What else is there?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F614E-BC56-C62D-C0F5-301CDE82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6" name="LastWaltz-clip">
            <a:hlinkClick r:id="" action="ppaction://media"/>
            <a:extLst>
              <a:ext uri="{FF2B5EF4-FFF2-40B4-BE49-F238E27FC236}">
                <a16:creationId xmlns:a16="http://schemas.microsoft.com/office/drawing/2014/main" id="{7F61D4FC-52FB-9C0A-CAE6-E818AE064A1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086600" y="609600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00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1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B771EC-9D6E-54ED-5DBC-BF4096A02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My goals</a:t>
            </a: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C49EAA27-0286-0594-CE32-6C85DBA6006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143000"/>
          <a:ext cx="8229600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D4CF-8385-7B9D-C795-878DF3D9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67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01: Overview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Counts</a:t>
            </a:r>
            <a:r>
              <a:rPr lang="en-US" dirty="0"/>
              <a:t>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2E496-6D9C-F644-6FA9-ACB88EB3F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0AE5FF-CC95-C5AD-98AE-EB1F12A46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2" y="457200"/>
            <a:ext cx="4299060" cy="32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012D04-19BF-A194-D847-D9DD35252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57200"/>
            <a:ext cx="4320001" cy="32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BC6B9B0-11CF-2FF6-A576-D6CFD8D0E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2" y="3462722"/>
            <a:ext cx="4265388" cy="3204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4A7A48-E1F7-706E-58DE-3BA10D8A3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28" y="3471950"/>
            <a:ext cx="43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5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4FBF6-6573-4748-AAC7-89A932407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02: Discrete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B8E1B-3531-416E-AA33-5F0D32AD0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Discrete distributions are the building blocks for categorical data analysis</a:t>
            </a:r>
          </a:p>
          <a:p>
            <a:pPr lvl="1"/>
            <a:r>
              <a:rPr lang="en-US" dirty="0"/>
              <a:t>Typically consist of basic counts of occurrences, with varying frequencies</a:t>
            </a:r>
          </a:p>
          <a:p>
            <a:pPr lvl="1"/>
            <a:r>
              <a:rPr lang="en-US" dirty="0"/>
              <a:t>Most common: binomial, Poisson, negative binomial</a:t>
            </a:r>
          </a:p>
          <a:p>
            <a:pPr lvl="1"/>
            <a:r>
              <a:rPr lang="en-US" dirty="0"/>
              <a:t>Others: geometric, log-series</a:t>
            </a:r>
          </a:p>
          <a:p>
            <a:r>
              <a:rPr lang="en-US" dirty="0"/>
              <a:t>Fit with </a:t>
            </a:r>
            <a:r>
              <a:rPr lang="en-US" dirty="0" err="1"/>
              <a:t>goodfit</a:t>
            </a:r>
            <a:r>
              <a:rPr lang="en-US" dirty="0"/>
              <a:t>(); plot with rootogram()</a:t>
            </a:r>
          </a:p>
          <a:p>
            <a:pPr lvl="1"/>
            <a:r>
              <a:rPr lang="en-US" dirty="0"/>
              <a:t>Diagnostic plots: </a:t>
            </a:r>
            <a:r>
              <a:rPr lang="en-US" dirty="0" err="1"/>
              <a:t>Ord_plot</a:t>
            </a:r>
            <a:r>
              <a:rPr lang="en-US" dirty="0"/>
              <a:t>(), </a:t>
            </a:r>
            <a:r>
              <a:rPr lang="en-US" dirty="0" err="1"/>
              <a:t>distplot</a:t>
            </a:r>
            <a:r>
              <a:rPr lang="en-US" dirty="0"/>
              <a:t>()</a:t>
            </a:r>
          </a:p>
          <a:p>
            <a:r>
              <a:rPr lang="en-US" dirty="0"/>
              <a:t>Models with predictors</a:t>
            </a:r>
          </a:p>
          <a:p>
            <a:pPr lvl="1"/>
            <a:r>
              <a:rPr lang="en-US" dirty="0"/>
              <a:t>Binomial </a:t>
            </a:r>
            <a:r>
              <a:rPr lang="en-US" dirty="0">
                <a:sym typeface="Symbol" panose="05050102010706020507" pitchFamily="18" charset="2"/>
              </a:rPr>
              <a:t> logistic regression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Poisson  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 regression; </a:t>
            </a:r>
            <a:r>
              <a:rPr lang="en-US" dirty="0" err="1">
                <a:sym typeface="Symbol" panose="05050102010706020507" pitchFamily="18" charset="2"/>
              </a:rPr>
              <a:t>logliner</a:t>
            </a:r>
            <a:r>
              <a:rPr lang="en-US" dirty="0">
                <a:sym typeface="Symbol" panose="05050102010706020507" pitchFamily="18" charset="2"/>
              </a:rPr>
              <a:t> models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These are special cases of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generalized</a:t>
            </a:r>
            <a:r>
              <a:rPr lang="en-US" dirty="0">
                <a:sym typeface="Symbol" panose="05050102010706020507" pitchFamily="18" charset="2"/>
              </a:rPr>
              <a:t> linear models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EB4FCB-7F07-4CBC-906B-364DD3B8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46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A2E17-E1DD-DFF1-D154-5B94F96E2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B569F-E737-D7E1-5432-5EDAF371E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4233184" cy="316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1CEC61-F674-7540-580A-239F2645F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57200"/>
            <a:ext cx="4224000" cy="316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A983F9-BB71-21CA-8557-AB346E126C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934" y="3448450"/>
            <a:ext cx="4359733" cy="30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8BBDC4-CD4B-90E9-2739-EE26F6ED2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600152"/>
            <a:ext cx="4276190" cy="3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41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E876-04E5-4381-AFF1-5C0F36A4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03: Two-way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E4C24-5102-44F2-B2D2-6E925FA40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Two-way tables summarize frequencies of two categorical factors</a:t>
            </a:r>
          </a:p>
          <a:p>
            <a:pPr lvl="1"/>
            <a:r>
              <a:rPr lang="en-US" dirty="0"/>
              <a:t>2 × 2: a special case, with </a:t>
            </a:r>
            <a:r>
              <a:rPr lang="en-US" dirty="0">
                <a:solidFill>
                  <a:srgbClr val="0070C0"/>
                </a:solidFill>
              </a:rPr>
              <a:t>odds ratio </a:t>
            </a:r>
            <a:r>
              <a:rPr lang="en-US" dirty="0"/>
              <a:t>as a measure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: factors can be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× </a:t>
            </a:r>
            <a:r>
              <a:rPr lang="en-US" i="1" dirty="0"/>
              <a:t>k</a:t>
            </a:r>
            <a:r>
              <a:rPr lang="en-US" dirty="0"/>
              <a:t>: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stratified</a:t>
            </a:r>
            <a:r>
              <a:rPr lang="en-US" dirty="0"/>
              <a:t> tables, </a:t>
            </a:r>
            <a:r>
              <a:rPr lang="en-US" i="1" dirty="0"/>
              <a:t>r </a:t>
            </a:r>
            <a:r>
              <a:rPr lang="en-US" dirty="0"/>
              <a:t>× </a:t>
            </a:r>
            <a:r>
              <a:rPr lang="en-US" i="1" dirty="0"/>
              <a:t>c </a:t>
            </a:r>
            <a:r>
              <a:rPr lang="en-US" dirty="0"/>
              <a:t>with groups or circumstances</a:t>
            </a:r>
          </a:p>
          <a:p>
            <a:r>
              <a:rPr lang="en-US" dirty="0"/>
              <a:t>Tests &amp; measures of association</a:t>
            </a:r>
          </a:p>
          <a:p>
            <a:pPr lvl="1"/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, LR G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general association</a:t>
            </a:r>
          </a:p>
          <a:p>
            <a:pPr lvl="1"/>
            <a:r>
              <a:rPr lang="en-US" dirty="0"/>
              <a:t>More powerful </a:t>
            </a:r>
            <a:r>
              <a:rPr lang="en-US" dirty="0">
                <a:solidFill>
                  <a:srgbClr val="0070C0"/>
                </a:solidFill>
              </a:rPr>
              <a:t>CMH tests </a:t>
            </a:r>
            <a:r>
              <a:rPr lang="en-US" dirty="0"/>
              <a:t>for ordered factors</a:t>
            </a:r>
          </a:p>
          <a:p>
            <a:r>
              <a:rPr lang="en-US" dirty="0"/>
              <a:t>Visualization</a:t>
            </a:r>
          </a:p>
          <a:p>
            <a:pPr lvl="1"/>
            <a:r>
              <a:rPr lang="en-US" dirty="0"/>
              <a:t>2 × 2: fourfold plots</a:t>
            </a:r>
          </a:p>
          <a:p>
            <a:pPr lvl="1"/>
            <a:r>
              <a:rPr lang="en-US" dirty="0"/>
              <a:t>r × c: sieve diagrams, tile plots, …</a:t>
            </a:r>
          </a:p>
          <a:p>
            <a:pPr lvl="1"/>
            <a:r>
              <a:rPr lang="en-US" dirty="0"/>
              <a:t>More graphical methods to come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7C9A-1E0B-4F41-9199-1EFA70C2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326B38-8A79-1EE2-6029-D1A5DF42A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4800600"/>
            <a:ext cx="1180952" cy="12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560D4-C520-58BA-07D1-374C9684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800600"/>
            <a:ext cx="1200000" cy="1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4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FF1283-CC93-FB3C-F90F-DAE57841B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F8D2BC-2760-40EA-68AD-893BD5678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2286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1497C9-6429-302D-8E54-3F96CA0317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AED0E0-5913-4F6F-47B8-2FFB6D57C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5321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7452768-993E-78EA-5DF3-6737C667F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3048" y="3321050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26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6671-18E2-4931-80D9-DAD89F59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04: </a:t>
            </a:r>
            <a:r>
              <a:rPr lang="en-US" dirty="0" err="1"/>
              <a:t>Loglinar</a:t>
            </a:r>
            <a:r>
              <a:rPr lang="en-US" dirty="0"/>
              <a:t> models, mosaic displays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B61E5-3ECC-4FD6-93A0-BBB245FF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Mosaic plots use sequential splits to show marginal and conditional frequencies in an </a:t>
            </a:r>
            <a:r>
              <a:rPr lang="en-US" sz="2400" i="1" dirty="0"/>
              <a:t>n</a:t>
            </a:r>
            <a:r>
              <a:rPr lang="en-US" sz="2400" dirty="0"/>
              <a:t>-way table</a:t>
            </a:r>
          </a:p>
          <a:p>
            <a:pPr lvl="1"/>
            <a:r>
              <a:rPr lang="en-US" sz="2000" dirty="0"/>
              <a:t>Shading: </a:t>
            </a:r>
            <a:r>
              <a:rPr lang="en-US" sz="2000" dirty="0">
                <a:solidFill>
                  <a:srgbClr val="0070C0"/>
                </a:solidFill>
              </a:rPr>
              <a:t>sign</a:t>
            </a:r>
            <a:r>
              <a:rPr lang="en-US" sz="2000" dirty="0"/>
              <a:t> and </a:t>
            </a:r>
            <a:r>
              <a:rPr lang="en-US" sz="2000" b="1" dirty="0"/>
              <a:t>magnitude</a:t>
            </a:r>
            <a:r>
              <a:rPr lang="en-US" sz="2000" dirty="0"/>
              <a:t> of residuals </a:t>
            </a:r>
            <a:r>
              <a:rPr lang="en-US" sz="2000" dirty="0">
                <a:sym typeface="Symbol" panose="05050102010706020507" pitchFamily="18" charset="2"/>
              </a:rPr>
              <a:t></a:t>
            </a:r>
            <a:r>
              <a:rPr lang="en-US" sz="2000" dirty="0"/>
              <a:t> contributions to χ</a:t>
            </a:r>
            <a:r>
              <a:rPr lang="en-US" sz="2000" baseline="30000" dirty="0"/>
              <a:t>2</a:t>
            </a:r>
          </a:p>
          <a:p>
            <a:pPr lvl="1"/>
            <a:r>
              <a:rPr lang="en-US" sz="2000" dirty="0"/>
              <a:t>Shows the pattern of association not accounted for</a:t>
            </a:r>
          </a:p>
          <a:p>
            <a:pPr lvl="1"/>
            <a:r>
              <a:rPr lang="en-US" sz="2000" dirty="0"/>
              <a:t>Permuting rows/cols often helps</a:t>
            </a:r>
          </a:p>
          <a:p>
            <a:r>
              <a:rPr lang="en-US" sz="2400" dirty="0"/>
              <a:t>Loglinear models </a:t>
            </a:r>
          </a:p>
          <a:p>
            <a:pPr lvl="1"/>
            <a:r>
              <a:rPr lang="en-US" sz="2000" dirty="0"/>
              <a:t>Express associations with ANOVA-like interaction terms: A*B, A*C</a:t>
            </a:r>
          </a:p>
          <a:p>
            <a:pPr lvl="2"/>
            <a:r>
              <a:rPr lang="en-US" sz="1800" dirty="0"/>
              <a:t>Joint independence: [AB][C]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1800" dirty="0">
                <a:sym typeface="Symbol" panose="05050102010706020507" pitchFamily="18" charset="2"/>
              </a:rPr>
              <a:t> A * B + C</a:t>
            </a:r>
            <a:endParaRPr lang="en-US" sz="1800" dirty="0"/>
          </a:p>
          <a:p>
            <a:pPr lvl="2"/>
            <a:r>
              <a:rPr lang="en-US" sz="1800" dirty="0"/>
              <a:t>Conditional independence: [AC][BC]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sz="1800" dirty="0">
                <a:sym typeface="Symbol" panose="05050102010706020507" pitchFamily="18" charset="2"/>
              </a:rPr>
              <a:t>A  B | C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Fitting models  “cleaning the mosaic”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Response models: include all associations among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Sequential / partial plots &amp; models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Sequential: Decompose all associations: 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|V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|{V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}, …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Partial: Decompose conditional associations: [V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]|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= {a, b, …}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FA1E9-B6E8-4A7F-8556-FFF9AD62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5A7D2-D145-043B-DA67-E3D2F0A5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7E397E-1669-FA71-7262-999384019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810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D0AE4C-3816-D609-4FBC-6D42E7D8B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90525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30EFB8-5659-86A2-C3F2-A22E1C2164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57E929-01DC-3B1C-3A59-0A422DCFB1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8876" y="3449843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592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1434-627C-4D39-9C8A-982B63902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05: Correspondence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DBBEF-306C-4EA2-BA72-4559D22C9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0AA317-1AFE-4C42-9F71-310C9AF50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64920"/>
            <a:ext cx="8171428" cy="11238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C71BB-5AAB-4D6E-9BB8-B362AA448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472848"/>
            <a:ext cx="8171428" cy="12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6999D-1F20-4F81-A974-5CB965E95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865880"/>
            <a:ext cx="8171428" cy="160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26D19D-6E43-43AF-9AE7-E6EDD9892FDA}"/>
              </a:ext>
            </a:extLst>
          </p:cNvPr>
          <p:cNvSpPr txBox="1"/>
          <p:nvPr/>
        </p:nvSpPr>
        <p:spPr>
          <a:xfrm>
            <a:off x="533400" y="5791200"/>
            <a:ext cx="794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Given a new 2-way table, my first thought is nearly always: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plot(ca(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mytable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78550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E6D93-61DD-121C-B86A-3724BFA03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7EC0A4-D32C-2AAB-9E83-B0FC4EEF5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32F7B3-4F6E-ACC2-EEA7-FC83DD55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3348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0D0283-0730-369E-1806-25019FAB5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48" y="3435761"/>
            <a:ext cx="4380952" cy="32857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134DA1-D87D-C072-442B-DDF84FC0F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35761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DE27A-865D-4246-8EF0-3C9319815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06: Logistic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B2BD7-DE18-43D9-A2B5-838297730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loglm</a:t>
            </a:r>
            <a:r>
              <a:rPr lang="en-US" dirty="0"/>
              <a:t>() provides only overall tests of model fit</a:t>
            </a:r>
          </a:p>
          <a:p>
            <a:r>
              <a:rPr lang="en-US" dirty="0"/>
              <a:t>Model-based methods, </a:t>
            </a:r>
            <a:r>
              <a:rPr lang="en-US" dirty="0" err="1"/>
              <a:t>glm</a:t>
            </a:r>
            <a:r>
              <a:rPr lang="en-US" dirty="0"/>
              <a:t>(), provide hypothesis tests, CIs &amp; tests for individual terms</a:t>
            </a:r>
          </a:p>
          <a:p>
            <a:r>
              <a:rPr lang="en-US" dirty="0"/>
              <a:t>Logistic regression: A </a:t>
            </a:r>
            <a:r>
              <a:rPr lang="en-US" dirty="0" err="1"/>
              <a:t>glm</a:t>
            </a:r>
            <a:r>
              <a:rPr lang="en-US" dirty="0"/>
              <a:t>() for a binary response</a:t>
            </a:r>
          </a:p>
          <a:p>
            <a:pPr lvl="1"/>
            <a:r>
              <a:rPr lang="en-US" dirty="0"/>
              <a:t>linear model for the log odds </a:t>
            </a:r>
            <a:r>
              <a:rPr lang="en-US" dirty="0" err="1"/>
              <a:t>Pr</a:t>
            </a:r>
            <a:r>
              <a:rPr lang="en-US" dirty="0"/>
              <a:t>(Y=1)</a:t>
            </a:r>
          </a:p>
          <a:p>
            <a:pPr lvl="1"/>
            <a:r>
              <a:rPr lang="en-US" dirty="0"/>
              <a:t>All similar to classical ANOVA, regression models</a:t>
            </a:r>
          </a:p>
          <a:p>
            <a:r>
              <a:rPr lang="en-US" dirty="0"/>
              <a:t>Plotting</a:t>
            </a:r>
          </a:p>
          <a:p>
            <a:pPr lvl="1"/>
            <a:r>
              <a:rPr lang="en-US" dirty="0"/>
              <a:t>Conditional, full-model plots show data and fits </a:t>
            </a:r>
          </a:p>
          <a:p>
            <a:pPr lvl="1"/>
            <a:r>
              <a:rPr lang="en-US" dirty="0"/>
              <a:t>Effect plots show predicted effects averaged over others</a:t>
            </a:r>
          </a:p>
          <a:p>
            <a:r>
              <a:rPr lang="en-US" dirty="0"/>
              <a:t>Model diagnostics</a:t>
            </a:r>
          </a:p>
          <a:p>
            <a:pPr lvl="1"/>
            <a:r>
              <a:rPr lang="en-US" dirty="0"/>
              <a:t>Influence plots are often informative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5045CC-5D8F-4DBE-9752-358AB16EA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10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99F56-301B-9CCE-6216-399F4B516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A53877-EC7C-4E64-385B-D1336C54D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8AC66-11F7-B37C-B98D-C264704EC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710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3F6860-BFC9-1180-A7AE-874A1822A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48" y="3459367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083172A-C7FA-E9F9-5BAD-A3C1785EE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710" y="3459367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619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7DED9-9A3F-439A-B85C-A2DD0049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07: Logistic regression: Extensions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C15554-095A-4139-9B08-74DE1CD62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Polytomous responses</a:t>
            </a:r>
          </a:p>
          <a:p>
            <a:pPr lvl="1"/>
            <a:r>
              <a:rPr lang="en-US" sz="2000" i="1" dirty="0"/>
              <a:t>m</a:t>
            </a:r>
            <a:r>
              <a:rPr lang="en-US" sz="2000" dirty="0"/>
              <a:t> response categories </a:t>
            </a:r>
            <a:r>
              <a:rPr lang="en-US" sz="2000" dirty="0">
                <a:sym typeface="Symbol" panose="05050102010706020507" pitchFamily="18" charset="2"/>
              </a:rPr>
              <a:t> (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-1) comparisons (logits)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Different models for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ordered</a:t>
            </a:r>
            <a:r>
              <a:rPr lang="en-US" sz="2000" dirty="0">
                <a:sym typeface="Symbol" panose="05050102010706020507" pitchFamily="18" charset="2"/>
              </a:rPr>
              <a:t> vs.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unordered</a:t>
            </a:r>
            <a:r>
              <a:rPr lang="en-US" sz="2000" dirty="0">
                <a:sym typeface="Symbol" panose="05050102010706020507" pitchFamily="18" charset="2"/>
              </a:rPr>
              <a:t> categories</a:t>
            </a:r>
          </a:p>
          <a:p>
            <a:r>
              <a:rPr lang="en-US" sz="2400" dirty="0">
                <a:sym typeface="Symbol" panose="05050102010706020507" pitchFamily="18" charset="2"/>
              </a:rPr>
              <a:t>Proportional odds model</a:t>
            </a:r>
          </a:p>
          <a:p>
            <a:pPr lvl="1"/>
            <a:r>
              <a:rPr lang="en-US" sz="2200" dirty="0">
                <a:sym typeface="Symbol" panose="05050102010706020507" pitchFamily="18" charset="2"/>
              </a:rPr>
              <a:t>Simplest approach for ordered categories</a:t>
            </a:r>
          </a:p>
          <a:p>
            <a:pPr lvl="1"/>
            <a:r>
              <a:rPr lang="en-US" sz="2200" dirty="0">
                <a:sym typeface="Symbol" panose="05050102010706020507" pitchFamily="18" charset="2"/>
              </a:rPr>
              <a:t>Assumes same slopes for all logits</a:t>
            </a:r>
          </a:p>
          <a:p>
            <a:pPr lvl="2"/>
            <a:r>
              <a:rPr lang="en-US" sz="1900" dirty="0">
                <a:sym typeface="Symbol" panose="05050102010706020507" pitchFamily="18" charset="2"/>
              </a:rPr>
              <a:t>Fit with MASS::</a:t>
            </a:r>
            <a:r>
              <a:rPr lang="en-US" sz="1900" dirty="0" err="1">
                <a:sym typeface="Symbol" panose="05050102010706020507" pitchFamily="18" charset="2"/>
              </a:rPr>
              <a:t>polr</a:t>
            </a:r>
            <a:r>
              <a:rPr lang="en-US" sz="1900" dirty="0">
                <a:sym typeface="Symbol" panose="05050102010706020507" pitchFamily="18" charset="2"/>
              </a:rPr>
              <a:t>() </a:t>
            </a:r>
          </a:p>
          <a:p>
            <a:pPr lvl="2"/>
            <a:r>
              <a:rPr lang="en-US" sz="1900" dirty="0">
                <a:sym typeface="Symbol" panose="05050102010706020507" pitchFamily="18" charset="2"/>
              </a:rPr>
              <a:t>Test PO assumption with VGAM::</a:t>
            </a:r>
            <a:r>
              <a:rPr lang="en-US" sz="1900" dirty="0" err="1">
                <a:sym typeface="Symbol" panose="05050102010706020507" pitchFamily="18" charset="2"/>
              </a:rPr>
              <a:t>vglm</a:t>
            </a:r>
            <a:r>
              <a:rPr lang="en-US" sz="1900" dirty="0">
                <a:sym typeface="Symbol" panose="05050102010706020507" pitchFamily="18" charset="2"/>
              </a:rPr>
              <a:t>()</a:t>
            </a:r>
          </a:p>
          <a:p>
            <a:r>
              <a:rPr lang="en-US" sz="2400" dirty="0">
                <a:sym typeface="Symbol" panose="05050102010706020507" pitchFamily="18" charset="2"/>
              </a:rPr>
              <a:t>Nested dichotomies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Applies to ordered or unordered categories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 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 – 1 separate independent models  Additive </a:t>
            </a:r>
            <a:r>
              <a:rPr lang="en-CA" sz="2000" dirty="0">
                <a:sym typeface="Symbol" panose="05050102010706020507" pitchFamily="18" charset="2"/>
              </a:rPr>
              <a:t>G</a:t>
            </a:r>
            <a:r>
              <a:rPr lang="en-US" sz="2000" baseline="30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values</a:t>
            </a:r>
          </a:p>
          <a:p>
            <a:r>
              <a:rPr lang="en-US" sz="2400" dirty="0">
                <a:sym typeface="Symbol" panose="05050102010706020507" pitchFamily="18" charset="2"/>
              </a:rPr>
              <a:t>Multinomial logistic regression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 </a:t>
            </a:r>
            <a:r>
              <a:rPr lang="en-US" sz="2000" i="1" dirty="0">
                <a:sym typeface="Symbol" panose="05050102010706020507" pitchFamily="18" charset="2"/>
              </a:rPr>
              <a:t>m</a:t>
            </a:r>
            <a:r>
              <a:rPr lang="en-US" sz="2000" dirty="0">
                <a:sym typeface="Symbol" panose="05050102010706020507" pitchFamily="18" charset="2"/>
              </a:rPr>
              <a:t> – 1 logits as a single model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Results usually comparable to nested dichotomies, but diff interpretation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R: </a:t>
            </a:r>
            <a:r>
              <a:rPr lang="en-US" sz="2000" dirty="0" err="1">
                <a:sym typeface="Symbol" panose="05050102010706020507" pitchFamily="18" charset="2"/>
              </a:rPr>
              <a:t>nnet</a:t>
            </a:r>
            <a:r>
              <a:rPr lang="en-US" sz="2000" dirty="0">
                <a:sym typeface="Symbol" panose="05050102010706020507" pitchFamily="18" charset="2"/>
              </a:rPr>
              <a:t>::</a:t>
            </a:r>
            <a:r>
              <a:rPr lang="en-US" sz="2000" dirty="0" err="1">
                <a:sym typeface="Symbol" panose="05050102010706020507" pitchFamily="18" charset="2"/>
              </a:rPr>
              <a:t>multinom</a:t>
            </a:r>
            <a:r>
              <a:rPr lang="en-US" sz="2000" dirty="0">
                <a:sym typeface="Symbol" panose="05050102010706020507" pitchFamily="18" charset="2"/>
              </a:rPr>
              <a:t>()</a:t>
            </a:r>
            <a:endParaRPr lang="en-US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8884B6-9C05-48FF-8BAB-ABBFE791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08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38F8FE-C250-A912-DF89-6DEFA2D6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58F93-35C5-E7F2-BBE8-D70FA24FB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17705F-68E4-B5E6-F2BE-EEED4079A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039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FD8440-AFEB-7498-07E5-77CCF25683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983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0229E8-EC58-FCDA-8F58-190616E659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44" y="3422239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241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A37-60F6-4434-8A9C-958F1FFBE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08: Extending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D88E33-704A-4736-8639-353743DF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Loglinear models, as originally formulated, were quite general, but treated all table variables as </a:t>
            </a:r>
            <a:r>
              <a:rPr lang="en-US" sz="2400" dirty="0">
                <a:solidFill>
                  <a:srgbClr val="0070C0"/>
                </a:solidFill>
              </a:rPr>
              <a:t>unordered</a:t>
            </a:r>
            <a:r>
              <a:rPr lang="en-US" sz="2400" dirty="0"/>
              <a:t> factors</a:t>
            </a:r>
          </a:p>
          <a:p>
            <a:pPr lvl="1"/>
            <a:r>
              <a:rPr lang="en-US" sz="2000" dirty="0"/>
              <a:t>The GLM perspective is more general, allowing quantitative predictors and handling </a:t>
            </a:r>
            <a:r>
              <a:rPr lang="en-US" sz="2000" dirty="0">
                <a:solidFill>
                  <a:srgbClr val="0070C0"/>
                </a:solidFill>
              </a:rPr>
              <a:t>ordinal factors</a:t>
            </a:r>
          </a:p>
          <a:p>
            <a:pPr lvl="1"/>
            <a:r>
              <a:rPr lang="en-US" sz="2000" dirty="0"/>
              <a:t>The logit model give a simplified approach when one variable is a </a:t>
            </a:r>
            <a:r>
              <a:rPr lang="en-US" sz="2000" dirty="0">
                <a:solidFill>
                  <a:srgbClr val="0070C0"/>
                </a:solidFill>
              </a:rPr>
              <a:t>response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ordered factors </a:t>
            </a:r>
            <a:r>
              <a:rPr lang="en-US" sz="2400" dirty="0"/>
              <a:t>give more powerful &amp; focused tests</a:t>
            </a:r>
          </a:p>
          <a:p>
            <a:pPr lvl="1"/>
            <a:r>
              <a:rPr lang="en-US" sz="2000" dirty="0"/>
              <a:t>L × L, R, C and R+C models </a:t>
            </a:r>
            <a:r>
              <a:rPr lang="en-US" sz="2000" dirty="0">
                <a:solidFill>
                  <a:srgbClr val="0070C0"/>
                </a:solidFill>
              </a:rPr>
              <a:t>assign scores </a:t>
            </a:r>
            <a:r>
              <a:rPr lang="en-US" sz="2000" dirty="0"/>
              <a:t>to the factors</a:t>
            </a:r>
          </a:p>
          <a:p>
            <a:pPr lvl="1"/>
            <a:r>
              <a:rPr lang="en-US" sz="2000" dirty="0"/>
              <a:t>RC(1) and RC(2) models</a:t>
            </a:r>
            <a:r>
              <a:rPr lang="en-US" sz="2000" dirty="0">
                <a:solidFill>
                  <a:srgbClr val="0070C0"/>
                </a:solidFill>
              </a:rPr>
              <a:t> estimate </a:t>
            </a:r>
            <a:r>
              <a:rPr lang="en-US" sz="2000" dirty="0"/>
              <a:t>the scores from the data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square tables </a:t>
            </a:r>
            <a:r>
              <a:rPr lang="en-US" sz="2400" dirty="0"/>
              <a:t>allow testing structured questions</a:t>
            </a:r>
          </a:p>
          <a:p>
            <a:pPr lvl="1"/>
            <a:r>
              <a:rPr lang="en-US" sz="2000" dirty="0"/>
              <a:t>Quasi-independence: ignoring diagonals</a:t>
            </a:r>
          </a:p>
          <a:p>
            <a:pPr lvl="1"/>
            <a:r>
              <a:rPr lang="en-US" sz="2000" dirty="0"/>
              <a:t>symmetry &amp; quasi-symmetry</a:t>
            </a:r>
          </a:p>
          <a:p>
            <a:pPr lvl="1"/>
            <a:r>
              <a:rPr lang="en-US" sz="2000" dirty="0"/>
              <a:t>theory-specific “topological” models</a:t>
            </a:r>
          </a:p>
          <a:p>
            <a:r>
              <a:rPr lang="en-US" sz="2400" dirty="0"/>
              <a:t>These methods can be readily combined to analyze complex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A4E862-A4EC-4C1B-A162-34D314E2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10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52A386-CD24-4904-F8A1-16E16CD07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D122C-FF4B-A112-38BF-B1F7CBBDB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2286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29A2FD-767E-E797-EE28-396B1DBEF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252" y="2286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87FC46-BB71-BB73-A496-206586DA9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245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56AC49-4244-B247-A93C-6CEFC0988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5" y="3439445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8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BB1A-5093-4D17-809F-61916322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09: GLMs for Count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C8353-CF0C-463C-81C2-5634CE0BD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GLMs provide a unified framework for linear models</a:t>
            </a:r>
          </a:p>
          <a:p>
            <a:pPr lvl="1"/>
            <a:r>
              <a:rPr lang="en-US" dirty="0"/>
              <a:t>Different families, all estimated in the same way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link function and associated variance function</a:t>
            </a:r>
          </a:p>
          <a:p>
            <a:r>
              <a:rPr lang="en-US" dirty="0"/>
              <a:t>For count data, starting from log(</a:t>
            </a:r>
            <a:r>
              <a:rPr lang="el-GR" b="1" dirty="0"/>
              <a:t>μ</a:t>
            </a:r>
            <a:r>
              <a:rPr lang="en-US" dirty="0"/>
              <a:t>) = </a:t>
            </a:r>
            <a:r>
              <a:rPr lang="en-US" b="1" dirty="0"/>
              <a:t>X</a:t>
            </a:r>
            <a:r>
              <a:rPr lang="en-US" dirty="0"/>
              <a:t> </a:t>
            </a:r>
            <a:r>
              <a:rPr lang="en-US" b="1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l-GR" b="1" dirty="0"/>
              <a:t>μ</a:t>
            </a:r>
            <a:r>
              <a:rPr lang="en-US" dirty="0"/>
              <a:t>|</a:t>
            </a:r>
            <a:r>
              <a:rPr lang="en-US" b="1" dirty="0"/>
              <a:t>X</a:t>
            </a:r>
            <a:r>
              <a:rPr lang="en-US" dirty="0"/>
              <a:t> ~</a:t>
            </a:r>
            <a:r>
              <a:rPr lang="el-GR" dirty="0"/>
              <a:t> </a:t>
            </a:r>
            <a:r>
              <a:rPr lang="en-US" dirty="0">
                <a:sym typeface="Symbol" panose="05050102010706020507" pitchFamily="18" charset="2"/>
              </a:rPr>
              <a:t>Poisson: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Overdispersion  quasi-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, negative binomial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Standard tools for assessing model fit</a:t>
            </a:r>
          </a:p>
          <a:p>
            <a:r>
              <a:rPr lang="en-US" dirty="0">
                <a:sym typeface="Symbol" panose="05050102010706020507" pitchFamily="18" charset="2"/>
              </a:rPr>
              <a:t>Excess zero counts introduce new ideas &amp; methods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ZIP model: structural model for the 0s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Hurdle model: random model for 0s, 2</a:t>
            </a:r>
            <a:r>
              <a:rPr lang="en-US" baseline="30000" dirty="0">
                <a:sym typeface="Symbol" panose="05050102010706020507" pitchFamily="18" charset="2"/>
              </a:rPr>
              <a:t>nd</a:t>
            </a:r>
            <a:r>
              <a:rPr lang="en-US" dirty="0">
                <a:sym typeface="Symbol" panose="05050102010706020507" pitchFamily="18" charset="2"/>
              </a:rPr>
              <a:t> model for Y&gt;0</a:t>
            </a:r>
          </a:p>
          <a:p>
            <a:r>
              <a:rPr lang="en-US" dirty="0">
                <a:sym typeface="Symbol" panose="05050102010706020507" pitchFamily="18" charset="2"/>
              </a:rPr>
              <a:t>In all this, we rely on data &amp; model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plots</a:t>
            </a:r>
            <a:r>
              <a:rPr lang="en-US" dirty="0">
                <a:sym typeface="Symbol" panose="05050102010706020507" pitchFamily="18" charset="2"/>
              </a:rPr>
              <a:t> for understanding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E549C8-037B-42BA-8158-1FE725D2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71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CA11B1-D342-6359-ED6B-5184D720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5829F-4DB5-E371-B289-B18C20614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04800"/>
            <a:ext cx="4380952" cy="32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802F02-8061-208D-3B6F-D5C407DC0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752" y="304800"/>
            <a:ext cx="4380952" cy="32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EF5AD9-E011-8BE2-80D3-83F6137752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435761"/>
            <a:ext cx="4380952" cy="3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B439CD-8ED7-46F5-4EFC-0DBEE371B5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881" y="3429000"/>
            <a:ext cx="4380952" cy="3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248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4057-DE6B-D8B6-FA96-E8704069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10: Models for log odds &amp; LORs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52713-832F-4B5E-6031-133763E8B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Logit models for a binary response generalize readily to a polytomous response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Models for log odds, familiar interpretation</a:t>
            </a:r>
          </a:p>
          <a:p>
            <a:pPr lvl="1"/>
            <a:r>
              <a:rPr lang="en-CA" dirty="0"/>
              <a:t>Handles 3+ way table, ordinal variables</a:t>
            </a:r>
          </a:p>
          <a:p>
            <a:pPr lvl="1"/>
            <a:r>
              <a:rPr lang="en-CA" dirty="0"/>
              <a:t>Simple plots for interpretation</a:t>
            </a:r>
          </a:p>
          <a:p>
            <a:r>
              <a:rPr lang="en-CA" dirty="0"/>
              <a:t>Generalized odds ratios handle bivariate responses</a:t>
            </a:r>
          </a:p>
          <a:p>
            <a:pPr lvl="1"/>
            <a:r>
              <a:rPr lang="en-CA" dirty="0"/>
              <a:t>Simple linear models for LOR</a:t>
            </a:r>
          </a:p>
          <a:p>
            <a:pPr lvl="1"/>
            <a:r>
              <a:rPr lang="en-CA" dirty="0"/>
              <a:t>Easy to model log odds for each response and the LOR simultaneously</a:t>
            </a:r>
          </a:p>
          <a:p>
            <a:pPr lvl="1"/>
            <a:r>
              <a:rPr lang="en-CA" dirty="0"/>
              <a:t>Easy to visualize results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349F06-2252-2DCD-A157-50517888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38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178660-40E2-707C-3622-BF03F997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325096-0E91-C16B-4DBF-F4EE63CCAA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086" y="153600"/>
            <a:ext cx="8515114" cy="65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60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B3EEFD-62F6-58FF-36C7-75BF05837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9F8A5F-ACD9-2EC7-B65F-071D044BA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3152"/>
            <a:ext cx="9144000" cy="49916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8017FF6-27A7-1EF5-09BC-BA72CED35A8C}"/>
              </a:ext>
            </a:extLst>
          </p:cNvPr>
          <p:cNvSpPr/>
          <p:nvPr/>
        </p:nvSpPr>
        <p:spPr>
          <a:xfrm>
            <a:off x="2362200" y="5715000"/>
            <a:ext cx="4495800" cy="152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6833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9151-AC1F-28E7-D716-683583C0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Going further: What did I leave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D3992-A245-29D4-755D-E542906FF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This course, like DDAR, takes an entirely frequentist approach</a:t>
            </a:r>
          </a:p>
          <a:p>
            <a:pPr lvl="1"/>
            <a:r>
              <a:rPr lang="en-CA" dirty="0"/>
              <a:t>Treats model parameters as </a:t>
            </a:r>
            <a:r>
              <a:rPr lang="en-CA" dirty="0">
                <a:solidFill>
                  <a:srgbClr val="FF0000"/>
                </a:solidFill>
              </a:rPr>
              <a:t>fixed</a:t>
            </a:r>
            <a:r>
              <a:rPr lang="en-CA" dirty="0"/>
              <a:t>, constants</a:t>
            </a:r>
          </a:p>
          <a:p>
            <a:pPr lvl="1"/>
            <a:r>
              <a:rPr lang="en-CA" i="1" dirty="0"/>
              <a:t>p</a:t>
            </a:r>
            <a:r>
              <a:rPr lang="en-CA" dirty="0"/>
              <a:t>-values, CIs interpreted as “over many repeated samples …” --- 95% would contain the true value</a:t>
            </a:r>
          </a:p>
          <a:p>
            <a:pPr lvl="1"/>
            <a:r>
              <a:rPr lang="en-CA" dirty="0"/>
              <a:t>Never really know if </a:t>
            </a:r>
            <a:r>
              <a:rPr lang="en-CA" dirty="0">
                <a:solidFill>
                  <a:srgbClr val="FF0000"/>
                </a:solidFill>
              </a:rPr>
              <a:t>your</a:t>
            </a:r>
            <a:r>
              <a:rPr lang="en-CA" dirty="0"/>
              <a:t> sample gives correct inferences</a:t>
            </a:r>
          </a:p>
          <a:p>
            <a:r>
              <a:rPr lang="en-CA" dirty="0"/>
              <a:t>Bayesian approach </a:t>
            </a:r>
          </a:p>
          <a:p>
            <a:pPr lvl="1"/>
            <a:r>
              <a:rPr lang="en-CA" dirty="0"/>
              <a:t>Treat parameters as random variables, incorporating </a:t>
            </a:r>
            <a:r>
              <a:rPr lang="en-CA" dirty="0">
                <a:solidFill>
                  <a:srgbClr val="FF0000"/>
                </a:solidFill>
              </a:rPr>
              <a:t>prior beliefs</a:t>
            </a:r>
            <a:r>
              <a:rPr lang="en-CA" dirty="0"/>
              <a:t> and updating them with observed data to produce a </a:t>
            </a:r>
            <a:r>
              <a:rPr lang="en-CA" dirty="0">
                <a:solidFill>
                  <a:srgbClr val="FF0000"/>
                </a:solidFill>
              </a:rPr>
              <a:t>posterior distribution</a:t>
            </a:r>
            <a:r>
              <a:rPr lang="en-CA" dirty="0"/>
              <a:t>. Much more intuitive.</a:t>
            </a:r>
          </a:p>
          <a:p>
            <a:pPr lvl="1"/>
            <a:r>
              <a:rPr lang="en-CA" dirty="0"/>
              <a:t>A Bayesian 95% </a:t>
            </a:r>
            <a:r>
              <a:rPr lang="en-CA" dirty="0">
                <a:solidFill>
                  <a:srgbClr val="FF0000"/>
                </a:solidFill>
              </a:rPr>
              <a:t>credible interval </a:t>
            </a:r>
            <a:r>
              <a:rPr lang="en-CA" b="1" dirty="0"/>
              <a:t>directly</a:t>
            </a:r>
            <a:r>
              <a:rPr lang="en-CA" dirty="0"/>
              <a:t> states there is a 95% probability the parameter lies within that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746A0-8404-F174-27E0-50EE9CC71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587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5E41-45D0-9F09-3973-96BE6EBBA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Fisher vs.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F4E1D-6618-0A2E-68D9-5BA1FFC30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Small samples, sparse data</a:t>
            </a:r>
          </a:p>
          <a:p>
            <a:pPr lvl="1"/>
            <a:r>
              <a:rPr lang="en-CA" dirty="0"/>
              <a:t>Frequentist methods may fail to converge, or require fixups (add 0.5 to avoid 0 cells) for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χ</a:t>
            </a:r>
            <a:r>
              <a:rPr lang="en-CA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ea typeface="Cambria Math" panose="02040503050406030204" pitchFamily="18" charset="0"/>
              </a:rPr>
              <a:t>tests to be valid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 Bayesian approaches use priors to "smooth" empty cells, </a:t>
            </a:r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>
                <a:ea typeface="Cambria Math" panose="02040503050406030204" pitchFamily="18" charset="0"/>
              </a:rPr>
              <a:t> more robust estimates in high-dimensional tables</a:t>
            </a:r>
          </a:p>
          <a:p>
            <a:r>
              <a:rPr lang="en-CA" dirty="0">
                <a:ea typeface="Cambria Math" panose="02040503050406030204" pitchFamily="18" charset="0"/>
              </a:rPr>
              <a:t>Logistic regression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Frequentist: relies on large-sample </a:t>
            </a:r>
            <a:r>
              <a:rPr lang="en-CA" dirty="0" err="1">
                <a:ea typeface="Cambria Math" panose="02040503050406030204" pitchFamily="18" charset="0"/>
              </a:rPr>
              <a:t>asymptotics</a:t>
            </a:r>
            <a:r>
              <a:rPr lang="en-CA" dirty="0">
                <a:ea typeface="Cambria Math" panose="02040503050406030204" pitchFamily="18" charset="0"/>
              </a:rPr>
              <a:t> for inference</a:t>
            </a:r>
          </a:p>
          <a:p>
            <a:pPr lvl="1"/>
            <a:r>
              <a:rPr lang="en-CA" dirty="0">
                <a:ea typeface="Cambria Math" panose="02040503050406030204" pitchFamily="18" charset="0"/>
              </a:rPr>
              <a:t>Bayesian: </a:t>
            </a:r>
            <a:r>
              <a:rPr lang="en-CA" dirty="0"/>
              <a:t>provides full posterior </a:t>
            </a:r>
            <a:r>
              <a:rPr lang="en-CA" dirty="0" err="1"/>
              <a:t>dist</a:t>
            </a:r>
            <a:r>
              <a:rPr lang="en-CA" baseline="30000" dirty="0" err="1"/>
              <a:t>n</a:t>
            </a:r>
            <a:r>
              <a:rPr lang="en-CA" dirty="0"/>
              <a:t> for odds ratios,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β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Frequentist: very fast, particularly for large datasets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Bayesian: 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Requires Bayesian sampling, e.g., MCMC; did my chains converge??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Originally (in DDAR): software quite limited, awkward to use</a:t>
            </a:r>
          </a:p>
          <a:p>
            <a:pPr lvl="2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Now, much easier to use.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0D3D2-5241-D264-E7A1-685DA992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637C2-7DCB-BD58-A544-DD83A0A7E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850"/>
            <a:ext cx="645041" cy="9055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74B7CB-7FD2-311F-7094-6E2A273E2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79850"/>
            <a:ext cx="705892" cy="90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581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4F9F6-2FD3-F8F3-228F-76A31D122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Bayesian advances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72B31-B212-0D3B-4939-5AC737707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Regularization methods: stabilize inference with small or zero counts</a:t>
            </a:r>
          </a:p>
          <a:p>
            <a:r>
              <a:rPr lang="en-CA" dirty="0"/>
              <a:t>New variable selection methods</a:t>
            </a:r>
          </a:p>
          <a:p>
            <a:pPr lvl="1"/>
            <a:r>
              <a:rPr lang="en-CA" dirty="0"/>
              <a:t>Effect clustering: merge levels of categorical predictor that have the same effect </a:t>
            </a:r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stable in high-D problems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Applications: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Clinical trials: </a:t>
            </a:r>
            <a:r>
              <a:rPr lang="en-CA" dirty="0"/>
              <a:t>Bayesian adaptive designs can use historical data to speed up decision on efficacy of drug or treatment</a:t>
            </a:r>
          </a:p>
          <a:p>
            <a:pPr lvl="1"/>
            <a:r>
              <a:rPr lang="en-CA" dirty="0"/>
              <a:t>Epidemiology: Bayesian hierarchical models used in disease mapping (estimating risk across areas), pooling strength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AD7C9-141C-2FB3-E31D-626DEA93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4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B730E-5222-2CB5-BEEA-CA845B147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83B8C2-27C8-78D0-F3D1-B7CBCE5CDE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55" y="-29497"/>
            <a:ext cx="6858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A96B7F-CF71-6344-582B-477806858751}"/>
              </a:ext>
            </a:extLst>
          </p:cNvPr>
          <p:cNvSpPr txBox="1"/>
          <p:nvPr/>
        </p:nvSpPr>
        <p:spPr>
          <a:xfrm>
            <a:off x="4984955" y="838200"/>
            <a:ext cx="3810000" cy="1200329"/>
          </a:xfrm>
          <a:custGeom>
            <a:avLst/>
            <a:gdLst>
              <a:gd name="csX0" fmla="*/ 0 w 3810000"/>
              <a:gd name="csY0" fmla="*/ 0 h 1200329"/>
              <a:gd name="csX1" fmla="*/ 596900 w 3810000"/>
              <a:gd name="csY1" fmla="*/ 0 h 1200329"/>
              <a:gd name="csX2" fmla="*/ 1117600 w 3810000"/>
              <a:gd name="csY2" fmla="*/ 0 h 1200329"/>
              <a:gd name="csX3" fmla="*/ 1676400 w 3810000"/>
              <a:gd name="csY3" fmla="*/ 0 h 1200329"/>
              <a:gd name="csX4" fmla="*/ 2349500 w 3810000"/>
              <a:gd name="csY4" fmla="*/ 0 h 1200329"/>
              <a:gd name="csX5" fmla="*/ 2946400 w 3810000"/>
              <a:gd name="csY5" fmla="*/ 0 h 1200329"/>
              <a:gd name="csX6" fmla="*/ 3810000 w 3810000"/>
              <a:gd name="csY6" fmla="*/ 0 h 1200329"/>
              <a:gd name="csX7" fmla="*/ 3810000 w 3810000"/>
              <a:gd name="csY7" fmla="*/ 612168 h 1200329"/>
              <a:gd name="csX8" fmla="*/ 3810000 w 3810000"/>
              <a:gd name="csY8" fmla="*/ 1200329 h 1200329"/>
              <a:gd name="csX9" fmla="*/ 3175000 w 3810000"/>
              <a:gd name="csY9" fmla="*/ 1200329 h 1200329"/>
              <a:gd name="csX10" fmla="*/ 2616200 w 3810000"/>
              <a:gd name="csY10" fmla="*/ 1200329 h 1200329"/>
              <a:gd name="csX11" fmla="*/ 1905000 w 3810000"/>
              <a:gd name="csY11" fmla="*/ 1200329 h 1200329"/>
              <a:gd name="csX12" fmla="*/ 1308100 w 3810000"/>
              <a:gd name="csY12" fmla="*/ 1200329 h 1200329"/>
              <a:gd name="csX13" fmla="*/ 787400 w 3810000"/>
              <a:gd name="csY13" fmla="*/ 1200329 h 1200329"/>
              <a:gd name="csX14" fmla="*/ 0 w 3810000"/>
              <a:gd name="csY14" fmla="*/ 1200329 h 1200329"/>
              <a:gd name="csX15" fmla="*/ 0 w 3810000"/>
              <a:gd name="csY15" fmla="*/ 624171 h 1200329"/>
              <a:gd name="csX16" fmla="*/ 0 w 3810000"/>
              <a:gd name="csY16" fmla="*/ 0 h 1200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810000" h="1200329" fill="none" extrusionOk="0">
                <a:moveTo>
                  <a:pt x="0" y="0"/>
                </a:moveTo>
                <a:cubicBezTo>
                  <a:pt x="281879" y="-19373"/>
                  <a:pt x="397204" y="-27771"/>
                  <a:pt x="596900" y="0"/>
                </a:cubicBezTo>
                <a:cubicBezTo>
                  <a:pt x="796596" y="27771"/>
                  <a:pt x="913760" y="25728"/>
                  <a:pt x="1117600" y="0"/>
                </a:cubicBezTo>
                <a:cubicBezTo>
                  <a:pt x="1321440" y="-25728"/>
                  <a:pt x="1501257" y="-11887"/>
                  <a:pt x="1676400" y="0"/>
                </a:cubicBezTo>
                <a:cubicBezTo>
                  <a:pt x="1851543" y="11887"/>
                  <a:pt x="2160464" y="-33068"/>
                  <a:pt x="2349500" y="0"/>
                </a:cubicBezTo>
                <a:cubicBezTo>
                  <a:pt x="2538536" y="33068"/>
                  <a:pt x="2676852" y="-5418"/>
                  <a:pt x="2946400" y="0"/>
                </a:cubicBezTo>
                <a:cubicBezTo>
                  <a:pt x="3215948" y="5418"/>
                  <a:pt x="3520764" y="-8675"/>
                  <a:pt x="3810000" y="0"/>
                </a:cubicBezTo>
                <a:cubicBezTo>
                  <a:pt x="3799981" y="185571"/>
                  <a:pt x="3807296" y="308268"/>
                  <a:pt x="3810000" y="612168"/>
                </a:cubicBezTo>
                <a:cubicBezTo>
                  <a:pt x="3812704" y="916068"/>
                  <a:pt x="3833726" y="996116"/>
                  <a:pt x="3810000" y="1200329"/>
                </a:cubicBezTo>
                <a:cubicBezTo>
                  <a:pt x="3516615" y="1229731"/>
                  <a:pt x="3445835" y="1173715"/>
                  <a:pt x="3175000" y="1200329"/>
                </a:cubicBezTo>
                <a:cubicBezTo>
                  <a:pt x="2904165" y="1226943"/>
                  <a:pt x="2824133" y="1205345"/>
                  <a:pt x="2616200" y="1200329"/>
                </a:cubicBezTo>
                <a:cubicBezTo>
                  <a:pt x="2408267" y="1195313"/>
                  <a:pt x="2065762" y="1179763"/>
                  <a:pt x="1905000" y="1200329"/>
                </a:cubicBezTo>
                <a:cubicBezTo>
                  <a:pt x="1744238" y="1220895"/>
                  <a:pt x="1462129" y="1205361"/>
                  <a:pt x="1308100" y="1200329"/>
                </a:cubicBezTo>
                <a:cubicBezTo>
                  <a:pt x="1154071" y="1195297"/>
                  <a:pt x="932155" y="1202063"/>
                  <a:pt x="787400" y="1200329"/>
                </a:cubicBezTo>
                <a:cubicBezTo>
                  <a:pt x="642645" y="1198595"/>
                  <a:pt x="381263" y="1182783"/>
                  <a:pt x="0" y="1200329"/>
                </a:cubicBezTo>
                <a:cubicBezTo>
                  <a:pt x="12755" y="933070"/>
                  <a:pt x="-24699" y="843848"/>
                  <a:pt x="0" y="624171"/>
                </a:cubicBezTo>
                <a:cubicBezTo>
                  <a:pt x="24699" y="404494"/>
                  <a:pt x="-6482" y="192446"/>
                  <a:pt x="0" y="0"/>
                </a:cubicBezTo>
                <a:close/>
              </a:path>
              <a:path w="3810000" h="1200329" stroke="0" extrusionOk="0">
                <a:moveTo>
                  <a:pt x="0" y="0"/>
                </a:moveTo>
                <a:cubicBezTo>
                  <a:pt x="280368" y="19592"/>
                  <a:pt x="379835" y="13842"/>
                  <a:pt x="596900" y="0"/>
                </a:cubicBezTo>
                <a:cubicBezTo>
                  <a:pt x="813965" y="-13842"/>
                  <a:pt x="957403" y="12314"/>
                  <a:pt x="1117600" y="0"/>
                </a:cubicBezTo>
                <a:cubicBezTo>
                  <a:pt x="1277797" y="-12314"/>
                  <a:pt x="1536786" y="11661"/>
                  <a:pt x="1828800" y="0"/>
                </a:cubicBezTo>
                <a:cubicBezTo>
                  <a:pt x="2120814" y="-11661"/>
                  <a:pt x="2198044" y="-24542"/>
                  <a:pt x="2425700" y="0"/>
                </a:cubicBezTo>
                <a:cubicBezTo>
                  <a:pt x="2653356" y="24542"/>
                  <a:pt x="2859757" y="10838"/>
                  <a:pt x="3022600" y="0"/>
                </a:cubicBezTo>
                <a:cubicBezTo>
                  <a:pt x="3185443" y="-10838"/>
                  <a:pt x="3619073" y="-37379"/>
                  <a:pt x="3810000" y="0"/>
                </a:cubicBezTo>
                <a:cubicBezTo>
                  <a:pt x="3794172" y="189403"/>
                  <a:pt x="3814904" y="304450"/>
                  <a:pt x="3810000" y="576158"/>
                </a:cubicBezTo>
                <a:cubicBezTo>
                  <a:pt x="3805096" y="847866"/>
                  <a:pt x="3798463" y="970066"/>
                  <a:pt x="3810000" y="1200329"/>
                </a:cubicBezTo>
                <a:cubicBezTo>
                  <a:pt x="3548083" y="1225009"/>
                  <a:pt x="3453355" y="1218282"/>
                  <a:pt x="3251200" y="1200329"/>
                </a:cubicBezTo>
                <a:cubicBezTo>
                  <a:pt x="3049045" y="1182376"/>
                  <a:pt x="2869654" y="1214241"/>
                  <a:pt x="2616200" y="1200329"/>
                </a:cubicBezTo>
                <a:cubicBezTo>
                  <a:pt x="2362746" y="1186417"/>
                  <a:pt x="2119704" y="1204445"/>
                  <a:pt x="1981200" y="1200329"/>
                </a:cubicBezTo>
                <a:cubicBezTo>
                  <a:pt x="1842696" y="1196213"/>
                  <a:pt x="1654500" y="1177566"/>
                  <a:pt x="1384300" y="1200329"/>
                </a:cubicBezTo>
                <a:cubicBezTo>
                  <a:pt x="1114100" y="1223092"/>
                  <a:pt x="835467" y="1215965"/>
                  <a:pt x="673100" y="1200329"/>
                </a:cubicBezTo>
                <a:cubicBezTo>
                  <a:pt x="510733" y="1184693"/>
                  <a:pt x="147831" y="1190893"/>
                  <a:pt x="0" y="1200329"/>
                </a:cubicBezTo>
                <a:cubicBezTo>
                  <a:pt x="-1273" y="1044547"/>
                  <a:pt x="-12667" y="741423"/>
                  <a:pt x="0" y="624171"/>
                </a:cubicBezTo>
                <a:cubicBezTo>
                  <a:pt x="12667" y="506919"/>
                  <a:pt x="-12488" y="165668"/>
                  <a:pt x="0" y="0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accent1">
                <a:shade val="1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b="1" dirty="0"/>
              <a:t>BREAKING NEWS</a:t>
            </a:r>
            <a:r>
              <a:rPr lang="en-CA" dirty="0"/>
              <a:t>: Bayesian methods adopted in JAMA recommendations to FDA </a:t>
            </a:r>
          </a:p>
          <a:p>
            <a:r>
              <a:rPr lang="en-CA" dirty="0">
                <a:hlinkClick r:id="rId3"/>
              </a:rPr>
              <a:t>https://t.co/7mMecV2EI1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30456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789D-BC10-36DF-A2E6-C94D3A938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Hierarchical, longitudinal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E3B888-4A2B-8B55-48E5-A9E234E44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All methods in this course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𝜒</m:t>
                        </m:r>
                      </m:e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tests, loglinear models, logistic regression, …— assume observations are </a:t>
                </a:r>
                <a:r>
                  <a:rPr lang="en-US" sz="2400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independent</a:t>
                </a:r>
                <a:endParaRPr lang="en-CA" sz="2400" dirty="0"/>
              </a:p>
              <a:p>
                <a:r>
                  <a:rPr lang="en-CA" sz="2400" dirty="0"/>
                  <a:t>Fails when:</a:t>
                </a:r>
              </a:p>
              <a:p>
                <a:pPr lvl="1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same person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is measured at multiple time points (longitudinal / repeated measures), or</a:t>
                </a:r>
                <a:endParaRPr lang="en-CA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lvl="1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people are </a:t>
                </a:r>
                <a:r>
                  <a:rPr lang="en-US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nested within groups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such as schools, clinics, or geographic regions (hierarchical).</a:t>
                </a:r>
              </a:p>
              <a:p>
                <a:pPr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Ignoring dependence:</a:t>
                </a:r>
              </a:p>
              <a:p>
                <a:pPr lvl="1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Underestimated std. errors: CIs too narrow, </a:t>
                </a:r>
                <a:r>
                  <a:rPr lang="en-US" i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p</a:t>
                </a: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-values too </a:t>
                </a:r>
                <a:r>
                  <a:rPr lang="en-US" dirty="0"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small (👻 phantom precision)</a:t>
                </a:r>
                <a:endParaRPr lang="en-US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lvl="1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CA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Biased parameter estimates </a:t>
                </a:r>
              </a:p>
              <a:p>
                <a:pPr marL="0" indent="0">
                  <a:buNone/>
                </a:pPr>
                <a:endParaRPr lang="en-CA" dirty="0"/>
              </a:p>
              <a:p>
                <a:pPr lvl="1"/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E3B888-4A2B-8B55-48E5-A9E234E44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0" t="-203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14208-FC3E-96FA-69E7-4F668B307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86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8985-7F1A-9E57-C955-09B0A809C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Longitudinal CDA designs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46852-C94E-4546-6A4A-0A577A1594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b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Data structure: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subjects, each measured at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occasions. 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Categorical response: — e.g., disease present/absent, symptom severity (ordered), count of events in a period.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Examples: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Panel surveys: political preference over election cycles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Clinical: patients worse, stable, improved at 4, 8, 12 weeks</a:t>
                </a:r>
              </a:p>
              <a:p>
                <a:pPr lvl="1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Epidemiology: hospital visits per patient over 3 years</a:t>
                </a:r>
                <a:endParaRPr lang="en-CA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46852-C94E-4546-6A4A-0A577A1594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95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38456-E4F9-EFB9-292C-CAA47301A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96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02F4-B077-64AD-FAA2-7AA0DF8B3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Modeling approaches: GEE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E2510-42C1-A7AE-6924-9024FF71F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Marginal models via Generalized Estimating Equations (GEE)</a:t>
            </a: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Fit a population-average GLM (logistic, Poisson, ordinal, …) as usual, but explicitly model the </a:t>
            </a:r>
            <a:r>
              <a:rPr lang="en-US" sz="20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within-S correlation </a:t>
            </a: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structure (exchangeable, AR(1), unstructured, …).</a:t>
            </a: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GEE adjusts standard errors so </a:t>
            </a:r>
            <a:r>
              <a:rPr lang="en-US" sz="20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inference is valid </a:t>
            </a: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even if the correlation structure is mis-specified (robust/“sandwich” SEs).</a:t>
            </a:r>
            <a:endParaRPr lang="en-CA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Interpretation: coefficients describe the </a:t>
            </a:r>
            <a:r>
              <a:rPr lang="en-US" sz="2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average effect in the population</a:t>
            </a:r>
            <a:r>
              <a:rPr lang="en-US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, not effects for a specific individual.</a:t>
            </a:r>
          </a:p>
          <a:p>
            <a:pPr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Symbol" panose="05050102010706020507" pitchFamily="18" charset="2"/>
              </a:rPr>
              <a:t>R: 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geepack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::</a:t>
            </a:r>
            <a:r>
              <a:rPr lang="en-US" sz="24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geeglm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()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gee::gee()</a:t>
            </a:r>
            <a:endParaRPr lang="en-CA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endParaRPr lang="en-CA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Symbol" panose="05050102010706020507" pitchFamily="18" charset="2"/>
            </a:endParaRPr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2E0C4-89A0-7DC0-438F-C9910A02D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50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5D90-24EA-3129-88E6-3B883B59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Hierarchical (clustered / multilevel) designs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7747C-E50C-679A-B404-71592DE86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structure:</a:t>
            </a:r>
            <a:r>
              <a:rPr lang="en-US" sz="2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Individuals at level 1 are nested within groups at level 2 (maybe: level 3, …). 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grouping creates dependence: two students in same school, or two patients at same clinic, share unmeasured </a:t>
            </a:r>
            <a:r>
              <a:rPr lang="en-US" sz="2400" dirty="0">
                <a:solidFill>
                  <a:srgbClr val="FF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contextual influences</a:t>
            </a:r>
            <a:r>
              <a:rPr lang="en-US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sz="24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Examples: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CA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Students (level 1) nested in classrooms (level 2) nested in schools (level 3); binary outcome = passed a standardized test.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Patients nested in hospitals; ordinal outcome = satisfaction rating.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Why standard methods fail: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Observations within the same cluster are positively correlated (intraclass correlation, ICC)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Std. logistic / Poisson regression treats all as independent, inflating the effective sample size, giving over-confident inference</a:t>
            </a:r>
          </a:p>
          <a:p>
            <a:pPr lvl="1">
              <a:spcBef>
                <a:spcPts val="900"/>
              </a:spcBef>
              <a:spcAft>
                <a:spcPts val="900"/>
              </a:spcAft>
            </a:pPr>
            <a:r>
              <a:rPr lang="en-US" dirty="0"/>
              <a:t>Group-level predictors tested against wrong error term.</a:t>
            </a:r>
            <a:endParaRPr lang="en-CA" dirty="0"/>
          </a:p>
          <a:p>
            <a:pPr lvl="1">
              <a:spcBef>
                <a:spcPts val="900"/>
              </a:spcBef>
              <a:spcAft>
                <a:spcPts val="900"/>
              </a:spcAft>
            </a:pPr>
            <a:endParaRPr lang="en-CA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9FAF-65B4-C951-3261-BEBC148D3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1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B334-1474-BBC9-A5B6-23D461F87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 Linear Mixed Models (GLMM)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ED296-9CF8-2804-CD14-9826C545EB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The natural extension of mixed models to non-normal outcomes. For a binary response with two-level nesting: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fr-FR" sz="28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logit</m:t>
                      </m:r>
                      <m:d>
                        <m:dPr>
                          <m:begChr m:val="["/>
                          <m:endChr m:val="]"/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CA" sz="28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Aptos" panose="020B0004020202020204" pitchFamily="34" charset="0"/>
                                      <a:cs typeface="Times New Roman" panose="020206030504050203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fr-FR" sz="28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fr-FR" sz="28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fr-FR" sz="28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800" b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sz="2800" b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𝛃</m:t>
                      </m:r>
                      <m:r>
                        <a:rPr lang="fr-FR" sz="28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CA" sz="28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∼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𝑁</m:t>
                    </m:r>
                    <m:d>
                      <m:d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CA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is a </a:t>
                </a:r>
                <a:r>
                  <a:rPr lang="en-US" sz="2400" dirty="0">
                    <a:solidFill>
                      <a:srgbClr val="FF0000"/>
                    </a:solidFill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random intercept 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for group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r>
                      <a:rPr lang="en-US" sz="2400" b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Symbol" panose="05050102010706020507" pitchFamily="18" charset="2"/>
                      </a:rPr>
                      <m:t>𝛃</m:t>
                    </m:r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: fixed effects (individual- and group-level predictors).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CA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𝑢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Symbol" panose="05050102010706020507" pitchFamily="18" charset="2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: variance of group-level random effects</a:t>
                </a:r>
                <a:endParaRPr lang="en-US" sz="2400" dirty="0"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Can add </a:t>
                </a:r>
                <a:r>
                  <a:rPr lang="en-US" sz="2400" dirty="0">
                    <a:solidFill>
                      <a:srgbClr val="FF0000"/>
                    </a:solidFill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random slopes 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if effect of predictor varies across groups </a:t>
                </a: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R: 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lme4::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glmer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, 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glmmTMB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glmmTMB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, 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brms::</a:t>
                </a:r>
                <a:r>
                  <a:rPr lang="en-US" sz="2400" dirty="0" err="1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brm</a:t>
                </a:r>
                <a:r>
                  <a:rPr lang="en-US" sz="240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ea typeface="Aptos" panose="020B0004020202020204" pitchFamily="34" charset="0"/>
                    <a:cs typeface="Symbol" panose="05050102010706020507" pitchFamily="18" charset="2"/>
                  </a:rPr>
                  <a:t>()</a:t>
                </a:r>
                <a:r>
                  <a:rPr lang="en-US" sz="24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Symbol" panose="05050102010706020507" pitchFamily="18" charset="2"/>
                  </a:rPr>
                  <a:t> (Bayesian)</a:t>
                </a: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342900" lvl="0" indent="-342900">
                  <a:spcBef>
                    <a:spcPts val="180"/>
                  </a:spcBef>
                  <a:spcAft>
                    <a:spcPts val="180"/>
                  </a:spcAft>
                  <a:buFont typeface="Symbol" panose="05050102010706020507" pitchFamily="18" charset="2"/>
                  <a:buChar char=""/>
                </a:pPr>
                <a:endParaRPr lang="en-CA" sz="24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Symbol" panose="05050102010706020507" pitchFamily="18" charset="2"/>
                </a:endParaRP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ED296-9CF8-2804-CD14-9826C545EB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0" t="-956" r="-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C3722-2134-AF1C-F679-83E9F28BC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072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ADB0-37E2-DC19-6C6B-574924304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Transition (Markov) models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12364A-093E-3FD7-5E23-A71B44EEEA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Model response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as a function of covariates </a:t>
                </a:r>
                <a:r>
                  <a:rPr lang="en-US" i="1" dirty="0"/>
                  <a:t>and</a:t>
                </a:r>
                <a:r>
                  <a:rPr lang="en-US" dirty="0"/>
                  <a:t> the lagged response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(or several lags).</a:t>
                </a:r>
                <a:endParaRPr lang="en-CA" dirty="0"/>
              </a:p>
              <a:p>
                <a:pPr lvl="0"/>
                <a:r>
                  <a:rPr lang="en-US" dirty="0"/>
                  <a:t>Directly captures how </a:t>
                </a:r>
                <a:r>
                  <a:rPr lang="en-US" dirty="0">
                    <a:solidFill>
                      <a:srgbClr val="FF0000"/>
                    </a:solidFill>
                  </a:rPr>
                  <a:t>prior</a:t>
                </a:r>
                <a:r>
                  <a:rPr lang="en-US" dirty="0"/>
                  <a:t> state predicts current state</a:t>
                </a:r>
              </a:p>
              <a:p>
                <a:pPr lvl="0"/>
                <a:r>
                  <a:rPr lang="en-US" dirty="0"/>
                  <a:t>Natural for panel /clinical data where change over time is the scientific focus.</a:t>
                </a:r>
                <a:endParaRPr lang="en-CA" dirty="0"/>
              </a:p>
              <a:p>
                <a:pPr lvl="0"/>
                <a:r>
                  <a:rPr lang="en-US" dirty="0"/>
                  <a:t>Equivalent to a conditional logistic regression on each transition.</a:t>
                </a:r>
                <a:endParaRPr lang="en-CA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12364A-093E-3FD7-5E23-A71B44EEEA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 r="-1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085A8-444A-5DB0-A57A-05723E3DB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71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Connections to course topics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7407460"/>
              </p:ext>
            </p:extLst>
          </p:nvPr>
        </p:nvGraphicFramePr>
        <p:xfrm>
          <a:off x="457200" y="11430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Course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Longitudinal/hierarchical extension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Logistic regression (binary)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GLMM with logit link; GEE with binary family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Ordinal logistic (proportional odds)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Mixed proportional-odds model (</a:t>
                      </a:r>
                      <a:r>
                        <a:rPr dirty="0">
                          <a:latin typeface="Consolas" panose="020B0609020204030204" pitchFamily="49" charset="0"/>
                        </a:rPr>
                        <a:t>ordinal::</a:t>
                      </a:r>
                      <a:r>
                        <a:rPr dirty="0" err="1">
                          <a:latin typeface="Consolas" panose="020B0609020204030204" pitchFamily="49" charset="0"/>
                        </a:rPr>
                        <a:t>clmm</a:t>
                      </a:r>
                      <a:r>
                        <a:rPr dirty="0">
                          <a:latin typeface="Consolas" panose="020B0609020204030204" pitchFamily="49" charset="0"/>
                        </a:rPr>
                        <a:t>())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Poisson / negative binomial (counts)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Poisson GLMM; NB GLMM (</a:t>
                      </a:r>
                      <a:r>
                        <a:rPr dirty="0" err="1">
                          <a:latin typeface="Consolas" panose="020B0609020204030204" pitchFamily="49" charset="0"/>
                        </a:rPr>
                        <a:t>glmmTMB</a:t>
                      </a:r>
                      <a:r>
                        <a:rPr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Multinomial logistic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Mixed multinomial (</a:t>
                      </a:r>
                      <a:r>
                        <a:rPr dirty="0" err="1">
                          <a:latin typeface="Consolas" panose="020B0609020204030204" pitchFamily="49" charset="0"/>
                        </a:rPr>
                        <a:t>mclogit</a:t>
                      </a:r>
                      <a:r>
                        <a:rPr dirty="0">
                          <a:latin typeface="Consolas" panose="020B0609020204030204" pitchFamily="49" charset="0"/>
                        </a:rPr>
                        <a:t>::</a:t>
                      </a:r>
                      <a:r>
                        <a:rPr dirty="0" err="1">
                          <a:latin typeface="Consolas" panose="020B0609020204030204" pitchFamily="49" charset="0"/>
                        </a:rPr>
                        <a:t>mblogit</a:t>
                      </a:r>
                      <a:r>
                        <a:rPr dirty="0">
                          <a:latin typeface="Consolas" panose="020B0609020204030204" pitchFamily="49" charset="0"/>
                        </a:rPr>
                        <a:t>())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Loglinear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Mixed log-linear for repeated cross-classifications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>
              <a:lnSpc>
                <a:spcPct val="90000"/>
              </a:lnSpc>
            </a:pPr>
            <a:r>
              <a:rPr lang="en-US" sz="4000" kern="1200" dirty="0">
                <a:latin typeface="+mj-lt"/>
                <a:ea typeface="+mj-ea"/>
                <a:cs typeface="+mj-cs"/>
              </a:rPr>
              <a:t>R software summary 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mtClean="0"/>
              <a:pPr>
                <a:spcAft>
                  <a:spcPts val="600"/>
                </a:spcAft>
              </a:pPr>
              <a:t>36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786111"/>
              </p:ext>
            </p:extLst>
          </p:nvPr>
        </p:nvGraphicFramePr>
        <p:xfrm>
          <a:off x="482600" y="1815887"/>
          <a:ext cx="8178800" cy="41128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1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Package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Primary use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lme4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 dirty="0"/>
                        <a:t>GLMMs: </a:t>
                      </a:r>
                      <a:r>
                        <a:rPr lang="en-CA" sz="2300" dirty="0" err="1">
                          <a:latin typeface="Consolas" panose="020B0609020204030204" pitchFamily="49" charset="0"/>
                        </a:rPr>
                        <a:t>glmer</a:t>
                      </a:r>
                      <a:r>
                        <a:rPr lang="en-CA" sz="2300" dirty="0">
                          <a:latin typeface="Consolas" panose="020B0609020204030204" pitchFamily="49" charset="0"/>
                        </a:rPr>
                        <a:t>() </a:t>
                      </a:r>
                      <a:r>
                        <a:rPr lang="en-CA" sz="2300" dirty="0"/>
                        <a:t>for binary/count; fast, widely used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glmmTMB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/>
                        <a:t>GLMMs with more families (NB, zero-inflated, ordinal), random slopes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geepack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fr-FR" sz="2300" dirty="0"/>
                        <a:t>GEE: </a:t>
                      </a:r>
                      <a:r>
                        <a:rPr lang="fr-FR" sz="2300" dirty="0" err="1">
                          <a:latin typeface="Consolas" panose="020B0609020204030204" pitchFamily="49" charset="0"/>
                        </a:rPr>
                        <a:t>geeglm</a:t>
                      </a:r>
                      <a:r>
                        <a:rPr lang="fr-FR" sz="2300" dirty="0">
                          <a:latin typeface="Consolas" panose="020B0609020204030204" pitchFamily="49" charset="0"/>
                        </a:rPr>
                        <a:t>(); </a:t>
                      </a:r>
                      <a:r>
                        <a:rPr lang="fr-FR" sz="2300" dirty="0"/>
                        <a:t>marginal </a:t>
                      </a:r>
                      <a:r>
                        <a:rPr lang="fr-FR" sz="2300" dirty="0" err="1"/>
                        <a:t>models</a:t>
                      </a:r>
                      <a:r>
                        <a:rPr lang="fr-FR" sz="2300" dirty="0"/>
                        <a:t>, </a:t>
                      </a:r>
                      <a:r>
                        <a:rPr lang="fr-FR" sz="2300" dirty="0" err="1"/>
                        <a:t>robust</a:t>
                      </a:r>
                      <a:r>
                        <a:rPr lang="fr-FR" sz="2300" dirty="0"/>
                        <a:t> </a:t>
                      </a:r>
                      <a:r>
                        <a:rPr lang="fr-FR" sz="2300" dirty="0" err="1"/>
                        <a:t>SEs</a:t>
                      </a:r>
                      <a:endParaRPr lang="fr-FR" sz="2300" dirty="0"/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20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ordinal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 dirty="0"/>
                        <a:t>Mixed ordinal models: </a:t>
                      </a:r>
                      <a:r>
                        <a:rPr lang="en-CA" sz="2300" dirty="0" err="1">
                          <a:latin typeface="Consolas" panose="020B0609020204030204" pitchFamily="49" charset="0"/>
                        </a:rPr>
                        <a:t>clmm</a:t>
                      </a:r>
                      <a:r>
                        <a:rPr lang="en-CA" sz="23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97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>
                          <a:latin typeface="Courier"/>
                        </a:rPr>
                        <a:t>brms</a:t>
                      </a:r>
                    </a:p>
                  </a:txBody>
                  <a:tcPr marL="116183" marR="116183" marT="58091" marB="58091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CA" sz="2300" dirty="0"/>
                        <a:t>Bayesian GLMMs via Stan; full posterior for all variance components</a:t>
                      </a:r>
                    </a:p>
                  </a:txBody>
                  <a:tcPr marL="116183" marR="116183" marT="58091" marB="5809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CA" dirty="0"/>
              <a:t>WHAT! There’s even more??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Five </a:t>
            </a:r>
            <a:r>
              <a:rPr lang="en-CA" dirty="0"/>
              <a:t>other areas</a:t>
            </a:r>
            <a:r>
              <a:rPr dirty="0"/>
              <a:t> </a:t>
            </a:r>
            <a:r>
              <a:rPr lang="en-CA" dirty="0"/>
              <a:t>in</a:t>
            </a:r>
            <a:r>
              <a:rPr dirty="0"/>
              <a:t> a </a:t>
            </a:r>
            <a:r>
              <a:rPr lang="en-CA" dirty="0"/>
              <a:t>totally </a:t>
            </a:r>
            <a:r>
              <a:rPr dirty="0"/>
              <a:t>comprehensive CDA course:</a:t>
            </a:r>
          </a:p>
          <a:p>
            <a:pPr marL="457200" lvl="0" indent="-457200">
              <a:buAutoNum type="arabicPeriod"/>
            </a:pPr>
            <a:r>
              <a:rPr sz="2400" dirty="0"/>
              <a:t>Latent Class Analysis (LCA)</a:t>
            </a:r>
          </a:p>
          <a:p>
            <a:pPr marL="457200" lvl="0" indent="-457200">
              <a:buAutoNum type="arabicPeriod"/>
            </a:pPr>
            <a:r>
              <a:rPr sz="2400" dirty="0"/>
              <a:t>Survival Analysis / Event History Models</a:t>
            </a:r>
          </a:p>
          <a:p>
            <a:pPr marL="457200" lvl="0" indent="-457200">
              <a:buAutoNum type="arabicPeriod"/>
            </a:pPr>
            <a:r>
              <a:rPr sz="2400" dirty="0"/>
              <a:t>Item Response Theory (IRT)</a:t>
            </a:r>
          </a:p>
          <a:p>
            <a:pPr marL="457200" lvl="0" indent="-457200">
              <a:buAutoNum type="arabicPeriod"/>
            </a:pPr>
            <a:r>
              <a:rPr sz="2400" dirty="0"/>
              <a:t>Missing Data &amp; Multiple Imputation</a:t>
            </a:r>
          </a:p>
          <a:p>
            <a:pPr marL="457200" lvl="0" indent="-457200">
              <a:buAutoNum type="arabicPeriod"/>
            </a:pPr>
            <a:r>
              <a:rPr sz="2400" dirty="0"/>
              <a:t>Regularized 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Latent Class Analysis &amp; Survival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Latent Class Analysis (LCA)</a:t>
            </a:r>
          </a:p>
          <a:p>
            <a:pPr lvl="0"/>
            <a:r>
              <a:rPr sz="2000" dirty="0"/>
              <a:t>Factor analysis for categorical indicators: finds latent subgroups explaining associations among observed variables</a:t>
            </a:r>
          </a:p>
          <a:p>
            <a:pPr lvl="0"/>
            <a:r>
              <a:rPr sz="2000" dirty="0"/>
              <a:t>Widely used for diagnostic categories, behavioral typologies, health risk profiles</a:t>
            </a:r>
          </a:p>
          <a:p>
            <a:pPr lvl="0"/>
            <a:r>
              <a:rPr sz="2000" dirty="0"/>
              <a:t>R: </a:t>
            </a:r>
            <a:r>
              <a:rPr sz="2000" dirty="0" err="1">
                <a:latin typeface="Consolas" panose="020B0609020204030204" pitchFamily="49" charset="0"/>
              </a:rPr>
              <a:t>poLCA</a:t>
            </a:r>
            <a:r>
              <a:rPr sz="2000" dirty="0">
                <a:latin typeface="Consolas" panose="020B0609020204030204" pitchFamily="49" charset="0"/>
              </a:rPr>
              <a:t>, </a:t>
            </a:r>
            <a:r>
              <a:rPr sz="2000" dirty="0" err="1">
                <a:latin typeface="Consolas" panose="020B0609020204030204" pitchFamily="49" charset="0"/>
              </a:rPr>
              <a:t>mclust</a:t>
            </a:r>
            <a:endParaRPr sz="2000" dirty="0">
              <a:latin typeface="Consolas" panose="020B0609020204030204" pitchFamily="49" charset="0"/>
            </a:endParaRPr>
          </a:p>
          <a:p>
            <a:pPr lvl="0"/>
            <a:r>
              <a:rPr sz="2000" dirty="0"/>
              <a:t>Agresti Ch. 13; Collins &amp; Lanza (2010), </a:t>
            </a:r>
            <a:r>
              <a:rPr sz="2000" i="1" dirty="0"/>
              <a:t>Latent Class and Latent Transition Analysis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Survival Analysis / Event History Models</a:t>
            </a:r>
          </a:p>
          <a:p>
            <a:pPr lvl="0"/>
            <a:r>
              <a:rPr sz="2000" dirty="0"/>
              <a:t>Outcome is </a:t>
            </a:r>
            <a:r>
              <a:rPr sz="2000" i="1" dirty="0"/>
              <a:t>time to event</a:t>
            </a:r>
            <a:r>
              <a:rPr sz="2000" dirty="0"/>
              <a:t> (relapse, death, dropout, recovery) — possibly censored</a:t>
            </a:r>
          </a:p>
          <a:p>
            <a:pPr lvl="0"/>
            <a:r>
              <a:rPr sz="2000" dirty="0"/>
              <a:t>Workhorses: discrete-time logistic regression; Cox proportional hazards</a:t>
            </a:r>
          </a:p>
          <a:p>
            <a:pPr lvl="0"/>
            <a:r>
              <a:rPr sz="2000" dirty="0"/>
              <a:t>Very common in clinical and health psychology</a:t>
            </a:r>
          </a:p>
          <a:p>
            <a:pPr lvl="0"/>
            <a:r>
              <a:rPr sz="2000" dirty="0"/>
              <a:t>R: </a:t>
            </a:r>
            <a:r>
              <a:rPr sz="2000" dirty="0">
                <a:latin typeface="Consolas" panose="020B0609020204030204" pitchFamily="49" charset="0"/>
              </a:rPr>
              <a:t>survival, </a:t>
            </a:r>
            <a:r>
              <a:rPr sz="2000" dirty="0" err="1">
                <a:latin typeface="Consolas" panose="020B0609020204030204" pitchFamily="49" charset="0"/>
              </a:rPr>
              <a:t>flexsurv</a:t>
            </a:r>
            <a:r>
              <a:rPr sz="2000" dirty="0"/>
              <a:t>; Agresti Ch. 12; Hosmer, </a:t>
            </a:r>
            <a:r>
              <a:rPr sz="2000" dirty="0" err="1"/>
              <a:t>Lemeshow</a:t>
            </a:r>
            <a:r>
              <a:rPr sz="2000" dirty="0"/>
              <a:t> &amp; May (2008)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Item Response Theory &amp; Missing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Item Response Theory (IRT)</a:t>
                </a:r>
              </a:p>
              <a:p>
                <a:pPr lvl="0"/>
                <a:r>
                  <a:rPr sz="2000" dirty="0"/>
                  <a:t>Models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sz="2000"/>
                          <m:t>correct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or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endorsed</m:t>
                        </m:r>
                        <m:r>
                          <m:rPr>
                            <m:nor/>
                          </m:rPr>
                          <a:rPr sz="2000"/>
                          <m:t> </m:t>
                        </m:r>
                        <m:r>
                          <m:rPr>
                            <m:nor/>
                          </m:rPr>
                          <a:rPr sz="2000"/>
                          <m:t>response</m:t>
                        </m:r>
                      </m:e>
                    </m:d>
                  </m:oMath>
                </a14:m>
                <a:r>
                  <a:rPr sz="2000" dirty="0"/>
                  <a:t> as a function of a latent trait (ability, attitude)</a:t>
                </a:r>
              </a:p>
              <a:p>
                <a:pPr lvl="0"/>
                <a:r>
                  <a:rPr sz="2000" dirty="0"/>
                  <a:t>Rasch, 2PL, 3PL models are logistic regression with a latent predictor</a:t>
                </a:r>
              </a:p>
              <a:p>
                <a:pPr lvl="0"/>
                <a:r>
                  <a:rPr sz="2000" dirty="0"/>
                  <a:t>Natural extension of GLMs — directly relevant to psychometrics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 err="1">
                    <a:latin typeface="Consolas" panose="020B0609020204030204" pitchFamily="49" charset="0"/>
                  </a:rPr>
                  <a:t>ltm</a:t>
                </a:r>
                <a:r>
                  <a:rPr sz="2000" dirty="0">
                    <a:latin typeface="Consolas" panose="020B0609020204030204" pitchFamily="49" charset="0"/>
                  </a:rPr>
                  <a:t>, </a:t>
                </a:r>
                <a:r>
                  <a:rPr sz="2000" dirty="0" err="1">
                    <a:latin typeface="Consolas" panose="020B0609020204030204" pitchFamily="49" charset="0"/>
                  </a:rPr>
                  <a:t>mirt</a:t>
                </a:r>
                <a:r>
                  <a:rPr sz="2000" dirty="0"/>
                  <a:t>, </a:t>
                </a:r>
                <a:r>
                  <a:rPr sz="2000" dirty="0">
                    <a:latin typeface="Courier"/>
                  </a:rPr>
                  <a:t>TAM</a:t>
                </a:r>
                <a:r>
                  <a:rPr sz="2000" dirty="0"/>
                  <a:t>; Embretson &amp; Reise (2000)</a:t>
                </a:r>
              </a:p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Missing Data / Multiple Imputation</a:t>
                </a:r>
              </a:p>
              <a:p>
                <a:pPr lvl="0"/>
                <a:r>
                  <a:rPr sz="2000" dirty="0"/>
                  <a:t>Cannot mean-impute a categorical variable; complete-case analysis distorts association estimates</a:t>
                </a:r>
              </a:p>
              <a:p>
                <a:pPr lvl="0"/>
                <a:r>
                  <a:rPr sz="2000" dirty="0"/>
                  <a:t>MICE (multiple imputation via chained equations) handles categorical predictors and outcomes directly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>
                    <a:latin typeface="Consolas" panose="020B0609020204030204" pitchFamily="49" charset="0"/>
                  </a:rPr>
                  <a:t>mice</a:t>
                </a:r>
                <a:r>
                  <a:rPr sz="2000" dirty="0"/>
                  <a:t>; van Buuren (2018), </a:t>
                </a:r>
                <a:r>
                  <a:rPr sz="2000" i="1" dirty="0"/>
                  <a:t>Flexible Imputation of Missing Data</a:t>
                </a:r>
                <a:r>
                  <a:rPr sz="2000" dirty="0"/>
                  <a:t> (free online)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71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600" dirty="0"/>
              <a:t>Regularized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The problem: when ordinary logistic regression fails</a:t>
                </a:r>
              </a:p>
              <a:p>
                <a:pPr lvl="0"/>
                <a:r>
                  <a:rPr sz="2000" dirty="0"/>
                  <a:t>Many predictors </a:t>
                </a:r>
                <a:r>
                  <a:rPr lang="en-CA" sz="2000" dirty="0">
                    <a:sym typeface="Symbol" panose="05050102010706020507" pitchFamily="18" charset="2"/>
                  </a:rPr>
                  <a:t></a:t>
                </a:r>
                <a:r>
                  <a:rPr sz="2000" dirty="0"/>
                  <a:t> instability, perfect separation, near-collinearity</a:t>
                </a:r>
              </a:p>
              <a:p>
                <a:pPr lvl="0"/>
                <a:r>
                  <a:rPr sz="2000" dirty="0"/>
                  <a:t>LASSO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000" dirty="0"/>
                  <a:t>) shrinks coefficients to zero </a:t>
                </a:r>
                <a:r>
                  <a:rPr lang="en-CA" sz="2000" dirty="0">
                    <a:sym typeface="Symbol" panose="05050102010706020507" pitchFamily="18" charset="2"/>
                  </a:rPr>
                  <a:t></a:t>
                </a:r>
                <a:r>
                  <a:rPr sz="2000" dirty="0"/>
                  <a:t> automatic variable selection</a:t>
                </a:r>
              </a:p>
              <a:p>
                <a:pPr lvl="0"/>
                <a:r>
                  <a:rPr sz="2000" dirty="0"/>
                  <a:t>Ridge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/>
                  <a:t>) shrinks toward zero </a:t>
                </a:r>
                <a:r>
                  <a:rPr lang="en-CA" sz="2000" dirty="0">
                    <a:sym typeface="Symbol" panose="05050102010706020507" pitchFamily="18" charset="2"/>
                  </a:rPr>
                  <a:t></a:t>
                </a:r>
                <a:r>
                  <a:rPr sz="2000" dirty="0"/>
                  <a:t> stable estimation, all predictors retained</a:t>
                </a:r>
              </a:p>
              <a:p>
                <a:pPr lvl="0"/>
                <a:r>
                  <a:rPr sz="2000" dirty="0"/>
                  <a:t>Elastic net combines both penalties</a:t>
                </a:r>
              </a:p>
              <a:p>
                <a:pPr marL="0" lvl="0" indent="0">
                  <a:spcBef>
                    <a:spcPts val="3000"/>
                  </a:spcBef>
                  <a:buNone/>
                </a:pPr>
                <a:r>
                  <a:rPr sz="2000" b="1" dirty="0"/>
                  <a:t>Tools and further reading</a:t>
                </a:r>
              </a:p>
              <a:p>
                <a:pPr lvl="0"/>
                <a:r>
                  <a:rPr sz="2000" dirty="0"/>
                  <a:t>Frequentist complement to Bayesian regularization (shrinkage priors)</a:t>
                </a:r>
              </a:p>
              <a:p>
                <a:pPr lvl="0"/>
                <a:r>
                  <a:rPr sz="2000" dirty="0"/>
                  <a:t>R: </a:t>
                </a:r>
                <a:r>
                  <a:rPr sz="2000" dirty="0" err="1">
                    <a:latin typeface="Courier"/>
                  </a:rPr>
                  <a:t>glmnet</a:t>
                </a:r>
                <a:endParaRPr sz="2000" dirty="0">
                  <a:latin typeface="Courier"/>
                </a:endParaRPr>
              </a:p>
              <a:p>
                <a:pPr lvl="0"/>
                <a:r>
                  <a:rPr sz="2000" dirty="0"/>
                  <a:t>Hastie, </a:t>
                </a:r>
                <a:r>
                  <a:rPr sz="2000" dirty="0" err="1"/>
                  <a:t>Tibshirani</a:t>
                </a:r>
                <a:r>
                  <a:rPr sz="2000" dirty="0"/>
                  <a:t> &amp; Friedman (2009), </a:t>
                </a:r>
                <a:r>
                  <a:rPr sz="2000" i="1" dirty="0"/>
                  <a:t>The Elements of Statistical Learning</a:t>
                </a:r>
                <a:r>
                  <a:rPr sz="2000" dirty="0"/>
                  <a:t>, Ch. 4, 18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717" r="-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CAC74-7045-100E-8573-7CA95B545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CDA Dad Jokes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44169-283C-BDB2-9A5B-2693C4AB4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b="1" dirty="0"/>
              <a:t>Q</a:t>
            </a:r>
            <a:r>
              <a:rPr lang="en-CA" dirty="0"/>
              <a:t>: What did the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χ</a:t>
            </a:r>
            <a:r>
              <a:rPr lang="en-CA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CA" dirty="0"/>
              <a:t> statistic say to her </a:t>
            </a:r>
            <a:r>
              <a:rPr lang="en-CA" i="1" dirty="0"/>
              <a:t>p</a:t>
            </a:r>
            <a:r>
              <a:rPr lang="en-CA" dirty="0"/>
              <a:t>-value?</a:t>
            </a:r>
          </a:p>
          <a:p>
            <a:pPr lvl="1"/>
            <a:r>
              <a:rPr lang="en-CA" dirty="0"/>
              <a:t>A: Only you can tell me if our relationship is real</a:t>
            </a:r>
          </a:p>
          <a:p>
            <a:r>
              <a:rPr lang="en-CA" b="1" dirty="0"/>
              <a:t>Q</a:t>
            </a:r>
            <a:r>
              <a:rPr lang="en-CA" dirty="0"/>
              <a:t>: Why was the mosaic plot so calm?</a:t>
            </a:r>
          </a:p>
          <a:p>
            <a:pPr lvl="1"/>
            <a:r>
              <a:rPr lang="en-CA" dirty="0"/>
              <a:t>A: He had already made peace with all his residuals.</a:t>
            </a:r>
          </a:p>
          <a:p>
            <a:r>
              <a:rPr lang="en-CA" b="1" dirty="0"/>
              <a:t>Q</a:t>
            </a:r>
            <a:r>
              <a:rPr lang="en-CA" dirty="0"/>
              <a:t>: Why did logistic regression break up with his linear regression?</a:t>
            </a:r>
          </a:p>
          <a:p>
            <a:pPr lvl="1"/>
            <a:r>
              <a:rPr lang="en-CA" dirty="0"/>
              <a:t>A: It's not you honey, it's me! My love is binary — I can only give you 0 or 1.</a:t>
            </a:r>
          </a:p>
          <a:p>
            <a:r>
              <a:rPr lang="en-CA" dirty="0"/>
              <a:t>A loglinear model walks into a bar.</a:t>
            </a:r>
          </a:p>
          <a:p>
            <a:pPr lvl="1"/>
            <a:r>
              <a:rPr lang="en-CA" dirty="0"/>
              <a:t>Bartender says: "We don't serve your type here.“</a:t>
            </a:r>
          </a:p>
          <a:p>
            <a:pPr lvl="1"/>
            <a:r>
              <a:rPr lang="en-CA" dirty="0"/>
              <a:t>Model says: “Fine — I'll just fit a main effects model and assume no one here is associated."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2DA96-B1C9-2EB4-CD1D-78F65D7AF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8806E7-AB23-4464-97D2-34A0996C9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5400" dirty="0"/>
              <a:t>Your turn: Feedback?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43B5FA-E73F-F1E1-CA50-E33E19141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E3521-06DC-5CD6-B40E-EC9078F9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419297E2-666B-BD4A-3311-EB26CC6BE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242" y="136525"/>
            <a:ext cx="7285516" cy="397827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2D618AD-5E88-5D15-28BD-9C970C493E2D}"/>
              </a:ext>
            </a:extLst>
          </p:cNvPr>
          <p:cNvGrpSpPr/>
          <p:nvPr/>
        </p:nvGrpSpPr>
        <p:grpSpPr>
          <a:xfrm>
            <a:off x="3657600" y="685800"/>
            <a:ext cx="1447800" cy="858838"/>
            <a:chOff x="3657600" y="685800"/>
            <a:chExt cx="1447800" cy="858838"/>
          </a:xfrm>
        </p:grpSpPr>
        <p:sp>
          <p:nvSpPr>
            <p:cNvPr id="2" name="Speech Bubble: Oval 1">
              <a:extLst>
                <a:ext uri="{FF2B5EF4-FFF2-40B4-BE49-F238E27FC236}">
                  <a16:creationId xmlns:a16="http://schemas.microsoft.com/office/drawing/2014/main" id="{20274BBA-5B62-4431-5110-A44983BE666B}"/>
                </a:ext>
              </a:extLst>
            </p:cNvPr>
            <p:cNvSpPr/>
            <p:nvPr/>
          </p:nvSpPr>
          <p:spPr>
            <a:xfrm>
              <a:off x="3657600" y="685800"/>
              <a:ext cx="1447800" cy="858838"/>
            </a:xfrm>
            <a:prstGeom prst="wedgeEllipseCallout">
              <a:avLst>
                <a:gd name="adj1" fmla="val -20833"/>
                <a:gd name="adj2" fmla="val 888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3B8304C-24FB-3E94-17E0-4F3B68053EF6}"/>
                </a:ext>
              </a:extLst>
            </p:cNvPr>
            <p:cNvSpPr txBox="1"/>
            <p:nvPr/>
          </p:nvSpPr>
          <p:spPr>
            <a:xfrm>
              <a:off x="3733800" y="838200"/>
              <a:ext cx="1295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FINALLY!!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1685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did you like/dislike about 6136?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Topics: what were the: </a:t>
            </a:r>
          </a:p>
          <a:p>
            <a:pPr lvl="1"/>
            <a:r>
              <a:rPr lang="en-US" dirty="0"/>
              <a:t>most interesting?</a:t>
            </a:r>
          </a:p>
          <a:p>
            <a:pPr lvl="1"/>
            <a:r>
              <a:rPr lang="en-US" dirty="0"/>
              <a:t>most boring?</a:t>
            </a:r>
          </a:p>
          <a:p>
            <a:pPr lvl="1"/>
            <a:r>
              <a:rPr lang="en-US" dirty="0"/>
              <a:t>most challenging/difficult?</a:t>
            </a:r>
          </a:p>
          <a:p>
            <a:r>
              <a:rPr lang="en-US" dirty="0"/>
              <a:t>How useful were the web materials for the course?</a:t>
            </a:r>
          </a:p>
          <a:p>
            <a:pPr lvl="1"/>
            <a:r>
              <a:rPr lang="en-US" dirty="0" err="1"/>
              <a:t>Quizes</a:t>
            </a:r>
            <a:r>
              <a:rPr lang="en-US" dirty="0"/>
              <a:t>? R scripts? Resources / extra readings?</a:t>
            </a:r>
          </a:p>
          <a:p>
            <a:r>
              <a:rPr lang="en-US" dirty="0"/>
              <a:t>What topics/activities did you learn most from?</a:t>
            </a:r>
          </a:p>
          <a:p>
            <a:r>
              <a:rPr lang="en-US" dirty="0"/>
              <a:t>What gave you the most difficulty?</a:t>
            </a:r>
          </a:p>
          <a:p>
            <a:r>
              <a:rPr lang="en-US" dirty="0"/>
              <a:t>How does this relate to your own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089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56A-9E3A-6B3B-7DFE-A8A030BDE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Tips for next time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8B0C-A3B9-A493-4B9F-CBAD9E25E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What should I try to differently the next time?</a:t>
            </a:r>
          </a:p>
          <a:p>
            <a:pPr lvl="1"/>
            <a:r>
              <a:rPr lang="en-CA" dirty="0"/>
              <a:t>More of X?</a:t>
            </a:r>
          </a:p>
          <a:p>
            <a:pPr lvl="1"/>
            <a:r>
              <a:rPr lang="en-CA" dirty="0"/>
              <a:t>Less of Y?</a:t>
            </a:r>
          </a:p>
          <a:p>
            <a:pPr lvl="1"/>
            <a:r>
              <a:rPr lang="en-CA" dirty="0"/>
              <a:t>Aspects of how the course is structured?</a:t>
            </a:r>
          </a:p>
          <a:p>
            <a:pPr lvl="1"/>
            <a:r>
              <a:rPr lang="en-CA" dirty="0"/>
              <a:t>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03F9D-1280-278D-F715-E572A84A6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1026" name="Picture 2" descr="C:\Dropbox\Documents\6135\_site\images\thank-you-animation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517585"/>
            <a:ext cx="6096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442657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1938</TotalTime>
  <Words>2629</Words>
  <Application>Microsoft Office PowerPoint</Application>
  <PresentationFormat>On-screen Show (4:3)</PresentationFormat>
  <Paragraphs>337</Paragraphs>
  <Slides>45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6" baseType="lpstr">
      <vt:lpstr>Aptos</vt:lpstr>
      <vt:lpstr>Arial</vt:lpstr>
      <vt:lpstr>Broadway</vt:lpstr>
      <vt:lpstr>Calibri</vt:lpstr>
      <vt:lpstr>Cambria Math</vt:lpstr>
      <vt:lpstr>Consolas</vt:lpstr>
      <vt:lpstr>Courier</vt:lpstr>
      <vt:lpstr>Courier New</vt:lpstr>
      <vt:lpstr>Symbol</vt:lpstr>
      <vt:lpstr>Wingdings</vt:lpstr>
      <vt:lpstr>1_Office Theme</vt:lpstr>
      <vt:lpstr>The Last Waltz</vt:lpstr>
      <vt:lpstr>The Last Waltz</vt:lpstr>
      <vt:lpstr>My goals</vt:lpstr>
      <vt:lpstr>01: Overview</vt:lpstr>
      <vt:lpstr>PowerPoint Presentation</vt:lpstr>
      <vt:lpstr>02: Discrete distributions</vt:lpstr>
      <vt:lpstr>PowerPoint Presentation</vt:lpstr>
      <vt:lpstr>03: Two-way tables</vt:lpstr>
      <vt:lpstr>PowerPoint Presentation</vt:lpstr>
      <vt:lpstr>04: Loglinar models, mosaic displays</vt:lpstr>
      <vt:lpstr>PowerPoint Presentation</vt:lpstr>
      <vt:lpstr>05: Correspondence analysis</vt:lpstr>
      <vt:lpstr>PowerPoint Presentation</vt:lpstr>
      <vt:lpstr>06: Logistic regression</vt:lpstr>
      <vt:lpstr>PowerPoint Presentation</vt:lpstr>
      <vt:lpstr>07: Logistic regression: Extensions</vt:lpstr>
      <vt:lpstr>PowerPoint Presentation</vt:lpstr>
      <vt:lpstr>08: Extending loglinear models</vt:lpstr>
      <vt:lpstr>PowerPoint Presentation</vt:lpstr>
      <vt:lpstr>09: GLMs for Count Data</vt:lpstr>
      <vt:lpstr>PowerPoint Presentation</vt:lpstr>
      <vt:lpstr>10: Models for log odds &amp; LORs</vt:lpstr>
      <vt:lpstr>PowerPoint Presentation</vt:lpstr>
      <vt:lpstr>PowerPoint Presentation</vt:lpstr>
      <vt:lpstr>Going further: What did I leave out?</vt:lpstr>
      <vt:lpstr>Fisher vs. Bayes</vt:lpstr>
      <vt:lpstr>Bayesian advances</vt:lpstr>
      <vt:lpstr>PowerPoint Presentation</vt:lpstr>
      <vt:lpstr>Hierarchical, longitudinal data</vt:lpstr>
      <vt:lpstr>Longitudinal CDA designs</vt:lpstr>
      <vt:lpstr>Modeling approaches: GEE</vt:lpstr>
      <vt:lpstr>Hierarchical (clustered / multilevel) designs</vt:lpstr>
      <vt:lpstr>General Linear Mixed Models (GLMM)</vt:lpstr>
      <vt:lpstr>Transition (Markov) models</vt:lpstr>
      <vt:lpstr>Connections to course topics</vt:lpstr>
      <vt:lpstr>R software summary </vt:lpstr>
      <vt:lpstr>WHAT! There’s even more??</vt:lpstr>
      <vt:lpstr>Latent Class Analysis &amp; Survival Analysis</vt:lpstr>
      <vt:lpstr>Item Response Theory &amp; Missing Data</vt:lpstr>
      <vt:lpstr>Regularized Logistic Regression</vt:lpstr>
      <vt:lpstr>CDA Dad Jokes</vt:lpstr>
      <vt:lpstr>Your turn: Feedback?</vt:lpstr>
      <vt:lpstr>What did you like/dislike about 6136?</vt:lpstr>
      <vt:lpstr>Tips for next time …</vt:lpstr>
      <vt:lpstr>PowerPoint Presentation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Michael Friendly</dc:creator>
  <cp:lastModifiedBy>Michael L Friendly</cp:lastModifiedBy>
  <cp:revision>44</cp:revision>
  <dcterms:created xsi:type="dcterms:W3CDTF">2017-10-14T20:35:56Z</dcterms:created>
  <dcterms:modified xsi:type="dcterms:W3CDTF">2026-04-02T14:58:24Z</dcterms:modified>
</cp:coreProperties>
</file>