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\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docProps\app.xml><?xml version="1.0" encoding="utf-8"?>
<Properties xmlns="http://schemas.openxmlformats.org/officeDocument/2006/extended-properties" xmlns:vt="http://schemas.openxmlformats.org/officeDocument/2006/docPropsVTypes">
  <Template/>
  <TotalTime>4816</TotalTime>
  <Words>6153</Words>
  <Application>Microsoft Office PowerPoint</Application>
  <PresentationFormat>On-screen Show (4:3)</PresentationFormat>
  <Paragraphs>787</Paragraphs>
  <Slides>88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88</vt:i4>
      </vt:variant>
    </vt:vector>
  </HeadingPairs>
  <TitlesOfParts>
    <vt:vector size="97" baseType="lpstr">
      <vt:lpstr>Arial</vt:lpstr>
      <vt:lpstr>Calibri</vt:lpstr>
      <vt:lpstr>Cambria Math</vt:lpstr>
      <vt:lpstr>Courier New</vt:lpstr>
      <vt:lpstr>Euclid Math One</vt:lpstr>
      <vt:lpstr>Script MT Bold</vt:lpstr>
      <vt:lpstr>Symbol</vt:lpstr>
      <vt:lpstr>Wingdings</vt:lpstr>
      <vt:lpstr>1_Office Theme</vt:lpstr>
      <vt:lpstr>GLMs for Count Data</vt:lpstr>
      <vt:lpstr>Topics</vt:lpstr>
      <vt:lpstr>Count data models: Overview</vt:lpstr>
      <vt:lpstr>Generalized linear models</vt:lpstr>
      <vt:lpstr>Generalized linear models</vt:lpstr>
      <vt:lpstr>Generalized linear models</vt:lpstr>
      <vt:lpstr>GLMs: The light</vt:lpstr>
      <vt:lpstr>GLMs: Families</vt:lpstr>
      <vt:lpstr>Link functions for the mean</vt:lpstr>
      <vt:lpstr>Link functions for binomial data</vt:lpstr>
      <vt:lpstr>Example: BeetleMortality</vt:lpstr>
      <vt:lpstr>PowerPoint Presentation</vt:lpstr>
      <vt:lpstr>Canonical links and variance functions</vt:lpstr>
      <vt:lpstr>Variance functions &amp; overdispersion</vt:lpstr>
      <vt:lpstr>What is overdispersion?</vt:lpstr>
      <vt:lpstr>Maximum likelihood estimation</vt:lpstr>
      <vt:lpstr>Maximum likelihood estimation</vt:lpstr>
      <vt:lpstr>Iteratively reweighted least squares</vt:lpstr>
      <vt:lpstr>Maximum likelihood estimation</vt:lpstr>
      <vt:lpstr>Goodness of fit</vt:lpstr>
      <vt:lpstr>GLMs for count data</vt:lpstr>
      <vt:lpstr>Example: Publications of PhD candiates</vt:lpstr>
      <vt:lpstr>Example: Publications of PhD candidates</vt:lpstr>
      <vt:lpstr>PowerPoint Presentation</vt:lpstr>
      <vt:lpstr>Fitting the Poisson model</vt:lpstr>
      <vt:lpstr>Interpreting coefficients</vt:lpstr>
      <vt:lpstr>Effect plots</vt:lpstr>
      <vt:lpstr>PowerPoint Presentation</vt:lpstr>
      <vt:lpstr>Model diagnostics</vt:lpstr>
      <vt:lpstr>Checking for interactions</vt:lpstr>
      <vt:lpstr>Compare models</vt:lpstr>
      <vt:lpstr>Compare models</vt:lpstr>
      <vt:lpstr>Basic model plots</vt:lpstr>
      <vt:lpstr>Nonlinearity diagnostics</vt:lpstr>
      <vt:lpstr>Nonlinearity diagnostics: crPlot()</vt:lpstr>
      <vt:lpstr>Residuals</vt:lpstr>
      <vt:lpstr>Residuals</vt:lpstr>
      <vt:lpstr>Outliers, leverage &amp; influence</vt:lpstr>
      <vt:lpstr>Who is influential &amp; why?</vt:lpstr>
      <vt:lpstr>Outlier test</vt:lpstr>
      <vt:lpstr>PowerPoint Presentation</vt:lpstr>
      <vt:lpstr>Overdispersion</vt:lpstr>
      <vt:lpstr>Testing overdispersion</vt:lpstr>
      <vt:lpstr>Quasi-poisson models</vt:lpstr>
      <vt:lpstr>Quasi-poisson models</vt:lpstr>
      <vt:lpstr>Fitting the quasi-poisson model</vt:lpstr>
      <vt:lpstr>PowerPoint Presentation</vt:lpstr>
      <vt:lpstr>The negative-binomial model</vt:lpstr>
      <vt:lpstr>The negative-binomial model</vt:lpstr>
      <vt:lpstr>Fitting the negative-binomial</vt:lpstr>
      <vt:lpstr>Visualizing goodness-of-fit</vt:lpstr>
      <vt:lpstr>Comparing models: What difference does it make?</vt:lpstr>
      <vt:lpstr>Visualizing the mean-variance relation</vt:lpstr>
      <vt:lpstr>What have we learned?</vt:lpstr>
      <vt:lpstr>What have we learned?</vt:lpstr>
      <vt:lpstr>Excess zeros</vt:lpstr>
      <vt:lpstr>Excess zero counts</vt:lpstr>
      <vt:lpstr>Models for excess zeros</vt:lpstr>
      <vt:lpstr>Zero-inflated models</vt:lpstr>
      <vt:lpstr>Zero-inflated models: ZIP &amp; ZINB</vt:lpstr>
      <vt:lpstr>Exploring zero-inflated data</vt:lpstr>
      <vt:lpstr>Exploring zero-inflated data</vt:lpstr>
      <vt:lpstr>Hurdle models</vt:lpstr>
      <vt:lpstr>Fitting ZIP &amp; Hurdle models</vt:lpstr>
      <vt:lpstr>Visualizing zero counts</vt:lpstr>
      <vt:lpstr>Fitting models</vt:lpstr>
      <vt:lpstr>Comparing models</vt:lpstr>
      <vt:lpstr>PowerPoint Presentation</vt:lpstr>
      <vt:lpstr>PowerPoint Presentation</vt:lpstr>
      <vt:lpstr>Model interpretation: Coefficients</vt:lpstr>
      <vt:lpstr>Model interpretation: Coefficients</vt:lpstr>
      <vt:lpstr>Model interpretation: Effect plots</vt:lpstr>
      <vt:lpstr>PowerPoint Presentation</vt:lpstr>
      <vt:lpstr>What have we learned?</vt:lpstr>
      <vt:lpstr>What have we learned?</vt:lpstr>
      <vt:lpstr>What have we forgotten?</vt:lpstr>
      <vt:lpstr>What have we forgotten?</vt:lpstr>
      <vt:lpstr>What I missed</vt:lpstr>
      <vt:lpstr>Back to square TWO</vt:lpstr>
      <vt:lpstr>Visualize the interaction</vt:lpstr>
      <vt:lpstr>Visualize the interaction– The other way</vt:lpstr>
      <vt:lpstr>Back to square ONE</vt:lpstr>
      <vt:lpstr>Compare distributions</vt:lpstr>
      <vt:lpstr>What to do?</vt:lpstr>
      <vt:lpstr>What else is there?</vt:lpstr>
      <vt:lpstr>Other methods: Recursive partitioning</vt:lpstr>
      <vt:lpstr>Other methods: Recursive partitioning</vt:lpstr>
      <vt:lpstr>Summary</vt:lpstr>
    </vt:vector>
  </TitlesOfParts>
  <Company>YORK UNIVERSITY</Company>
  <LinksUpToDate>false</LinksUpToDate>
  <SharedDoc>false</SharedDoc>
  <HyperlinksChanged>false</HyperlinksChanged>
  <AppVersion>16.0000</AppVersion>
</Properties>
</file>

<file path=docProps\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09-CountData</dc:title>
  <dc:creator>Michael Friendly</dc:creator>
  <cp:lastModifiedBy>Michael L Friendly</cp:lastModifiedBy>
  <cp:revision>121</cp:revision>
  <dcterms:created xsi:type="dcterms:W3CDTF">2017-10-14T20:35:56Z</dcterms:created>
  <dcterms:modified xsi:type="dcterms:W3CDTF">2023-03-28T18:18:26Z</dcterms:modified>
</cp:coreProperties>
</file>

<file path=ppt\_rels\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handoutMaster" Target="handoutMasters/handoutMaster1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viewProps" Target="viewProp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\handoutMasters\_rels\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\handoutMasters\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BD4FA9-F3CE-45B3-A980-C331C6F1EF65}" type="datetimeFigureOut">
              <a:rPr lang="en-US" smtClean="0"/>
              <a:t>3/28/2023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CD5E95-8CAD-4274-BFFA-CD87442DEA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7690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\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\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handoutMasterIdLst>
    <p:handoutMasterId r:id="rId90"/>
  </p:handoutMasterIdLst>
  <p:sldIdLst>
    <p:sldId id="256" r:id="rId2"/>
    <p:sldId id="257" r:id="rId3"/>
    <p:sldId id="269" r:id="rId4"/>
    <p:sldId id="258" r:id="rId5"/>
    <p:sldId id="259" r:id="rId6"/>
    <p:sldId id="260" r:id="rId7"/>
    <p:sldId id="341" r:id="rId8"/>
    <p:sldId id="342" r:id="rId9"/>
    <p:sldId id="261" r:id="rId10"/>
    <p:sldId id="340" r:id="rId11"/>
    <p:sldId id="343" r:id="rId12"/>
    <p:sldId id="344" r:id="rId13"/>
    <p:sldId id="262" r:id="rId14"/>
    <p:sldId id="263" r:id="rId15"/>
    <p:sldId id="264" r:id="rId16"/>
    <p:sldId id="265" r:id="rId17"/>
    <p:sldId id="335" r:id="rId18"/>
    <p:sldId id="336" r:id="rId19"/>
    <p:sldId id="266" r:id="rId20"/>
    <p:sldId id="267" r:id="rId21"/>
    <p:sldId id="268" r:id="rId22"/>
    <p:sldId id="270" r:id="rId23"/>
    <p:sldId id="271" r:id="rId24"/>
    <p:sldId id="272" r:id="rId25"/>
    <p:sldId id="273" r:id="rId26"/>
    <p:sldId id="274" r:id="rId27"/>
    <p:sldId id="275" r:id="rId28"/>
    <p:sldId id="339" r:id="rId29"/>
    <p:sldId id="276" r:id="rId30"/>
    <p:sldId id="277" r:id="rId31"/>
    <p:sldId id="278" r:id="rId32"/>
    <p:sldId id="279" r:id="rId33"/>
    <p:sldId id="280" r:id="rId34"/>
    <p:sldId id="281" r:id="rId35"/>
    <p:sldId id="282" r:id="rId36"/>
    <p:sldId id="283" r:id="rId37"/>
    <p:sldId id="284" r:id="rId38"/>
    <p:sldId id="285" r:id="rId39"/>
    <p:sldId id="286" r:id="rId40"/>
    <p:sldId id="287" r:id="rId41"/>
    <p:sldId id="338" r:id="rId42"/>
    <p:sldId id="288" r:id="rId43"/>
    <p:sldId id="289" r:id="rId44"/>
    <p:sldId id="290" r:id="rId45"/>
    <p:sldId id="291" r:id="rId46"/>
    <p:sldId id="292" r:id="rId47"/>
    <p:sldId id="293" r:id="rId48"/>
    <p:sldId id="294" r:id="rId49"/>
    <p:sldId id="295" r:id="rId50"/>
    <p:sldId id="296" r:id="rId51"/>
    <p:sldId id="297" r:id="rId52"/>
    <p:sldId id="299" r:id="rId53"/>
    <p:sldId id="298" r:id="rId54"/>
    <p:sldId id="300" r:id="rId55"/>
    <p:sldId id="301" r:id="rId56"/>
    <p:sldId id="337" r:id="rId57"/>
    <p:sldId id="302" r:id="rId58"/>
    <p:sldId id="303" r:id="rId59"/>
    <p:sldId id="305" r:id="rId60"/>
    <p:sldId id="307" r:id="rId61"/>
    <p:sldId id="308" r:id="rId62"/>
    <p:sldId id="309" r:id="rId63"/>
    <p:sldId id="306" r:id="rId64"/>
    <p:sldId id="310" r:id="rId65"/>
    <p:sldId id="311" r:id="rId66"/>
    <p:sldId id="312" r:id="rId67"/>
    <p:sldId id="313" r:id="rId68"/>
    <p:sldId id="314" r:id="rId69"/>
    <p:sldId id="315" r:id="rId70"/>
    <p:sldId id="316" r:id="rId71"/>
    <p:sldId id="317" r:id="rId72"/>
    <p:sldId id="318" r:id="rId73"/>
    <p:sldId id="319" r:id="rId74"/>
    <p:sldId id="320" r:id="rId75"/>
    <p:sldId id="321" r:id="rId76"/>
    <p:sldId id="322" r:id="rId77"/>
    <p:sldId id="323" r:id="rId78"/>
    <p:sldId id="324" r:id="rId79"/>
    <p:sldId id="325" r:id="rId80"/>
    <p:sldId id="326" r:id="rId81"/>
    <p:sldId id="327" r:id="rId82"/>
    <p:sldId id="328" r:id="rId83"/>
    <p:sldId id="329" r:id="rId84"/>
    <p:sldId id="330" r:id="rId85"/>
    <p:sldId id="331" r:id="rId86"/>
    <p:sldId id="332" r:id="rId87"/>
    <p:sldId id="333" r:id="rId88"/>
    <p:sldId id="334" r:id="rId89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DD6AA1A-F38B-4C00-8A25-BF519BC10D44}">
          <p14:sldIdLst>
            <p14:sldId id="256"/>
            <p14:sldId id="257"/>
            <p14:sldId id="269"/>
          </p14:sldIdLst>
        </p14:section>
        <p14:section name="Generalized linear models" id="{607A7931-5F8C-4C7A-A608-27B0FE311ECF}">
          <p14:sldIdLst>
            <p14:sldId id="258"/>
            <p14:sldId id="259"/>
            <p14:sldId id="260"/>
            <p14:sldId id="341"/>
            <p14:sldId id="342"/>
            <p14:sldId id="261"/>
            <p14:sldId id="340"/>
            <p14:sldId id="343"/>
            <p14:sldId id="344"/>
            <p14:sldId id="262"/>
            <p14:sldId id="263"/>
            <p14:sldId id="264"/>
            <p14:sldId id="265"/>
            <p14:sldId id="335"/>
            <p14:sldId id="336"/>
            <p14:sldId id="266"/>
            <p14:sldId id="267"/>
          </p14:sldIdLst>
        </p14:section>
        <p14:section name="GLMs for count data" id="{56F76673-1ABD-4E7A-B1F6-229756D25F51}">
          <p14:sldIdLst>
            <p14:sldId id="268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Model diagnostics" id="{AB1C3E1C-97DF-49DD-B77F-8E7D1E515717}">
          <p14:sldIdLst>
            <p14:sldId id="339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</p14:sldIdLst>
        </p14:section>
        <p14:section name="Overdispersion" id="{977CF2AC-0A00-4B89-96BB-EC8F66F5EF06}">
          <p14:sldIdLst>
            <p14:sldId id="338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9"/>
            <p14:sldId id="298"/>
            <p14:sldId id="300"/>
            <p14:sldId id="301"/>
          </p14:sldIdLst>
        </p14:section>
        <p14:section name="Excess zero counts" id="{9C7E6F90-0738-4CD2-BB39-2C93C2DD6F43}">
          <p14:sldIdLst>
            <p14:sldId id="337"/>
            <p14:sldId id="302"/>
            <p14:sldId id="303"/>
            <p14:sldId id="305"/>
            <p14:sldId id="307"/>
            <p14:sldId id="308"/>
            <p14:sldId id="309"/>
            <p14:sldId id="306"/>
            <p14:sldId id="310"/>
            <p14:sldId id="311"/>
            <p14:sldId id="312"/>
            <p14:sldId id="313"/>
            <p14:sldId id="314"/>
            <p14:sldId id="315"/>
            <p14:sldId id="316"/>
            <p14:sldId id="317"/>
            <p14:sldId id="318"/>
            <p14:sldId id="319"/>
          </p14:sldIdLst>
        </p14:section>
        <p14:section name="Wrapup" id="{3EDFCAC7-18D6-4EA8-A361-D67769EC95EC}">
          <p14:sldIdLst>
            <p14:sldId id="320"/>
            <p14:sldId id="321"/>
            <p14:sldId id="322"/>
            <p14:sldId id="323"/>
            <p14:sldId id="324"/>
            <p14:sldId id="325"/>
            <p14:sldId id="326"/>
            <p14:sldId id="327"/>
            <p14:sldId id="328"/>
            <p14:sldId id="329"/>
            <p14:sldId id="330"/>
            <p14:sldId id="331"/>
            <p14:sldId id="332"/>
            <p14:sldId id="333"/>
            <p14:sldId id="33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\slideLayouts\_rels\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solidFill>
            <a:srgbClr val="002060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AD3657-2200-4D14-82C0-10C39B0F0F06}" type="datetime1">
              <a:rPr lang="en-US" smtClean="0"/>
              <a:t>3/28/2023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966335"/>
      </p:ext>
    </p:extLst>
  </p:cSld>
  <p:clrMapOvr>
    <a:masterClrMapping/>
  </p:clrMapOvr>
</p:sldLayout>
</file>

<file path=ppt\slideLayouts\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SzPct val="120000"/>
              <a:defRPr sz="2800"/>
            </a:lvl1pPr>
            <a:lvl2pPr>
              <a:defRPr sz="2400"/>
            </a:lvl2pPr>
            <a:lvl3pPr marL="1143000" indent="-228600">
              <a:buClr>
                <a:srgbClr val="00B0F0"/>
              </a:buClr>
              <a:buSzPct val="110000"/>
              <a:buFont typeface="Arial" panose="020B0604020202020204" pitchFamily="34" charset="0"/>
              <a:buChar char="•"/>
              <a:defRPr sz="2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1AD17-B813-4477-8AFE-B1860CC59113}" type="datetime1">
              <a:rPr lang="en-US" smtClean="0"/>
              <a:t>3/28/2023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557924"/>
      </p:ext>
    </p:extLst>
  </p:cSld>
  <p:clrMapOvr>
    <a:masterClrMapping/>
  </p:clrMapOvr>
</p:sldLayout>
</file>

<file path=ppt\slideLayouts\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none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975C0D-5C9E-48CC-8D31-F42D19FA8F7A}" type="datetime1">
              <a:rPr lang="en-US" smtClean="0"/>
              <a:t>3/28/2023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221966"/>
      </p:ext>
    </p:extLst>
  </p:cSld>
  <p:clrMapOvr>
    <a:masterClrMapping/>
  </p:clrMapOvr>
</p:sldLayout>
</file>

<file path=ppt\slideLayouts\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143000"/>
            <a:ext cx="4038600" cy="5105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143000"/>
            <a:ext cx="4038600" cy="5105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657551-0F2B-4F09-86FD-F7994CE83DC5}" type="datetime1">
              <a:rPr lang="en-US" smtClean="0"/>
              <a:t>3/28/2023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701544"/>
      </p:ext>
    </p:extLst>
  </p:cSld>
  <p:clrMapOvr>
    <a:masterClrMapping/>
  </p:clrMapOvr>
</p:sldLayout>
</file>

<file path=ppt\slideLayouts\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29D2B2-4200-46B9-96C3-02A55D5FAA00}" type="datetime1">
              <a:rPr lang="en-US" smtClean="0"/>
              <a:t>3/28/2023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876773"/>
      </p:ext>
    </p:extLst>
  </p:cSld>
  <p:clrMapOvr>
    <a:masterClrMapping/>
  </p:clrMapOvr>
</p:sldLayout>
</file>

<file path=ppt\slideLayouts\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F7722-74E8-497F-A072-89677A2C2373}" type="datetime1">
              <a:rPr lang="en-US" smtClean="0"/>
              <a:t>3/28/2023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363155"/>
      </p:ext>
    </p:extLst>
  </p:cSld>
  <p:clrMapOvr>
    <a:masterClrMapping/>
  </p:clrMapOvr>
</p:sldLayout>
</file>

<file path=ppt\slideLayouts\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6212E-B46B-426F-AE59-AA326827D9E0}" type="datetime1">
              <a:rPr lang="en-US" smtClean="0"/>
              <a:t>3/28/2023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694640"/>
      </p:ext>
    </p:extLst>
  </p:cSld>
  <p:clrMapOvr>
    <a:masterClrMapping/>
  </p:clrMapOvr>
</p:sldLayout>
</file>

<file path=ppt\slideLayouts\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9B81E8-09EA-4684-A39F-38DE1E49D20C}" type="datetime1">
              <a:rPr lang="en-US" smtClean="0"/>
              <a:t>3/28/2023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0109885"/>
      </p:ext>
    </p:extLst>
  </p:cSld>
  <p:clrMapOvr>
    <a:masterClrMapping/>
  </p:clrMapOvr>
</p:sldLayout>
</file>

<file path=ppt\slideLayouts\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C5CC5F-056C-4047-9A5C-9F5B4BED129B}" type="datetime1">
              <a:rPr lang="en-US" smtClean="0"/>
              <a:t>3/28/2023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9937829"/>
      </p:ext>
    </p:extLst>
  </p:cSld>
  <p:clrMapOvr>
    <a:masterClrMapping/>
  </p:clrMapOvr>
</p:sldLayout>
</file>

<file path=ppt\slideLayouts\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BAF55-A85E-4993-914E-FC1E5AA7DF24}" type="datetime1">
              <a:rPr lang="en-US" smtClean="0"/>
              <a:t>3/28/2023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186698"/>
      </p:ext>
    </p:extLst>
  </p:cSld>
  <p:clrMapOvr>
    <a:masterClrMapping/>
  </p:clrMapOvr>
</p:sldLayout>
</file>

<file path=ppt\slideLayouts\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16E07-E1DB-44A4-A5E5-9F4B54E8C933}" type="datetime1">
              <a:rPr lang="en-US" smtClean="0"/>
              <a:t>3/28/2023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4179174"/>
      </p:ext>
    </p:extLst>
  </p:cSld>
  <p:clrMapOvr>
    <a:masterClrMapping/>
  </p:clrMapOvr>
</p:sldLayout>
</file>

<file path=ppt\slideMasters\_rels\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\slideMasters\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15962"/>
          </a:xfrm>
          <a:prstGeom prst="rect">
            <a:avLst/>
          </a:prstGeom>
          <a:solidFill>
            <a:srgbClr val="002060"/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3000"/>
            <a:ext cx="8229600" cy="5105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171053-07BD-4A17-AC24-0A22EAA36098}" type="datetime1">
              <a:rPr lang="en-US" smtClean="0"/>
              <a:t>3/28/2023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94294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Clr>
          <a:srgbClr val="0070C0"/>
        </a:buClr>
        <a:buSzPct val="115000"/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Clr>
          <a:srgbClr val="FF0000"/>
        </a:buClr>
        <a:buSzPct val="110000"/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\slides\_rels\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\slides\_rels\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\slides\_rels\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\slides\_rels\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\slides\_rels\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.emf"/></Relationships>
</file>

<file path=ppt\slides\_rels\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4.png"/></Relationships>
</file>

<file path=ppt\slides\_rels\slide7.xml.rels><?xml version="1.0" encoding="UTF-8" standalone="yes"?>
<Relationships xmlns="http://schemas.openxmlformats.org/package/2006/relationships"><Relationship Id="rId3" Type="http://schemas.openxmlformats.org/officeDocument/2006/relationships/hyperlink" Target="http://www.unige.ch/ses/sococ/cl/stat/eda/ladder.html" TargetMode="External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\slides\_rels\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portalacademico.cch.unam.mx/ingles1/people-i-love/family-members" TargetMode="External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6.xml"/></Relationships>
</file>

<file path=ppt\slides\_rels\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\slides\_rels\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\slides\_rels\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\slides\_rels\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\slides\_rels\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\slides\_rels\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\slides\_rels\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\slides\_rels\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\slides\_rels\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\slides\_rels\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/Relationships>
</file>

<file path=ppt\slides\_rels\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/Relationships>
</file>

<file path=ppt\slides\_rels\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\slides\_rels\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\slides\_rels\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\slides\_rels\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\slides\_rels\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\slides\_rels\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\slides\_rels\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\slides\_rels\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6.xml"/></Relationships>
</file>

<file path=ppt\slides\_rels\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7.xml"/></Relationships>
</file>

<file path=ppt\slides\_rels\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\slides\_rels\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\slides\_rels\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\slides\_rels\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\slides\_rels\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6.xml"/></Relationships>
</file>

<file path=ppt\slides\_rels\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0.png"/><Relationship Id="rId1" Type="http://schemas.openxmlformats.org/officeDocument/2006/relationships/slideLayout" Target="../slideLayouts/slideLayout2.xml"/></Relationships>
</file>

<file path=ppt\slides\_rels\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/Relationships>
</file>

<file path=ppt\slides\_rels\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6.xml"/></Relationships>
</file>

<file path=ppt\slides\_rels\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6.xml"/></Relationships>
</file>

<file path=ppt\slides\_rels\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6.xml"/></Relationships>
</file>

<file path=ppt\slides\_rels\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\slides\_rels\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6.xml"/></Relationships>
</file>

<file path=ppt\slides\_rels\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jpg"/><Relationship Id="rId1" Type="http://schemas.openxmlformats.org/officeDocument/2006/relationships/slideLayout" Target="../slideLayouts/slideLayout7.xml"/></Relationships>
</file>

<file path=ppt\slides\_rels\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7.png"/></Relationships>
</file>

<file path=ppt\slides\_rels\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\slides\_rels\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0.png"/><Relationship Id="rId1" Type="http://schemas.openxmlformats.org/officeDocument/2006/relationships/slideLayout" Target="../slideLayouts/slideLayout2.xml"/></Relationships>
</file>

<file path=ppt\slides\_rels\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\slides\_rels\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\slides\_rels\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/Relationships>
</file>

<file path=ppt\slides\_rels\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6.xml"/></Relationships>
</file>

<file path=ppt\slides\_rels\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6.xml"/></Relationships>
</file>

<file path=ppt\slides\_rels\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6.xml"/></Relationships>
</file>

<file path=ppt\slides\_rels\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6.xml"/></Relationships>
</file>

<file path=ppt\slides\_rels\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\slides\_rels\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6.xml"/></Relationships>
</file>

<file path=ppt\slides\_rels\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\slides\_rels\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\slides\_rels\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jpg"/><Relationship Id="rId1" Type="http://schemas.openxmlformats.org/officeDocument/2006/relationships/slideLayout" Target="../slideLayouts/slideLayout6.xml"/></Relationships>
</file>

<file path=ppt\slides\_rels\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\slides\_rels\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64.png"/><Relationship Id="rId4" Type="http://schemas.openxmlformats.org/officeDocument/2006/relationships/image" Target="../media/image63.png"/></Relationships>
</file>

<file path=ppt\slides\_rels\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6.xml"/></Relationships>
</file>

<file path=ppt\slides\_rels\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70.png"/><Relationship Id="rId4" Type="http://schemas.openxmlformats.org/officeDocument/2006/relationships/image" Target="../media/image69.png"/></Relationships>
</file>

<file path=ppt\slides\_rels\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\slides\_rels\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6.xml"/></Relationships>
</file>

<file path=ppt\slides\_rels\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4.png"/></Relationships>
</file>

<file path=ppt\slides\_rels\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7.png"/></Relationships>
</file>

<file path=ppt\slides\_rels\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6.xml"/></Relationships>
</file>

<file path=ppt\slides\_rels\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\slides\_rels\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\slides\_rels\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\slides\_rels\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\slides\_rels\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6.xml"/></Relationships>
</file>

<file path=ppt\slides\_rels\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\slides\_rels\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6.xml"/></Relationships>
</file>

<file path=ppt\slides\_rels\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/Relationships>
</file>

<file path=ppt\slides\_rels\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87.png"/><Relationship Id="rId4" Type="http://schemas.openxmlformats.org/officeDocument/2006/relationships/image" Target="../media/image86.png"/></Relationships>
</file>

<file path=ppt\slides\_rels\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0.png"/></Relationships>
</file>

<file path=ppt\slides\_rels\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jpg"/><Relationship Id="rId1" Type="http://schemas.openxmlformats.org/officeDocument/2006/relationships/slideLayout" Target="../slideLayouts/slideLayout2.xml"/></Relationships>
</file>

<file path=ppt\slides\_rels\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jpg"/><Relationship Id="rId1" Type="http://schemas.openxmlformats.org/officeDocument/2006/relationships/slideLayout" Target="../slideLayouts/slideLayout2.xml"/></Relationships>
</file>

<file path=ppt\slides\_rels\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\slides\_rels\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\slides\_rels\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\slides\_rels\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6.xml"/></Relationships>
</file>

<file path=ppt\slides\_rels\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\slides\_rels\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6.xml"/></Relationships>
</file>

<file path=ppt\slides\_rels\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\slides\_rels\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\slides\_rels\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6.xml"/></Relationships>
</file>

<file path=ppt\slides\_rels\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6.xml"/></Relationships>
</file>

<file path=ppt\slides\_rels\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\slides\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3352800"/>
            <a:ext cx="7772400" cy="784225"/>
          </a:xfrm>
        </p:spPr>
        <p:txBody>
          <a:bodyPr/>
          <a:lstStyle/>
          <a:p>
            <a:r>
              <a:rPr lang="en-US" dirty="0"/>
              <a:t>GLMs for Count Data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4648200"/>
            <a:ext cx="6400800" cy="1752600"/>
          </a:xfrm>
        </p:spPr>
        <p:txBody>
          <a:bodyPr/>
          <a:lstStyle/>
          <a:p>
            <a:r>
              <a:rPr lang="en-US" dirty="0"/>
              <a:t>Michael Friendly</a:t>
            </a:r>
          </a:p>
          <a:p>
            <a:r>
              <a:rPr lang="en-US" dirty="0"/>
              <a:t>Psych 6136</a:t>
            </a:r>
          </a:p>
          <a:p>
            <a:pPr lvl="0"/>
            <a:r>
              <a:rPr lang="en-US" sz="2200" dirty="0">
                <a:solidFill>
                  <a:prstClr val="black">
                    <a:tint val="75000"/>
                  </a:prstClr>
                </a:solidFill>
              </a:rPr>
              <a:t>http://friendly.github.io/psy6136 </a:t>
            </a:r>
          </a:p>
          <a:p>
            <a:endParaRPr lang="en-US" dirty="0"/>
          </a:p>
        </p:txBody>
      </p:sp>
      <p:pic>
        <p:nvPicPr>
          <p:cNvPr id="4" name="Picture 3" descr="Shape&#10;&#10;Description automatically generated">
            <a:extLst>
              <a:ext uri="{FF2B5EF4-FFF2-40B4-BE49-F238E27FC236}">
                <a16:creationId xmlns:a16="http://schemas.microsoft.com/office/drawing/2014/main" id="{15D465FD-F1E7-4DD7-A16E-F94296DB38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" y="4578350"/>
            <a:ext cx="1495928" cy="1730890"/>
          </a:xfrm>
          <a:prstGeom prst="rect">
            <a:avLst/>
          </a:prstGeom>
        </p:spPr>
      </p:pic>
      <p:pic>
        <p:nvPicPr>
          <p:cNvPr id="5" name="Picture 4" descr="Shape&#10;&#10;Description automatically generated">
            <a:extLst>
              <a:ext uri="{FF2B5EF4-FFF2-40B4-BE49-F238E27FC236}">
                <a16:creationId xmlns:a16="http://schemas.microsoft.com/office/drawing/2014/main" id="{82E36437-FB1B-4935-AF18-CE18C68FBF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2272" y="4578350"/>
            <a:ext cx="1495928" cy="173089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5A94870-A6B3-4528-9ED9-A9A6D12384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321185"/>
            <a:ext cx="3080848" cy="2651760"/>
          </a:xfrm>
          <a:prstGeom prst="rect">
            <a:avLst/>
          </a:prstGeom>
        </p:spPr>
      </p:pic>
      <p:pic>
        <p:nvPicPr>
          <p:cNvPr id="7" name="Picture 6" descr="Chart&#10;&#10;Description automatically generated">
            <a:extLst>
              <a:ext uri="{FF2B5EF4-FFF2-40B4-BE49-F238E27FC236}">
                <a16:creationId xmlns:a16="http://schemas.microsoft.com/office/drawing/2014/main" id="{A7E08C2F-513F-41CF-BBCE-1496AEF4F53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91075" y="321185"/>
            <a:ext cx="2619525" cy="265176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142828F-0159-4D13-963C-D56F467527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87324" y="321185"/>
            <a:ext cx="2532476" cy="2651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0465655"/>
      </p:ext>
    </p:extLst>
  </p:cSld>
  <p:clrMapOvr>
    <a:masterClrMapping/>
  </p:clrMapOvr>
</p:sld>
</file>

<file path=ppt\slides\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F25D7-B71D-4ECB-AC51-01549A400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Topics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58F53E-EE8A-46EB-BF32-EF55A1CFFB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Generalized linear models</a:t>
            </a:r>
          </a:p>
          <a:p>
            <a:r>
              <a:rPr lang="en-US" dirty="0"/>
              <a:t>GLMs for count data</a:t>
            </a:r>
          </a:p>
          <a:p>
            <a:pPr lvl="1"/>
            <a:r>
              <a:rPr lang="en-US" dirty="0"/>
              <a:t>Example: PhD publications</a:t>
            </a:r>
          </a:p>
          <a:p>
            <a:r>
              <a:rPr lang="en-US" dirty="0"/>
              <a:t>Model diagnostics</a:t>
            </a:r>
          </a:p>
          <a:p>
            <a:pPr lvl="1"/>
            <a:r>
              <a:rPr lang="en-US" dirty="0"/>
              <a:t>Interactions</a:t>
            </a:r>
          </a:p>
          <a:p>
            <a:pPr lvl="1"/>
            <a:r>
              <a:rPr lang="en-US" dirty="0"/>
              <a:t>Nonlinearity</a:t>
            </a:r>
          </a:p>
          <a:p>
            <a:pPr lvl="1"/>
            <a:r>
              <a:rPr lang="en-US" dirty="0"/>
              <a:t>Outliers, leverage &amp; influence</a:t>
            </a:r>
          </a:p>
          <a:p>
            <a:r>
              <a:rPr lang="en-US" dirty="0"/>
              <a:t>Overdispersion</a:t>
            </a:r>
          </a:p>
          <a:p>
            <a:pPr lvl="1"/>
            <a:r>
              <a:rPr lang="en-US" dirty="0"/>
              <a:t>Quasi-</a:t>
            </a:r>
            <a:r>
              <a:rPr lang="en-US" dirty="0" err="1"/>
              <a:t>poisson</a:t>
            </a:r>
            <a:r>
              <a:rPr lang="en-US" dirty="0"/>
              <a:t> models</a:t>
            </a:r>
          </a:p>
          <a:p>
            <a:pPr lvl="1"/>
            <a:r>
              <a:rPr lang="en-US" dirty="0"/>
              <a:t>Negative binomial models</a:t>
            </a:r>
          </a:p>
          <a:p>
            <a:r>
              <a:rPr lang="en-US" dirty="0"/>
              <a:t>Excess zeros</a:t>
            </a:r>
          </a:p>
          <a:p>
            <a:pPr lvl="1"/>
            <a:r>
              <a:rPr lang="en-US" dirty="0"/>
              <a:t>Zero-inflated models</a:t>
            </a:r>
          </a:p>
          <a:p>
            <a:pPr lvl="1"/>
            <a:r>
              <a:rPr lang="en-US" dirty="0"/>
              <a:t>Hurdle models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E367D8-5EEC-40D4-B7E0-39250173CD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6059814"/>
      </p:ext>
    </p:extLst>
  </p:cSld>
  <p:clrMapOvr>
    <a:masterClrMapping/>
  </p:clrMapOvr>
</p:sld>
</file>

<file path=ppt\slides\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7FA042-4445-43E6-B4DD-4A2D9F00BA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Count data models: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6E7E54-ADD2-4F3A-8C80-E2E28954AA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sz="2400" dirty="0">
                <a:solidFill>
                  <a:srgbClr val="0070C0"/>
                </a:solidFill>
              </a:rPr>
              <a:t>Count data </a:t>
            </a:r>
            <a:r>
              <a:rPr lang="en-US" sz="2400" dirty="0"/>
              <a:t>models arise when the basic observation is a frequency, </a:t>
            </a:r>
            <a:r>
              <a:rPr lang="en-US" sz="2400" i="1" dirty="0"/>
              <a:t>y</a:t>
            </a:r>
            <a:r>
              <a:rPr lang="en-US" sz="2400" dirty="0"/>
              <a:t> = 0, 1, 2, … of some event and we have some predictors, x</a:t>
            </a:r>
            <a:r>
              <a:rPr lang="en-US" sz="2400" baseline="-25000" dirty="0"/>
              <a:t>1</a:t>
            </a:r>
            <a:r>
              <a:rPr lang="en-US" sz="2400" dirty="0"/>
              <a:t>, x</a:t>
            </a:r>
            <a:r>
              <a:rPr lang="en-US" sz="2400" baseline="-25000" dirty="0"/>
              <a:t>2</a:t>
            </a:r>
            <a:r>
              <a:rPr lang="en-US" sz="2400" dirty="0"/>
              <a:t>, … to help explain them.</a:t>
            </a:r>
          </a:p>
          <a:p>
            <a:pPr lvl="1"/>
            <a:r>
              <a:rPr lang="en-US" sz="2000" dirty="0"/>
              <a:t>Typically, these counts ~ Poisson() </a:t>
            </a:r>
            <a:r>
              <a:rPr lang="en-US" sz="2000" dirty="0">
                <a:sym typeface="Symbol" panose="05050102010706020507" pitchFamily="18" charset="2"/>
              </a:rPr>
              <a:t> “</a:t>
            </a:r>
            <a:r>
              <a:rPr lang="en-US" sz="2000" dirty="0" err="1">
                <a:sym typeface="Symbol" panose="05050102010706020507" pitchFamily="18" charset="2"/>
              </a:rPr>
              <a:t>poisson</a:t>
            </a:r>
            <a:r>
              <a:rPr lang="en-US" sz="2000" dirty="0">
                <a:sym typeface="Symbol" panose="05050102010706020507" pitchFamily="18" charset="2"/>
              </a:rPr>
              <a:t> regression”</a:t>
            </a:r>
            <a:endParaRPr lang="en-US" sz="2000" dirty="0"/>
          </a:p>
          <a:p>
            <a:r>
              <a:rPr lang="en-US" sz="2400" dirty="0"/>
              <a:t>Examples:</a:t>
            </a:r>
          </a:p>
          <a:p>
            <a:pPr lvl="1"/>
            <a:r>
              <a:rPr lang="en-US" sz="2000" dirty="0"/>
              <a:t>Number of articles published by PhD candidates</a:t>
            </a:r>
          </a:p>
          <a:p>
            <a:pPr lvl="2"/>
            <a:r>
              <a:rPr lang="en-US" sz="1600" dirty="0"/>
              <a:t>Predictors: Married?, Female?, Kids &lt; 5?, pubs by mentor</a:t>
            </a:r>
          </a:p>
          <a:p>
            <a:pPr lvl="1"/>
            <a:r>
              <a:rPr lang="en-US" sz="2000" dirty="0"/>
              <a:t>Number of parasites in blood samples of Norwegian cod</a:t>
            </a:r>
          </a:p>
          <a:p>
            <a:pPr lvl="2"/>
            <a:r>
              <a:rPr lang="en-US" sz="1600" dirty="0"/>
              <a:t>Predictors: Catch area, Year, length of fish</a:t>
            </a:r>
          </a:p>
          <a:p>
            <a:pPr lvl="1"/>
            <a:r>
              <a:rPr lang="en-US" sz="2000" dirty="0"/>
              <a:t>Female horseshoe crabs: Number of “satellite” males</a:t>
            </a:r>
          </a:p>
          <a:p>
            <a:pPr lvl="2"/>
            <a:r>
              <a:rPr lang="en-US" sz="1600" dirty="0"/>
              <a:t>Predictors: Female weight, color, spine condition, shell width</a:t>
            </a:r>
          </a:p>
          <a:p>
            <a:r>
              <a:rPr lang="en-US" sz="2400" dirty="0"/>
              <a:t>Special circumstances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Overdispersion</a:t>
            </a:r>
            <a:r>
              <a:rPr lang="en-US" sz="2000" dirty="0"/>
              <a:t>: when the variance &gt; mean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Zero-counts</a:t>
            </a:r>
            <a:r>
              <a:rPr lang="en-US" sz="2000" dirty="0"/>
              <a:t>: When excess 0 counts require an extra model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ECD0D6-0F06-4C3A-8EF4-3F94DCC88C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553200" y="6399132"/>
            <a:ext cx="2133600" cy="365125"/>
          </a:xfrm>
        </p:spPr>
        <p:txBody>
          <a:bodyPr/>
          <a:lstStyle/>
          <a:p>
            <a:fld id="{621225AB-15B9-4C79-A121-04D1DC7E2307}" type="slidenum">
              <a:rPr lang="en-US" smtClean="0"/>
              <a:t>3</a:t>
            </a:fld>
            <a:endParaRPr lang="en-US"/>
          </a:p>
        </p:txBody>
      </p:sp>
      <p:pic>
        <p:nvPicPr>
          <p:cNvPr id="6" name="Picture 5" descr="Background pattern&#10;&#10;Description automatically generated">
            <a:extLst>
              <a:ext uri="{FF2B5EF4-FFF2-40B4-BE49-F238E27FC236}">
                <a16:creationId xmlns:a16="http://schemas.microsoft.com/office/drawing/2014/main" id="{24E674E3-DB74-C865-C2DD-A1D2B08DB4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22262" y="2874062"/>
            <a:ext cx="621613" cy="621613"/>
          </a:xfrm>
          <a:prstGeom prst="rect">
            <a:avLst/>
          </a:prstGeom>
        </p:spPr>
      </p:pic>
      <p:pic>
        <p:nvPicPr>
          <p:cNvPr id="8" name="Picture 7" descr="Shape&#10;&#10;Description automatically generated with low confidence">
            <a:extLst>
              <a:ext uri="{FF2B5EF4-FFF2-40B4-BE49-F238E27FC236}">
                <a16:creationId xmlns:a16="http://schemas.microsoft.com/office/drawing/2014/main" id="{83E6A9A4-B81D-104B-2D9B-ED5093A410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9000" y="3429000"/>
            <a:ext cx="965041" cy="965041"/>
          </a:xfrm>
          <a:prstGeom prst="rect">
            <a:avLst/>
          </a:prstGeom>
        </p:spPr>
      </p:pic>
      <p:pic>
        <p:nvPicPr>
          <p:cNvPr id="10" name="Picture 9" descr="Shape&#10;&#10;Description automatically generated with medium confidence">
            <a:extLst>
              <a:ext uri="{FF2B5EF4-FFF2-40B4-BE49-F238E27FC236}">
                <a16:creationId xmlns:a16="http://schemas.microsoft.com/office/drawing/2014/main" id="{FAA6E2A1-17AD-FF6A-ADF7-4D90CB56D43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0816" y="4191000"/>
            <a:ext cx="613225" cy="646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196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\slides\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76A89F-F6FB-4FDA-814A-90751CDE9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Generalized linear models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09A8A5-46DF-4C60-AEA1-20ED8C09D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57985C-FDCC-4170-B1C9-88CDD8ED28C4}"/>
              </a:ext>
            </a:extLst>
          </p:cNvPr>
          <p:cNvSpPr txBox="1"/>
          <p:nvPr/>
        </p:nvSpPr>
        <p:spPr>
          <a:xfrm>
            <a:off x="533400" y="1371600"/>
            <a:ext cx="8153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We have used </a:t>
            </a:r>
            <a:r>
              <a:rPr lang="en-US" sz="2000" dirty="0">
                <a:solidFill>
                  <a:srgbClr val="0070C0"/>
                </a:solidFill>
              </a:rPr>
              <a:t>generalized</a:t>
            </a:r>
            <a:r>
              <a:rPr lang="en-US" sz="2000" dirty="0"/>
              <a:t> linear models fit with </a:t>
            </a:r>
            <a:r>
              <a:rPr lang="en-US" sz="2000" dirty="0" err="1">
                <a:solidFill>
                  <a:srgbClr val="0070C0"/>
                </a:solidFill>
              </a:rPr>
              <a:t>glm</a:t>
            </a:r>
            <a:r>
              <a:rPr lang="en-US" sz="2000" dirty="0">
                <a:solidFill>
                  <a:srgbClr val="0070C0"/>
                </a:solidFill>
              </a:rPr>
              <a:t>() </a:t>
            </a:r>
            <a:r>
              <a:rPr lang="en-US" sz="2000" dirty="0"/>
              <a:t>in two contexts so far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F24ADCA-AE18-4968-B8D4-21DA1FB518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1981200"/>
            <a:ext cx="8171428" cy="260952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E6EC565-A119-E11C-B40A-2DE6357C3690}"/>
              </a:ext>
            </a:extLst>
          </p:cNvPr>
          <p:cNvSpPr txBox="1"/>
          <p:nvPr/>
        </p:nvSpPr>
        <p:spPr>
          <a:xfrm>
            <a:off x="533400" y="4953000"/>
            <a:ext cx="812431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Hmm. Isn’t the problem with frequency data just that of </a:t>
            </a:r>
            <a:r>
              <a:rPr lang="en-CA" dirty="0">
                <a:solidFill>
                  <a:srgbClr val="0070C0"/>
                </a:solidFill>
              </a:rPr>
              <a:t>non-constant variance</a:t>
            </a:r>
            <a:r>
              <a:rPr lang="en-CA" dirty="0"/>
              <a:t>?</a:t>
            </a:r>
          </a:p>
          <a:p>
            <a:r>
              <a:rPr lang="en-CA" dirty="0"/>
              <a:t>Questions: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Why not just transform y -&gt; log(y) and use standard OLS regression?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Why should I bother with Poisson anyway? He wasn’t even </a:t>
            </a:r>
            <a:r>
              <a:rPr lang="en-CA" dirty="0">
                <a:solidFill>
                  <a:srgbClr val="FF0000"/>
                </a:solidFill>
              </a:rPr>
              <a:t>NORMAL !</a:t>
            </a:r>
          </a:p>
        </p:txBody>
      </p:sp>
    </p:spTree>
    <p:extLst>
      <p:ext uri="{BB962C8B-B14F-4D97-AF65-F5344CB8AC3E}">
        <p14:creationId xmlns:p14="http://schemas.microsoft.com/office/powerpoint/2010/main" val="111513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\slides\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265882-F9BE-436C-B58A-47A0C6E96D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Generalized linear models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4D8524D-6406-49E5-8B3C-A2A583ECD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85E836-B165-45AE-8466-C58F854C92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171428" cy="255238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DE95D15-FA30-4ADD-9A4E-54D51BABFA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191000"/>
            <a:ext cx="8171428" cy="141904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128265B-ADB5-4EE0-AA50-C21905EFC5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4000" y="5825282"/>
            <a:ext cx="6237935" cy="434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45427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\slides\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420F68-4B50-40D3-A459-F9B44BC58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Generalized linear models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BCE6CF6-9959-42E7-8E5C-68DED4DA4F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AA4C7-A363-4FBC-9E4D-BB95B9EB42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95400"/>
            <a:ext cx="8171428" cy="194285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061AD4E-6B7F-49D6-980D-A41C8FB0D4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429000"/>
            <a:ext cx="8171428" cy="11714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9F80F30-FC5A-4CBD-AD7E-2C1B17FF56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788766"/>
            <a:ext cx="8171428" cy="1257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2681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\slides\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A137F3-7899-D1E9-50E3-959F2758A8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GLMs: The light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A50F08-571A-BD30-3B09-ABE928CB7E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1524000"/>
          </a:xfrm>
        </p:spPr>
        <p:txBody>
          <a:bodyPr/>
          <a:lstStyle/>
          <a:p>
            <a:r>
              <a:rPr lang="en-CA" dirty="0"/>
              <a:t>No need to consider all those special cases to transform y for homogeneity of variance</a:t>
            </a:r>
          </a:p>
          <a:p>
            <a:pPr lvl="1"/>
            <a:r>
              <a:rPr lang="en-CA" dirty="0"/>
              <a:t>EDA approach: ladder of powers, transform to symmetry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4AB4F4D-D6ED-66DA-8C85-2E430832B8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</a:t>
            </a:fld>
            <a:endParaRPr lang="en-US"/>
          </a:p>
        </p:txBody>
      </p:sp>
      <p:pic>
        <p:nvPicPr>
          <p:cNvPr id="6" name="Picture 5" descr="Chart, box and whisker chart&#10;&#10;Description automatically generated">
            <a:extLst>
              <a:ext uri="{FF2B5EF4-FFF2-40B4-BE49-F238E27FC236}">
                <a16:creationId xmlns:a16="http://schemas.microsoft.com/office/drawing/2014/main" id="{78ECA520-3D2A-95D8-C200-D225DE6898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600" y="2734086"/>
            <a:ext cx="6190476" cy="328571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98A8C17-1FE4-5E0F-4AA0-BD8B588A6427}"/>
              </a:ext>
            </a:extLst>
          </p:cNvPr>
          <p:cNvSpPr txBox="1"/>
          <p:nvPr/>
        </p:nvSpPr>
        <p:spPr>
          <a:xfrm>
            <a:off x="838200" y="6400800"/>
            <a:ext cx="7086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/>
              <a:t>Image from: </a:t>
            </a:r>
            <a:r>
              <a:rPr lang="en-CA" sz="1400" dirty="0">
                <a:hlinkClick r:id="rId3"/>
              </a:rPr>
              <a:t>http://www.unige.ch/ses/sococ/cl//stat/eda/ladder.html</a:t>
            </a:r>
            <a:r>
              <a:rPr lang="en-CA" sz="1400" dirty="0"/>
              <a:t> 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237832E-474B-EA14-24DB-828592F195A1}"/>
              </a:ext>
            </a:extLst>
          </p:cNvPr>
          <p:cNvSpPr/>
          <p:nvPr/>
        </p:nvSpPr>
        <p:spPr>
          <a:xfrm>
            <a:off x="4076700" y="2711450"/>
            <a:ext cx="609600" cy="33147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86344326"/>
      </p:ext>
    </p:extLst>
  </p:cSld>
  <p:clrMapOvr>
    <a:masterClrMapping/>
  </p:clrMapOvr>
</p:sld>
</file>

<file path=ppt\slides\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6DFF1A-5713-3077-BCF9-FB0091482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GLMs: Families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A162A0-824C-0261-C8ED-B81BA9EBE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8</a:t>
            </a:fld>
            <a:endParaRPr lang="en-US"/>
          </a:p>
        </p:txBody>
      </p:sp>
      <p:pic>
        <p:nvPicPr>
          <p:cNvPr id="6" name="Picture 5" descr="Graphical user interface&#10;&#10;Description automatically generated">
            <a:extLst>
              <a:ext uri="{FF2B5EF4-FFF2-40B4-BE49-F238E27FC236}">
                <a16:creationId xmlns:a16="http://schemas.microsoft.com/office/drawing/2014/main" id="{F6FD9654-C5BB-AD69-7E2C-5B23B5CA1E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1" y="1219200"/>
            <a:ext cx="4478336" cy="38862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991A0EF-30A4-EA78-11F0-92F7B33BBE69}"/>
              </a:ext>
            </a:extLst>
          </p:cNvPr>
          <p:cNvSpPr txBox="1"/>
          <p:nvPr/>
        </p:nvSpPr>
        <p:spPr>
          <a:xfrm>
            <a:off x="609600" y="6400800"/>
            <a:ext cx="762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/>
              <a:t>Base image from: </a:t>
            </a:r>
            <a:r>
              <a:rPr lang="en-CA" sz="1400" dirty="0">
                <a:hlinkClick r:id="rId3"/>
              </a:rPr>
              <a:t>https://portalacademico.cch.unam.mx/ingles1/people-i-love/family-members</a:t>
            </a:r>
            <a:r>
              <a:rPr lang="en-CA" sz="1400" dirty="0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1996D0-38B4-00AB-C116-DCACFF87458D}"/>
              </a:ext>
            </a:extLst>
          </p:cNvPr>
          <p:cNvSpPr txBox="1"/>
          <p:nvPr/>
        </p:nvSpPr>
        <p:spPr>
          <a:xfrm>
            <a:off x="5029200" y="1295400"/>
            <a:ext cx="3657599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All GLMs are members of a happy family</a:t>
            </a:r>
          </a:p>
          <a:p>
            <a:endParaRPr lang="en-CA" dirty="0"/>
          </a:p>
          <a:p>
            <a:r>
              <a:rPr lang="en-CA" dirty="0"/>
              <a:t>They have different technical names, but all share common DNA – The Exponential Family includes direct descendants, uncles, cousins, …</a:t>
            </a:r>
          </a:p>
          <a:p>
            <a:endParaRPr lang="en-CA" dirty="0"/>
          </a:p>
          <a:p>
            <a:r>
              <a:rPr lang="en-CA" dirty="0"/>
              <a:t>They all have a  linear predictor, </a:t>
            </a:r>
          </a:p>
          <a:p>
            <a:r>
              <a:rPr lang="en-CA" dirty="0">
                <a:sym typeface="Symbol" panose="05050102010706020507" pitchFamily="18" charset="2"/>
              </a:rPr>
              <a:t>        = g(</a:t>
            </a:r>
            <a:r>
              <a:rPr lang="el-GR" dirty="0">
                <a:sym typeface="Symbol" panose="05050102010706020507" pitchFamily="18" charset="2"/>
              </a:rPr>
              <a:t>μ</a:t>
            </a:r>
            <a:r>
              <a:rPr lang="en-CA" dirty="0">
                <a:sym typeface="Symbol" panose="05050102010706020507" pitchFamily="18" charset="2"/>
              </a:rPr>
              <a:t>) = X </a:t>
            </a:r>
            <a:r>
              <a:rPr lang="el-GR" dirty="0">
                <a:sym typeface="Symbol" panose="05050102010706020507" pitchFamily="18" charset="2"/>
              </a:rPr>
              <a:t>β</a:t>
            </a:r>
            <a:endParaRPr lang="en-CA" dirty="0"/>
          </a:p>
          <a:p>
            <a:endParaRPr lang="en-CA" dirty="0"/>
          </a:p>
          <a:p>
            <a:r>
              <a:rPr lang="en-CA" dirty="0"/>
              <a:t>They differ in their links: how to transform from </a:t>
            </a:r>
            <a:r>
              <a:rPr lang="el-GR" dirty="0"/>
              <a:t>μ</a:t>
            </a:r>
            <a:r>
              <a:rPr lang="en-CA" dirty="0"/>
              <a:t> </a:t>
            </a:r>
            <a:r>
              <a:rPr lang="en-CA" dirty="0">
                <a:sym typeface="Symbol" panose="05050102010706020507" pitchFamily="18" charset="2"/>
              </a:rPr>
              <a:t> g(</a:t>
            </a:r>
            <a:r>
              <a:rPr lang="el-GR" dirty="0">
                <a:sym typeface="Symbol" panose="05050102010706020507" pitchFamily="18" charset="2"/>
              </a:rPr>
              <a:t>μ</a:t>
            </a:r>
            <a:r>
              <a:rPr lang="en-CA" dirty="0">
                <a:sym typeface="Symbol" panose="05050102010706020507" pitchFamily="18" charset="2"/>
              </a:rPr>
              <a:t>) = </a:t>
            </a:r>
            <a:endParaRPr lang="en-CA" dirty="0"/>
          </a:p>
          <a:p>
            <a:endParaRPr lang="en-CA" dirty="0"/>
          </a:p>
          <a:p>
            <a:r>
              <a:rPr lang="en-CA" dirty="0"/>
              <a:t>They can get back to their roots with an inverse transformation,</a:t>
            </a:r>
          </a:p>
          <a:p>
            <a:r>
              <a:rPr lang="en-CA" dirty="0"/>
              <a:t>         g</a:t>
            </a:r>
            <a:r>
              <a:rPr lang="en-CA" baseline="30000" dirty="0"/>
              <a:t>-1</a:t>
            </a:r>
            <a:r>
              <a:rPr lang="en-CA" dirty="0"/>
              <a:t>(</a:t>
            </a:r>
            <a:r>
              <a:rPr lang="en-CA" dirty="0">
                <a:sym typeface="Symbol" panose="05050102010706020507" pitchFamily="18" charset="2"/>
              </a:rPr>
              <a:t></a:t>
            </a:r>
            <a:r>
              <a:rPr lang="en-CA" dirty="0"/>
              <a:t>) = </a:t>
            </a:r>
            <a:r>
              <a:rPr lang="el-GR" dirty="0"/>
              <a:t>μ</a:t>
            </a:r>
            <a:r>
              <a:rPr lang="en-CA" dirty="0"/>
              <a:t>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DDD25F-DA76-3355-3F67-E1D101F7BFCE}"/>
              </a:ext>
            </a:extLst>
          </p:cNvPr>
          <p:cNvSpPr txBox="1"/>
          <p:nvPr/>
        </p:nvSpPr>
        <p:spPr>
          <a:xfrm>
            <a:off x="1847850" y="1429435"/>
            <a:ext cx="12192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200" dirty="0"/>
              <a:t>Papa normal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2A9DFD-64EB-2322-DAC8-06D0B888EAE8}"/>
              </a:ext>
            </a:extLst>
          </p:cNvPr>
          <p:cNvSpPr txBox="1"/>
          <p:nvPr/>
        </p:nvSpPr>
        <p:spPr>
          <a:xfrm>
            <a:off x="3067050" y="1567934"/>
            <a:ext cx="1219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200" dirty="0"/>
              <a:t>Daughter Binomial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FFCF942-EFC3-9489-ADB5-FC7CEE697817}"/>
              </a:ext>
            </a:extLst>
          </p:cNvPr>
          <p:cNvSpPr txBox="1"/>
          <p:nvPr/>
        </p:nvSpPr>
        <p:spPr>
          <a:xfrm>
            <a:off x="647700" y="1677085"/>
            <a:ext cx="12192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200" dirty="0"/>
              <a:t>Ms. Poisson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7819A86-5D2A-324C-BABD-00F63799E89C}"/>
              </a:ext>
            </a:extLst>
          </p:cNvPr>
          <p:cNvSpPr txBox="1"/>
          <p:nvPr/>
        </p:nvSpPr>
        <p:spPr>
          <a:xfrm>
            <a:off x="2590800" y="2980977"/>
            <a:ext cx="1219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200" dirty="0">
                <a:solidFill>
                  <a:schemeClr val="bg1"/>
                </a:solidFill>
              </a:rPr>
              <a:t>Cousin Log-normal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20D772F-5141-F9F9-1CB4-ACAF674C0FB2}"/>
              </a:ext>
            </a:extLst>
          </p:cNvPr>
          <p:cNvSpPr txBox="1"/>
          <p:nvPr/>
        </p:nvSpPr>
        <p:spPr>
          <a:xfrm>
            <a:off x="2447925" y="3880325"/>
            <a:ext cx="1219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400" dirty="0">
                <a:solidFill>
                  <a:schemeClr val="bg1"/>
                </a:solidFill>
              </a:rPr>
              <a:t>Inverse Gaussian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C3CA368-BA45-74D1-2640-4662F600B324}"/>
              </a:ext>
            </a:extLst>
          </p:cNvPr>
          <p:cNvSpPr txBox="1"/>
          <p:nvPr/>
        </p:nvSpPr>
        <p:spPr>
          <a:xfrm>
            <a:off x="990600" y="3119735"/>
            <a:ext cx="914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200" dirty="0">
                <a:solidFill>
                  <a:schemeClr val="bg1"/>
                </a:solidFill>
              </a:rPr>
              <a:t>Uncle Gamma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BAEC7CE-4024-0119-B14C-7F06B1529342}"/>
              </a:ext>
            </a:extLst>
          </p:cNvPr>
          <p:cNvSpPr txBox="1"/>
          <p:nvPr/>
        </p:nvSpPr>
        <p:spPr>
          <a:xfrm>
            <a:off x="1104900" y="4133065"/>
            <a:ext cx="6858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400" dirty="0">
                <a:solidFill>
                  <a:schemeClr val="bg1"/>
                </a:solidFill>
              </a:rPr>
              <a:t>Pet GAM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86114CE-EC45-79F0-4321-A5B74E3F3A4C}"/>
              </a:ext>
            </a:extLst>
          </p:cNvPr>
          <p:cNvSpPr txBox="1"/>
          <p:nvPr/>
        </p:nvSpPr>
        <p:spPr>
          <a:xfrm>
            <a:off x="3534568" y="3073925"/>
            <a:ext cx="838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400" dirty="0">
                <a:solidFill>
                  <a:schemeClr val="bg1">
                    <a:lumMod val="95000"/>
                  </a:schemeClr>
                </a:solidFill>
              </a:rPr>
              <a:t>Aunt </a:t>
            </a:r>
            <a:r>
              <a:rPr lang="en-CA" sz="1400" dirty="0" err="1">
                <a:solidFill>
                  <a:schemeClr val="bg1">
                    <a:lumMod val="95000"/>
                  </a:schemeClr>
                </a:solidFill>
              </a:rPr>
              <a:t>NegBin</a:t>
            </a:r>
            <a:endParaRPr lang="en-CA" sz="1400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9725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\slides\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E65791-E931-49E0-B6D7-A4550A4BE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Link functions for the mean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95BB864-6C48-4616-98FB-A9B758FAB2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9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70928B-5E9E-4FBF-8DAD-3EA66FFDEA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19200"/>
            <a:ext cx="8171428" cy="3400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2E5CE68-2683-4397-87D5-4AE2F6CACE4E}"/>
              </a:ext>
            </a:extLst>
          </p:cNvPr>
          <p:cNvSpPr txBox="1"/>
          <p:nvPr/>
        </p:nvSpPr>
        <p:spPr>
          <a:xfrm>
            <a:off x="457200" y="4887610"/>
            <a:ext cx="8153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0070C0"/>
              </a:buClr>
              <a:buSzPct val="110000"/>
              <a:buFont typeface="Arial" panose="020B0604020202020204" pitchFamily="34" charset="0"/>
              <a:buChar char="•"/>
            </a:pPr>
            <a:r>
              <a:rPr lang="en-US" dirty="0"/>
              <a:t>The top section recognizes standard </a:t>
            </a:r>
            <a:r>
              <a:rPr lang="en-US" dirty="0">
                <a:solidFill>
                  <a:srgbClr val="0070C0"/>
                </a:solidFill>
              </a:rPr>
              <a:t>transformations</a:t>
            </a:r>
            <a:r>
              <a:rPr lang="en-US" dirty="0"/>
              <a:t> of </a:t>
            </a:r>
            <a:r>
              <a:rPr lang="en-US" i="1" dirty="0" err="1"/>
              <a:t>y</a:t>
            </a:r>
            <a:r>
              <a:rPr lang="en-US" baseline="-25000" dirty="0" err="1"/>
              <a:t>i</a:t>
            </a:r>
            <a:r>
              <a:rPr lang="en-US" dirty="0"/>
              <a:t> often used with </a:t>
            </a:r>
            <a:r>
              <a:rPr lang="en-US" dirty="0">
                <a:solidFill>
                  <a:srgbClr val="0070C0"/>
                </a:solidFill>
              </a:rPr>
              <a:t>classical</a:t>
            </a:r>
            <a:r>
              <a:rPr lang="en-US" dirty="0"/>
              <a:t> linear models</a:t>
            </a:r>
          </a:p>
          <a:p>
            <a:pPr marL="285750" indent="-285750">
              <a:buClr>
                <a:srgbClr val="0070C0"/>
              </a:buClr>
              <a:buSzPct val="110000"/>
              <a:buFont typeface="Arial" panose="020B0604020202020204" pitchFamily="34" charset="0"/>
              <a:buChar char="•"/>
            </a:pPr>
            <a:r>
              <a:rPr lang="en-US" dirty="0"/>
              <a:t>The bottom section is for </a:t>
            </a:r>
            <a:r>
              <a:rPr lang="en-US" dirty="0">
                <a:solidFill>
                  <a:srgbClr val="0070C0"/>
                </a:solidFill>
              </a:rPr>
              <a:t>binomia</a:t>
            </a:r>
            <a:r>
              <a:rPr lang="en-US" dirty="0"/>
              <a:t>l data, where </a:t>
            </a:r>
            <a:r>
              <a:rPr lang="en-US" i="1" dirty="0" err="1"/>
              <a:t>y</a:t>
            </a:r>
            <a:r>
              <a:rPr lang="en-US" baseline="-25000" dirty="0" err="1"/>
              <a:t>i</a:t>
            </a:r>
            <a:r>
              <a:rPr lang="en-US" dirty="0"/>
              <a:t> represents an observed count in </a:t>
            </a:r>
            <a:r>
              <a:rPr lang="en-US" i="1" dirty="0" err="1"/>
              <a:t>n</a:t>
            </a:r>
            <a:r>
              <a:rPr lang="en-US" baseline="-25000" dirty="0" err="1"/>
              <a:t>i</a:t>
            </a:r>
            <a:r>
              <a:rPr lang="en-US" dirty="0"/>
              <a:t> trials</a:t>
            </a:r>
          </a:p>
        </p:txBody>
      </p:sp>
      <p:sp>
        <p:nvSpPr>
          <p:cNvPr id="7" name="Left Brace 6">
            <a:extLst>
              <a:ext uri="{FF2B5EF4-FFF2-40B4-BE49-F238E27FC236}">
                <a16:creationId xmlns:a16="http://schemas.microsoft.com/office/drawing/2014/main" id="{BCC4FA48-E01B-461C-899D-3F5F6E3EC044}"/>
              </a:ext>
            </a:extLst>
          </p:cNvPr>
          <p:cNvSpPr/>
          <p:nvPr/>
        </p:nvSpPr>
        <p:spPr>
          <a:xfrm>
            <a:off x="1371600" y="2159000"/>
            <a:ext cx="304800" cy="1219200"/>
          </a:xfrm>
          <a:prstGeom prst="leftBrac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31DDA4F5-EF45-404E-A04B-6191DCB54972}"/>
              </a:ext>
            </a:extLst>
          </p:cNvPr>
          <p:cNvSpPr/>
          <p:nvPr/>
        </p:nvSpPr>
        <p:spPr>
          <a:xfrm>
            <a:off x="1361440" y="3475460"/>
            <a:ext cx="304800" cy="1046479"/>
          </a:xfrm>
          <a:prstGeom prst="leftBrac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C398ED-C92C-E2B1-2EF0-1EE1B85A88FF}"/>
              </a:ext>
            </a:extLst>
          </p:cNvPr>
          <p:cNvSpPr txBox="1"/>
          <p:nvPr/>
        </p:nvSpPr>
        <p:spPr>
          <a:xfrm>
            <a:off x="6858000" y="2286000"/>
            <a:ext cx="18288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600" dirty="0"/>
              <a:t>The link function must be </a:t>
            </a:r>
            <a:r>
              <a:rPr lang="en-CA" sz="1600" dirty="0">
                <a:solidFill>
                  <a:srgbClr val="0070C0"/>
                </a:solidFill>
              </a:rPr>
              <a:t>invertible</a:t>
            </a:r>
          </a:p>
          <a:p>
            <a:r>
              <a:rPr lang="en-CA" sz="1600" dirty="0"/>
              <a:t>e.g., |μ| is not</a:t>
            </a:r>
          </a:p>
        </p:txBody>
      </p:sp>
    </p:spTree>
    <p:extLst>
      <p:ext uri="{BB962C8B-B14F-4D97-AF65-F5344CB8AC3E}">
        <p14:creationId xmlns:p14="http://schemas.microsoft.com/office/powerpoint/2010/main" val="774762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\slides\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6862B7-4EAC-7A52-55AA-0732B73A99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Link functions for binomial data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EAFF4B0-E0C2-80A9-2926-1E8F938C9F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10</a:t>
            </a:fld>
            <a:endParaRPr lang="en-US"/>
          </a:p>
        </p:txBody>
      </p:sp>
      <p:pic>
        <p:nvPicPr>
          <p:cNvPr id="5" name="Picture 4" descr="Diagram&#10;&#10;Description automatically generated">
            <a:extLst>
              <a:ext uri="{FF2B5EF4-FFF2-40B4-BE49-F238E27FC236}">
                <a16:creationId xmlns:a16="http://schemas.microsoft.com/office/drawing/2014/main" id="{09AE8180-764E-15AC-2D97-708463BAE4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6933" y="1224731"/>
            <a:ext cx="6874933" cy="51562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63E6ABC-973C-113C-929A-FC864EEC39DC}"/>
              </a:ext>
            </a:extLst>
          </p:cNvPr>
          <p:cNvSpPr txBox="1"/>
          <p:nvPr/>
        </p:nvSpPr>
        <p:spPr>
          <a:xfrm>
            <a:off x="6248400" y="1752600"/>
            <a:ext cx="2590800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For binomial data, the logit, probit and c-log-log all have similar shapes</a:t>
            </a:r>
          </a:p>
          <a:p>
            <a:endParaRPr lang="en-CA" dirty="0"/>
          </a:p>
          <a:p>
            <a:r>
              <a:rPr lang="en-CA" dirty="0"/>
              <a:t>These take a linear predictor on (-</a:t>
            </a:r>
            <a:r>
              <a:rPr lang="en-CA" dirty="0">
                <a:sym typeface="Symbol" panose="05050102010706020507" pitchFamily="18" charset="2"/>
              </a:rPr>
              <a:t></a:t>
            </a:r>
            <a:r>
              <a:rPr lang="en-CA" dirty="0"/>
              <a:t>, +</a:t>
            </a:r>
            <a:r>
              <a:rPr lang="en-CA" dirty="0">
                <a:sym typeface="Symbol" panose="05050102010706020507" pitchFamily="18" charset="2"/>
              </a:rPr>
              <a:t></a:t>
            </a:r>
            <a:r>
              <a:rPr lang="en-CA" dirty="0"/>
              <a:t>)</a:t>
            </a:r>
          </a:p>
          <a:p>
            <a:r>
              <a:rPr lang="en-CA" dirty="0"/>
              <a:t>to the range (0,1) for probability</a:t>
            </a:r>
          </a:p>
          <a:p>
            <a:endParaRPr lang="en-CA" dirty="0"/>
          </a:p>
          <a:p>
            <a:r>
              <a:rPr lang="en-CA" dirty="0"/>
              <a:t>The logit is most widely used because of its’ simple interpretation as log odds</a:t>
            </a:r>
          </a:p>
        </p:txBody>
      </p:sp>
    </p:spTree>
    <p:extLst>
      <p:ext uri="{BB962C8B-B14F-4D97-AF65-F5344CB8AC3E}">
        <p14:creationId xmlns:p14="http://schemas.microsoft.com/office/powerpoint/2010/main" val="3919935826"/>
      </p:ext>
    </p:extLst>
  </p:cSld>
  <p:clrMapOvr>
    <a:masterClrMapping/>
  </p:clrMapOvr>
</p:sld>
</file>

<file path=ppt\slides\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86B13-8B15-465A-88F2-D90A5816DC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Example: </a:t>
            </a:r>
            <a:r>
              <a:rPr lang="en-CA" dirty="0" err="1"/>
              <a:t>BeetleMortality</a:t>
            </a:r>
            <a:endParaRPr lang="en-CA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A32B5F-1DD0-10D2-F944-00F908EE73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11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045FF4-E257-94A2-7E97-0CB22D1D8D60}"/>
              </a:ext>
            </a:extLst>
          </p:cNvPr>
          <p:cNvSpPr txBox="1"/>
          <p:nvPr/>
        </p:nvSpPr>
        <p:spPr>
          <a:xfrm>
            <a:off x="457200" y="11430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/>
              <a:t>Mortality of adult flour beetle after five hours' exposure to gaseous carbon disulphide.</a:t>
            </a:r>
            <a:endParaRPr lang="en-CA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EBC29F-9B9C-A2D3-5514-9BD523CBBDBF}"/>
              </a:ext>
            </a:extLst>
          </p:cNvPr>
          <p:cNvSpPr txBox="1"/>
          <p:nvPr/>
        </p:nvSpPr>
        <p:spPr>
          <a:xfrm>
            <a:off x="457200" y="1679480"/>
            <a:ext cx="3124200" cy="2677656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data("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BeetleMortality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package = "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glmx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BeetleMortality</a:t>
            </a:r>
            <a:endParaRPr lang="en-CA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dose died  n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1 1.6907    6 59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2 1.7242   13 60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3 1.7552   18 62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4 1.7842   28 56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5 1.8113   52 63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6 1.8369   53 59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7 1.8610   61 62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8 1.8839   60 60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4BCC51-5E95-808C-E06B-DB5C4D6D6C73}"/>
              </a:ext>
            </a:extLst>
          </p:cNvPr>
          <p:cNvSpPr txBox="1"/>
          <p:nvPr/>
        </p:nvSpPr>
        <p:spPr>
          <a:xfrm>
            <a:off x="4038600" y="2501205"/>
            <a:ext cx="4572000" cy="138499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links &lt;- c("logit", "probit", "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cloglog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 &lt;- </a:t>
            </a:r>
            <a:r>
              <a:rPr lang="en-CA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lapply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(links, </a:t>
            </a:r>
            <a:r>
              <a:rPr lang="en-CA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function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type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glm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cbind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(died, n - died) ~ dose,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data =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BeetleMortality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family = binomial(link = </a:t>
            </a:r>
            <a:r>
              <a:rPr lang="en-CA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type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)))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names(m) &lt;- links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CA9CDEE-92E6-B9E4-2F75-E5683D44F770}"/>
              </a:ext>
            </a:extLst>
          </p:cNvPr>
          <p:cNvSpPr txBox="1"/>
          <p:nvPr/>
        </p:nvSpPr>
        <p:spPr>
          <a:xfrm>
            <a:off x="3962400" y="4621649"/>
            <a:ext cx="4724400" cy="1169551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t(</a:t>
            </a:r>
            <a:r>
              <a:rPr lang="en-CA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sapply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(m, </a:t>
            </a:r>
            <a:r>
              <a:rPr lang="en-CA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vcdExtra</a:t>
            </a:r>
            <a:r>
              <a:rPr lang="en-CA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CA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LRstats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AIC  BIC  LR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Chisq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(&gt;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Chisq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logit   41.4 41.6 11.2     6  0.0815   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probit  40.3 40.5 10.1     6  0.12      </a:t>
            </a:r>
          </a:p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cloglog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33.6 33.8 3.45     6  0.751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C2E1A65-B285-F911-9C48-6B7E5908EFC8}"/>
              </a:ext>
            </a:extLst>
          </p:cNvPr>
          <p:cNvSpPr txBox="1"/>
          <p:nvPr/>
        </p:nvSpPr>
        <p:spPr>
          <a:xfrm>
            <a:off x="3962400" y="1676400"/>
            <a:ext cx="4724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The ‘</a:t>
            </a:r>
            <a:r>
              <a:rPr lang="en-CA" dirty="0" err="1"/>
              <a:t>lapply</a:t>
            </a:r>
            <a:r>
              <a:rPr lang="en-CA" dirty="0"/>
              <a:t>()’ trick: Apply a function w/ parameters </a:t>
            </a:r>
            <a:r>
              <a:rPr lang="en-CA" dirty="0">
                <a:sym typeface="Symbol" panose="05050102010706020507" pitchFamily="18" charset="2"/>
              </a:rPr>
              <a:t> a list of fitted models</a:t>
            </a:r>
            <a:endParaRPr lang="en-CA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CF20B13-CB60-A522-5BC5-CE59550562F6}"/>
              </a:ext>
            </a:extLst>
          </p:cNvPr>
          <p:cNvSpPr txBox="1"/>
          <p:nvPr/>
        </p:nvSpPr>
        <p:spPr>
          <a:xfrm>
            <a:off x="3962400" y="4099917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Then, </a:t>
            </a:r>
            <a:r>
              <a:rPr lang="en-CA" dirty="0" err="1"/>
              <a:t>sapply</a:t>
            </a:r>
            <a:r>
              <a:rPr lang="en-CA" dirty="0"/>
              <a:t>() </a:t>
            </a:r>
            <a:r>
              <a:rPr lang="en-CA" dirty="0" err="1"/>
              <a:t>LRStats</a:t>
            </a:r>
            <a:r>
              <a:rPr lang="en-CA" dirty="0"/>
              <a:t>() to each model: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7BE2870-BD40-F964-5F83-2C615AEEEC95}"/>
              </a:ext>
            </a:extLst>
          </p:cNvPr>
          <p:cNvSpPr txBox="1"/>
          <p:nvPr/>
        </p:nvSpPr>
        <p:spPr>
          <a:xfrm>
            <a:off x="457200" y="4800600"/>
            <a:ext cx="3352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In this example, the </a:t>
            </a:r>
            <a:r>
              <a:rPr lang="en-CA" dirty="0" err="1"/>
              <a:t>cloglog</a:t>
            </a:r>
            <a:r>
              <a:rPr lang="en-CA" dirty="0"/>
              <a:t> link</a:t>
            </a:r>
          </a:p>
          <a:p>
            <a:r>
              <a:rPr lang="en-CA" dirty="0"/>
              <a:t>fits best</a:t>
            </a:r>
          </a:p>
        </p:txBody>
      </p:sp>
    </p:spTree>
    <p:extLst>
      <p:ext uri="{BB962C8B-B14F-4D97-AF65-F5344CB8AC3E}">
        <p14:creationId xmlns:p14="http://schemas.microsoft.com/office/powerpoint/2010/main" val="25153662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/>
    </p:bldLst>
  </p:timing>
</p:sld>
</file>

<file path=ppt\slides\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A0C430D-DADE-6203-6DE9-835CA0260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12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D56C09-B47D-0DC0-227C-76EB1476EDEE}"/>
              </a:ext>
            </a:extLst>
          </p:cNvPr>
          <p:cNvSpPr txBox="1"/>
          <p:nvPr/>
        </p:nvSpPr>
        <p:spPr>
          <a:xfrm>
            <a:off x="533400" y="944940"/>
            <a:ext cx="8305800" cy="1569660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plot(I(died/n) ~ dose, data = </a:t>
            </a:r>
            <a:r>
              <a:rPr lang="en-CA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BeetleMortality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en-CA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ylab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= "Proportion died", </a:t>
            </a:r>
            <a:r>
              <a:rPr lang="en-CA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cex.lab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= 1.2, </a:t>
            </a:r>
            <a:r>
              <a:rPr lang="en-CA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pch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= 16)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lines(fitted(m[[1]]) ~ dose, data = </a:t>
            </a:r>
            <a:r>
              <a:rPr lang="en-CA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BeetleMortality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 col = 2, </a:t>
            </a:r>
            <a:r>
              <a:rPr lang="en-CA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lwd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= 2)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lines(fitted(m[[2]]) ~ dose, data = </a:t>
            </a:r>
            <a:r>
              <a:rPr lang="en-CA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BeetleMortality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 col = 3, </a:t>
            </a:r>
            <a:r>
              <a:rPr lang="en-CA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lwd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= 2)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lines(fitted(m[[3]]) ~ dose, data = </a:t>
            </a:r>
            <a:r>
              <a:rPr lang="en-CA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BeetleMortality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 col = 4, </a:t>
            </a:r>
            <a:r>
              <a:rPr lang="en-CA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lwd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= 2)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legend(1.81, 0.4,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title = "Link", legend = links,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col = 2:4,  </a:t>
            </a:r>
            <a:r>
              <a:rPr lang="en-CA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lty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= 1, </a:t>
            </a:r>
            <a:r>
              <a:rPr lang="en-CA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lwd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=2)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9463ED0-F0C0-A74F-BDD3-E3F9BAF6EB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8505" y="2861760"/>
            <a:ext cx="4390695" cy="384384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D897658-478E-9DE6-DD8B-83AE664D45AF}"/>
              </a:ext>
            </a:extLst>
          </p:cNvPr>
          <p:cNvSpPr txBox="1"/>
          <p:nvPr/>
        </p:nvSpPr>
        <p:spPr>
          <a:xfrm>
            <a:off x="533400" y="329635"/>
            <a:ext cx="83058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800" dirty="0"/>
              <a:t>Visualize model fits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3A14B1-0AEC-5573-F06E-145C81DA231C}"/>
              </a:ext>
            </a:extLst>
          </p:cNvPr>
          <p:cNvSpPr txBox="1"/>
          <p:nvPr/>
        </p:nvSpPr>
        <p:spPr>
          <a:xfrm>
            <a:off x="533400" y="2895600"/>
            <a:ext cx="36576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We can sort of see why the </a:t>
            </a:r>
            <a:r>
              <a:rPr lang="en-CA" dirty="0" err="1"/>
              <a:t>cloglog</a:t>
            </a:r>
            <a:r>
              <a:rPr lang="en-CA" dirty="0"/>
              <a:t> link fits best.</a:t>
            </a:r>
          </a:p>
          <a:p>
            <a:endParaRPr lang="en-CA" dirty="0"/>
          </a:p>
          <a:p>
            <a:r>
              <a:rPr lang="en-CA" dirty="0"/>
              <a:t>But the coefficients in the model do not have as clear an interpretation as log odds in the logit model.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0F2301B-A09D-B270-FAC3-AD2DEFE4E9D5}"/>
              </a:ext>
            </a:extLst>
          </p:cNvPr>
          <p:cNvSpPr txBox="1"/>
          <p:nvPr/>
        </p:nvSpPr>
        <p:spPr>
          <a:xfrm>
            <a:off x="533400" y="4876800"/>
            <a:ext cx="3657600" cy="1169551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t(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sapply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(m, coef))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(Intercept) dose</a:t>
            </a:r>
          </a:p>
          <a:p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-60.7 34.3</a:t>
            </a:r>
          </a:p>
          <a:p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probit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-34.9 19.7</a:t>
            </a:r>
          </a:p>
          <a:p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cloglog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-39.6 22.0</a:t>
            </a:r>
            <a:endParaRPr lang="en-CA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6E1D51-F820-271F-4BB4-8A9A1317E693}"/>
              </a:ext>
            </a:extLst>
          </p:cNvPr>
          <p:cNvSpPr txBox="1"/>
          <p:nvPr/>
        </p:nvSpPr>
        <p:spPr>
          <a:xfrm>
            <a:off x="7465142" y="1037730"/>
            <a:ext cx="152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600" dirty="0"/>
              <a:t>Plot data points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2A6857A-8245-E68C-37D0-FCC5580FBD33}"/>
              </a:ext>
            </a:extLst>
          </p:cNvPr>
          <p:cNvSpPr txBox="1"/>
          <p:nvPr/>
        </p:nvSpPr>
        <p:spPr>
          <a:xfrm>
            <a:off x="7467600" y="1549864"/>
            <a:ext cx="152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600" dirty="0"/>
              <a:t>Add fitted lines</a:t>
            </a:r>
          </a:p>
        </p:txBody>
      </p:sp>
    </p:spTree>
    <p:extLst>
      <p:ext uri="{BB962C8B-B14F-4D97-AF65-F5344CB8AC3E}">
        <p14:creationId xmlns:p14="http://schemas.microsoft.com/office/powerpoint/2010/main" val="310277102"/>
      </p:ext>
    </p:extLst>
  </p:cSld>
  <p:clrMapOvr>
    <a:masterClrMapping/>
  </p:clrMapOvr>
</p:sld>
</file>

<file path=ppt\slides\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4FB271-8BC5-4F11-A4B8-B0A8D79664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Canonical links and variance functions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C5A2CBD-5F15-49EC-A739-FE4FD1E2D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13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6E5EF8-96AC-49FB-A218-716D7921C086}"/>
              </a:ext>
            </a:extLst>
          </p:cNvPr>
          <p:cNvSpPr txBox="1"/>
          <p:nvPr/>
        </p:nvSpPr>
        <p:spPr>
          <a:xfrm>
            <a:off x="457200" y="1219200"/>
            <a:ext cx="82296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0070C0"/>
              </a:buClr>
              <a:buSzPct val="110000"/>
              <a:buFont typeface="Arial" panose="020B0604020202020204" pitchFamily="34" charset="0"/>
              <a:buChar char="•"/>
            </a:pPr>
            <a:r>
              <a:rPr lang="en-US" sz="2000" dirty="0"/>
              <a:t>For every distribution family, there is a default, </a:t>
            </a:r>
            <a:r>
              <a:rPr lang="en-US" sz="2000" dirty="0">
                <a:solidFill>
                  <a:srgbClr val="0070C0"/>
                </a:solidFill>
              </a:rPr>
              <a:t>canonical link </a:t>
            </a:r>
            <a:r>
              <a:rPr lang="en-US" sz="2000" dirty="0"/>
              <a:t>function</a:t>
            </a:r>
          </a:p>
          <a:p>
            <a:pPr marL="342900" indent="-342900">
              <a:buClr>
                <a:srgbClr val="0070C0"/>
              </a:buClr>
              <a:buSzPct val="110000"/>
              <a:buFont typeface="Arial" panose="020B0604020202020204" pitchFamily="34" charset="0"/>
              <a:buChar char="•"/>
            </a:pPr>
            <a:r>
              <a:rPr lang="en-US" sz="2000" dirty="0"/>
              <a:t>Each one also specifies the expected relation between the mean and </a:t>
            </a:r>
            <a:r>
              <a:rPr lang="en-US" sz="2000" dirty="0">
                <a:solidFill>
                  <a:srgbClr val="0070C0"/>
                </a:solidFill>
              </a:rPr>
              <a:t>variance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FD50E4-3D17-4593-BF54-1A24A6C6EF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362200"/>
            <a:ext cx="8171428" cy="248571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238DD7-BE9F-AC14-B00A-CB26B839D4FF}"/>
              </a:ext>
            </a:extLst>
          </p:cNvPr>
          <p:cNvSpPr txBox="1"/>
          <p:nvPr/>
        </p:nvSpPr>
        <p:spPr>
          <a:xfrm>
            <a:off x="838200" y="5029200"/>
            <a:ext cx="78486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Choose a basic family: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Get a default, canonical link, g(</a:t>
            </a:r>
            <a:r>
              <a:rPr lang="el-GR" dirty="0"/>
              <a:t>μ</a:t>
            </a:r>
            <a:r>
              <a:rPr lang="en-CA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Also get a variance function for free!</a:t>
            </a:r>
          </a:p>
        </p:txBody>
      </p:sp>
    </p:spTree>
    <p:extLst>
      <p:ext uri="{BB962C8B-B14F-4D97-AF65-F5344CB8AC3E}">
        <p14:creationId xmlns:p14="http://schemas.microsoft.com/office/powerpoint/2010/main" val="3772897430"/>
      </p:ext>
    </p:extLst>
  </p:cSld>
  <p:clrMapOvr>
    <a:masterClrMapping/>
  </p:clrMapOvr>
</p:sld>
</file>

<file path=ppt\slides\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75793-FD6C-4563-94C9-C7978DBA6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Variance functions &amp; overdispersion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B3FB608-2950-4EEF-BE80-88015E533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14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5355A98-4448-49D2-AE9C-176147B43B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" y="1295400"/>
            <a:ext cx="8171428" cy="184761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F2D36FC-1AAE-4F60-A432-F07445910E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" y="3276600"/>
            <a:ext cx="8171428" cy="1552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16777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\slides\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68F7AD-A695-4B0D-B8C5-D3C52ADC0E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What is overdispersion?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946BA6-813E-4289-89A3-C5FBDED774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400" dirty="0"/>
              <a:t>Overdispersion often results from </a:t>
            </a:r>
            <a:r>
              <a:rPr lang="en-US" sz="2400" dirty="0">
                <a:solidFill>
                  <a:srgbClr val="0070C0"/>
                </a:solidFill>
              </a:rPr>
              <a:t>failures of assumptions </a:t>
            </a:r>
            <a:r>
              <a:rPr lang="en-US" sz="2400" dirty="0"/>
              <a:t>of the model</a:t>
            </a:r>
          </a:p>
          <a:p>
            <a:r>
              <a:rPr lang="en-US" sz="2400" dirty="0"/>
              <a:t>Supposedly independent observations may be </a:t>
            </a:r>
            <a:r>
              <a:rPr lang="en-US" sz="2400" dirty="0">
                <a:solidFill>
                  <a:srgbClr val="0070C0"/>
                </a:solidFill>
              </a:rPr>
              <a:t>correlated</a:t>
            </a:r>
          </a:p>
          <a:p>
            <a:r>
              <a:rPr lang="en-US" sz="2400" dirty="0"/>
              <a:t>The probability of an event may not be </a:t>
            </a:r>
            <a:r>
              <a:rPr lang="en-US" sz="2400" dirty="0">
                <a:solidFill>
                  <a:srgbClr val="0070C0"/>
                </a:solidFill>
              </a:rPr>
              <a:t>constant</a:t>
            </a:r>
            <a:r>
              <a:rPr lang="en-US" sz="2400" dirty="0"/>
              <a:t>, or</a:t>
            </a:r>
          </a:p>
          <a:p>
            <a:r>
              <a:rPr lang="en-US" sz="2400" dirty="0"/>
              <a:t>It may vary with unmeasured or </a:t>
            </a:r>
            <a:r>
              <a:rPr lang="en-US" sz="2400" dirty="0">
                <a:solidFill>
                  <a:srgbClr val="0070C0"/>
                </a:solidFill>
              </a:rPr>
              <a:t>unmodeled</a:t>
            </a:r>
            <a:r>
              <a:rPr lang="en-US" sz="2400" dirty="0"/>
              <a:t> variables</a:t>
            </a:r>
          </a:p>
          <a:p>
            <a:endParaRPr lang="en-US" sz="2400" dirty="0"/>
          </a:p>
          <a:p>
            <a:pPr marL="0" indent="0">
              <a:buNone/>
            </a:pPr>
            <a:r>
              <a:rPr lang="en-US" sz="2400" dirty="0"/>
              <a:t>Don’t fear overdispersion – embrace it</a:t>
            </a:r>
          </a:p>
          <a:p>
            <a:r>
              <a:rPr lang="en-US" sz="2400" dirty="0"/>
              <a:t>For Poisson (</a:t>
            </a:r>
            <a:r>
              <a:rPr lang="en-US" sz="2400" dirty="0" err="1"/>
              <a:t>freq</a:t>
            </a:r>
            <a:r>
              <a:rPr lang="en-US" sz="2400" dirty="0"/>
              <a:t>) data, parameter estimates are </a:t>
            </a:r>
            <a:r>
              <a:rPr lang="en-US" sz="2400" dirty="0">
                <a:solidFill>
                  <a:srgbClr val="0070C0"/>
                </a:solidFill>
              </a:rPr>
              <a:t>unchanged</a:t>
            </a:r>
            <a:r>
              <a:rPr lang="en-US" sz="2400" dirty="0"/>
              <a:t>; it affects only the std. errors (&amp; </a:t>
            </a:r>
            <a:r>
              <a:rPr lang="en-US" sz="2400" i="1" dirty="0"/>
              <a:t>z</a:t>
            </a:r>
            <a:r>
              <a:rPr lang="en-US" sz="2400" dirty="0"/>
              <a:t>-tests)</a:t>
            </a:r>
          </a:p>
          <a:p>
            <a:r>
              <a:rPr lang="en-US" sz="2400" dirty="0"/>
              <a:t>It tells you something interesting about your data or analysis</a:t>
            </a:r>
          </a:p>
          <a:p>
            <a:r>
              <a:rPr lang="en-US" sz="2400" dirty="0"/>
              <a:t>Can lead to better understanding of your model: What did I leave out?</a:t>
            </a:r>
          </a:p>
          <a:p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29F47B4-F588-4720-AFAF-C3E6AB688D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14195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\slides\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0E3A3-8FF5-4AA5-96E9-7C418D97EC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Maximum likelihood estimation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AB7EEA6-5372-40C0-91BD-B3BA296DB5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GLMs are fit by the method of </a:t>
            </a:r>
            <a:r>
              <a:rPr lang="en-US" sz="2400" dirty="0">
                <a:solidFill>
                  <a:srgbClr val="0070C0"/>
                </a:solidFill>
              </a:rPr>
              <a:t>maximum likelihood</a:t>
            </a:r>
          </a:p>
          <a:p>
            <a:pPr lvl="1" fontAlgn="base">
              <a:spcAft>
                <a:spcPct val="0"/>
              </a:spcAft>
              <a:buClr>
                <a:srgbClr val="0000FF"/>
              </a:buClr>
              <a:buSzPct val="125000"/>
            </a:pPr>
            <a:r>
              <a:rPr lang="en-US" altLang="en-US" sz="1600" kern="0" dirty="0">
                <a:solidFill>
                  <a:srgbClr val="000000"/>
                </a:solidFill>
                <a:latin typeface="Arial"/>
              </a:rPr>
              <a:t>Likelihood (</a:t>
            </a:r>
            <a:r>
              <a:rPr lang="en-US" altLang="en-US" sz="1600" kern="0" dirty="0">
                <a:solidFill>
                  <a:srgbClr val="000000"/>
                </a:solidFill>
                <a:latin typeface="Euclid Math One" pitchFamily="18" charset="2"/>
              </a:rPr>
              <a:t>L</a:t>
            </a:r>
            <a:r>
              <a:rPr lang="en-US" altLang="en-US" sz="1600" kern="0" dirty="0">
                <a:solidFill>
                  <a:srgbClr val="000000"/>
                </a:solidFill>
                <a:latin typeface="Arial"/>
              </a:rPr>
              <a:t>) = </a:t>
            </a:r>
            <a:r>
              <a:rPr lang="en-US" altLang="en-US" sz="1600" kern="0" dirty="0" err="1">
                <a:solidFill>
                  <a:srgbClr val="000000"/>
                </a:solidFill>
                <a:latin typeface="Arial"/>
              </a:rPr>
              <a:t>Pr</a:t>
            </a:r>
            <a:r>
              <a:rPr lang="en-US" altLang="en-US" sz="1600" kern="0" dirty="0">
                <a:solidFill>
                  <a:srgbClr val="000000"/>
                </a:solidFill>
                <a:latin typeface="Arial"/>
              </a:rPr>
              <a:t> (data | model), as function of model parameters</a:t>
            </a:r>
          </a:p>
          <a:p>
            <a:r>
              <a:rPr lang="en-US" sz="2400" dirty="0"/>
              <a:t> For the </a:t>
            </a:r>
            <a:r>
              <a:rPr lang="en-US" sz="2400" dirty="0">
                <a:solidFill>
                  <a:srgbClr val="0070C0"/>
                </a:solidFill>
              </a:rPr>
              <a:t>Poisson</a:t>
            </a:r>
            <a:r>
              <a:rPr lang="en-US" sz="2400" dirty="0"/>
              <a:t> distribution with mean </a:t>
            </a:r>
            <a:r>
              <a:rPr lang="el-GR" sz="2400" dirty="0"/>
              <a:t>μ</a:t>
            </a:r>
            <a:r>
              <a:rPr lang="en-US" sz="2400" dirty="0"/>
              <a:t>, the probability that the random variable Y takes the values y = 0, 1, 2, … is</a:t>
            </a:r>
          </a:p>
          <a:p>
            <a:pPr marL="0" indent="0">
              <a:buNone/>
            </a:pPr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In the GLM with a </a:t>
            </a:r>
            <a:r>
              <a:rPr lang="en-US" sz="2400" dirty="0">
                <a:solidFill>
                  <a:srgbClr val="0070C0"/>
                </a:solidFill>
              </a:rPr>
              <a:t>log link</a:t>
            </a:r>
            <a:r>
              <a:rPr lang="en-US" sz="2400" dirty="0"/>
              <a:t>, the mean, μ, depends on the predictors through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DF8936-BFF8-4B35-BB39-A5D3EE8EE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7AA0E5F-0118-F6EA-171D-707732A82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8190" y="2819400"/>
            <a:ext cx="2247619" cy="69523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0D65C0F-EE19-A75B-DF06-6743FF5851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6600" y="4433438"/>
            <a:ext cx="2151776" cy="632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0655265"/>
      </p:ext>
    </p:extLst>
  </p:cSld>
  <p:clrMapOvr>
    <a:masterClrMapping/>
  </p:clrMapOvr>
</p:sld>
</file>

<file path=ppt\slides\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1BBF64-7842-F071-E61E-3E7E03649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Maximum likelihood estimation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8731BB-6361-497C-118E-CE5FB11A4A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3124200"/>
          </a:xfrm>
        </p:spPr>
        <p:txBody>
          <a:bodyPr/>
          <a:lstStyle/>
          <a:p>
            <a:r>
              <a:rPr lang="en-CA" dirty="0"/>
              <a:t>The log-likelihood function is the probability of the data as a function of the parameters, </a:t>
            </a:r>
            <a:r>
              <a:rPr lang="el-GR" b="1" dirty="0"/>
              <a:t>β</a:t>
            </a:r>
            <a:r>
              <a:rPr lang="en-CA" dirty="0"/>
              <a:t>. It has the form (for Poisson)</a:t>
            </a:r>
          </a:p>
          <a:p>
            <a:endParaRPr lang="en-CA" dirty="0"/>
          </a:p>
          <a:p>
            <a:endParaRPr lang="en-CA" dirty="0"/>
          </a:p>
          <a:p>
            <a:r>
              <a:rPr lang="en-CA" dirty="0"/>
              <a:t>Then, find the values of </a:t>
            </a:r>
            <a:r>
              <a:rPr lang="el-GR" b="1" dirty="0"/>
              <a:t>β</a:t>
            </a:r>
            <a:r>
              <a:rPr lang="en-CA" dirty="0"/>
              <a:t> the maximize log </a:t>
            </a:r>
            <a:r>
              <a:rPr lang="en-CA" dirty="0">
                <a:latin typeface="Script MT Bold" panose="03040602040607080904" pitchFamily="66" charset="0"/>
              </a:rPr>
              <a:t>L</a:t>
            </a:r>
          </a:p>
          <a:p>
            <a:pPr marL="0" indent="0">
              <a:buNone/>
            </a:pP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89A37E-7EEA-6A2D-FCF9-16DD1D49EE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4FAD570-01B1-989D-D4E0-6C06985973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2476581"/>
            <a:ext cx="3542857" cy="64761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9ACC69D-1C21-56CB-ECAF-2B01E90EB3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999" y="4552806"/>
            <a:ext cx="3220613" cy="180354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ADF777A-2472-FD48-7462-D9BE5218DB7C}"/>
              </a:ext>
            </a:extLst>
          </p:cNvPr>
          <p:cNvSpPr txBox="1"/>
          <p:nvPr/>
        </p:nvSpPr>
        <p:spPr>
          <a:xfrm>
            <a:off x="7315200" y="5822017"/>
            <a:ext cx="477412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l-GR" dirty="0"/>
              <a:t>β</a:t>
            </a:r>
            <a:endParaRPr lang="en-CA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B093C6E-6AA5-1C53-8CDF-454A2729300A}"/>
              </a:ext>
            </a:extLst>
          </p:cNvPr>
          <p:cNvSpPr txBox="1"/>
          <p:nvPr/>
        </p:nvSpPr>
        <p:spPr>
          <a:xfrm>
            <a:off x="6781800" y="4570011"/>
            <a:ext cx="477412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;</a:t>
            </a:r>
            <a:r>
              <a:rPr lang="el-GR" dirty="0"/>
              <a:t>β</a:t>
            </a:r>
            <a:r>
              <a:rPr lang="en-CA" dirty="0"/>
              <a:t>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274EB4D-5FF3-8163-B227-5CE1C32DEAB2}"/>
              </a:ext>
            </a:extLst>
          </p:cNvPr>
          <p:cNvSpPr txBox="1"/>
          <p:nvPr/>
        </p:nvSpPr>
        <p:spPr>
          <a:xfrm>
            <a:off x="457200" y="4794250"/>
            <a:ext cx="37338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Unlike OLS, where there is an exact solution, MLEs are found by </a:t>
            </a:r>
            <a:r>
              <a:rPr lang="en-CA" dirty="0">
                <a:solidFill>
                  <a:srgbClr val="0070C0"/>
                </a:solidFill>
              </a:rPr>
              <a:t>iteratively reweighted least squares</a:t>
            </a:r>
            <a:r>
              <a:rPr lang="en-CA" dirty="0"/>
              <a:t>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00AE7F-1481-1924-4B61-D45CE4F30529}"/>
              </a:ext>
            </a:extLst>
          </p:cNvPr>
          <p:cNvSpPr txBox="1"/>
          <p:nvPr/>
        </p:nvSpPr>
        <p:spPr>
          <a:xfrm>
            <a:off x="6230512" y="2369503"/>
            <a:ext cx="2456288" cy="861774"/>
          </a:xfrm>
          <a:prstGeom prst="rect">
            <a:avLst/>
          </a:prstGeom>
          <a:solidFill>
            <a:schemeClr val="accent1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Why log </a:t>
            </a:r>
            <a:r>
              <a:rPr lang="en-CA" dirty="0">
                <a:latin typeface="Script MT Bold" panose="03040602040607080904" pitchFamily="66" charset="0"/>
              </a:rPr>
              <a:t>L</a:t>
            </a:r>
          </a:p>
          <a:p>
            <a:pPr marL="285750" indent="-285750">
              <a:buFontTx/>
              <a:buChar char="-"/>
            </a:pPr>
            <a:r>
              <a:rPr lang="en-CA" sz="1600" dirty="0"/>
              <a:t>Easier to work with </a:t>
            </a:r>
          </a:p>
          <a:p>
            <a:pPr marL="285750" indent="-285750">
              <a:buFontTx/>
              <a:buChar char="-"/>
            </a:pPr>
            <a:r>
              <a:rPr lang="en-CA" sz="1600" dirty="0"/>
              <a:t>Has the same max value </a:t>
            </a:r>
          </a:p>
        </p:txBody>
      </p:sp>
    </p:spTree>
    <p:extLst>
      <p:ext uri="{BB962C8B-B14F-4D97-AF65-F5344CB8AC3E}">
        <p14:creationId xmlns:p14="http://schemas.microsoft.com/office/powerpoint/2010/main" val="2642634152"/>
      </p:ext>
    </p:extLst>
  </p:cSld>
  <p:clrMapOvr>
    <a:masterClrMapping/>
  </p:clrMapOvr>
</p:sld>
</file>

<file path=ppt\slides\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737A2-3BBF-1B3E-797C-9863070108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Iteratively reweighted least squares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E4C73B-C2A2-959C-B296-B121CC843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18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87056A7-BDA3-68D2-5EDF-548394F4D6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190" y="1634056"/>
            <a:ext cx="7447619" cy="497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8063570"/>
      </p:ext>
    </p:extLst>
  </p:cSld>
  <p:clrMapOvr>
    <a:masterClrMapping/>
  </p:clrMapOvr>
</p:sld>
</file>

<file path=ppt\slides\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FCD45-6BE4-4C49-8295-AC58CA04C8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Maximum likelihood estimation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6888DF-7782-4B7F-AD2E-F637D7E69B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19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4905CEC-8B6A-4C49-995B-71D90CC946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" y="1130617"/>
            <a:ext cx="8171428" cy="254285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DD2BB16-C828-4F0E-9432-672861CAEC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" y="3757769"/>
            <a:ext cx="8171428" cy="2514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9056148"/>
      </p:ext>
    </p:extLst>
  </p:cSld>
  <p:clrMapOvr>
    <a:masterClrMapping/>
  </p:clrMapOvr>
</p:sld>
</file>

<file path=ppt\slides\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9F41B-B324-4FDC-9B20-893A15964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Goodness of fit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980E93-2489-4C8A-B1ED-91BC9D52A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20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2B6E47-9C4B-47A3-BB32-74C215947F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440" y="1234716"/>
            <a:ext cx="8171428" cy="220952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AF2EAA1-6FDE-4A78-93E4-115E487A29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440" y="3703596"/>
            <a:ext cx="8171428" cy="2495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7019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\slides\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65149-7F76-41D6-A49B-AEB474408F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GLMs for count data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492BC8-40F1-4A1F-837C-EABD521E4A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/>
              <a:t>Typically, these are fit using </a:t>
            </a:r>
          </a:p>
          <a:p>
            <a:pPr marL="0" indent="0">
              <a:buNone/>
            </a:pPr>
            <a:r>
              <a:rPr lang="en-US" sz="2000" dirty="0"/>
              <a:t>                  </a:t>
            </a:r>
            <a:r>
              <a:rPr lang="en-US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glm</a:t>
            </a:r>
            <a:r>
              <a:rPr lang="en-US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(y ~ x1 + x2 + …, family=</a:t>
            </a:r>
            <a:r>
              <a:rPr lang="en-US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poisson</a:t>
            </a:r>
            <a:r>
              <a:rPr lang="en-US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data=</a:t>
            </a:r>
            <a:r>
              <a:rPr lang="en-US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mydata</a:t>
            </a:r>
            <a:r>
              <a:rPr lang="en-US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2000" dirty="0"/>
              <a:t>As in other linear models, the predictors, x</a:t>
            </a:r>
            <a:r>
              <a:rPr lang="en-US" sz="2000" baseline="-25000" dirty="0"/>
              <a:t>i</a:t>
            </a:r>
            <a:r>
              <a:rPr lang="en-US" sz="2000" dirty="0"/>
              <a:t>, can be discrete factors, quantitative variables, interactions, etc.</a:t>
            </a:r>
          </a:p>
          <a:p>
            <a:r>
              <a:rPr lang="en-US" sz="2000" dirty="0"/>
              <a:t>This fixes the dispersion parameter, </a:t>
            </a:r>
            <a:r>
              <a:rPr lang="en-US" sz="2000" dirty="0">
                <a:sym typeface="Symbol" panose="05050102010706020507" pitchFamily="18" charset="2"/>
              </a:rPr>
              <a:t> to 1, assuming the count variable y | x1, x2, … is Poisson distributed</a:t>
            </a:r>
          </a:p>
          <a:p>
            <a:r>
              <a:rPr lang="en-US" sz="2000" dirty="0">
                <a:sym typeface="Symbol" panose="05050102010706020507" pitchFamily="18" charset="2"/>
              </a:rPr>
              <a:t>It is possible to relax this, and fit a quasi-Poisson model, allowing  to be estimated from the data</a:t>
            </a:r>
          </a:p>
          <a:p>
            <a:pPr lvl="1"/>
            <a:r>
              <a:rPr lang="en-US" sz="1800" dirty="0">
                <a:sym typeface="Symbol" panose="05050102010706020507" pitchFamily="18" charset="2"/>
              </a:rPr>
              <a:t>Specify </a:t>
            </a:r>
            <a:r>
              <a:rPr lang="en-US" sz="1800" dirty="0">
                <a:solidFill>
                  <a:srgbClr val="0070C0"/>
                </a:solidFill>
                <a:sym typeface="Symbol" panose="05050102010706020507" pitchFamily="18" charset="2"/>
              </a:rPr>
              <a:t>family=</a:t>
            </a:r>
            <a:r>
              <a:rPr lang="en-US" sz="1800" dirty="0" err="1">
                <a:solidFill>
                  <a:srgbClr val="0070C0"/>
                </a:solidFill>
                <a:sym typeface="Symbol" panose="05050102010706020507" pitchFamily="18" charset="2"/>
              </a:rPr>
              <a:t>quasipoisson</a:t>
            </a:r>
            <a:r>
              <a:rPr lang="en-US" sz="1800" dirty="0">
                <a:sym typeface="Symbol" panose="05050102010706020507" pitchFamily="18" charset="2"/>
              </a:rPr>
              <a:t>. This allows variance to be proportional to the mean</a:t>
            </a:r>
          </a:p>
          <a:p>
            <a:pPr marL="457200" lvl="1" indent="0">
              <a:buNone/>
            </a:pPr>
            <a:endParaRPr lang="en-US" sz="1800" dirty="0">
              <a:sym typeface="Symbol" panose="05050102010706020507" pitchFamily="18" charset="2"/>
            </a:endParaRPr>
          </a:p>
          <a:p>
            <a:pPr lvl="1"/>
            <a:endParaRPr lang="en-US" sz="1800" dirty="0">
              <a:sym typeface="Symbol" panose="05050102010706020507" pitchFamily="18" charset="2"/>
            </a:endParaRPr>
          </a:p>
          <a:p>
            <a:pPr lvl="1"/>
            <a:r>
              <a:rPr lang="en-US" sz="1800" dirty="0">
                <a:sym typeface="Symbol" panose="05050102010706020507" pitchFamily="18" charset="2"/>
              </a:rPr>
              <a:t>Another possibility is the </a:t>
            </a:r>
            <a:r>
              <a:rPr lang="en-US" sz="1800" dirty="0">
                <a:solidFill>
                  <a:srgbClr val="0070C0"/>
                </a:solidFill>
                <a:sym typeface="Symbol" panose="05050102010706020507" pitchFamily="18" charset="2"/>
              </a:rPr>
              <a:t>negative-binomial</a:t>
            </a:r>
            <a:r>
              <a:rPr lang="en-US" sz="1800" dirty="0">
                <a:sym typeface="Symbol" panose="05050102010706020507" pitchFamily="18" charset="2"/>
              </a:rPr>
              <a:t> model, which has</a:t>
            </a:r>
            <a:endParaRPr lang="en-US" sz="18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AD30CB6-57B4-4A6B-8632-FA6F431EE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21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CABCB50-1141-4804-96C8-B40430E9D6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5200" y="4419600"/>
            <a:ext cx="1676190" cy="44761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9BF3A2D-B830-4959-98EB-E73A079EA4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5676" y="5559518"/>
            <a:ext cx="2295238" cy="495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58668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\slides\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D279E8-3990-49BE-8201-BF8D184847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Example: Publications of PhD </a:t>
            </a:r>
            <a:r>
              <a:rPr lang="en-US" sz="3600" dirty="0" err="1"/>
              <a:t>candiates</a:t>
            </a:r>
            <a:endParaRPr lang="en-US" sz="3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E4FB0C-FDE9-4129-BFC4-14F68D603F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C995B8-89AB-4C70-BFF4-7C6391AC0FB2}"/>
              </a:ext>
            </a:extLst>
          </p:cNvPr>
          <p:cNvSpPr txBox="1"/>
          <p:nvPr/>
        </p:nvSpPr>
        <p:spPr>
          <a:xfrm>
            <a:off x="457200" y="13716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 3.24 in DDAR gives data on the number of publications by PhD candidates in biochemistry in the last 3 years of study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E9F5DE7-A562-477C-B197-4F148320070F}"/>
              </a:ext>
            </a:extLst>
          </p:cNvPr>
          <p:cNvSpPr txBox="1"/>
          <p:nvPr/>
        </p:nvSpPr>
        <p:spPr>
          <a:xfrm>
            <a:off x="457200" y="2398931"/>
            <a:ext cx="8229600" cy="1323439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data("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PhdPubs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", package = "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vcdExtra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table(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PhdPubs$articles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0   1   2   3   4   5   6   7   8   9  10  11  12  16  19 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275 246 178  84  67  27  17  12   1   2   1   1   2   1   1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C2F20E-93CB-4398-BEDF-67E5B4B23BA2}"/>
              </a:ext>
            </a:extLst>
          </p:cNvPr>
          <p:cNvSpPr txBox="1"/>
          <p:nvPr/>
        </p:nvSpPr>
        <p:spPr>
          <a:xfrm>
            <a:off x="533400" y="4038600"/>
            <a:ext cx="79248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Predictors are: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gender, marital status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number of young children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prestige of the doctoral department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number of publications by the student’s mentor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30298D-3C7F-5BF2-A64F-570D2693050F}"/>
              </a:ext>
            </a:extLst>
          </p:cNvPr>
          <p:cNvSpPr txBox="1"/>
          <p:nvPr/>
        </p:nvSpPr>
        <p:spPr>
          <a:xfrm>
            <a:off x="609600" y="5791200"/>
            <a:ext cx="7848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/>
              <a:t>Q: Which of these do you think would have strong effects on pubs?</a:t>
            </a:r>
          </a:p>
        </p:txBody>
      </p:sp>
    </p:spTree>
    <p:extLst>
      <p:ext uri="{BB962C8B-B14F-4D97-AF65-F5344CB8AC3E}">
        <p14:creationId xmlns:p14="http://schemas.microsoft.com/office/powerpoint/2010/main" val="79126831"/>
      </p:ext>
    </p:extLst>
  </p:cSld>
  <p:clrMapOvr>
    <a:masterClrMapping/>
  </p:clrMapOvr>
</p:sld>
</file>

<file path=ppt\slides\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4A30D5-533E-4A13-8210-3667AA56A7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Example: Publications of PhD candidates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14718ED-1E8A-4901-B900-09D71D7B7F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23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0BA56D-C766-435D-983E-D64EABB82809}"/>
              </a:ext>
            </a:extLst>
          </p:cNvPr>
          <p:cNvSpPr txBox="1"/>
          <p:nvPr/>
        </p:nvSpPr>
        <p:spPr>
          <a:xfrm>
            <a:off x="457200" y="12954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Initially, ignore the predictors</a:t>
            </a:r>
          </a:p>
          <a:p>
            <a:r>
              <a:rPr lang="en-US" dirty="0"/>
              <a:t>This is equivalent to an intercept-only Poisson model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F1D481-3106-49A8-8B53-F8D9017EDD4F}"/>
              </a:ext>
            </a:extLst>
          </p:cNvPr>
          <p:cNvSpPr txBox="1"/>
          <p:nvPr/>
        </p:nvSpPr>
        <p:spPr>
          <a:xfrm>
            <a:off x="467360" y="2025134"/>
            <a:ext cx="8229600" cy="369332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glm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articles ~ 1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family=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poisson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data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PhdPubs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D3C51E1-3B42-489F-8CEF-68B788FBACAA}"/>
              </a:ext>
            </a:extLst>
          </p:cNvPr>
          <p:cNvSpPr txBox="1"/>
          <p:nvPr/>
        </p:nvSpPr>
        <p:spPr>
          <a:xfrm>
            <a:off x="533400" y="2819400"/>
            <a:ext cx="807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As a check on the Poisson assumption, calculate the mean and variance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75EDC5-FF7C-4971-BE53-C402B546DC9D}"/>
              </a:ext>
            </a:extLst>
          </p:cNvPr>
          <p:cNvSpPr txBox="1"/>
          <p:nvPr/>
        </p:nvSpPr>
        <p:spPr>
          <a:xfrm>
            <a:off x="533400" y="3613666"/>
            <a:ext cx="8153400" cy="1323439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with(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PhdPubs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c(mean=mean(articles), 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var=var(articles), 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ratio=var(articles)/mean(articles)))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mean   var ratio 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1.69  3.71  2.19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08286F-7B53-45EF-B253-076683891E75}"/>
              </a:ext>
            </a:extLst>
          </p:cNvPr>
          <p:cNvSpPr txBox="1"/>
          <p:nvPr/>
        </p:nvSpPr>
        <p:spPr>
          <a:xfrm>
            <a:off x="533400" y="5362039"/>
            <a:ext cx="8153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assumption that mean = variance could be met when we add predictors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78F6584-D934-8679-558C-B22B61B44154}"/>
              </a:ext>
            </a:extLst>
          </p:cNvPr>
          <p:cNvSpPr/>
          <p:nvPr/>
        </p:nvSpPr>
        <p:spPr>
          <a:xfrm>
            <a:off x="1981200" y="4371075"/>
            <a:ext cx="838200" cy="56437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63178130"/>
      </p:ext>
    </p:extLst>
  </p:cSld>
  <p:clrMapOvr>
    <a:masterClrMapping/>
  </p:clrMapOvr>
</p:sld>
</file>

<file path=ppt\slides\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B5D6F1-05D8-4F9C-A5DC-5CABBFC0E4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24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54766C9-38A7-412A-B052-FF227001F3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304800"/>
            <a:ext cx="8171428" cy="510476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5486B4C-3CE6-3B91-E207-603CFB6A0494}"/>
              </a:ext>
            </a:extLst>
          </p:cNvPr>
          <p:cNvSpPr txBox="1"/>
          <p:nvPr/>
        </p:nvSpPr>
        <p:spPr>
          <a:xfrm>
            <a:off x="533400" y="5715000"/>
            <a:ext cx="7696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Q: What might some other reasons be?</a:t>
            </a:r>
          </a:p>
          <a:p>
            <a:r>
              <a:rPr lang="en-CA" dirty="0"/>
              <a:t>Think back to assumptions: independent </a:t>
            </a:r>
            <a:r>
              <a:rPr lang="en-CA" dirty="0" err="1"/>
              <a:t>obs</a:t>
            </a:r>
            <a:r>
              <a:rPr lang="en-CA" dirty="0"/>
              <a:t>; constant probs; unmodelled vars</a:t>
            </a:r>
          </a:p>
        </p:txBody>
      </p:sp>
    </p:spTree>
    <p:extLst>
      <p:ext uri="{BB962C8B-B14F-4D97-AF65-F5344CB8AC3E}">
        <p14:creationId xmlns:p14="http://schemas.microsoft.com/office/powerpoint/2010/main" val="3263431967"/>
      </p:ext>
    </p:extLst>
  </p:cSld>
  <p:clrMapOvr>
    <a:masterClrMapping/>
  </p:clrMapOvr>
</p:sld>
</file>

<file path=ppt\slides\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8F6676A-16FC-4352-BE83-CC8CF1AF17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Fitting the Poisson model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FD2BF59-B45C-4385-99DC-5BB72A8A65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25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20C205-E1F9-46E9-BA08-355883E9E26A}"/>
              </a:ext>
            </a:extLst>
          </p:cNvPr>
          <p:cNvSpPr txBox="1"/>
          <p:nvPr/>
        </p:nvSpPr>
        <p:spPr>
          <a:xfrm>
            <a:off x="457200" y="1280160"/>
            <a:ext cx="8229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Fit the model with all main effects; note the ~ . notation for this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129A42-5968-43D9-A820-207E70AF363C}"/>
              </a:ext>
            </a:extLst>
          </p:cNvPr>
          <p:cNvSpPr txBox="1"/>
          <p:nvPr/>
        </p:nvSpPr>
        <p:spPr>
          <a:xfrm>
            <a:off x="457200" y="2087562"/>
            <a:ext cx="8229600" cy="2893100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phd.pois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&lt;-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glm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articles ~ ., 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data=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PhdPubs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family=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poisson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Anova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phd.pois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Analysis of Deviance Table (Type II tests)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Response: articles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LR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Chisq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Df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(&gt;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Chisq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  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female          17.1  1    3.6e-05 ***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married          6.6  1       0.01 * 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kid5            22.1  1    2.6e-06 ***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phdprestige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1.0  1       0.32   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mentor         126.8  1    &lt; 2e-16 ***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---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Signif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. codes:  0 ‘***’ 0.001 ‘**’ 0.01 ‘*’ 0.05 ‘.’ 0.1 ‘ ’ 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467731-D0EB-4B33-BA0E-78DDF8F0E29A}"/>
              </a:ext>
            </a:extLst>
          </p:cNvPr>
          <p:cNvSpPr txBox="1"/>
          <p:nvPr/>
        </p:nvSpPr>
        <p:spPr>
          <a:xfrm>
            <a:off x="457200" y="53340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Only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phdprestige</a:t>
            </a:r>
            <a:r>
              <a:rPr lang="en-US" dirty="0"/>
              <a:t> is NS; it does no harm to keep it, for now</a:t>
            </a:r>
          </a:p>
        </p:txBody>
      </p:sp>
    </p:spTree>
    <p:extLst>
      <p:ext uri="{BB962C8B-B14F-4D97-AF65-F5344CB8AC3E}">
        <p14:creationId xmlns:p14="http://schemas.microsoft.com/office/powerpoint/2010/main" val="1140071747"/>
      </p:ext>
    </p:extLst>
  </p:cSld>
  <p:clrMapOvr>
    <a:masterClrMapping/>
  </p:clrMapOvr>
</p:sld>
</file>

<file path=ppt\slides\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964A81-39F4-41A3-B8F5-77A7BD8106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Interpreting coefficients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5CF7F01-D0A7-4F34-9B29-B66840A15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26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41FCE08-8BFB-40C2-AB7C-237BC0AFA9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132" y="1295400"/>
            <a:ext cx="8171428" cy="5142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7392232"/>
      </p:ext>
    </p:extLst>
  </p:cSld>
  <p:clrMapOvr>
    <a:masterClrMapping/>
  </p:clrMapOvr>
</p:sld>
</file>

<file path=ppt\slides\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D5299C-E49D-445A-B103-162200CE2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Effect plots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F5F51B9-1F15-4094-B786-C06A58B15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27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CFD5C6B-AC63-4D5F-9747-51E0DC2046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47800"/>
            <a:ext cx="8171428" cy="481904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DCCC25D-4E9A-51D9-2A9A-7FEFACD6824E}"/>
              </a:ext>
            </a:extLst>
          </p:cNvPr>
          <p:cNvSpPr txBox="1"/>
          <p:nvPr/>
        </p:nvSpPr>
        <p:spPr>
          <a:xfrm>
            <a:off x="5486400" y="4572000"/>
            <a:ext cx="2971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But note that this just displays the fitted model</a:t>
            </a:r>
          </a:p>
        </p:txBody>
      </p:sp>
    </p:spTree>
    <p:extLst>
      <p:ext uri="{BB962C8B-B14F-4D97-AF65-F5344CB8AC3E}">
        <p14:creationId xmlns:p14="http://schemas.microsoft.com/office/powerpoint/2010/main" val="3875056200"/>
      </p:ext>
    </p:extLst>
  </p:cSld>
  <p:clrMapOvr>
    <a:masterClrMapping/>
  </p:clrMapOvr>
</p:sld>
</file>

<file path=ppt\slides\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17EF52-AD03-CB3F-829D-E9E7B1D480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28</a:t>
            </a:fld>
            <a:endParaRPr lang="en-US"/>
          </a:p>
        </p:txBody>
      </p:sp>
      <p:pic>
        <p:nvPicPr>
          <p:cNvPr id="6" name="Picture 5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CD1ADB2F-1D67-9500-503F-1E8C949DE4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783" y="609599"/>
            <a:ext cx="7981817" cy="570699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1216BD1-44AE-0699-818D-EECB300056CE}"/>
              </a:ext>
            </a:extLst>
          </p:cNvPr>
          <p:cNvSpPr txBox="1"/>
          <p:nvPr/>
        </p:nvSpPr>
        <p:spPr>
          <a:xfrm>
            <a:off x="990600" y="990600"/>
            <a:ext cx="723900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6600" b="1" dirty="0">
                <a:solidFill>
                  <a:schemeClr val="bg1"/>
                </a:solidFill>
              </a:rPr>
              <a:t>Model diagnostics</a:t>
            </a:r>
          </a:p>
        </p:txBody>
      </p:sp>
    </p:spTree>
    <p:extLst>
      <p:ext uri="{BB962C8B-B14F-4D97-AF65-F5344CB8AC3E}">
        <p14:creationId xmlns:p14="http://schemas.microsoft.com/office/powerpoint/2010/main" val="3453423013"/>
      </p:ext>
    </p:extLst>
  </p:cSld>
  <p:clrMapOvr>
    <a:masterClrMapping/>
  </p:clrMapOvr>
</p:sld>
</file>

<file path=ppt\slides\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BC4466-8F9D-4E1A-8EB5-1944DB532D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Model diagnostics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0C1633-D345-4D98-A1CD-2B514A8A6D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Diagnostic methods for count data GLMs are similar to those used for classical linear models</a:t>
            </a:r>
          </a:p>
          <a:p>
            <a:r>
              <a:rPr lang="en-US" sz="2400" dirty="0"/>
              <a:t>Test for presence of </a:t>
            </a:r>
            <a:r>
              <a:rPr lang="en-US" sz="2400" dirty="0">
                <a:solidFill>
                  <a:srgbClr val="0070C0"/>
                </a:solidFill>
              </a:rPr>
              <a:t>interactions</a:t>
            </a:r>
          </a:p>
          <a:p>
            <a:pPr lvl="1"/>
            <a:r>
              <a:rPr lang="en-US" sz="2000" dirty="0"/>
              <a:t>Fit model(s) with some or all two-way interactions</a:t>
            </a:r>
          </a:p>
          <a:p>
            <a:r>
              <a:rPr lang="en-US" sz="2400" dirty="0">
                <a:solidFill>
                  <a:srgbClr val="0070C0"/>
                </a:solidFill>
              </a:rPr>
              <a:t>Non-linear</a:t>
            </a:r>
            <a:r>
              <a:rPr lang="en-US" sz="2400" dirty="0"/>
              <a:t> effects of quantitative predictors”</a:t>
            </a:r>
          </a:p>
          <a:p>
            <a:pPr lvl="1"/>
            <a:r>
              <a:rPr lang="en-US" sz="2000" dirty="0"/>
              <a:t>Component-plus-residual plots– car::</a:t>
            </a:r>
            <a:r>
              <a:rPr lang="en-US" sz="2000" dirty="0" err="1"/>
              <a:t>crPlot</a:t>
            </a:r>
            <a:r>
              <a:rPr lang="en-US" sz="2000" dirty="0"/>
              <a:t>() is useful here</a:t>
            </a:r>
          </a:p>
          <a:p>
            <a:r>
              <a:rPr lang="en-US" sz="2400" dirty="0">
                <a:solidFill>
                  <a:srgbClr val="0070C0"/>
                </a:solidFill>
              </a:rPr>
              <a:t>Outliers</a:t>
            </a:r>
            <a:r>
              <a:rPr lang="en-US" sz="2400" dirty="0"/>
              <a:t>? Influential observations?</a:t>
            </a:r>
          </a:p>
          <a:p>
            <a:pPr lvl="1"/>
            <a:r>
              <a:rPr lang="en-US" sz="2000" dirty="0"/>
              <a:t>car::</a:t>
            </a:r>
            <a:r>
              <a:rPr lang="en-US" sz="2000" dirty="0" err="1"/>
              <a:t>influencePlot</a:t>
            </a:r>
            <a:r>
              <a:rPr lang="en-US" sz="2000" dirty="0"/>
              <a:t>() is your friend</a:t>
            </a:r>
          </a:p>
          <a:p>
            <a:pPr lvl="1"/>
            <a:endParaRPr lang="en-US" sz="2000" dirty="0"/>
          </a:p>
          <a:p>
            <a:r>
              <a:rPr lang="en-US" sz="2400" dirty="0"/>
              <a:t>For count data models we should also check for </a:t>
            </a:r>
            <a:r>
              <a:rPr lang="en-US" sz="2400" dirty="0">
                <a:solidFill>
                  <a:srgbClr val="0070C0"/>
                </a:solidFill>
              </a:rPr>
              <a:t>overdispersion</a:t>
            </a:r>
          </a:p>
          <a:p>
            <a:pPr lvl="1"/>
            <a:r>
              <a:rPr lang="en-US" sz="2000" dirty="0"/>
              <a:t>Similar to homogeneity of variance checks in </a:t>
            </a:r>
            <a:r>
              <a:rPr lang="en-US" sz="2000" dirty="0" err="1"/>
              <a:t>lm</a:t>
            </a:r>
            <a:r>
              <a:rPr lang="en-US" sz="2000" dirty="0"/>
              <a:t>()</a:t>
            </a:r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F822CA6-C94C-4D7F-9928-8AF0F7E464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36259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\slides\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564F53-7A0F-4733-9E29-E5E04719F9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Checking for interactions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0D81E5-9825-4168-995A-EBC39D02AE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B7FD81-FA09-46EE-B295-3243717B8823}"/>
              </a:ext>
            </a:extLst>
          </p:cNvPr>
          <p:cNvSpPr txBox="1"/>
          <p:nvPr/>
        </p:nvSpPr>
        <p:spPr>
          <a:xfrm>
            <a:off x="457200" y="1625600"/>
            <a:ext cx="8229600" cy="5047536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phd.pois1 &lt;- update(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phd.pois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. ~ .^2)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Anova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(phd.pois1)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Analysis of Deviance Table (Type II tests)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Response: articles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LR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Chisq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Df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(&gt;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Chisq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  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female                  14.5  1    0.00014 ***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married                  6.2  1    0.01277 * 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kid5                    19.5  1    9.8e-06 ***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phdprestige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1.0  1    0.32655   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mentor                 128.1  1    &lt; 2e-16 ***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female:married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0.3  1    0.60995   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female:kid5              0.1  1    0.72929    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female:phdprestige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0.2  1    0.63574    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female:mentor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0.0  1    0.91260   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married:kid5                  0               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married:phdprestige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1.7  1    0.19153    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married:mentor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1.2  1    0.28203   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kid5:phdprestige         0.2  1    0.68523   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kid5:mentor              2.8  1    0.09290 .  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phdprestige:mentor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3.8  1    0.05094 . 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---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Signif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. codes:  0 ‘***’ 0.001 ‘**’ 0.01 ‘*’ 0.05 ‘.’ 0.1 ‘ ’ 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9746CF-8C8D-4CCC-9D08-0176BC0E6339}"/>
              </a:ext>
            </a:extLst>
          </p:cNvPr>
          <p:cNvSpPr txBox="1"/>
          <p:nvPr/>
        </p:nvSpPr>
        <p:spPr>
          <a:xfrm>
            <a:off x="457200" y="1143000"/>
            <a:ext cx="82296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As a quick check for interactions, fit a model with </a:t>
            </a:r>
            <a:r>
              <a:rPr lang="en-US" dirty="0">
                <a:solidFill>
                  <a:srgbClr val="0070C0"/>
                </a:solidFill>
              </a:rPr>
              <a:t>all two-way terms</a:t>
            </a:r>
            <a:r>
              <a:rPr lang="en-US" dirty="0"/>
              <a:t>,  </a:t>
            </a:r>
            <a:r>
              <a:rPr lang="en-US" dirty="0">
                <a:solidFill>
                  <a:schemeClr val="accent6">
                    <a:lumMod val="50000"/>
                  </a:schemeClr>
                </a:solidFill>
              </a:rPr>
              <a:t>. ~ .^2</a:t>
            </a:r>
          </a:p>
        </p:txBody>
      </p:sp>
    </p:spTree>
    <p:extLst>
      <p:ext uri="{BB962C8B-B14F-4D97-AF65-F5344CB8AC3E}">
        <p14:creationId xmlns:p14="http://schemas.microsoft.com/office/powerpoint/2010/main" val="757148176"/>
      </p:ext>
    </p:extLst>
  </p:cSld>
  <p:clrMapOvr>
    <a:masterClrMapping/>
  </p:clrMapOvr>
</p:sld>
</file>

<file path=ppt\slides\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35AA29-11EA-4DF5-86C0-E64CA77BEA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Compare models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260FA58-6C38-4207-8443-AD5E149248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31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54AEDCF-1A8B-47BE-984D-CF4BE23EE11F}"/>
              </a:ext>
            </a:extLst>
          </p:cNvPr>
          <p:cNvSpPr txBox="1"/>
          <p:nvPr/>
        </p:nvSpPr>
        <p:spPr>
          <a:xfrm>
            <a:off x="533400" y="1981200"/>
            <a:ext cx="8153400" cy="3108543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anova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phd.pois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phd.pois1, test="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Chisq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Analysis of Deviance Table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Model 1: articles ~ female + married + kid5 +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phdprestige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+ mentor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Model 2: articles ~ female + married + kid5 +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phdprestige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+ mentor +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female:married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+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female:kid5 +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female:phdprestige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+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female:mentor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+ married:kid5 +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married:phdprestige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+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married:mentor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+ kid5:phdprestige +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kid5:mentor +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phdprestige:mentor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Resid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. Df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Resid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. Dev Df Deviance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(&gt;Chi) 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1       909       1634                      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2       900       1618  9     15.2    0.086 .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---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Signif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. codes:  0 ‘***’ 0.001 ‘**’ 0.01 ‘*’ 0.05 ‘.’ 0.1 ‘ ’ 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B66755-1343-490D-8FFE-EDAF458A2B60}"/>
              </a:ext>
            </a:extLst>
          </p:cNvPr>
          <p:cNvSpPr txBox="1"/>
          <p:nvPr/>
        </p:nvSpPr>
        <p:spPr>
          <a:xfrm>
            <a:off x="457200" y="1143000"/>
            <a:ext cx="82296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The all main effects and all two-way models are nested, so we can compare them with </a:t>
            </a:r>
            <a:r>
              <a:rPr lang="en-US" sz="2000" dirty="0" err="1"/>
              <a:t>anova</a:t>
            </a:r>
            <a:r>
              <a:rPr lang="en-US" sz="2000" dirty="0"/>
              <a:t>()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32B9D9-285C-4CE7-8FFE-23485D87AE65}"/>
              </a:ext>
            </a:extLst>
          </p:cNvPr>
          <p:cNvSpPr txBox="1"/>
          <p:nvPr/>
        </p:nvSpPr>
        <p:spPr>
          <a:xfrm>
            <a:off x="533400" y="5334000"/>
            <a:ext cx="8153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Symbol" panose="05050102010706020507" pitchFamily="18" charset="2"/>
              <a:buChar char="®"/>
            </a:pPr>
            <a:r>
              <a:rPr lang="en-US" dirty="0"/>
              <a:t>No evidence that the two-way terms result in a significantly better model</a:t>
            </a:r>
          </a:p>
          <a:p>
            <a:pPr marL="285750" indent="-285750">
              <a:buFont typeface="Symbol" panose="05050102010706020507" pitchFamily="18" charset="2"/>
              <a:buChar char="®"/>
            </a:pPr>
            <a:r>
              <a:rPr lang="en-US" dirty="0"/>
              <a:t>A more principled analysis would consider </a:t>
            </a:r>
            <a:r>
              <a:rPr lang="en-US" dirty="0">
                <a:solidFill>
                  <a:srgbClr val="0070C0"/>
                </a:solidFill>
              </a:rPr>
              <a:t>which interactions </a:t>
            </a:r>
            <a:r>
              <a:rPr lang="en-US" dirty="0"/>
              <a:t>might be interesting / important</a:t>
            </a:r>
          </a:p>
        </p:txBody>
      </p:sp>
    </p:spTree>
    <p:extLst>
      <p:ext uri="{BB962C8B-B14F-4D97-AF65-F5344CB8AC3E}">
        <p14:creationId xmlns:p14="http://schemas.microsoft.com/office/powerpoint/2010/main" val="704171366"/>
      </p:ext>
    </p:extLst>
  </p:cSld>
  <p:clrMapOvr>
    <a:masterClrMapping/>
  </p:clrMapOvr>
</p:sld>
</file>

<file path=ppt\slides\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507EE-E6FA-46A5-BD70-5BB17EBBEA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Compare models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09A9D7C-7F11-4EAC-B2CE-A716023D9E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32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312807-A8C4-479C-8037-5047EDBA41B3}"/>
              </a:ext>
            </a:extLst>
          </p:cNvPr>
          <p:cNvSpPr txBox="1"/>
          <p:nvPr/>
        </p:nvSpPr>
        <p:spPr>
          <a:xfrm>
            <a:off x="457200" y="1828800"/>
            <a:ext cx="8229600" cy="1815882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LRstats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phd.pois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phd.pois1)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Likelihood summary table: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AIC  BIC LR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Chisq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Df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(&gt;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Chisq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   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phd.pois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3313 3342     1634 909     &lt;2e-16 ***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phd.pois1 3316 3388     1618 900     &lt;2e-16 ***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---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Signif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. codes:  0 ‘***’ 0.001 ‘**’ 0.01 ‘*’ 0.05 ‘.’ 0.1 ‘ ’ 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7FCBCA9-D361-4737-B10C-8704D211637E}"/>
              </a:ext>
            </a:extLst>
          </p:cNvPr>
          <p:cNvSpPr txBox="1"/>
          <p:nvPr/>
        </p:nvSpPr>
        <p:spPr>
          <a:xfrm>
            <a:off x="457200" y="1143000"/>
            <a:ext cx="822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We can also compare using AIC/BIC with </a:t>
            </a:r>
            <a:r>
              <a:rPr lang="en-US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vcdExtra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LRstats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A69300-EC42-4919-952C-38D5B8720899}"/>
              </a:ext>
            </a:extLst>
          </p:cNvPr>
          <p:cNvSpPr txBox="1"/>
          <p:nvPr/>
        </p:nvSpPr>
        <p:spPr>
          <a:xfrm>
            <a:off x="533400" y="3962400"/>
            <a:ext cx="81534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There seems to be no reason to include interactions in this model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70C0"/>
                </a:solidFill>
              </a:rPr>
              <a:t>All </a:t>
            </a:r>
            <a:r>
              <a:rPr lang="en-US" dirty="0"/>
              <a:t>these interactions </a:t>
            </a:r>
            <a:r>
              <a:rPr lang="en-US" dirty="0">
                <a:solidFill>
                  <a:srgbClr val="0070C0"/>
                </a:solidFill>
              </a:rPr>
              <a:t>increase</a:t>
            </a:r>
            <a:r>
              <a:rPr lang="en-US" dirty="0"/>
              <a:t> AIC &amp; BIC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 might want to revisit this, after examining other models for the basic count distribution (quasi-</a:t>
            </a:r>
            <a:r>
              <a:rPr lang="en-US" dirty="0" err="1"/>
              <a:t>poisson</a:t>
            </a:r>
            <a:r>
              <a:rPr lang="en-US" dirty="0"/>
              <a:t>, negative-binomial)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 might want to consider some </a:t>
            </a:r>
            <a:r>
              <a:rPr lang="en-US" dirty="0">
                <a:solidFill>
                  <a:srgbClr val="0070C0"/>
                </a:solidFill>
              </a:rPr>
              <a:t>specific </a:t>
            </a:r>
            <a:r>
              <a:rPr lang="en-US" dirty="0"/>
              <a:t>interaction(s) that seem substantively interesting or important to test.</a:t>
            </a:r>
          </a:p>
        </p:txBody>
      </p:sp>
    </p:spTree>
    <p:extLst>
      <p:ext uri="{BB962C8B-B14F-4D97-AF65-F5344CB8AC3E}">
        <p14:creationId xmlns:p14="http://schemas.microsoft.com/office/powerpoint/2010/main" val="2926295230"/>
      </p:ext>
    </p:extLst>
  </p:cSld>
  <p:clrMapOvr>
    <a:masterClrMapping/>
  </p:clrMapOvr>
</p:sld>
</file>

<file path=ppt\slides\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464A93-507B-423C-9FB8-FD826FBE85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Basic model plots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8971463-20F8-4706-BE7B-701FDF78F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33</a:t>
            </a:fld>
            <a:endParaRPr lang="en-US"/>
          </a:p>
        </p:txBody>
      </p:sp>
      <p:pic>
        <p:nvPicPr>
          <p:cNvPr id="5" name="Picture 4" descr="Chart, scatter chart&#10;&#10;Description automatically generated">
            <a:extLst>
              <a:ext uri="{FF2B5EF4-FFF2-40B4-BE49-F238E27FC236}">
                <a16:creationId xmlns:a16="http://schemas.microsoft.com/office/drawing/2014/main" id="{12A9ABC1-C3DD-42A8-BD6A-6F5DE0C1BB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2364522"/>
            <a:ext cx="7772400" cy="427316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EBAABA3-5157-4C08-A32D-9ACBAB226F32}"/>
              </a:ext>
            </a:extLst>
          </p:cNvPr>
          <p:cNvSpPr txBox="1"/>
          <p:nvPr/>
        </p:nvSpPr>
        <p:spPr>
          <a:xfrm>
            <a:off x="457200" y="11430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Only two of the standard model plots are informative for count data models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C31C773-D9D2-4728-AC98-1A11B4D66AC9}"/>
              </a:ext>
            </a:extLst>
          </p:cNvPr>
          <p:cNvSpPr txBox="1"/>
          <p:nvPr/>
        </p:nvSpPr>
        <p:spPr>
          <a:xfrm>
            <a:off x="533400" y="1664732"/>
            <a:ext cx="8153400" cy="338554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plot(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phd.pois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which=c(1,5))</a:t>
            </a:r>
          </a:p>
        </p:txBody>
      </p:sp>
    </p:spTree>
    <p:extLst>
      <p:ext uri="{BB962C8B-B14F-4D97-AF65-F5344CB8AC3E}">
        <p14:creationId xmlns:p14="http://schemas.microsoft.com/office/powerpoint/2010/main" val="390558143"/>
      </p:ext>
    </p:extLst>
  </p:cSld>
  <p:clrMapOvr>
    <a:masterClrMapping/>
  </p:clrMapOvr>
</p:sld>
</file>

<file path=ppt\slides\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66D97-81B7-45A7-81DD-FDB46AACB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Nonlinearity diagnostics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6899330-3DB6-44AE-907D-37F2FBE4A4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dirty="0"/>
                  <a:t>Nonlinear relations are difficult to assess in </a:t>
                </a:r>
                <a:r>
                  <a:rPr lang="en-US" sz="2400" dirty="0">
                    <a:solidFill>
                      <a:srgbClr val="0070C0"/>
                    </a:solidFill>
                  </a:rPr>
                  <a:t>marginal</a:t>
                </a:r>
                <a:r>
                  <a:rPr lang="en-US" sz="2400" dirty="0"/>
                  <a:t> plots, because they don’t control (or adjust) for other predictors</a:t>
                </a:r>
              </a:p>
              <a:p>
                <a:r>
                  <a:rPr lang="en-US" sz="2400" dirty="0">
                    <a:solidFill>
                      <a:srgbClr val="0070C0"/>
                    </a:solidFill>
                  </a:rPr>
                  <a:t>Component-plus-residual</a:t>
                </a:r>
                <a:r>
                  <a:rPr lang="en-US" sz="2400" dirty="0"/>
                  <a:t> plots (also called: </a:t>
                </a:r>
                <a:r>
                  <a:rPr lang="en-US" sz="2400" dirty="0">
                    <a:solidFill>
                      <a:srgbClr val="0070C0"/>
                    </a:solidFill>
                  </a:rPr>
                  <a:t>partial residual </a:t>
                </a:r>
                <a:r>
                  <a:rPr lang="en-US" sz="2400" dirty="0"/>
                  <a:t>plots) can show nonlinear relations for numeric predictors</a:t>
                </a:r>
              </a:p>
              <a:p>
                <a:pPr lvl="1"/>
                <a:r>
                  <a:rPr lang="en-US" sz="2000" dirty="0"/>
                  <a:t>These graph the value of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</m:acc>
                    <m:r>
                      <m:rPr>
                        <m:sty m:val="p"/>
                      </m:rPr>
                      <a:rPr lang="en-US" sz="2000" b="0" i="0" baseline="-25000" smtClean="0">
                        <a:latin typeface="Cambria Math" panose="02040503050406030204" pitchFamily="18" charset="0"/>
                      </a:rPr>
                      <m:t>i</m:t>
                    </m:r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xi</m:t>
                    </m:r>
                    <m:r>
                      <a:rPr lang="en-US" sz="2000" b="0" i="0" baseline="-2500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+ </a:t>
                </a:r>
                <a:r>
                  <a:rPr lang="en-US" sz="2000" dirty="0" err="1"/>
                  <a:t>residual</a:t>
                </a:r>
                <a:r>
                  <a:rPr lang="en-US" sz="2000" baseline="-25000" dirty="0" err="1"/>
                  <a:t>i</a:t>
                </a:r>
                <a:r>
                  <a:rPr lang="en-US" sz="2000" dirty="0"/>
                  <a:t> vs. the predictor x</a:t>
                </a:r>
                <a:r>
                  <a:rPr lang="en-US" sz="2000" baseline="-25000" dirty="0"/>
                  <a:t>i</a:t>
                </a:r>
              </a:p>
              <a:p>
                <a:pPr lvl="1"/>
                <a:r>
                  <a:rPr lang="en-US" sz="2000" dirty="0"/>
                  <a:t>In this plot, the slope of the points is the coefficient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</m:acc>
                    <m:r>
                      <m:rPr>
                        <m:sty m:val="p"/>
                      </m:rPr>
                      <a:rPr lang="en-US" sz="2000" baseline="-25000">
                        <a:latin typeface="Cambria Math" panose="02040503050406030204" pitchFamily="18" charset="0"/>
                      </a:rPr>
                      <m:t>i</m:t>
                    </m:r>
                  </m:oMath>
                </a14:m>
                <a:r>
                  <a:rPr lang="en-US" sz="2000" dirty="0"/>
                  <a:t> in the full model</a:t>
                </a:r>
              </a:p>
              <a:p>
                <a:pPr lvl="1"/>
                <a:r>
                  <a:rPr lang="en-US" sz="2000" dirty="0"/>
                  <a:t>The residual is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000" b="0" i="1" baseline="-25000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− </m:t>
                    </m:r>
                    <m:acc>
                      <m:accPr>
                        <m:chr m:val="̂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000" i="1" baseline="-2500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acc>
                  </m:oMath>
                </a14:m>
                <a:r>
                  <a:rPr lang="en-US" sz="2000" dirty="0"/>
                  <a:t> in the full model</a:t>
                </a:r>
              </a:p>
              <a:p>
                <a:r>
                  <a:rPr lang="en-US" sz="2400" dirty="0"/>
                  <a:t>A non-parametric (e.g., loess()) smooth facilitates detecting nonlinearity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6899330-3DB6-44AE-907D-37F2FBE4A4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07" t="-2031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A0C2B06-78B6-4EF2-9596-8DC8EBD0B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43337"/>
      </p:ext>
    </p:extLst>
  </p:cSld>
  <p:clrMapOvr>
    <a:masterClrMapping/>
  </p:clrMapOvr>
</p:sld>
</file>

<file path=ppt\slides\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DC9A24-89AB-45DB-8B47-76D60B3B50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Nonlinearity diagnostics: </a:t>
            </a:r>
            <a:r>
              <a:rPr lang="en-US" dirty="0" err="1"/>
              <a:t>crPlot</a:t>
            </a:r>
            <a:r>
              <a:rPr lang="en-US" dirty="0"/>
              <a:t>()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DA5731-F5F2-4143-B18B-69B32D575B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821059-32F0-45E9-875C-675DAE0EF100}"/>
              </a:ext>
            </a:extLst>
          </p:cNvPr>
          <p:cNvSpPr txBox="1"/>
          <p:nvPr/>
        </p:nvSpPr>
        <p:spPr>
          <a:xfrm>
            <a:off x="457200" y="1219200"/>
            <a:ext cx="82296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Is the relation between article published by the student and by the mentor adequately represented as linear?</a:t>
            </a:r>
          </a:p>
        </p:txBody>
      </p:sp>
      <p:pic>
        <p:nvPicPr>
          <p:cNvPr id="7" name="Picture 6" descr="Chart, scatter chart&#10;&#10;Description automatically generated">
            <a:extLst>
              <a:ext uri="{FF2B5EF4-FFF2-40B4-BE49-F238E27FC236}">
                <a16:creationId xmlns:a16="http://schemas.microsoft.com/office/drawing/2014/main" id="{F485F2F5-D646-48E8-BA35-D1A2A02763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2398874"/>
            <a:ext cx="5030051" cy="420480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3702FC4-50EB-4D36-A557-7630E6728DC6}"/>
              </a:ext>
            </a:extLst>
          </p:cNvPr>
          <p:cNvSpPr txBox="1"/>
          <p:nvPr/>
        </p:nvSpPr>
        <p:spPr>
          <a:xfrm>
            <a:off x="533400" y="1981200"/>
            <a:ext cx="8153400" cy="338554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crPlot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phd.pois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"mentor",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pch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=16,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lwd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=4, id = list(n=2))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8D95F9-F286-41D6-8117-4FF453800EC4}"/>
              </a:ext>
            </a:extLst>
          </p:cNvPr>
          <p:cNvSpPr txBox="1"/>
          <p:nvPr/>
        </p:nvSpPr>
        <p:spPr>
          <a:xfrm>
            <a:off x="5638800" y="2791542"/>
            <a:ext cx="30480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smoothed curve doesn’t differ much from the fitted line</a:t>
            </a:r>
          </a:p>
          <a:p>
            <a:endParaRPr lang="en-US" dirty="0"/>
          </a:p>
          <a:p>
            <a:r>
              <a:rPr lang="en-US" dirty="0"/>
              <a:t>A couple of points stand out: 328, 803, 911, 913</a:t>
            </a:r>
          </a:p>
        </p:txBody>
      </p:sp>
    </p:spTree>
    <p:extLst>
      <p:ext uri="{BB962C8B-B14F-4D97-AF65-F5344CB8AC3E}">
        <p14:creationId xmlns:p14="http://schemas.microsoft.com/office/powerpoint/2010/main" val="4058219195"/>
      </p:ext>
    </p:extLst>
  </p:cSld>
  <p:clrMapOvr>
    <a:masterClrMapping/>
  </p:clrMapOvr>
</p:sld>
</file>

<file path=ppt\slides\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BD665F-9D4D-455A-9604-2E542284EF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Residuals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2CEC635-1AA1-4D7C-ACC2-71144E57D2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36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870943-B904-4907-814B-82DEC5D3BF50}"/>
              </a:ext>
            </a:extLst>
          </p:cNvPr>
          <p:cNvSpPr txBox="1"/>
          <p:nvPr/>
        </p:nvSpPr>
        <p:spPr>
          <a:xfrm>
            <a:off x="457200" y="1219200"/>
            <a:ext cx="822960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Residuals contain all the information about how a model doesn’t fit, and maybe why</a:t>
            </a:r>
          </a:p>
          <a:p>
            <a:endParaRPr lang="en-US" sz="2000" dirty="0"/>
          </a:p>
          <a:p>
            <a:r>
              <a:rPr lang="en-US" sz="2000" dirty="0"/>
              <a:t>For GLMs, there are several types, based on the Pearson and deviance goodness-of-fit statistics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FE7F4AA-7BBD-4386-9905-8E9553F2F6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3048000"/>
            <a:ext cx="8171428" cy="24571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3CE8979-2FAC-4AE8-82CF-CAD2BB5A7C82}"/>
              </a:ext>
            </a:extLst>
          </p:cNvPr>
          <p:cNvSpPr txBox="1"/>
          <p:nvPr/>
        </p:nvSpPr>
        <p:spPr>
          <a:xfrm>
            <a:off x="457200" y="5867400"/>
            <a:ext cx="822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These are </a:t>
            </a:r>
            <a:r>
              <a:rPr lang="en-US" sz="2000" dirty="0">
                <a:solidFill>
                  <a:srgbClr val="0070C0"/>
                </a:solidFill>
              </a:rPr>
              <a:t>raw</a:t>
            </a:r>
            <a:r>
              <a:rPr lang="en-US" sz="2000" dirty="0"/>
              <a:t> residuals, on the scale of the counts themselves</a:t>
            </a:r>
          </a:p>
        </p:txBody>
      </p:sp>
    </p:spTree>
    <p:extLst>
      <p:ext uri="{BB962C8B-B14F-4D97-AF65-F5344CB8AC3E}">
        <p14:creationId xmlns:p14="http://schemas.microsoft.com/office/powerpoint/2010/main" val="2972266047"/>
      </p:ext>
    </p:extLst>
  </p:cSld>
  <p:clrMapOvr>
    <a:masterClrMapping/>
  </p:clrMapOvr>
</p:sld>
</file>

<file path=ppt\slides\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576F6A-C2D1-4226-88A9-4C97E5DD9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Residuals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C502EFE-5EF6-40C3-BDBA-6B27B9EF12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37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50F5DE3-C8E2-4DCA-A210-D907A90848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809" y="1143000"/>
            <a:ext cx="8152381" cy="425714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C1E6BF9-2F79-4EB9-8A73-3AE9BAAE9382}"/>
              </a:ext>
            </a:extLst>
          </p:cNvPr>
          <p:cNvSpPr txBox="1"/>
          <p:nvPr/>
        </p:nvSpPr>
        <p:spPr>
          <a:xfrm>
            <a:off x="457200" y="5638800"/>
            <a:ext cx="82296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Don’t worry about the formulas, but do know the difference among </a:t>
            </a:r>
            <a:r>
              <a:rPr lang="en-US" sz="2000" dirty="0">
                <a:solidFill>
                  <a:srgbClr val="0070C0"/>
                </a:solidFill>
              </a:rPr>
              <a:t>raw</a:t>
            </a:r>
            <a:r>
              <a:rPr lang="en-US" sz="2000" dirty="0"/>
              <a:t>, </a:t>
            </a:r>
            <a:r>
              <a:rPr lang="en-US" sz="2000" dirty="0">
                <a:solidFill>
                  <a:srgbClr val="0070C0"/>
                </a:solidFill>
              </a:rPr>
              <a:t>standardized</a:t>
            </a:r>
            <a:r>
              <a:rPr lang="en-US" sz="2000" dirty="0"/>
              <a:t> and </a:t>
            </a:r>
            <a:r>
              <a:rPr lang="en-US" sz="2000" dirty="0">
                <a:solidFill>
                  <a:srgbClr val="0070C0"/>
                </a:solidFill>
              </a:rPr>
              <a:t>studentized</a:t>
            </a:r>
            <a:r>
              <a:rPr lang="en-US" sz="2000" dirty="0"/>
              <a:t> residuals</a:t>
            </a:r>
          </a:p>
        </p:txBody>
      </p:sp>
    </p:spTree>
    <p:extLst>
      <p:ext uri="{BB962C8B-B14F-4D97-AF65-F5344CB8AC3E}">
        <p14:creationId xmlns:p14="http://schemas.microsoft.com/office/powerpoint/2010/main" val="1548865529"/>
      </p:ext>
    </p:extLst>
  </p:cSld>
  <p:clrMapOvr>
    <a:masterClrMapping/>
  </p:clrMapOvr>
</p:sld>
</file>

<file path=ppt\slides\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EA2658-CA6A-4050-822E-F99E55D5DF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Outliers, leverage &amp; influence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7150494-B6AC-4FED-A7C2-9326A812B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38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D0199FD-CC60-4E31-97DC-1E382E3298C6}"/>
              </a:ext>
            </a:extLst>
          </p:cNvPr>
          <p:cNvSpPr txBox="1"/>
          <p:nvPr/>
        </p:nvSpPr>
        <p:spPr>
          <a:xfrm>
            <a:off x="441960" y="1230868"/>
            <a:ext cx="4815840" cy="369332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/>
              <a:t>influencePlot</a:t>
            </a:r>
            <a:r>
              <a:rPr lang="en-US" dirty="0"/>
              <a:t>(</a:t>
            </a:r>
            <a:r>
              <a:rPr lang="en-US" dirty="0" err="1"/>
              <a:t>phd.pois</a:t>
            </a:r>
            <a:r>
              <a:rPr lang="en-US" dirty="0"/>
              <a:t>, id = list(n=2))</a:t>
            </a:r>
          </a:p>
        </p:txBody>
      </p:sp>
      <p:pic>
        <p:nvPicPr>
          <p:cNvPr id="8" name="Picture 7" descr="Chart&#10;&#10;Description automatically generated">
            <a:extLst>
              <a:ext uri="{FF2B5EF4-FFF2-40B4-BE49-F238E27FC236}">
                <a16:creationId xmlns:a16="http://schemas.microsoft.com/office/drawing/2014/main" id="{35D5FA05-7B53-4E86-9DAD-9576ED880B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151" y="1600200"/>
            <a:ext cx="5272769" cy="468690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9087A8C-850F-4198-BA3E-CC8A10B25EFD}"/>
              </a:ext>
            </a:extLst>
          </p:cNvPr>
          <p:cNvSpPr txBox="1"/>
          <p:nvPr/>
        </p:nvSpPr>
        <p:spPr>
          <a:xfrm>
            <a:off x="5485920" y="1600200"/>
            <a:ext cx="320088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Influence (</a:t>
            </a:r>
            <a:r>
              <a:rPr lang="en-US" dirty="0" err="1"/>
              <a:t>CookD</a:t>
            </a:r>
            <a:r>
              <a:rPr lang="en-US" dirty="0"/>
              <a:t>) = </a:t>
            </a:r>
          </a:p>
          <a:p>
            <a:r>
              <a:rPr lang="en-US" dirty="0"/>
              <a:t>     Leverage (Hat) x |Residual|</a:t>
            </a:r>
          </a:p>
          <a:p>
            <a:endParaRPr lang="en-US" dirty="0"/>
          </a:p>
          <a:p>
            <a:r>
              <a:rPr lang="en-US" dirty="0"/>
              <a:t>Several cases (913-915) stand out with large + residuals</a:t>
            </a:r>
          </a:p>
          <a:p>
            <a:endParaRPr lang="en-US" dirty="0"/>
          </a:p>
          <a:p>
            <a:r>
              <a:rPr lang="en-US" dirty="0"/>
              <a:t>One observation (328) has a large leverage</a:t>
            </a:r>
          </a:p>
          <a:p>
            <a:endParaRPr lang="en-US" dirty="0"/>
          </a:p>
          <a:p>
            <a:r>
              <a:rPr lang="en-US" dirty="0"/>
              <a:t>Why are they unusual? Do they affect conclusions?</a:t>
            </a:r>
          </a:p>
          <a:p>
            <a:endParaRPr lang="en-US" dirty="0"/>
          </a:p>
          <a:p>
            <a:r>
              <a:rPr lang="en-US" dirty="0"/>
              <a:t>Examine data &amp; decide what to do</a:t>
            </a:r>
          </a:p>
        </p:txBody>
      </p:sp>
    </p:spTree>
    <p:extLst>
      <p:ext uri="{BB962C8B-B14F-4D97-AF65-F5344CB8AC3E}">
        <p14:creationId xmlns:p14="http://schemas.microsoft.com/office/powerpoint/2010/main" val="2721577737"/>
      </p:ext>
    </p:extLst>
  </p:cSld>
  <p:clrMapOvr>
    <a:masterClrMapping/>
  </p:clrMapOvr>
</p:sld>
</file>

<file path=ppt\slides\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7A5A0F-A8A9-4B48-877F-52201090A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Who is influential &amp; why?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25946F2-6DBE-4022-8CD6-2643ACC0A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39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5654B4-D05B-47CF-8651-061D91A37499}"/>
              </a:ext>
            </a:extLst>
          </p:cNvPr>
          <p:cNvSpPr txBox="1"/>
          <p:nvPr/>
        </p:nvSpPr>
        <p:spPr>
          <a:xfrm>
            <a:off x="457200" y="12954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At the very least, you should examine these flagged observations in the data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5A5C12-96C8-4B0D-BAE4-D82F07F5DCF5}"/>
              </a:ext>
            </a:extLst>
          </p:cNvPr>
          <p:cNvSpPr txBox="1"/>
          <p:nvPr/>
        </p:nvSpPr>
        <p:spPr>
          <a:xfrm>
            <a:off x="457200" y="2164080"/>
            <a:ext cx="8229600" cy="1815882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PhdPubs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[c(328, 803, 913:915),]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articles female married kid5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phdprestige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mentor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328        1      0       1    1           2     77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803        4      0       1    2           5     66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913       12      0       1    1           2      5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914       16      0       1    0           2     21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915       19      0       1    0           2     42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62B398C-07FA-4A2C-B398-26E839E79694}"/>
              </a:ext>
            </a:extLst>
          </p:cNvPr>
          <p:cNvSpPr txBox="1"/>
          <p:nvPr/>
        </p:nvSpPr>
        <p:spPr>
          <a:xfrm>
            <a:off x="457200" y="4367550"/>
            <a:ext cx="8229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case 328: Mentor published 77 papers! Student, only 1</a:t>
            </a:r>
          </a:p>
          <a:p>
            <a:r>
              <a:rPr lang="en-US" dirty="0"/>
              <a:t>803: High prestige school, mentor published 66; published a bit less than predicted</a:t>
            </a:r>
          </a:p>
          <a:p>
            <a:r>
              <a:rPr lang="en-US" dirty="0"/>
              <a:t>913-915: Wow! all published &gt;&gt; than predicted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64B076F-43B0-014E-6707-8BAD5E9BDE18}"/>
              </a:ext>
            </a:extLst>
          </p:cNvPr>
          <p:cNvSpPr/>
          <p:nvPr/>
        </p:nvSpPr>
        <p:spPr>
          <a:xfrm>
            <a:off x="5562600" y="2947889"/>
            <a:ext cx="1295400" cy="2286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595D621-2B13-A744-8562-F20FBCF45AD2}"/>
              </a:ext>
            </a:extLst>
          </p:cNvPr>
          <p:cNvSpPr/>
          <p:nvPr/>
        </p:nvSpPr>
        <p:spPr>
          <a:xfrm>
            <a:off x="6268065" y="2719289"/>
            <a:ext cx="589935" cy="2286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92D4575-4212-E3DF-E250-FFBEE615554B}"/>
              </a:ext>
            </a:extLst>
          </p:cNvPr>
          <p:cNvSpPr/>
          <p:nvPr/>
        </p:nvSpPr>
        <p:spPr>
          <a:xfrm>
            <a:off x="1524000" y="2719289"/>
            <a:ext cx="589935" cy="2286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CD34AC7-F886-DF66-F899-1FA67EA79B59}"/>
              </a:ext>
            </a:extLst>
          </p:cNvPr>
          <p:cNvSpPr/>
          <p:nvPr/>
        </p:nvSpPr>
        <p:spPr>
          <a:xfrm>
            <a:off x="1523999" y="3153847"/>
            <a:ext cx="589935" cy="82611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453098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" presetClass="entr" presetSubtype="8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2" presetClass="entr" presetSubtype="2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2" presetClass="entr" presetSubtype="2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</p:bldLst>
  </p:timing>
</p:sld>
</file>

<file path=ppt\slides\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485865-09C6-4515-B78B-82BDB1ABF4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Outlier test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D8DACC8-BA7F-4E7E-A925-69402DA51C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40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6D7B19-FD7B-4CDF-9358-FF30CC9244F3}"/>
              </a:ext>
            </a:extLst>
          </p:cNvPr>
          <p:cNvSpPr txBox="1"/>
          <p:nvPr/>
        </p:nvSpPr>
        <p:spPr>
          <a:xfrm>
            <a:off x="685800" y="3276600"/>
            <a:ext cx="7924800" cy="1569660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outlierTest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phd.pois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cutoff = 0.001)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rstudent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unadjusted p-value Bonferroni 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914     5.54           2.99e-08     2.73e-05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913     5.38           7.36e-08     6.74e-05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911     5.21           1.92e-07     1.75e-04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915     5.15           2.60e-07     2.38e-04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6B7EE1B-C80E-43AA-A8C3-39F07C99F9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66" y="1295400"/>
            <a:ext cx="8171428" cy="115238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B0EEA3B-F322-49ED-ADD9-D59DB4713690}"/>
              </a:ext>
            </a:extLst>
          </p:cNvPr>
          <p:cNvSpPr txBox="1"/>
          <p:nvPr/>
        </p:nvSpPr>
        <p:spPr>
          <a:xfrm>
            <a:off x="685800" y="2743200"/>
            <a:ext cx="8001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For this Poisson model, 4 observations are flagged as large + residuals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7663D0-D3DB-40FD-B142-32D2CB911927}"/>
              </a:ext>
            </a:extLst>
          </p:cNvPr>
          <p:cNvSpPr txBox="1"/>
          <p:nvPr/>
        </p:nvSpPr>
        <p:spPr>
          <a:xfrm>
            <a:off x="685800" y="5029200"/>
            <a:ext cx="7924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What to do?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Delete them &amp; refit?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Keep them, but report as unusual?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Fit a better model, hope these will go away?</a:t>
            </a:r>
          </a:p>
        </p:txBody>
      </p:sp>
    </p:spTree>
    <p:extLst>
      <p:ext uri="{BB962C8B-B14F-4D97-AF65-F5344CB8AC3E}">
        <p14:creationId xmlns:p14="http://schemas.microsoft.com/office/powerpoint/2010/main" val="1199258917"/>
      </p:ext>
    </p:extLst>
  </p:cSld>
  <p:clrMapOvr>
    <a:masterClrMapping/>
  </p:clrMapOvr>
</p:sld>
</file>

<file path=ppt\slides\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CDF29EB-CA95-361B-877B-6B8B656F98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41</a:t>
            </a:fld>
            <a:endParaRPr lang="en-US"/>
          </a:p>
        </p:txBody>
      </p:sp>
      <p:pic>
        <p:nvPicPr>
          <p:cNvPr id="5" name="Picture 4" descr="A picture containing graphical user interface&#10;&#10;Description automatically generated">
            <a:extLst>
              <a:ext uri="{FF2B5EF4-FFF2-40B4-BE49-F238E27FC236}">
                <a16:creationId xmlns:a16="http://schemas.microsoft.com/office/drawing/2014/main" id="{E7BD70A9-BC2A-ECC2-DECF-F3F80376E1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91" y="457200"/>
            <a:ext cx="7722370" cy="60198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88601C4-9DEE-0234-D27E-21AB204848E3}"/>
              </a:ext>
            </a:extLst>
          </p:cNvPr>
          <p:cNvSpPr txBox="1"/>
          <p:nvPr/>
        </p:nvSpPr>
        <p:spPr>
          <a:xfrm>
            <a:off x="1066800" y="1066800"/>
            <a:ext cx="4267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4800" dirty="0">
                <a:solidFill>
                  <a:schemeClr val="bg1"/>
                </a:solidFill>
              </a:rPr>
              <a:t>Overdispersion</a:t>
            </a:r>
          </a:p>
        </p:txBody>
      </p:sp>
    </p:spTree>
    <p:extLst>
      <p:ext uri="{BB962C8B-B14F-4D97-AF65-F5344CB8AC3E}">
        <p14:creationId xmlns:p14="http://schemas.microsoft.com/office/powerpoint/2010/main" val="26370427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\slides\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B2ACD6-9F98-408C-9282-F330DE0C82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Overdispersion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93144A5-5DAA-4121-A1DC-BEF43A90AF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42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3B34B1D-94DF-4833-9ECF-EDBC7BDF31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71600"/>
            <a:ext cx="8171428" cy="62857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1A8EEE6-DD42-4459-8406-97EE870344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2210000"/>
            <a:ext cx="8171428" cy="1600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D8E2784-7B6B-45A6-B973-3D7FFE11C1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3943467"/>
            <a:ext cx="8171428" cy="933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81131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\slides\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F3FBAE-478E-44BE-9E5E-84A4B56863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Testing overdispersion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FBAD29-5B97-4BA9-9BCD-E1A047C78A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Statistical tests for overdispersion test H</a:t>
            </a:r>
            <a:r>
              <a:rPr lang="en-US" baseline="-25000" dirty="0"/>
              <a:t>0</a:t>
            </a:r>
            <a:r>
              <a:rPr lang="en-US" dirty="0"/>
              <a:t>: Var(y) = </a:t>
            </a:r>
            <a:r>
              <a:rPr lang="el-GR" dirty="0"/>
              <a:t>μ</a:t>
            </a:r>
            <a:r>
              <a:rPr lang="en-US" dirty="0"/>
              <a:t> vs. the alternative </a:t>
            </a:r>
          </a:p>
          <a:p>
            <a:pPr marL="0" indent="0">
              <a:buNone/>
            </a:pPr>
            <a:r>
              <a:rPr lang="en-US" dirty="0"/>
              <a:t>                            H</a:t>
            </a:r>
            <a:r>
              <a:rPr lang="en-US" baseline="-25000" dirty="0"/>
              <a:t>1</a:t>
            </a:r>
            <a:r>
              <a:rPr lang="en-US" dirty="0"/>
              <a:t>:  Var(y) = </a:t>
            </a:r>
            <a:r>
              <a:rPr lang="el-GR" dirty="0"/>
              <a:t>μ</a:t>
            </a:r>
            <a:r>
              <a:rPr lang="en-US" dirty="0"/>
              <a:t> + </a:t>
            </a:r>
            <a:r>
              <a:rPr lang="el-GR" dirty="0">
                <a:latin typeface="Calibri" panose="020F0502020204030204" pitchFamily="34" charset="0"/>
                <a:cs typeface="Calibri" panose="020F0502020204030204" pitchFamily="34" charset="0"/>
                <a:sym typeface="Symbol" panose="05050102010706020507" pitchFamily="18" charset="2"/>
              </a:rPr>
              <a:t>φ</a:t>
            </a:r>
            <a:r>
              <a:rPr lang="en-US" dirty="0">
                <a:sym typeface="Symbol" panose="05050102010706020507" pitchFamily="18" charset="2"/>
              </a:rPr>
              <a:t> × f(</a:t>
            </a:r>
            <a:r>
              <a:rPr lang="el-GR" dirty="0"/>
              <a:t>μ</a:t>
            </a:r>
            <a:r>
              <a:rPr lang="en-US" dirty="0"/>
              <a:t>)</a:t>
            </a:r>
          </a:p>
          <a:p>
            <a:r>
              <a:rPr lang="en-US" dirty="0"/>
              <a:t>Implemented in </a:t>
            </a:r>
            <a:r>
              <a:rPr lang="en-US" sz="24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AER::</a:t>
            </a:r>
            <a:r>
              <a:rPr lang="en-US" sz="24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dispersiontest</a:t>
            </a:r>
            <a:r>
              <a:rPr lang="en-US" sz="24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If significant, overdispersion should not be ignored</a:t>
            </a:r>
          </a:p>
          <a:p>
            <a:pPr lvl="1"/>
            <a:r>
              <a:rPr lang="en-US" dirty="0"/>
              <a:t>You can try fitting a more general model</a:t>
            </a:r>
          </a:p>
          <a:p>
            <a:pPr lvl="2"/>
            <a:r>
              <a:rPr lang="en-US" dirty="0"/>
              <a:t>Quasi-</a:t>
            </a:r>
            <a:r>
              <a:rPr lang="en-US" dirty="0" err="1"/>
              <a:t>poisson</a:t>
            </a:r>
            <a:endParaRPr lang="en-US" dirty="0"/>
          </a:p>
          <a:p>
            <a:pPr lvl="2"/>
            <a:r>
              <a:rPr lang="en-US" dirty="0"/>
              <a:t>Negative-binomial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EE451AC-7906-4EE5-96D8-B6231C3D90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7003537"/>
      </p:ext>
    </p:extLst>
  </p:cSld>
  <p:clrMapOvr>
    <a:masterClrMapping/>
  </p:clrMapOvr>
</p:sld>
</file>

<file path=ppt\slides\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7C6F0C-14C6-443F-A18C-211640C3B2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Quasi-</a:t>
            </a:r>
            <a:r>
              <a:rPr lang="en-US" dirty="0" err="1"/>
              <a:t>poisson</a:t>
            </a:r>
            <a:r>
              <a:rPr lang="en-US" dirty="0"/>
              <a:t>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80CAB3-F3F8-405E-B3A1-351919AD436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The quasi-</a:t>
                </a:r>
                <a:r>
                  <a:rPr lang="en-US" dirty="0" err="1"/>
                  <a:t>poisson</a:t>
                </a:r>
                <a:r>
                  <a:rPr lang="en-US" dirty="0"/>
                  <a:t> model allows the dispersion, </a:t>
                </a:r>
                <a:r>
                  <a:rPr lang="en-US" i="1" dirty="0">
                    <a:sym typeface="Symbol" panose="05050102010706020507" pitchFamily="18" charset="2"/>
                  </a:rPr>
                  <a:t></a:t>
                </a:r>
                <a:r>
                  <a:rPr lang="en-US" dirty="0">
                    <a:sym typeface="Symbol" panose="05050102010706020507" pitchFamily="18" charset="2"/>
                  </a:rPr>
                  <a:t>, to be a free parameter, estimates with other coefficients</a:t>
                </a:r>
              </a:p>
              <a:p>
                <a:r>
                  <a:rPr lang="en-US" dirty="0">
                    <a:sym typeface="Symbol" panose="05050102010706020507" pitchFamily="18" charset="2"/>
                  </a:rPr>
                  <a:t>The conditional variance is allowed to be a multiple of the mean</a:t>
                </a:r>
              </a:p>
              <a:p>
                <a:pPr marL="0" indent="0">
                  <a:buNone/>
                </a:pPr>
                <a:r>
                  <a:rPr lang="en-US" dirty="0">
                    <a:sym typeface="Symbol" panose="05050102010706020507" pitchFamily="18" charset="2"/>
                  </a:rPr>
                  <a:t>                              Var(</a:t>
                </a:r>
                <a:r>
                  <a:rPr lang="en-US" dirty="0" err="1">
                    <a:sym typeface="Symbol" panose="05050102010706020507" pitchFamily="18" charset="2"/>
                  </a:rPr>
                  <a:t>y</a:t>
                </a:r>
                <a:r>
                  <a:rPr lang="en-US" baseline="-25000" dirty="0" err="1">
                    <a:sym typeface="Symbol" panose="05050102010706020507" pitchFamily="18" charset="2"/>
                  </a:rPr>
                  <a:t>i</a:t>
                </a:r>
                <a:r>
                  <a:rPr lang="en-US" dirty="0">
                    <a:sym typeface="Symbol" panose="05050102010706020507" pitchFamily="18" charset="2"/>
                  </a:rPr>
                  <a:t> | </a:t>
                </a:r>
                <a:r>
                  <a:rPr lang="en-US" baseline="-25000" dirty="0">
                    <a:sym typeface="Symbol" panose="05050102010706020507" pitchFamily="18" charset="2"/>
                  </a:rPr>
                  <a:t>i</a:t>
                </a:r>
                <a:r>
                  <a:rPr lang="en-US" dirty="0">
                    <a:sym typeface="Symbol" panose="05050102010706020507" pitchFamily="18" charset="2"/>
                  </a:rPr>
                  <a:t>) = </a:t>
                </a:r>
                <a:r>
                  <a:rPr lang="en-US" i="1" dirty="0">
                    <a:sym typeface="Symbol" panose="05050102010706020507" pitchFamily="18" charset="2"/>
                  </a:rPr>
                  <a:t></a:t>
                </a:r>
                <a:r>
                  <a:rPr lang="en-US" dirty="0">
                    <a:sym typeface="Symbol" panose="05050102010706020507" pitchFamily="18" charset="2"/>
                  </a:rPr>
                  <a:t> </a:t>
                </a:r>
                <a:r>
                  <a:rPr lang="el-GR" dirty="0">
                    <a:sym typeface="Symbol" panose="05050102010706020507" pitchFamily="18" charset="2"/>
                  </a:rPr>
                  <a:t>μ</a:t>
                </a:r>
                <a:r>
                  <a:rPr lang="en-US" baseline="-25000" dirty="0">
                    <a:sym typeface="Symbol" panose="05050102010706020507" pitchFamily="18" charset="2"/>
                  </a:rPr>
                  <a:t>i</a:t>
                </a:r>
              </a:p>
              <a:p>
                <a:r>
                  <a:rPr lang="en-US" dirty="0">
                    <a:sym typeface="Symbol" panose="05050102010706020507" pitchFamily="18" charset="2"/>
                  </a:rPr>
                  <a:t>This model is fit with </a:t>
                </a:r>
                <a:r>
                  <a:rPr lang="en-US" dirty="0" err="1">
                    <a:sym typeface="Symbol" panose="05050102010706020507" pitchFamily="18" charset="2"/>
                  </a:rPr>
                  <a:t>glm</a:t>
                </a:r>
                <a:r>
                  <a:rPr lang="en-US" dirty="0">
                    <a:sym typeface="Symbol" panose="05050102010706020507" pitchFamily="18" charset="2"/>
                  </a:rPr>
                  <a:t>() using </a:t>
                </a:r>
                <a:r>
                  <a:rPr lang="en-US" dirty="0">
                    <a:solidFill>
                      <a:srgbClr val="0070C0"/>
                    </a:solidFill>
                    <a:sym typeface="Symbol" panose="05050102010706020507" pitchFamily="18" charset="2"/>
                  </a:rPr>
                  <a:t>family=</a:t>
                </a:r>
                <a:r>
                  <a:rPr lang="en-US" dirty="0" err="1">
                    <a:solidFill>
                      <a:srgbClr val="0070C0"/>
                    </a:solidFill>
                    <a:sym typeface="Symbol" panose="05050102010706020507" pitchFamily="18" charset="2"/>
                  </a:rPr>
                  <a:t>quasipoisson</a:t>
                </a:r>
                <a:endParaRPr lang="en-US" dirty="0">
                  <a:solidFill>
                    <a:srgbClr val="0070C0"/>
                  </a:solidFill>
                  <a:sym typeface="Symbol" panose="05050102010706020507" pitchFamily="18" charset="2"/>
                </a:endParaRPr>
              </a:p>
              <a:p>
                <a:pPr lvl="1"/>
                <a:r>
                  <a:rPr lang="en-US" dirty="0">
                    <a:sym typeface="Symbol" panose="05050102010706020507" pitchFamily="18" charset="2"/>
                  </a:rPr>
                  <a:t>The estimated coefficients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smtClean="0"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𝛽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 </m:t>
                        </m:r>
                      </m:e>
                    </m:acc>
                  </m:oMath>
                </a14:m>
                <a:r>
                  <a:rPr lang="en-US" dirty="0"/>
                  <a:t>are </a:t>
                </a:r>
                <a:r>
                  <a:rPr lang="en-US" dirty="0">
                    <a:solidFill>
                      <a:srgbClr val="0070C0"/>
                    </a:solidFill>
                  </a:rPr>
                  <a:t>unchanged</a:t>
                </a:r>
              </a:p>
              <a:p>
                <a:pPr lvl="1"/>
                <a:r>
                  <a:rPr lang="en-US" dirty="0"/>
                  <a:t>The standard errors are multiplied by </a:t>
                </a:r>
                <a:r>
                  <a:rPr lang="en-US" i="1" dirty="0">
                    <a:sym typeface="Symbol" panose="05050102010706020507" pitchFamily="18" charset="2"/>
                  </a:rPr>
                  <a:t></a:t>
                </a:r>
                <a:r>
                  <a:rPr lang="en-US" baseline="30000" dirty="0">
                    <a:sym typeface="Symbol" panose="05050102010706020507" pitchFamily="18" charset="2"/>
                  </a:rPr>
                  <a:t>½</a:t>
                </a:r>
                <a:r>
                  <a:rPr lang="en-US" dirty="0">
                    <a:sym typeface="Symbol" panose="05050102010706020507" pitchFamily="18" charset="2"/>
                  </a:rPr>
                  <a:t> </a:t>
                </a:r>
              </a:p>
              <a:p>
                <a:pPr lvl="1"/>
                <a:r>
                  <a:rPr lang="en-US" dirty="0">
                    <a:sym typeface="Symbol" panose="05050102010706020507" pitchFamily="18" charset="2"/>
                  </a:rPr>
                  <a:t>Peace, order &amp; good government is restored!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80CAB3-F3F8-405E-B3A1-351919AD436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78" t="-2509" r="-815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96B667-38F3-4A43-AB7A-96F29B8F5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53523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\slides\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F74CD-CDA5-4F3C-870F-A59B2CF14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Quasi-</a:t>
            </a:r>
            <a:r>
              <a:rPr lang="en-US" dirty="0" err="1"/>
              <a:t>poisson</a:t>
            </a:r>
            <a:r>
              <a:rPr lang="en-US" dirty="0"/>
              <a:t>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1F1C47-0103-4B53-B47A-5307FEB6D6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2590800"/>
          </a:xfrm>
        </p:spPr>
        <p:txBody>
          <a:bodyPr>
            <a:normAutofit/>
          </a:bodyPr>
          <a:lstStyle/>
          <a:p>
            <a:r>
              <a:rPr lang="en-US" sz="2400" dirty="0"/>
              <a:t>A simple estimate of the dispersion parameter  is the residual deviance divided by degrees of freedom </a:t>
            </a:r>
            <a:r>
              <a:rPr lang="en-US" sz="2400" i="1" dirty="0">
                <a:sym typeface="Symbol" panose="05050102010706020507" pitchFamily="18" charset="2"/>
              </a:rPr>
              <a:t> = D(y, </a:t>
            </a:r>
            <a:r>
              <a:rPr lang="el-GR" sz="2400" i="1" dirty="0">
                <a:sym typeface="Symbol" panose="05050102010706020507" pitchFamily="18" charset="2"/>
              </a:rPr>
              <a:t>μ</a:t>
            </a:r>
            <a:r>
              <a:rPr lang="en-US" sz="2400" i="1" dirty="0">
                <a:sym typeface="Symbol" panose="05050102010706020507" pitchFamily="18" charset="2"/>
              </a:rPr>
              <a:t> ) / df</a:t>
            </a:r>
            <a:endParaRPr lang="en-US" sz="2400" dirty="0"/>
          </a:p>
          <a:p>
            <a:r>
              <a:rPr lang="en-US" sz="2400" dirty="0"/>
              <a:t>A Pearson χ</a:t>
            </a:r>
            <a:r>
              <a:rPr lang="en-US" sz="2400" baseline="30000" dirty="0"/>
              <a:t>2</a:t>
            </a:r>
            <a:r>
              <a:rPr lang="en-US" sz="2400" dirty="0"/>
              <a:t> statistic has better statistical properties &amp; is more commonly used</a:t>
            </a:r>
          </a:p>
          <a:p>
            <a:endParaRPr lang="en-US" sz="2400" dirty="0"/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F5661C-1621-4796-84EC-C74AFD8C53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45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4F559B-9F5D-428F-8F01-FABC7F4E1F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8666" y="2743200"/>
            <a:ext cx="3866667" cy="78095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F18ADB1-8567-412A-AAF8-B1686C201784}"/>
              </a:ext>
            </a:extLst>
          </p:cNvPr>
          <p:cNvSpPr txBox="1"/>
          <p:nvPr/>
        </p:nvSpPr>
        <p:spPr>
          <a:xfrm>
            <a:off x="508000" y="3886200"/>
            <a:ext cx="81534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For the </a:t>
            </a:r>
            <a:r>
              <a:rPr lang="en-US" sz="2000" dirty="0" err="1"/>
              <a:t>PhdPubs</a:t>
            </a:r>
            <a:r>
              <a:rPr lang="en-US" sz="2000" dirty="0"/>
              <a:t> data, these estimates are quite similar: about 80% overdispersion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33A82A-14F1-4E96-8656-E70C31A8C1AF}"/>
              </a:ext>
            </a:extLst>
          </p:cNvPr>
          <p:cNvSpPr txBox="1"/>
          <p:nvPr/>
        </p:nvSpPr>
        <p:spPr>
          <a:xfrm>
            <a:off x="508000" y="4760893"/>
            <a:ext cx="8305800" cy="1169551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with(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phd.pois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deviance/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df.residual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[1] 1.8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sum(residuals(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phd.pois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type =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pearson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")^2)/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phd.pois$df.residual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[1] 1.83</a:t>
            </a:r>
          </a:p>
        </p:txBody>
      </p:sp>
    </p:spTree>
    <p:extLst>
      <p:ext uri="{BB962C8B-B14F-4D97-AF65-F5344CB8AC3E}">
        <p14:creationId xmlns:p14="http://schemas.microsoft.com/office/powerpoint/2010/main" val="2963088716"/>
      </p:ext>
    </p:extLst>
  </p:cSld>
  <p:clrMapOvr>
    <a:masterClrMapping/>
  </p:clrMapOvr>
</p:sld>
</file>

<file path=ppt\slides\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B8EA5-5390-44FF-AE05-1498DF04D5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Fitting the quasi-</a:t>
            </a:r>
            <a:r>
              <a:rPr lang="en-US" dirty="0" err="1"/>
              <a:t>poisson</a:t>
            </a:r>
            <a:r>
              <a:rPr lang="en-US" dirty="0"/>
              <a:t> model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794A70-45A8-4A8D-B45A-1DF0B3D5F8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FBC81F-9111-4D78-A0A6-836D2EFAFAD2}"/>
              </a:ext>
            </a:extLst>
          </p:cNvPr>
          <p:cNvSpPr txBox="1"/>
          <p:nvPr/>
        </p:nvSpPr>
        <p:spPr>
          <a:xfrm>
            <a:off x="457200" y="1219200"/>
            <a:ext cx="822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You can fit the quasi-</a:t>
            </a:r>
            <a:r>
              <a:rPr lang="en-US" sz="2000" dirty="0" err="1"/>
              <a:t>poisson</a:t>
            </a:r>
            <a:r>
              <a:rPr lang="en-US" sz="2000" dirty="0"/>
              <a:t> model using </a:t>
            </a:r>
            <a:r>
              <a:rPr lang="en-US" sz="2000" dirty="0" err="1"/>
              <a:t>glm</a:t>
            </a:r>
            <a:r>
              <a:rPr lang="en-US" sz="2000" dirty="0"/>
              <a:t>()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FD9C7A-4533-4750-803E-8F09CF7CA6E4}"/>
              </a:ext>
            </a:extLst>
          </p:cNvPr>
          <p:cNvSpPr txBox="1"/>
          <p:nvPr/>
        </p:nvSpPr>
        <p:spPr>
          <a:xfrm>
            <a:off x="457200" y="1981200"/>
            <a:ext cx="8229600" cy="307777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phd.qpois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glm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(articles ~ ., data =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PhdPubs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family = 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quasipoisson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35338E-D399-4F96-9107-D6F9B463AFEA}"/>
              </a:ext>
            </a:extLst>
          </p:cNvPr>
          <p:cNvSpPr txBox="1"/>
          <p:nvPr/>
        </p:nvSpPr>
        <p:spPr>
          <a:xfrm>
            <a:off x="457200" y="27432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estimate of the dispersion parameter is calculated by the summary() method. You can get it as follows: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80CD30C-76F7-492C-8CF0-C3781F938CD4}"/>
              </a:ext>
            </a:extLst>
          </p:cNvPr>
          <p:cNvSpPr txBox="1"/>
          <p:nvPr/>
        </p:nvSpPr>
        <p:spPr>
          <a:xfrm>
            <a:off x="457200" y="3581400"/>
            <a:ext cx="8229600" cy="58477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(phi &lt;- summary(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phd.qpois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)$dispersion)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[1] 1.83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B2834C-F824-4041-9997-296DA1325557}"/>
              </a:ext>
            </a:extLst>
          </p:cNvPr>
          <p:cNvSpPr txBox="1"/>
          <p:nvPr/>
        </p:nvSpPr>
        <p:spPr>
          <a:xfrm>
            <a:off x="533400" y="4953000"/>
            <a:ext cx="8077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This is much better than variance/mean ratio of 2.91 calculated for the marginal distribution ignoring the predictors.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5360551"/>
      </p:ext>
    </p:extLst>
  </p:cSld>
  <p:clrMapOvr>
    <a:masterClrMapping/>
  </p:clrMapOvr>
</p:sld>
</file>

<file path=ppt\slides\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904A551-5494-46C7-9E6B-E9C1C2904F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47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6E043D-8B34-41A0-BBF2-7AD0E374A45E}"/>
              </a:ext>
            </a:extLst>
          </p:cNvPr>
          <p:cNvSpPr txBox="1"/>
          <p:nvPr/>
        </p:nvSpPr>
        <p:spPr>
          <a:xfrm>
            <a:off x="609600" y="1041400"/>
            <a:ext cx="8077200" cy="5478423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summary(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phd.qpois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Call: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glm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(formula = articles ~ ., family =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quasipoisson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data =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PhdPubs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Deviance Residuals: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Min      1Q  Median      3Q     Max 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-3.488  -1.538  -0.365   0.577   5.483  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Coefficients: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Estimate Std. Error t value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(&gt;|t|)   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(Intercept)  0.26562    0.13478    1.97  0.04906 * 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female1     -0.22442    0.07384   -3.04  0.00244 **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married1     0.15732    0.08287    1.90  0.05795 . 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kid5        -0.18491    0.05427   -3.41  0.00069 ***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phdprestige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0.02538    0.03419    0.74  0.45815   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mentor       0.02523    0.00275    9.19  &lt; 2e-16 ***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---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Signif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. codes:  0 ‘***’ 0.001 ‘**’ 0.01 ‘*’ 0.05 ‘.’ 0.1 ‘ ’ 1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(Dispersion parameter for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quasipoisson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family taken to be 1.83)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Null deviance: 1817.4  on 914  degrees of freedom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Residual deviance: 1633.6  on 909  degrees of freedom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AIC: NA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EA6559-15B3-41A5-9181-71ADDC1DAD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544510"/>
            <a:ext cx="7647619" cy="29523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6186436-39F2-7675-3B00-B01673AF32F8}"/>
              </a:ext>
            </a:extLst>
          </p:cNvPr>
          <p:cNvSpPr txBox="1"/>
          <p:nvPr/>
        </p:nvSpPr>
        <p:spPr>
          <a:xfrm>
            <a:off x="6781800" y="3276600"/>
            <a:ext cx="1905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Consequently, </a:t>
            </a:r>
            <a:r>
              <a:rPr lang="en-CA" i="1" dirty="0"/>
              <a:t>t</a:t>
            </a:r>
            <a:r>
              <a:rPr lang="en-CA" dirty="0"/>
              <a:t> stats are smaller</a:t>
            </a:r>
          </a:p>
        </p:txBody>
      </p:sp>
    </p:spTree>
    <p:extLst>
      <p:ext uri="{BB962C8B-B14F-4D97-AF65-F5344CB8AC3E}">
        <p14:creationId xmlns:p14="http://schemas.microsoft.com/office/powerpoint/2010/main" val="2197003698"/>
      </p:ext>
    </p:extLst>
  </p:cSld>
  <p:clrMapOvr>
    <a:masterClrMapping/>
  </p:clrMapOvr>
</p:sld>
</file>

<file path=ppt\slides\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079BD13-B8E2-490A-9B06-FE1639A0AA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negative-binomial model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755F529-7AF1-45ED-B8E6-EFB30DEF5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48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EF458D4-1326-4AFC-8818-5695C91B23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1657571"/>
            <a:ext cx="8171428" cy="3542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2049143"/>
      </p:ext>
    </p:extLst>
  </p:cSld>
  <p:clrMapOvr>
    <a:masterClrMapping/>
  </p:clrMapOvr>
</p:sld>
</file>

<file path=ppt\slides\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BB1480-B35E-49C6-87CC-92B08AFC95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negative-binomial model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F6EA4F8-39CD-427F-81B7-F445881F7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49</a:t>
            </a:fld>
            <a:endParaRPr lang="en-US"/>
          </a:p>
        </p:txBody>
      </p:sp>
      <p:pic>
        <p:nvPicPr>
          <p:cNvPr id="5" name="Picture 4" descr="Graphical user interface, chart, histogram&#10;&#10;Description automatically generated">
            <a:extLst>
              <a:ext uri="{FF2B5EF4-FFF2-40B4-BE49-F238E27FC236}">
                <a16:creationId xmlns:a16="http://schemas.microsoft.com/office/drawing/2014/main" id="{0365B404-6CC1-4A03-A8F9-70E8405D73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1545267"/>
            <a:ext cx="5647619" cy="503809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7D10A07-90BC-4D9D-8E67-16DF7BC42290}"/>
              </a:ext>
            </a:extLst>
          </p:cNvPr>
          <p:cNvSpPr txBox="1"/>
          <p:nvPr/>
        </p:nvSpPr>
        <p:spPr>
          <a:xfrm>
            <a:off x="6248400" y="1600200"/>
            <a:ext cx="24384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Negative-binomial distributions for varying p &amp; </a:t>
            </a:r>
            <a:r>
              <a:rPr lang="el-GR" dirty="0"/>
              <a:t>θ</a:t>
            </a:r>
            <a:endParaRPr lang="en-US" dirty="0"/>
          </a:p>
          <a:p>
            <a:endParaRPr lang="en-US" dirty="0"/>
          </a:p>
          <a:p>
            <a:r>
              <a:rPr lang="en-US" dirty="0"/>
              <a:t>Overdispersion decreases as </a:t>
            </a:r>
            <a:r>
              <a:rPr lang="el-GR" dirty="0"/>
              <a:t>θ</a:t>
            </a:r>
            <a:r>
              <a:rPr lang="en-US" dirty="0"/>
              <a:t> increases</a:t>
            </a:r>
          </a:p>
        </p:txBody>
      </p:sp>
    </p:spTree>
    <p:extLst>
      <p:ext uri="{BB962C8B-B14F-4D97-AF65-F5344CB8AC3E}">
        <p14:creationId xmlns:p14="http://schemas.microsoft.com/office/powerpoint/2010/main" val="2032275406"/>
      </p:ext>
    </p:extLst>
  </p:cSld>
  <p:clrMapOvr>
    <a:masterClrMapping/>
  </p:clrMapOvr>
</p:sld>
</file>

<file path=ppt\slides\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E7FF41-00B2-4EBD-A077-061BD755C2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Fitting the negative-binomial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5EDC9C9-E5E4-45A0-8490-5747D36E64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50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45C8941-8C0E-4EA4-904E-0FEF45C409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1981200"/>
            <a:ext cx="8171428" cy="98095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219D052-4613-4DB4-BF5B-21638CA319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286" y="3248114"/>
            <a:ext cx="8171428" cy="71428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875EF5E-7B75-4C20-B074-147BFFD5BAE8}"/>
              </a:ext>
            </a:extLst>
          </p:cNvPr>
          <p:cNvSpPr txBox="1"/>
          <p:nvPr/>
        </p:nvSpPr>
        <p:spPr>
          <a:xfrm>
            <a:off x="667772" y="4384798"/>
            <a:ext cx="8171428" cy="1077218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library(MASS)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unlist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(summary(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phd.nbin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)[c("theta", "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SE.theta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")])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theta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SE.theta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2.267    0.272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9253CA-A1A8-8577-D7FB-576F3783739C}"/>
              </a:ext>
            </a:extLst>
          </p:cNvPr>
          <p:cNvSpPr txBox="1"/>
          <p:nvPr/>
        </p:nvSpPr>
        <p:spPr>
          <a:xfrm>
            <a:off x="667772" y="5715000"/>
            <a:ext cx="31242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Equivalently: </a:t>
            </a:r>
            <a:r>
              <a:rPr lang="el-GR" dirty="0"/>
              <a:t>α</a:t>
            </a:r>
            <a:r>
              <a:rPr lang="en-CA" dirty="0"/>
              <a:t> = 1/</a:t>
            </a:r>
            <a:r>
              <a:rPr lang="en-CA" dirty="0">
                <a:sym typeface="Symbol" panose="05050102010706020507" pitchFamily="18" charset="2"/>
              </a:rPr>
              <a:t> = 0.44</a:t>
            </a:r>
            <a:r>
              <a:rPr lang="en-CA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93716010"/>
      </p:ext>
    </p:extLst>
  </p:cSld>
  <p:clrMapOvr>
    <a:masterClrMapping/>
  </p:clrMapOvr>
</p:sld>
</file>

<file path=ppt\slides\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1EDD9-7FA7-4280-B510-3D851B2B35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Visualizing goodness-of-fit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D9ADF7E-E5ED-4311-90B0-2EA47A5E8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51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4820B4-3B58-4199-A08C-638A95C76E72}"/>
              </a:ext>
            </a:extLst>
          </p:cNvPr>
          <p:cNvSpPr txBox="1"/>
          <p:nvPr/>
        </p:nvSpPr>
        <p:spPr>
          <a:xfrm>
            <a:off x="457200" y="12954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</a:t>
            </a:r>
            <a:r>
              <a:rPr lang="en-US" dirty="0" err="1"/>
              <a:t>countreg</a:t>
            </a:r>
            <a:r>
              <a:rPr lang="en-US" dirty="0"/>
              <a:t> package extends rootogram() to work with fitted models: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80303D-F2DF-438C-AACD-61449F97E9EC}"/>
              </a:ext>
            </a:extLst>
          </p:cNvPr>
          <p:cNvSpPr txBox="1"/>
          <p:nvPr/>
        </p:nvSpPr>
        <p:spPr>
          <a:xfrm>
            <a:off x="457200" y="1969532"/>
            <a:ext cx="8229600" cy="58477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countreg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::rootogram(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phd.pois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main="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PhDPubs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 Poisson")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countreg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::rootogram(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phd.nbin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main="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PhDPubs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 Negative-Binomial")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0855730-A29D-41EF-846C-D5296D9B0D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" y="3028680"/>
            <a:ext cx="8161905" cy="243809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D273038-2F56-4984-ADAF-CC9A8FABC91C}"/>
              </a:ext>
            </a:extLst>
          </p:cNvPr>
          <p:cNvSpPr txBox="1"/>
          <p:nvPr/>
        </p:nvSpPr>
        <p:spPr>
          <a:xfrm>
            <a:off x="457200" y="57150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Poisson model shows a systematic, wave-like pattern with excess zeros, too few observed frequencies for counts of 1--3.</a:t>
            </a:r>
          </a:p>
        </p:txBody>
      </p:sp>
    </p:spTree>
    <p:extLst>
      <p:ext uri="{BB962C8B-B14F-4D97-AF65-F5344CB8AC3E}">
        <p14:creationId xmlns:p14="http://schemas.microsoft.com/office/powerpoint/2010/main" val="2316385037"/>
      </p:ext>
    </p:extLst>
  </p:cSld>
  <p:clrMapOvr>
    <a:masterClrMapping/>
  </p:clrMapOvr>
</p:sld>
</file>

<file path=ppt\slides\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8AF5EA-9FAE-40A6-99B6-50EBA221F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000" dirty="0"/>
              <a:t>Comparing models: What difference does it make?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A15137E-1D75-4BDE-AA4F-00D6B5811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52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9ED5B1-A32C-4EA6-A3E4-97798130D238}"/>
              </a:ext>
            </a:extLst>
          </p:cNvPr>
          <p:cNvSpPr txBox="1"/>
          <p:nvPr/>
        </p:nvSpPr>
        <p:spPr>
          <a:xfrm>
            <a:off x="457200" y="12192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NB is certainly a better fit than the Poisson; the QP cannot be distinguished by standard tests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CBDBCD-765C-4F5A-AAF9-0245C0E36C74}"/>
              </a:ext>
            </a:extLst>
          </p:cNvPr>
          <p:cNvSpPr txBox="1"/>
          <p:nvPr/>
        </p:nvSpPr>
        <p:spPr>
          <a:xfrm>
            <a:off x="457200" y="2094131"/>
            <a:ext cx="8229600" cy="1815882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LRstats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phd.pois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phd.qpois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phd.nbin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Likelihood summary table: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AIC  BIC LR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Chisq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Df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(&gt;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Chisq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   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phd.pois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3313 3342     1634 909     &lt;2e-16 ***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phd.qpois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909               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phd.nbin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3135 3169     1004 909      0.015 * 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---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Signif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. codes:  0 ‘***’ 0.001 ‘**’ 0.01 ‘*’ 0.05 ‘.’ 0.1 ‘ ’ 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96CDAB-DD49-464B-8457-0FB8F4F65A5A}"/>
              </a:ext>
            </a:extLst>
          </p:cNvPr>
          <p:cNvSpPr txBox="1"/>
          <p:nvPr/>
        </p:nvSpPr>
        <p:spPr>
          <a:xfrm>
            <a:off x="533400" y="4724400"/>
            <a:ext cx="3962400" cy="1600438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pois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qpois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nbin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(Intercept)  0.266  0.266  0.213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female1     -0.224 -0.224 -0.216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married1     0.157  0.157  0.153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kid5        -0.185 -0.185 -0.176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phdprestige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0.025  0.025  0.029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mentor       0.025  0.025  0.029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B178EE8-2573-46D4-9A57-DBBE5451DDBE}"/>
              </a:ext>
            </a:extLst>
          </p:cNvPr>
          <p:cNvSpPr txBox="1"/>
          <p:nvPr/>
        </p:nvSpPr>
        <p:spPr>
          <a:xfrm>
            <a:off x="4724400" y="4724400"/>
            <a:ext cx="3657600" cy="1600438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pois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qpois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nbin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(Intercept) 0.0996 0.1348 0.1327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female1     0.0546 0.0738 0.0726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married1    0.0613 0.0829 0.0819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kid5        0.0401 0.0543 0.0528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phdprestige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0.0253 0.0342 0.0343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mentor      0.0020 0.0027 0.0032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F7D356-592D-42A9-8026-0E828741F200}"/>
              </a:ext>
            </a:extLst>
          </p:cNvPr>
          <p:cNvSpPr txBox="1"/>
          <p:nvPr/>
        </p:nvSpPr>
        <p:spPr>
          <a:xfrm>
            <a:off x="533400" y="4038600"/>
            <a:ext cx="7848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We can also compare </a:t>
            </a:r>
            <a:r>
              <a:rPr lang="en-US" dirty="0">
                <a:solidFill>
                  <a:srgbClr val="0070C0"/>
                </a:solidFill>
              </a:rPr>
              <a:t>coefficients</a:t>
            </a:r>
            <a:r>
              <a:rPr lang="en-US" dirty="0"/>
              <a:t> and their </a:t>
            </a:r>
            <a:r>
              <a:rPr lang="en-US" dirty="0">
                <a:solidFill>
                  <a:srgbClr val="FF0000"/>
                </a:solidFill>
              </a:rPr>
              <a:t>standard errors </a:t>
            </a:r>
            <a:r>
              <a:rPr lang="en-US" dirty="0"/>
              <a:t>for these models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534C453-DFCD-4E8F-89EE-1032895E813E}"/>
              </a:ext>
            </a:extLst>
          </p:cNvPr>
          <p:cNvCxnSpPr>
            <a:cxnSpLocks/>
          </p:cNvCxnSpPr>
          <p:nvPr/>
        </p:nvCxnSpPr>
        <p:spPr>
          <a:xfrm flipH="1">
            <a:off x="2667000" y="4331732"/>
            <a:ext cx="381000" cy="392668"/>
          </a:xfrm>
          <a:prstGeom prst="straightConnector1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955D34F-EC50-4C2B-AB7E-31E24FF545F8}"/>
              </a:ext>
            </a:extLst>
          </p:cNvPr>
          <p:cNvCxnSpPr/>
          <p:nvPr/>
        </p:nvCxnSpPr>
        <p:spPr>
          <a:xfrm>
            <a:off x="5486400" y="4331732"/>
            <a:ext cx="457200" cy="392668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15446847"/>
      </p:ext>
    </p:extLst>
  </p:cSld>
  <p:clrMapOvr>
    <a:masterClrMapping/>
  </p:clrMapOvr>
</p:sld>
</file>

<file path=ppt\slides\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31342C-045C-442A-AA90-0C8A9729D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Visualizing the mean-variance relation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9353E5E-EF5E-4040-99B6-2B9226188F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53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79911AC-CDD6-464C-9D17-2DA4076E5E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524" y="1448047"/>
            <a:ext cx="8180952" cy="396190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07E7FEB-2425-3EDC-EB41-FC6FDDE6DE03}"/>
              </a:ext>
            </a:extLst>
          </p:cNvPr>
          <p:cNvSpPr txBox="1"/>
          <p:nvPr/>
        </p:nvSpPr>
        <p:spPr>
          <a:xfrm>
            <a:off x="762000" y="5638800"/>
            <a:ext cx="7848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I call this a “model sensitivity plot” – how much effect do different assumptions make?</a:t>
            </a:r>
          </a:p>
        </p:txBody>
      </p:sp>
    </p:spTree>
    <p:extLst>
      <p:ext uri="{BB962C8B-B14F-4D97-AF65-F5344CB8AC3E}">
        <p14:creationId xmlns:p14="http://schemas.microsoft.com/office/powerpoint/2010/main" val="1906833661"/>
      </p:ext>
    </p:extLst>
  </p:cSld>
  <p:clrMapOvr>
    <a:masterClrMapping/>
  </p:clrMapOvr>
</p:sld>
</file>

<file path=ppt\slides\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EFFB96-0D36-4EC8-8CAC-FC2A01DA38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What have we learned?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7AF5824-79CC-444A-B40A-B4C591E624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4940DC-5AF8-4D8A-BD2C-D31F8A7E5DA0}"/>
              </a:ext>
            </a:extLst>
          </p:cNvPr>
          <p:cNvSpPr txBox="1"/>
          <p:nvPr/>
        </p:nvSpPr>
        <p:spPr>
          <a:xfrm>
            <a:off x="457200" y="11430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summary to this point should use the result of the negative-binomial model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20C8BE-179E-46D7-9189-FDA9F22F75A1}"/>
              </a:ext>
            </a:extLst>
          </p:cNvPr>
          <p:cNvSpPr txBox="1"/>
          <p:nvPr/>
        </p:nvSpPr>
        <p:spPr>
          <a:xfrm>
            <a:off x="457200" y="1676400"/>
            <a:ext cx="8229600" cy="1754326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lmtest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coeftest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phd.nbin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z test of coefficients: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Estimate Std. Error z value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(&gt;|z|)    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(Intercept)  0.21295    0.13274    1.60  0.10866    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female1     -0.21625    0.07259   -2.98  0.00289 ** 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married1     0.15279    0.08194    1.86  0.06224 .  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kid5        -0.17634    0.05279   -3.34  0.00084 ***</a:t>
            </a:r>
          </a:p>
          <a:p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phdprestige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0.02934    0.03427    0.86  0.39192    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mentor       0.02868    0.00324    8.86  &lt; 2e-16 ***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9210BE-0B3C-4ABA-89A7-6B19762FE183}"/>
              </a:ext>
            </a:extLst>
          </p:cNvPr>
          <p:cNvSpPr txBox="1"/>
          <p:nvPr/>
        </p:nvSpPr>
        <p:spPr>
          <a:xfrm>
            <a:off x="533400" y="3657600"/>
            <a:ext cx="807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For interpretation, examine the coefficients, </a:t>
            </a:r>
            <a:r>
              <a:rPr lang="en-US" dirty="0">
                <a:sym typeface="Symbol" panose="05050102010706020507" pitchFamily="18" charset="2"/>
              </a:rPr>
              <a:t>, e</a:t>
            </a:r>
            <a:r>
              <a:rPr lang="en-US" baseline="30000" dirty="0">
                <a:sym typeface="Symbol" panose="05050102010706020507" pitchFamily="18" charset="2"/>
              </a:rPr>
              <a:t></a:t>
            </a:r>
            <a:r>
              <a:rPr lang="en-US" dirty="0">
                <a:sym typeface="Symbol" panose="05050102010706020507" pitchFamily="18" charset="2"/>
              </a:rPr>
              <a:t> and % change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FBC949-218C-4B4A-987D-FDBDC8DEF51F}"/>
              </a:ext>
            </a:extLst>
          </p:cNvPr>
          <p:cNvSpPr txBox="1"/>
          <p:nvPr/>
        </p:nvSpPr>
        <p:spPr>
          <a:xfrm>
            <a:off x="609600" y="4343400"/>
            <a:ext cx="8001000" cy="1938992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&gt; round(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cbind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(beta =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coef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phd.nbin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expbeta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= exp(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coef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phd.nbin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)),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pct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= 100 * (exp(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coef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phd.nbin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)) - 1)), 3)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beta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expbeta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pct</a:t>
            </a: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(Intercept)  0.213   1.237  23.73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female1     -0.216   0.806 -19.45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married1     0.153   1.165  16.51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kid5        -0.176   0.838 -16.17</a:t>
            </a:r>
          </a:p>
          <a:p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phdprestige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0.029   1.030   2.98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mentor       0.029   1.029   2.91</a:t>
            </a:r>
          </a:p>
        </p:txBody>
      </p:sp>
    </p:spTree>
    <p:extLst>
      <p:ext uri="{BB962C8B-B14F-4D97-AF65-F5344CB8AC3E}">
        <p14:creationId xmlns:p14="http://schemas.microsoft.com/office/powerpoint/2010/main" val="4021141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</p:bldLst>
  </p:timing>
</p:sld>
</file>

<file path=ppt\slides\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67497-DA95-4197-A320-82826269EF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What have we learned?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C56B9E-5C5F-4399-87D1-37F4B7462A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The number of articles published by PhD candidates:</a:t>
            </a:r>
          </a:p>
          <a:p>
            <a:r>
              <a:rPr lang="en-US" sz="1800" dirty="0"/>
              <a:t>Most strongly predicted by </a:t>
            </a:r>
            <a:r>
              <a:rPr lang="en-US" sz="1800" dirty="0">
                <a:solidFill>
                  <a:srgbClr val="0070C0"/>
                </a:solidFill>
              </a:rPr>
              <a:t>mentor</a:t>
            </a:r>
            <a:r>
              <a:rPr lang="en-US" sz="1800" dirty="0"/>
              <a:t> pubs, but with a modest effect. On average, each mentor pub increases PhD articles by 2.9%</a:t>
            </a:r>
          </a:p>
          <a:p>
            <a:r>
              <a:rPr lang="en-US" sz="1800" dirty="0"/>
              <a:t>Next, increasing young children (</a:t>
            </a:r>
            <a:r>
              <a:rPr lang="en-US" sz="1800" dirty="0">
                <a:solidFill>
                  <a:srgbClr val="0070C0"/>
                </a:solidFill>
              </a:rPr>
              <a:t>kids5</a:t>
            </a:r>
            <a:r>
              <a:rPr lang="en-US" sz="1800" dirty="0"/>
              <a:t>) results in fewer publications. On average, each additional kid reduces PhD articles by 16%</a:t>
            </a:r>
          </a:p>
          <a:p>
            <a:r>
              <a:rPr lang="en-US" sz="1800" dirty="0"/>
              <a:t>Being </a:t>
            </a:r>
            <a:r>
              <a:rPr lang="en-US" sz="1800" dirty="0">
                <a:solidFill>
                  <a:srgbClr val="0070C0"/>
                </a:solidFill>
              </a:rPr>
              <a:t>married</a:t>
            </a:r>
            <a:r>
              <a:rPr lang="en-US" sz="1800" dirty="0"/>
              <a:t> is marginally NS, but intriguing.  Our estimate shows married candidates publish 16.5% more articles than non-married.</a:t>
            </a:r>
          </a:p>
          <a:p>
            <a:r>
              <a:rPr lang="en-US" sz="1800" dirty="0"/>
              <a:t>Perhaps surprisingly, the prestige of the PhD institution has no significant effect in this purely main-effect model. Yet, a unit change in </a:t>
            </a:r>
            <a:r>
              <a:rPr lang="en-US" sz="1800" dirty="0" err="1">
                <a:solidFill>
                  <a:srgbClr val="0070C0"/>
                </a:solidFill>
              </a:rPr>
              <a:t>phdprestige</a:t>
            </a:r>
            <a:r>
              <a:rPr lang="en-US" sz="1800" dirty="0"/>
              <a:t> is estimated as a 3% increase in PhD articles</a:t>
            </a:r>
          </a:p>
          <a:p>
            <a:r>
              <a:rPr lang="en-US" sz="1800" dirty="0"/>
              <a:t>Yet, we still have doubts:</a:t>
            </a:r>
          </a:p>
          <a:p>
            <a:pPr lvl="1"/>
            <a:r>
              <a:rPr lang="en-US" sz="1600" dirty="0"/>
              <a:t>Several cases (328, 913-915) appeared unusual in diagnostic plots. Should we refit w/o them to see if conclusions change?</a:t>
            </a:r>
          </a:p>
          <a:p>
            <a:pPr lvl="1"/>
            <a:r>
              <a:rPr lang="en-US" sz="1600" dirty="0"/>
              <a:t>The NB model might not be the best way to account for the zero counts – students who never published</a:t>
            </a:r>
          </a:p>
          <a:p>
            <a:pPr lvl="1"/>
            <a:r>
              <a:rPr lang="en-US" sz="1600" dirty="0"/>
              <a:t>Is there a better way?</a:t>
            </a:r>
          </a:p>
          <a:p>
            <a:endParaRPr lang="en-US" sz="20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1014C0A-BD36-4993-87F7-EBFB49DC61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2613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\slides\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5D64FD-6035-1E80-350A-1F549B6A05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Excess zeros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247527-8C40-19CD-76EC-5C6019C0D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56</a:t>
            </a:fld>
            <a:endParaRPr lang="en-US"/>
          </a:p>
        </p:txBody>
      </p:sp>
      <p:pic>
        <p:nvPicPr>
          <p:cNvPr id="5" name="Picture 4" descr="A picture containing track, sport, track and field, ground&#10;&#10;Description automatically generated">
            <a:extLst>
              <a:ext uri="{FF2B5EF4-FFF2-40B4-BE49-F238E27FC236}">
                <a16:creationId xmlns:a16="http://schemas.microsoft.com/office/drawing/2014/main" id="{30443F53-22FF-1692-5A25-F4E6C72D78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075" y="1425575"/>
            <a:ext cx="7943850" cy="52959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CD60086-3573-C094-5899-DC4FF757C4E2}"/>
              </a:ext>
            </a:extLst>
          </p:cNvPr>
          <p:cNvSpPr txBox="1"/>
          <p:nvPr/>
        </p:nvSpPr>
        <p:spPr>
          <a:xfrm>
            <a:off x="2667000" y="3895635"/>
            <a:ext cx="8382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9600" dirty="0"/>
              <a:t>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39E9BA-1255-325F-50EF-D2B9448FB96F}"/>
              </a:ext>
            </a:extLst>
          </p:cNvPr>
          <p:cNvSpPr txBox="1"/>
          <p:nvPr/>
        </p:nvSpPr>
        <p:spPr>
          <a:xfrm>
            <a:off x="3886200" y="2438400"/>
            <a:ext cx="8382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8000" dirty="0"/>
              <a:t>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FDFE689-B751-9404-732B-1F845CB622A0}"/>
              </a:ext>
            </a:extLst>
          </p:cNvPr>
          <p:cNvSpPr txBox="1"/>
          <p:nvPr/>
        </p:nvSpPr>
        <p:spPr>
          <a:xfrm>
            <a:off x="5105400" y="1930568"/>
            <a:ext cx="8382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6000" dirty="0"/>
              <a:t>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57C0CCF-8A1B-88F8-48B7-CD82B0AE35D4}"/>
              </a:ext>
            </a:extLst>
          </p:cNvPr>
          <p:cNvSpPr txBox="1"/>
          <p:nvPr/>
        </p:nvSpPr>
        <p:spPr>
          <a:xfrm>
            <a:off x="5905500" y="1752600"/>
            <a:ext cx="838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4800" dirty="0"/>
              <a:t>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6C2DD4-79E8-69D6-ED01-50C85D89A2B5}"/>
              </a:ext>
            </a:extLst>
          </p:cNvPr>
          <p:cNvSpPr txBox="1"/>
          <p:nvPr/>
        </p:nvSpPr>
        <p:spPr>
          <a:xfrm>
            <a:off x="6934200" y="1583323"/>
            <a:ext cx="8382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3200" dirty="0"/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2007812951"/>
      </p:ext>
    </p:extLst>
  </p:cSld>
  <p:clrMapOvr>
    <a:masterClrMapping/>
  </p:clrMapOvr>
</p:sld>
</file>

<file path=ppt\slides\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CCB3F8-4E06-48AB-B07C-DBECF1DE5C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Excess zero counts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A930C2-68E5-4292-BE95-4FCEEEE840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4ECF4BD-178B-4F1D-8A65-88D0ACB863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95400"/>
            <a:ext cx="8171428" cy="141904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9C009C5-79AB-4614-A3DC-6960FB868E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862333"/>
            <a:ext cx="8171428" cy="113333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764F7A4-BECF-4224-8F7F-ADC4221651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286" y="4181552"/>
            <a:ext cx="8171428" cy="61904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447CCD2-2418-4D92-BA05-A962EF5EF9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013" y="5029210"/>
            <a:ext cx="8152381" cy="876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84942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\slides\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329DB-A1B9-4642-9442-B9F90985E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Models for excess zeros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1A747DA-01EA-4673-B0CA-2D8421DF2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58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770D700-A0F1-43EA-952C-E9506F5A5B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848" y="1647933"/>
            <a:ext cx="8180952" cy="86666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7471417-3586-40C1-8959-8EB5C1C3D7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848" y="2686162"/>
            <a:ext cx="8171428" cy="89523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062A55E-034D-460C-B10C-6CFB2E44E1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4000" y="3943619"/>
            <a:ext cx="2161905" cy="215238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392AADE-A69C-42CF-AD8D-345F9809B2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20002" y="3924439"/>
            <a:ext cx="2076190" cy="214285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22A16DD-42CA-45C4-81D8-1EC7CD3448A8}"/>
              </a:ext>
            </a:extLst>
          </p:cNvPr>
          <p:cNvSpPr txBox="1"/>
          <p:nvPr/>
        </p:nvSpPr>
        <p:spPr>
          <a:xfrm>
            <a:off x="457200" y="1066800"/>
            <a:ext cx="82200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Two types of models, with different mechanisms for zero counts</a:t>
            </a:r>
          </a:p>
        </p:txBody>
      </p:sp>
    </p:spTree>
    <p:extLst>
      <p:ext uri="{BB962C8B-B14F-4D97-AF65-F5344CB8AC3E}">
        <p14:creationId xmlns:p14="http://schemas.microsoft.com/office/powerpoint/2010/main" val="24942259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\slides\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AEA372-ED2B-4912-AB3C-A87614E80E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Zero-inflated models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1595EF1-710C-42DF-9D86-15260782F3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59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CE8F7F-2BA4-462F-909D-A5992D93AA52}"/>
              </a:ext>
            </a:extLst>
          </p:cNvPr>
          <p:cNvSpPr txBox="1"/>
          <p:nvPr/>
        </p:nvSpPr>
        <p:spPr>
          <a:xfrm>
            <a:off x="457200" y="1371600"/>
            <a:ext cx="822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The </a:t>
            </a:r>
            <a:r>
              <a:rPr lang="en-US" sz="2000" dirty="0">
                <a:solidFill>
                  <a:srgbClr val="0070C0"/>
                </a:solidFill>
              </a:rPr>
              <a:t>zero-inflated Poisson </a:t>
            </a:r>
            <a:r>
              <a:rPr lang="en-US" sz="2000" dirty="0"/>
              <a:t>(ZIP) model has two components: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0BC9A00-B479-4739-9BD0-1B601EE823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47" y="1905000"/>
            <a:ext cx="8161905" cy="114285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72AD089-0AF0-43CE-9816-7908ADB119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286" y="3267229"/>
            <a:ext cx="8171428" cy="122857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077C064-2225-4767-A629-3896A1F455CB}"/>
              </a:ext>
            </a:extLst>
          </p:cNvPr>
          <p:cNvSpPr txBox="1"/>
          <p:nvPr/>
        </p:nvSpPr>
        <p:spPr>
          <a:xfrm>
            <a:off x="457200" y="4876800"/>
            <a:ext cx="82296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In application, the same predictors can be (and often are) used in both models (</a:t>
            </a:r>
            <a:r>
              <a:rPr lang="en-US" sz="2000" b="1" dirty="0"/>
              <a:t>x</a:t>
            </a:r>
            <a:r>
              <a:rPr lang="en-US" sz="2000" dirty="0"/>
              <a:t> = </a:t>
            </a:r>
            <a:r>
              <a:rPr lang="en-US" sz="2000" b="1" dirty="0"/>
              <a:t>z</a:t>
            </a:r>
            <a:r>
              <a:rPr lang="en-US" sz="2000" dirty="0"/>
              <a:t>). But not necessarily!</a:t>
            </a:r>
          </a:p>
        </p:txBody>
      </p:sp>
    </p:spTree>
    <p:extLst>
      <p:ext uri="{BB962C8B-B14F-4D97-AF65-F5344CB8AC3E}">
        <p14:creationId xmlns:p14="http://schemas.microsoft.com/office/powerpoint/2010/main" val="5316787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\slides\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D07662-C0C1-452B-AB50-D91BA5DA9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Zero-inflated models: ZIP &amp; ZINB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8F97E83-45F8-4035-834F-BF148702A2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60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6124644-84D8-4169-85BE-42839080D9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95400"/>
            <a:ext cx="8171428" cy="185714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7B4C820-62F8-42ED-9B6F-6B520BD696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524" y="3305333"/>
            <a:ext cx="8180952" cy="126666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3602584-6328-46C3-9342-C49250C687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684" y="4848228"/>
            <a:ext cx="8171428" cy="123809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50EAA11-1757-45DE-A878-C148445049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0" y="2196824"/>
            <a:ext cx="228571" cy="2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4046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\slides\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123480-839F-4331-9694-9A7EF0AF32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Exploring zero-inflated data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66D0F56-A715-41E6-A58D-DCC7F1C0C2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61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43949E-8A1E-4DA3-BF31-DD5AACC537DC}"/>
              </a:ext>
            </a:extLst>
          </p:cNvPr>
          <p:cNvSpPr txBox="1"/>
          <p:nvPr/>
        </p:nvSpPr>
        <p:spPr>
          <a:xfrm>
            <a:off x="457200" y="1219200"/>
            <a:ext cx="8229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little insight can be gained by generating random data from Poisson &amp; zero-inflated analog. The example uses VGAM::</a:t>
            </a:r>
            <a:r>
              <a:rPr lang="en-US" dirty="0" err="1"/>
              <a:t>rzipois</a:t>
            </a:r>
            <a:r>
              <a:rPr lang="en-US" dirty="0"/>
              <a:t>()</a:t>
            </a:r>
          </a:p>
          <a:p>
            <a:r>
              <a:rPr lang="en-US" dirty="0"/>
              <a:t>Pois(</a:t>
            </a:r>
            <a:r>
              <a:rPr lang="el-GR" dirty="0"/>
              <a:t>μ</a:t>
            </a:r>
            <a:r>
              <a:rPr lang="en-US" dirty="0"/>
              <a:t>=3) = ZIP(</a:t>
            </a:r>
            <a:r>
              <a:rPr lang="el-GR" dirty="0"/>
              <a:t>μ</a:t>
            </a:r>
            <a:r>
              <a:rPr lang="en-US" dirty="0"/>
              <a:t>=3, </a:t>
            </a:r>
            <a:r>
              <a:rPr lang="el-GR" dirty="0"/>
              <a:t>π</a:t>
            </a:r>
            <a:r>
              <a:rPr lang="en-US" dirty="0"/>
              <a:t>=0)</a:t>
            </a:r>
          </a:p>
          <a:p>
            <a:r>
              <a:rPr lang="en-US" dirty="0"/>
              <a:t>vs.                ZIP(</a:t>
            </a:r>
            <a:r>
              <a:rPr lang="el-GR" dirty="0"/>
              <a:t>μ</a:t>
            </a:r>
            <a:r>
              <a:rPr lang="en-US" dirty="0"/>
              <a:t>=3, </a:t>
            </a:r>
            <a:r>
              <a:rPr lang="el-GR" dirty="0"/>
              <a:t>π</a:t>
            </a:r>
            <a:r>
              <a:rPr lang="en-US" dirty="0"/>
              <a:t>=.3)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D8DE1D-FEDE-4964-862A-BF542B9BDCAA}"/>
              </a:ext>
            </a:extLst>
          </p:cNvPr>
          <p:cNvSpPr txBox="1"/>
          <p:nvPr/>
        </p:nvSpPr>
        <p:spPr>
          <a:xfrm>
            <a:off x="457200" y="2667000"/>
            <a:ext cx="8229600" cy="830997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pt-B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set.seed(1234)</a:t>
            </a:r>
          </a:p>
          <a:p>
            <a:r>
              <a:rPr lang="pt-B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data1 &lt;- VGAM::rzipois(200, 3, 0)</a:t>
            </a:r>
          </a:p>
          <a:p>
            <a:r>
              <a:rPr lang="pt-B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data2 &lt;- VGAM::rzipois(200, 3, .3)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BE01695-A927-456E-AC40-388DF4176958}"/>
              </a:ext>
            </a:extLst>
          </p:cNvPr>
          <p:cNvSpPr txBox="1"/>
          <p:nvPr/>
        </p:nvSpPr>
        <p:spPr>
          <a:xfrm>
            <a:off x="457200" y="37338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tables of counts show far more zeros in data2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127981-5881-4E86-A584-55745A8D6828}"/>
              </a:ext>
            </a:extLst>
          </p:cNvPr>
          <p:cNvSpPr txBox="1"/>
          <p:nvPr/>
        </p:nvSpPr>
        <p:spPr>
          <a:xfrm>
            <a:off x="457200" y="4267200"/>
            <a:ext cx="8229600" cy="1815882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table(data1)</a:t>
            </a:r>
          </a:p>
          <a:p>
            <a:r>
              <a:rPr lang="it-IT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data1</a:t>
            </a:r>
          </a:p>
          <a:p>
            <a:r>
              <a:rPr lang="it-IT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0  1  2  3  4  5  6  7  8  9 </a:t>
            </a:r>
          </a:p>
          <a:p>
            <a:r>
              <a:rPr lang="it-IT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10 31 46 54 24 20  7  3  4  1 </a:t>
            </a:r>
          </a:p>
          <a:p>
            <a:r>
              <a:rPr lang="it-IT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table(data2)</a:t>
            </a:r>
          </a:p>
          <a:p>
            <a:r>
              <a:rPr lang="it-IT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data2</a:t>
            </a:r>
          </a:p>
          <a:p>
            <a:r>
              <a:rPr lang="it-IT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0  1  2  3  4  5  6  7  9 </a:t>
            </a:r>
          </a:p>
          <a:p>
            <a:r>
              <a:rPr lang="it-IT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62 26 33 31 22  9  8  8  1 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5945476"/>
      </p:ext>
    </p:extLst>
  </p:cSld>
  <p:clrMapOvr>
    <a:masterClrMapping/>
  </p:clrMapOvr>
</p:sld>
</file>

<file path=ppt\slides\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CB1F70-01C9-4F8E-A1B2-637B1719E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Exploring zero-inflated data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67D5C96-BDAA-438D-9BA6-FF26FC27EF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62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C039397-9948-42C1-A0E7-51E6B2626D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1438838"/>
            <a:ext cx="8171428" cy="4504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7511524"/>
      </p:ext>
    </p:extLst>
  </p:cSld>
  <p:clrMapOvr>
    <a:masterClrMapping/>
  </p:clrMapOvr>
</p:sld>
</file>

<file path=ppt\slides\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615718-817A-4D4A-BDDD-8E0C0205C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Hurdle models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54FEDA5-16AC-4FC9-B5C8-84371DD8E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63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C96EF13-AA79-406F-9E29-0244E22B9D88}"/>
              </a:ext>
            </a:extLst>
          </p:cNvPr>
          <p:cNvSpPr txBox="1"/>
          <p:nvPr/>
        </p:nvSpPr>
        <p:spPr>
          <a:xfrm>
            <a:off x="457200" y="1371600"/>
            <a:ext cx="822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The </a:t>
            </a:r>
            <a:r>
              <a:rPr lang="en-US" sz="2000" dirty="0">
                <a:solidFill>
                  <a:srgbClr val="0070C0"/>
                </a:solidFill>
              </a:rPr>
              <a:t>Hurdle </a:t>
            </a:r>
            <a:r>
              <a:rPr lang="en-US" sz="2000" dirty="0"/>
              <a:t>model has  also has two components: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45C4C2-AFD6-43FB-8CFF-792C0839E4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" y="1905000"/>
            <a:ext cx="8171428" cy="1200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81C877C-EB56-40B2-A51F-22555D12F2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" y="3152857"/>
            <a:ext cx="8171428" cy="65714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E749205-BA59-4702-A0A6-E96B17F9AA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" y="4019400"/>
            <a:ext cx="8171428" cy="1390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97372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\slides\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B4EB51-879C-0C89-1420-9AE4926DD9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Fitting ZIP &amp; Hurdle models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EC17EB0-9759-DA2F-7E1A-5F5BF646B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64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0484FD-F6B2-56BC-F1B5-958628F631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171428" cy="121904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6C2DAAF-8203-421C-ADB7-41637E10B7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850316"/>
            <a:ext cx="8171428" cy="194285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680A6F5-1678-8ADD-8842-4DB74C95B9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5076981"/>
            <a:ext cx="8171428" cy="1247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4798857"/>
      </p:ext>
    </p:extLst>
  </p:cSld>
  <p:clrMapOvr>
    <a:masterClrMapping/>
  </p:clrMapOvr>
</p:sld>
</file>

<file path=ppt\slides\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3629C8-E292-A6E8-D827-2A37AB0E2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Visualizing zero counts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BDCA229-91B0-2AB3-5261-27EC3CEE04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65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6F6348-13FF-A5CA-964D-909A0E6B08B7}"/>
              </a:ext>
            </a:extLst>
          </p:cNvPr>
          <p:cNvSpPr txBox="1"/>
          <p:nvPr/>
        </p:nvSpPr>
        <p:spPr>
          <a:xfrm>
            <a:off x="457200" y="10668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It is often useful to plot the data for the binary distinction between </a:t>
            </a:r>
            <a:r>
              <a:rPr lang="en-CA" i="1" dirty="0" err="1"/>
              <a:t>y</a:t>
            </a:r>
            <a:r>
              <a:rPr lang="en-CA" baseline="-25000" dirty="0" err="1"/>
              <a:t>i</a:t>
            </a:r>
            <a:r>
              <a:rPr lang="en-CA" dirty="0"/>
              <a:t> = 0 vs. </a:t>
            </a:r>
            <a:r>
              <a:rPr lang="en-CA" i="1" dirty="0" err="1"/>
              <a:t>y</a:t>
            </a:r>
            <a:r>
              <a:rPr lang="en-CA" baseline="-25000" dirty="0" err="1"/>
              <a:t>i</a:t>
            </a:r>
            <a:r>
              <a:rPr lang="en-CA" dirty="0"/>
              <a:t> &gt; 0 as in logistic regression models.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5B04B2-7F7C-571B-E6BF-5FF2C28887A2}"/>
              </a:ext>
            </a:extLst>
          </p:cNvPr>
          <p:cNvSpPr txBox="1"/>
          <p:nvPr/>
        </p:nvSpPr>
        <p:spPr>
          <a:xfrm>
            <a:off x="457200" y="1828800"/>
            <a:ext cx="8229600" cy="830997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plot(factor(articles==0) ~ mentor, data=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PhdPubs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ylevels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=1:2, 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ylab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="Zero articles",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	breaks=quantile(mentor, probs=seq(0,1,.2)))</a:t>
            </a:r>
          </a:p>
        </p:txBody>
      </p:sp>
      <p:pic>
        <p:nvPicPr>
          <p:cNvPr id="9" name="Picture 8" descr="Chart, histogram&#10;&#10;Description automatically generated">
            <a:extLst>
              <a:ext uri="{FF2B5EF4-FFF2-40B4-BE49-F238E27FC236}">
                <a16:creationId xmlns:a16="http://schemas.microsoft.com/office/drawing/2014/main" id="{4CC4A014-BE44-1EF3-5676-03F30A5AAF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3156557"/>
            <a:ext cx="5303520" cy="355017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B7DC74C-A054-1437-E5DC-537C95087CE3}"/>
              </a:ext>
            </a:extLst>
          </p:cNvPr>
          <p:cNvSpPr txBox="1"/>
          <p:nvPr/>
        </p:nvSpPr>
        <p:spPr>
          <a:xfrm>
            <a:off x="6096000" y="3276600"/>
            <a:ext cx="25908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As expected, zero counts decrease with mentor pubs</a:t>
            </a:r>
          </a:p>
          <a:p>
            <a:endParaRPr lang="en-CA" dirty="0"/>
          </a:p>
          <a:p>
            <a:r>
              <a:rPr lang="en-CA" dirty="0"/>
              <a:t>NB: This gives a </a:t>
            </a:r>
            <a:r>
              <a:rPr lang="en-CA" dirty="0" err="1"/>
              <a:t>spineplot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150097808"/>
      </p:ext>
    </p:extLst>
  </p:cSld>
  <p:clrMapOvr>
    <a:masterClrMapping/>
  </p:clrMapOvr>
</p:sld>
</file>

<file path=ppt\slides\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FC4D28-10A6-0E8E-41A7-D00E6D8565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Fitting models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4E4A4D2-9219-39F8-8F9C-49DC49873E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66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CFDE1D-6D84-046C-D1D1-79F910EB8F6D}"/>
              </a:ext>
            </a:extLst>
          </p:cNvPr>
          <p:cNvSpPr txBox="1"/>
          <p:nvPr/>
        </p:nvSpPr>
        <p:spPr>
          <a:xfrm>
            <a:off x="457200" y="1371600"/>
            <a:ext cx="8229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To illustrate, I fit all four models, the combinations of (ZI, hurdle) × (</a:t>
            </a:r>
            <a:r>
              <a:rPr lang="en-CA" dirty="0" err="1"/>
              <a:t>poisson</a:t>
            </a:r>
            <a:r>
              <a:rPr lang="en-CA" dirty="0"/>
              <a:t>, </a:t>
            </a:r>
            <a:r>
              <a:rPr lang="en-CA" dirty="0" err="1"/>
              <a:t>nbin</a:t>
            </a:r>
            <a:r>
              <a:rPr lang="en-CA" dirty="0"/>
              <a:t>) to the </a:t>
            </a:r>
            <a:r>
              <a:rPr lang="en-CA" dirty="0" err="1"/>
              <a:t>phdpubs</a:t>
            </a:r>
            <a:r>
              <a:rPr lang="en-CA" dirty="0"/>
              <a:t> data.</a:t>
            </a:r>
          </a:p>
          <a:p>
            <a:endParaRPr lang="en-CA" dirty="0"/>
          </a:p>
          <a:p>
            <a:r>
              <a:rPr lang="en-CA" dirty="0"/>
              <a:t>For simplicity, I use </a:t>
            </a:r>
            <a:r>
              <a:rPr lang="en-CA" dirty="0">
                <a:solidFill>
                  <a:srgbClr val="0070C0"/>
                </a:solidFill>
              </a:rPr>
              <a:t>all predictors </a:t>
            </a:r>
            <a:r>
              <a:rPr lang="en-CA" dirty="0"/>
              <a:t>for both the zero model and the non-zero model.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2C12E35-14E1-CC1C-6085-FCE4CF352BCE}"/>
              </a:ext>
            </a:extLst>
          </p:cNvPr>
          <p:cNvSpPr txBox="1"/>
          <p:nvPr/>
        </p:nvSpPr>
        <p:spPr>
          <a:xfrm>
            <a:off x="457200" y="2952929"/>
            <a:ext cx="8229600" cy="1323439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phd.zip &lt;- 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zeroinfl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(articles ~ ., data=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PhdPubs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dist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poisson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phd.znb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zeroinfl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(articles ~ ., data=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PhdPubs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dist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negbin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endParaRPr lang="en-CA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phd.hp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&lt;- hurdle(articles ~ ., data=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PhdPubs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dist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poisson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phd.hnb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&lt;- hurdle(articles ~ ., data=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PhdPubs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dist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negbin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</p:txBody>
      </p:sp>
    </p:spTree>
    <p:extLst>
      <p:ext uri="{BB962C8B-B14F-4D97-AF65-F5344CB8AC3E}">
        <p14:creationId xmlns:p14="http://schemas.microsoft.com/office/powerpoint/2010/main" val="1263014996"/>
      </p:ext>
    </p:extLst>
  </p:cSld>
  <p:clrMapOvr>
    <a:masterClrMapping/>
  </p:clrMapOvr>
</p:sld>
</file>

<file path=ppt\slides\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EF0D4-872F-7844-6BF0-16D5FF7AB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Comparing models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E63F7D-BCE0-0B7E-8135-58A2C6B7CF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67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839779-DCBF-4EEB-1659-BA67DFEF150B}"/>
              </a:ext>
            </a:extLst>
          </p:cNvPr>
          <p:cNvSpPr txBox="1"/>
          <p:nvPr/>
        </p:nvSpPr>
        <p:spPr>
          <a:xfrm>
            <a:off x="457200" y="1295400"/>
            <a:ext cx="822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/>
              <a:t>Compare the models, sorting by BIC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2B21B7-3D83-4730-7661-421F5EF2C92C}"/>
              </a:ext>
            </a:extLst>
          </p:cNvPr>
          <p:cNvSpPr txBox="1"/>
          <p:nvPr/>
        </p:nvSpPr>
        <p:spPr>
          <a:xfrm>
            <a:off x="457200" y="2011362"/>
            <a:ext cx="8229600" cy="2677656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LRstats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phd.pois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phd.nbin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phd.zip,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phd.znb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phd.hp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phd.hnb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sortby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="BIC")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Likelihood summary table: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AIC    BIC LR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Chisq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(&gt;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Chisq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   </a:t>
            </a:r>
          </a:p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phd.pois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3313.3 3342.3   3301.3 909  &lt; 2.2e-16 ***</a:t>
            </a:r>
          </a:p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phd.hp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3234.5 3292.4   3210.5 903  &lt; 2.2e-16 ***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phd.zip  3233.5 3291.3   3209.5 903  &lt; 2.2e-16 ***</a:t>
            </a:r>
          </a:p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phd.hnb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3130.9 3193.5   3104.9 902  &lt; 2.2e-16 ***</a:t>
            </a:r>
          </a:p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phd.znb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3125.8 3188.4   3099.8 902  &lt; 2.2e-16 ***</a:t>
            </a:r>
          </a:p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phd.nbin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3135.4 3169.1   3121.4 909  &lt; 2.2e-16 ***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---</a:t>
            </a:r>
          </a:p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Signif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. codes:  0 ‘***’ 0.001 ‘**’ 0.01 ‘*’ 0.05 ‘.’ 0.1 ‘ ’ 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A1E983-FCB0-ED56-6681-A54136C4935B}"/>
              </a:ext>
            </a:extLst>
          </p:cNvPr>
          <p:cNvSpPr txBox="1"/>
          <p:nvPr/>
        </p:nvSpPr>
        <p:spPr>
          <a:xfrm>
            <a:off x="457200" y="49530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The standard negative binomial model looks best by BIC.</a:t>
            </a:r>
          </a:p>
          <a:p>
            <a:r>
              <a:rPr lang="en-CA" dirty="0"/>
              <a:t>Why do you think this is? (Hint: look at the residual </a:t>
            </a:r>
            <a:r>
              <a:rPr lang="en-CA" dirty="0" err="1"/>
              <a:t>df</a:t>
            </a:r>
            <a:r>
              <a:rPr lang="en-CA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77360905"/>
      </p:ext>
    </p:extLst>
  </p:cSld>
  <p:clrMapOvr>
    <a:masterClrMapping/>
  </p:clrMapOvr>
</p:sld>
</file>

<file path=ppt\slides\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94A42B7-7874-53FE-96E7-51E5F9B11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3BCD15-D74D-0520-2D8B-1D9B3C04E39E}"/>
              </a:ext>
            </a:extLst>
          </p:cNvPr>
          <p:cNvSpPr txBox="1"/>
          <p:nvPr/>
        </p:nvSpPr>
        <p:spPr>
          <a:xfrm>
            <a:off x="533400" y="1224439"/>
            <a:ext cx="8153400" cy="4185761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lmtest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coeftest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(phd.zip)</a:t>
            </a:r>
          </a:p>
          <a:p>
            <a:endParaRPr lang="en-CA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t test of coefficients:</a:t>
            </a:r>
          </a:p>
          <a:p>
            <a:endParaRPr lang="en-CA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Estimate Std. Error t value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(&gt;|t|)   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count_(Intercept)  0.59918    0.11861    5.05  5.3e-07 ***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count_female1     -0.20879    0.06353   -3.29   0.0011 **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count_married1     0.10623    0.07097    1.50   0.1348   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count_kid5        -0.14271    0.04744   -3.01   0.0027 ** </a:t>
            </a:r>
          </a:p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count_phdprestige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0.00700    0.02981    0.23   0.8145    </a:t>
            </a:r>
          </a:p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count_mentor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0.01785    0.00233    7.65  5.3e-14 ***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zero_(Intercept)  -0.56332    0.49405   -1.14   0.2545   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zero_female1       0.10816    0.28173    0.38   0.7011   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zero_married1     -0.35558    0.31796   -1.12   0.2637   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zero_kid5          0.21974    0.19658    1.12   0.2639    </a:t>
            </a:r>
          </a:p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zero_phdprestige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-0.00537    0.14118   -0.04   0.9697    </a:t>
            </a:r>
          </a:p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zero_mentor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-0.13313    0.04643   -2.87   0.0042 **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---</a:t>
            </a:r>
          </a:p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Signif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. codes:  0 ‘***’ 0.001 ‘**’ 0.01 ‘*’ 0.05 ‘.’ 0.1 ‘ ’ 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F97C2D-CF91-D089-6929-661E3B442704}"/>
              </a:ext>
            </a:extLst>
          </p:cNvPr>
          <p:cNvSpPr txBox="1"/>
          <p:nvPr/>
        </p:nvSpPr>
        <p:spPr>
          <a:xfrm>
            <a:off x="533400" y="457200"/>
            <a:ext cx="8153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Nevertheless, it is useful to examine the coefficients in the ZIP model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1A74F5C-409D-642D-581C-C5D84BE6B35E}"/>
              </a:ext>
            </a:extLst>
          </p:cNvPr>
          <p:cNvSpPr txBox="1"/>
          <p:nvPr/>
        </p:nvSpPr>
        <p:spPr>
          <a:xfrm>
            <a:off x="533400" y="5715000"/>
            <a:ext cx="8153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Only mentor is significant in the ZIP model, simplifying interpretation.</a:t>
            </a:r>
          </a:p>
        </p:txBody>
      </p:sp>
      <p:sp>
        <p:nvSpPr>
          <p:cNvPr id="2" name="Right Brace 1">
            <a:extLst>
              <a:ext uri="{FF2B5EF4-FFF2-40B4-BE49-F238E27FC236}">
                <a16:creationId xmlns:a16="http://schemas.microsoft.com/office/drawing/2014/main" id="{F58B8B29-920A-B0CF-F693-B563950C8CEB}"/>
              </a:ext>
            </a:extLst>
          </p:cNvPr>
          <p:cNvSpPr/>
          <p:nvPr/>
        </p:nvSpPr>
        <p:spPr>
          <a:xfrm>
            <a:off x="7010400" y="2209800"/>
            <a:ext cx="447675" cy="1295400"/>
          </a:xfrm>
          <a:prstGeom prst="rightBrace">
            <a:avLst>
              <a:gd name="adj1" fmla="val 8333"/>
              <a:gd name="adj2" fmla="val 49265"/>
            </a:avLst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Right Brace 3">
            <a:extLst>
              <a:ext uri="{FF2B5EF4-FFF2-40B4-BE49-F238E27FC236}">
                <a16:creationId xmlns:a16="http://schemas.microsoft.com/office/drawing/2014/main" id="{9E79D522-D008-229E-BCA4-7C43979C96BF}"/>
              </a:ext>
            </a:extLst>
          </p:cNvPr>
          <p:cNvSpPr/>
          <p:nvPr/>
        </p:nvSpPr>
        <p:spPr>
          <a:xfrm>
            <a:off x="7010399" y="3603109"/>
            <a:ext cx="447675" cy="1197491"/>
          </a:xfrm>
          <a:prstGeom prst="rightBrace">
            <a:avLst>
              <a:gd name="adj1" fmla="val 8333"/>
              <a:gd name="adj2" fmla="val 49265"/>
            </a:avLst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AC6ED6B-D1AF-BF20-1E7F-5F1CF6379894}"/>
              </a:ext>
            </a:extLst>
          </p:cNvPr>
          <p:cNvSpPr txBox="1"/>
          <p:nvPr/>
        </p:nvSpPr>
        <p:spPr>
          <a:xfrm>
            <a:off x="7496175" y="2672834"/>
            <a:ext cx="1219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counts &gt; 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77F51B-27A7-9673-54E5-2A3BD9979E6D}"/>
              </a:ext>
            </a:extLst>
          </p:cNvPr>
          <p:cNvSpPr txBox="1"/>
          <p:nvPr/>
        </p:nvSpPr>
        <p:spPr>
          <a:xfrm>
            <a:off x="7496175" y="4017188"/>
            <a:ext cx="1219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counts = 0</a:t>
            </a:r>
          </a:p>
        </p:txBody>
      </p:sp>
    </p:spTree>
    <p:extLst>
      <p:ext uri="{BB962C8B-B14F-4D97-AF65-F5344CB8AC3E}">
        <p14:creationId xmlns:p14="http://schemas.microsoft.com/office/powerpoint/2010/main" val="1804911396"/>
      </p:ext>
    </p:extLst>
  </p:cSld>
  <p:clrMapOvr>
    <a:masterClrMapping/>
  </p:clrMapOvr>
</p:sld>
</file>

<file path=ppt\slides\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3FF1641-CC9C-72D1-99CC-82FEB09CF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69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BC7ADD-7281-FBCA-E9CF-D1D7E8B1E3C8}"/>
              </a:ext>
            </a:extLst>
          </p:cNvPr>
          <p:cNvSpPr txBox="1"/>
          <p:nvPr/>
        </p:nvSpPr>
        <p:spPr>
          <a:xfrm>
            <a:off x="685800" y="990600"/>
            <a:ext cx="8001000" cy="523220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phd.zip1 &lt;-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zeroinfl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(articles ~ .| mentor, data=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PhdPubs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dist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poisson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phd.znb1 &lt;-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zeroinfl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(articles ~ .| mentor, data=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PhdPubs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dist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negbin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7182FE-E541-286C-190C-C11EE084F468}"/>
              </a:ext>
            </a:extLst>
          </p:cNvPr>
          <p:cNvSpPr txBox="1"/>
          <p:nvPr/>
        </p:nvSpPr>
        <p:spPr>
          <a:xfrm>
            <a:off x="685800" y="381000"/>
            <a:ext cx="8001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Let’s refit the ZIP and ZNB models using only </a:t>
            </a:r>
            <a:r>
              <a:rPr lang="en-CA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mentor</a:t>
            </a:r>
            <a:r>
              <a:rPr lang="en-CA" dirty="0"/>
              <a:t> for the zero models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C1D751-3049-17A2-483C-28E054E2BBC0}"/>
              </a:ext>
            </a:extLst>
          </p:cNvPr>
          <p:cNvSpPr txBox="1"/>
          <p:nvPr/>
        </p:nvSpPr>
        <p:spPr>
          <a:xfrm>
            <a:off x="685800" y="1828800"/>
            <a:ext cx="8001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Compare models again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1F42194-8DD9-235A-AD9F-500F1657C447}"/>
              </a:ext>
            </a:extLst>
          </p:cNvPr>
          <p:cNvSpPr txBox="1"/>
          <p:nvPr/>
        </p:nvSpPr>
        <p:spPr>
          <a:xfrm>
            <a:off x="685800" y="2362200"/>
            <a:ext cx="8001000" cy="3108543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LRstats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phd.pois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phd.nbin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phd.zip,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phd.znb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phd.hp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phd.hnb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+         phd.zip1, phd.znb1,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sortby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="BIC")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Likelihood summary table: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AIC  BIC LR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Chisq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(&gt;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Chisq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   </a:t>
            </a:r>
          </a:p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phd.pois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3313 3342     3301 909     &lt;2e-16 ***</a:t>
            </a:r>
          </a:p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phd.hp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3235 3292     3211 903     &lt;2e-16 ***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phd.zip  3234 3291     3210 903     &lt;2e-16 ***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phd.zip1 3227 3266     3211 907     &lt;2e-16 ***</a:t>
            </a:r>
          </a:p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phd.hnb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3131 3194     3105 902     &lt;2e-16 ***</a:t>
            </a:r>
          </a:p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phd.znb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3126 3188     3100 902     &lt;2e-16 ***</a:t>
            </a:r>
          </a:p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phd.nbin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3135 3169     3121 909     &lt;2e-16 ***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phd.znb1 3124 3168     3106 906     &lt;2e-16 ***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---</a:t>
            </a:r>
          </a:p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Signif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. codes:  0 ‘***’ 0.001 ‘**’ 0.01 ‘*’ 0.05 ‘.’ 0.1 ‘ ’ 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9B4DDDB-C30F-6536-0DF5-B9B781C696B2}"/>
              </a:ext>
            </a:extLst>
          </p:cNvPr>
          <p:cNvSpPr txBox="1"/>
          <p:nvPr/>
        </p:nvSpPr>
        <p:spPr>
          <a:xfrm>
            <a:off x="533400" y="5715000"/>
            <a:ext cx="8153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Now, the </a:t>
            </a:r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phd.znb1 </a:t>
            </a:r>
            <a:r>
              <a:rPr lang="en-CA" dirty="0"/>
              <a:t>model looks best by BIC. Let’s stick with this.</a:t>
            </a:r>
          </a:p>
        </p:txBody>
      </p:sp>
    </p:spTree>
    <p:extLst>
      <p:ext uri="{BB962C8B-B14F-4D97-AF65-F5344CB8AC3E}">
        <p14:creationId xmlns:p14="http://schemas.microsoft.com/office/powerpoint/2010/main" val="1179540464"/>
      </p:ext>
    </p:extLst>
  </p:cSld>
  <p:clrMapOvr>
    <a:masterClrMapping/>
  </p:clrMapOvr>
</p:sld>
</file>

<file path=ppt\slides\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C152D81-A646-29AC-9153-73A28F2FF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Model interpretation: Coefficients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096F187-5DA0-7D71-0FAE-3D40A0E9DC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70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6AA9ECA-7E83-A896-35B8-7EA1043BFBF7}"/>
              </a:ext>
            </a:extLst>
          </p:cNvPr>
          <p:cNvSpPr txBox="1"/>
          <p:nvPr/>
        </p:nvSpPr>
        <p:spPr>
          <a:xfrm>
            <a:off x="457200" y="1752600"/>
            <a:ext cx="8229600" cy="1169551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coef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(phd.znb1)[c(1,2,4,6,7,8)]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count_(Intercept)     count_female1        count_kid5     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count_mentor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0.3572           -0.2116           -0.1675            0.0241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zero_(Intercept)      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zero_mentor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-0.8169           -0.6080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B76D7E-35A9-9C5D-9F39-C50F595ABE5C}"/>
              </a:ext>
            </a:extLst>
          </p:cNvPr>
          <p:cNvSpPr txBox="1"/>
          <p:nvPr/>
        </p:nvSpPr>
        <p:spPr>
          <a:xfrm>
            <a:off x="457200" y="1143000"/>
            <a:ext cx="822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/>
              <a:t>Ignoring the NS coefficients in the revised ZNB model (</a:t>
            </a:r>
            <a:r>
              <a:rPr lang="en-CA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phd.znb1</a:t>
            </a:r>
            <a:r>
              <a:rPr lang="en-CA" sz="2000" dirty="0"/>
              <a:t>):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82844BD-6420-2BB0-4153-8E7FE0CC3D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3229210"/>
            <a:ext cx="8171428" cy="187619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323C838-34AF-4714-3F72-F8F562788513}"/>
              </a:ext>
            </a:extLst>
          </p:cNvPr>
          <p:cNvSpPr txBox="1"/>
          <p:nvPr/>
        </p:nvSpPr>
        <p:spPr>
          <a:xfrm>
            <a:off x="609600" y="5638800"/>
            <a:ext cx="8048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Can you describe these in words?</a:t>
            </a:r>
          </a:p>
        </p:txBody>
      </p:sp>
    </p:spTree>
    <p:extLst>
      <p:ext uri="{BB962C8B-B14F-4D97-AF65-F5344CB8AC3E}">
        <p14:creationId xmlns:p14="http://schemas.microsoft.com/office/powerpoint/2010/main" val="220861920"/>
      </p:ext>
    </p:extLst>
  </p:cSld>
  <p:clrMapOvr>
    <a:masterClrMapping/>
  </p:clrMapOvr>
</p:sld>
</file>

<file path=ppt\slides\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C152D81-A646-29AC-9153-73A28F2FF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Model interpretation: Coefficients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096F187-5DA0-7D71-0FAE-3D40A0E9DC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71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6AA9ECA-7E83-A896-35B8-7EA1043BFBF7}"/>
              </a:ext>
            </a:extLst>
          </p:cNvPr>
          <p:cNvSpPr txBox="1"/>
          <p:nvPr/>
        </p:nvSpPr>
        <p:spPr>
          <a:xfrm>
            <a:off x="457200" y="1752600"/>
            <a:ext cx="8229600" cy="1169551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exp(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coef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(phd.znb1)[c(1,2,4,6,7,8)])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count_(Intercept)     count_female1        count_kid5     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count_mentor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1.429             0.809             0.846             1.024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zero_(Intercept)      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zero_mentor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0.442             0.544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B76D7E-35A9-9C5D-9F39-C50F595ABE5C}"/>
              </a:ext>
            </a:extLst>
          </p:cNvPr>
          <p:cNvSpPr txBox="1"/>
          <p:nvPr/>
        </p:nvSpPr>
        <p:spPr>
          <a:xfrm>
            <a:off x="457200" y="1143000"/>
            <a:ext cx="822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/>
              <a:t>Often easier to interpret exp(</a:t>
            </a:r>
            <a:r>
              <a:rPr lang="el-GR" sz="2000" dirty="0"/>
              <a:t>β</a:t>
            </a:r>
            <a:r>
              <a:rPr lang="en-CA" sz="2000" dirty="0"/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F5A9E6-A480-8BA2-5FE6-D7671A95366C}"/>
              </a:ext>
            </a:extLst>
          </p:cNvPr>
          <p:cNvSpPr txBox="1"/>
          <p:nvPr/>
        </p:nvSpPr>
        <p:spPr>
          <a:xfrm>
            <a:off x="457200" y="3352800"/>
            <a:ext cx="82296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/>
              <a:t>Female</a:t>
            </a:r>
            <a:r>
              <a:rPr lang="en-CA" dirty="0"/>
              <a:t>: Women publish .21 fewer log articles, .81 times that of men (20% decrease)</a:t>
            </a:r>
          </a:p>
          <a:p>
            <a:r>
              <a:rPr lang="en-CA" b="1" dirty="0"/>
              <a:t>Kids5</a:t>
            </a:r>
            <a:r>
              <a:rPr lang="en-CA" dirty="0"/>
              <a:t>: Each additional kid&lt;5 </a:t>
            </a:r>
            <a:r>
              <a:rPr lang="en-CA" dirty="0">
                <a:sym typeface="Symbol" panose="05050102010706020507" pitchFamily="18" charset="2"/>
              </a:rPr>
              <a:t> .17 fewer log articles, a 15% decrease</a:t>
            </a:r>
          </a:p>
          <a:p>
            <a:r>
              <a:rPr lang="en-CA" b="1" dirty="0">
                <a:sym typeface="Symbol" panose="05050102010706020507" pitchFamily="18" charset="2"/>
              </a:rPr>
              <a:t>Mentor</a:t>
            </a:r>
            <a:r>
              <a:rPr lang="en-CA" dirty="0">
                <a:sym typeface="Symbol" panose="05050102010706020507" pitchFamily="18" charset="2"/>
              </a:rPr>
              <a:t>: Each additional mentor article  .024 more PhD log pubs (2.4% increase)</a:t>
            </a:r>
          </a:p>
          <a:p>
            <a:endParaRPr lang="en-CA" dirty="0">
              <a:sym typeface="Symbol" panose="05050102010706020507" pitchFamily="18" charset="2"/>
            </a:endParaRPr>
          </a:p>
          <a:p>
            <a:r>
              <a:rPr lang="en-CA" b="1" dirty="0">
                <a:sym typeface="Symbol" panose="05050102010706020507" pitchFamily="18" charset="2"/>
              </a:rPr>
              <a:t>Count model</a:t>
            </a:r>
            <a:r>
              <a:rPr lang="en-CA" dirty="0">
                <a:sym typeface="Symbol" panose="05050102010706020507" pitchFamily="18" charset="2"/>
              </a:rPr>
              <a:t>: Each additional mentor article decreases log odds </a:t>
            </a:r>
            <a:r>
              <a:rPr lang="en-CA" dirty="0" err="1">
                <a:sym typeface="Symbol" panose="05050102010706020507" pitchFamily="18" charset="2"/>
              </a:rPr>
              <a:t>PhDpubs</a:t>
            </a:r>
            <a:r>
              <a:rPr lang="en-CA" dirty="0">
                <a:sym typeface="Symbol" panose="05050102010706020507" pitchFamily="18" charset="2"/>
              </a:rPr>
              <a:t> = 0 by 0.608, a 45% decrease</a:t>
            </a:r>
            <a:endParaRPr lang="en-CA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A22F18-E45B-23C9-4698-469737724E35}"/>
              </a:ext>
            </a:extLst>
          </p:cNvPr>
          <p:cNvSpPr txBox="1"/>
          <p:nvPr/>
        </p:nvSpPr>
        <p:spPr>
          <a:xfrm>
            <a:off x="609600" y="5334000"/>
            <a:ext cx="8077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Get your mentor to publish!!</a:t>
            </a:r>
          </a:p>
        </p:txBody>
      </p:sp>
    </p:spTree>
    <p:extLst>
      <p:ext uri="{BB962C8B-B14F-4D97-AF65-F5344CB8AC3E}">
        <p14:creationId xmlns:p14="http://schemas.microsoft.com/office/powerpoint/2010/main" val="3474081797"/>
      </p:ext>
    </p:extLst>
  </p:cSld>
  <p:clrMapOvr>
    <a:masterClrMapping/>
  </p:clrMapOvr>
</p:sld>
</file>

<file path=ppt\slides\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6F6BFD-839A-0794-6384-82F0FFFFC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Model interpretation: Effect plots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974011B-5707-FA01-C81A-49114D7750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4DA06F0-3E1F-886C-3645-20FA038705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219200"/>
            <a:ext cx="8171428" cy="1771429"/>
          </a:xfrm>
          <a:prstGeom prst="rect">
            <a:avLst/>
          </a:prstGeom>
        </p:spPr>
      </p:pic>
      <p:pic>
        <p:nvPicPr>
          <p:cNvPr id="7" name="Picture 6" descr="Chart, line chart&#10;&#10;Description automatically generated">
            <a:extLst>
              <a:ext uri="{FF2B5EF4-FFF2-40B4-BE49-F238E27FC236}">
                <a16:creationId xmlns:a16="http://schemas.microsoft.com/office/drawing/2014/main" id="{EEF0D65D-A8B9-3DF5-A128-C56C5D4574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020" y="3429000"/>
            <a:ext cx="8487960" cy="3057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3426442"/>
      </p:ext>
    </p:extLst>
  </p:cSld>
  <p:clrMapOvr>
    <a:masterClrMapping/>
  </p:clrMapOvr>
</p:sld>
</file>

<file path=ppt\slides\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976CD00-5474-B3C3-78D6-4F4D22A0A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73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3C488B7-7DBB-1406-1FC9-75DC78C87C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457200"/>
            <a:ext cx="8171428" cy="1971429"/>
          </a:xfrm>
          <a:prstGeom prst="rect">
            <a:avLst/>
          </a:prstGeom>
        </p:spPr>
      </p:pic>
      <p:pic>
        <p:nvPicPr>
          <p:cNvPr id="7" name="Picture 6" descr="Chart&#10;&#10;Description automatically generated">
            <a:extLst>
              <a:ext uri="{FF2B5EF4-FFF2-40B4-BE49-F238E27FC236}">
                <a16:creationId xmlns:a16="http://schemas.microsoft.com/office/drawing/2014/main" id="{4051E8F2-215D-59C8-6426-70DD3CBD36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3185" y="2686614"/>
            <a:ext cx="5029615" cy="4126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7274462"/>
      </p:ext>
    </p:extLst>
  </p:cSld>
  <p:clrMapOvr>
    <a:masterClrMapping/>
  </p:clrMapOvr>
</p:sld>
</file>

<file path=ppt\slides\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FCDA4F1-12D0-CA37-F400-389C444F24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What have we learned?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D1B5A75-3CFE-A7F4-843F-950B9ADE6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74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FAAD5B7-3191-8591-D0F3-DC81FA0C5C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8171428" cy="88571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F03DA9F-FCBF-6E44-58E4-6F709867CA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635238"/>
            <a:ext cx="8171428" cy="600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7527D40-9578-FAA5-D068-7A558F84F2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286" y="3384562"/>
            <a:ext cx="8171428" cy="88571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DEC973B-0CC5-3178-F3E4-E146C792CFA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286" y="4419600"/>
            <a:ext cx="8171428" cy="117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37874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\slides\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A241F0-231A-8BD0-FD17-85AD9772B2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What have we learned?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2175561-6694-E18D-527B-0B31805386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75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E54AF59-BA7A-D698-75A7-98BD043AA0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1447800"/>
            <a:ext cx="8171428" cy="191428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53936FA-3FB0-0C56-0437-7C40AED088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286" y="3505200"/>
            <a:ext cx="8171428" cy="59047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D6D115B-175E-35B1-3626-06A024F402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286" y="4295952"/>
            <a:ext cx="8171428" cy="1419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9271665"/>
      </p:ext>
    </p:extLst>
  </p:cSld>
  <p:clrMapOvr>
    <a:masterClrMapping/>
  </p:clrMapOvr>
</p:sld>
</file>

<file path=ppt\slides\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826A43-A3EA-2BC2-95A4-451C773FE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What have we forgotten?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60D217-F36C-4FA6-A038-79A8ED9D63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CA" sz="2400" dirty="0"/>
              <a:t>“</a:t>
            </a:r>
            <a:r>
              <a:rPr lang="en-CA" sz="2400" i="1" dirty="0">
                <a:solidFill>
                  <a:schemeClr val="accent2">
                    <a:lumMod val="75000"/>
                  </a:schemeClr>
                </a:solidFill>
              </a:rPr>
              <a:t>All models are wrong, but some are useful</a:t>
            </a:r>
            <a:r>
              <a:rPr lang="en-CA" sz="2400" dirty="0"/>
              <a:t>” --- GEP Box</a:t>
            </a:r>
          </a:p>
          <a:p>
            <a:r>
              <a:rPr lang="en-CA" sz="2400" dirty="0"/>
              <a:t>Model </a:t>
            </a:r>
            <a:r>
              <a:rPr lang="en-CA" sz="2400" dirty="0">
                <a:solidFill>
                  <a:srgbClr val="0070C0"/>
                </a:solidFill>
              </a:rPr>
              <a:t>building</a:t>
            </a:r>
            <a:r>
              <a:rPr lang="en-CA" sz="2400" dirty="0"/>
              <a:t> and model </a:t>
            </a:r>
            <a:r>
              <a:rPr lang="en-CA" sz="2400" dirty="0">
                <a:solidFill>
                  <a:srgbClr val="0070C0"/>
                </a:solidFill>
              </a:rPr>
              <a:t>criticism</a:t>
            </a:r>
            <a:r>
              <a:rPr lang="en-CA" sz="2400" dirty="0"/>
              <a:t> go hand in hand</a:t>
            </a:r>
          </a:p>
          <a:p>
            <a:r>
              <a:rPr lang="en-CA" sz="2400" dirty="0"/>
              <a:t>But they don’t form a linear series of steps you can put into a flow chart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4E76942-077B-DB25-ED82-B03588EF04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76</a:t>
            </a:fld>
            <a:endParaRPr lang="en-US"/>
          </a:p>
        </p:txBody>
      </p:sp>
      <p:pic>
        <p:nvPicPr>
          <p:cNvPr id="6" name="Picture 5" descr="Diagram&#10;&#10;Description automatically generated">
            <a:extLst>
              <a:ext uri="{FF2B5EF4-FFF2-40B4-BE49-F238E27FC236}">
                <a16:creationId xmlns:a16="http://schemas.microsoft.com/office/drawing/2014/main" id="{4BBB5BDB-FD6F-D1DC-424B-EFE9EB624C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5000" y="3057832"/>
            <a:ext cx="5163474" cy="3170903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8D415BD-963A-D7A3-AE94-789EDC0BF0C0}"/>
              </a:ext>
            </a:extLst>
          </p:cNvPr>
          <p:cNvCxnSpPr/>
          <p:nvPr/>
        </p:nvCxnSpPr>
        <p:spPr>
          <a:xfrm>
            <a:off x="1600200" y="3057832"/>
            <a:ext cx="5791200" cy="2733368"/>
          </a:xfrm>
          <a:prstGeom prst="line">
            <a:avLst/>
          </a:prstGeom>
          <a:ln w="952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93321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\slides\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B0A79-AD25-343E-FB25-FA60788F5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What have we forgotten?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5264F0-8982-1DA9-46C9-CEB3A47640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1447800"/>
          </a:xfrm>
        </p:spPr>
        <p:txBody>
          <a:bodyPr>
            <a:normAutofit/>
          </a:bodyPr>
          <a:lstStyle/>
          <a:p>
            <a:r>
              <a:rPr lang="en-CA" sz="2400" dirty="0"/>
              <a:t>Sometimes, you have to go back and revisit decisions made earlier:</a:t>
            </a:r>
          </a:p>
          <a:p>
            <a:pPr marL="0" indent="0">
              <a:buNone/>
            </a:pPr>
            <a:r>
              <a:rPr lang="en-CA" sz="2400" dirty="0"/>
              <a:t>                    Fit </a:t>
            </a:r>
            <a:r>
              <a:rPr lang="en-CA" sz="2400" dirty="0">
                <a:sym typeface="Symbol" panose="05050102010706020507" pitchFamily="18" charset="2"/>
              </a:rPr>
              <a:t> </a:t>
            </a:r>
            <a:r>
              <a:rPr lang="en-CA" sz="2400" dirty="0"/>
              <a:t>Re-think </a:t>
            </a:r>
            <a:r>
              <a:rPr lang="en-CA" sz="2400" dirty="0">
                <a:sym typeface="Symbol" panose="05050102010706020507" pitchFamily="18" charset="2"/>
              </a:rPr>
              <a:t> Re-fit  Re-interpret</a:t>
            </a:r>
            <a:endParaRPr lang="en-CA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686AB5-A95B-1736-7E5B-0962C2D6D7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77</a:t>
            </a:fld>
            <a:endParaRPr lang="en-US"/>
          </a:p>
        </p:txBody>
      </p:sp>
      <p:pic>
        <p:nvPicPr>
          <p:cNvPr id="6" name="Picture 5" descr="Diagram&#10;&#10;Description automatically generated">
            <a:extLst>
              <a:ext uri="{FF2B5EF4-FFF2-40B4-BE49-F238E27FC236}">
                <a16:creationId xmlns:a16="http://schemas.microsoft.com/office/drawing/2014/main" id="{97F684A8-D17A-355B-D021-A925F9C774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2601" y="2710088"/>
            <a:ext cx="5243512" cy="3471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0027247"/>
      </p:ext>
    </p:extLst>
  </p:cSld>
  <p:clrMapOvr>
    <a:masterClrMapping/>
  </p:clrMapOvr>
</p:sld>
</file>

<file path=ppt\slides\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ABA14-EDB3-3DC0-8633-C697C57FA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What I missed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5B6249-3C7F-625C-7A92-0C0ACE639D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A" sz="2400" dirty="0"/>
              <a:t>In the initial model, </a:t>
            </a:r>
            <a:r>
              <a:rPr lang="en-CA" sz="20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phdprestige</a:t>
            </a:r>
            <a:r>
              <a:rPr lang="en-CA" sz="2400" dirty="0"/>
              <a:t> was NS. I decided to keep it</a:t>
            </a:r>
          </a:p>
          <a:p>
            <a:r>
              <a:rPr lang="en-CA" sz="2400" dirty="0"/>
              <a:t>In the check for two-way interactions, the interaction </a:t>
            </a:r>
            <a:r>
              <a:rPr lang="en-CA" sz="20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phdprestige:mentor</a:t>
            </a:r>
            <a:r>
              <a:rPr lang="en-CA" sz="20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2400" dirty="0"/>
              <a:t>was borderline (p = 0.051)</a:t>
            </a:r>
          </a:p>
          <a:p>
            <a:pPr lvl="1"/>
            <a:r>
              <a:rPr lang="en-CA" sz="2000" dirty="0"/>
              <a:t>I did a global test for all interactions together</a:t>
            </a:r>
          </a:p>
          <a:p>
            <a:pPr lvl="1"/>
            <a:r>
              <a:rPr lang="en-CA" sz="2000" dirty="0"/>
              <a:t>This was NS (p = 0.08), so I decided to dismiss them all</a:t>
            </a:r>
          </a:p>
          <a:p>
            <a:pPr lvl="1"/>
            <a:r>
              <a:rPr lang="en-CA" sz="2000" dirty="0"/>
              <a:t>(I wanted to keep he model simple, to go on to other topics: overdispersion, models for excess zeros)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CF78C6-BED9-4287-95B1-6B372AF793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8006743"/>
      </p:ext>
    </p:extLst>
  </p:cSld>
  <p:clrMapOvr>
    <a:masterClrMapping/>
  </p:clrMapOvr>
</p:sld>
</file>

<file path=ppt\slides\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9BC4D8-B60A-2B1A-0FA5-7A5F7B048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Back to square TWO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5B8DE9-E4DF-F4AA-633E-0BD22FF9BF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1600200"/>
          </a:xfrm>
        </p:spPr>
        <p:txBody>
          <a:bodyPr>
            <a:normAutofit lnSpcReduction="10000"/>
          </a:bodyPr>
          <a:lstStyle/>
          <a:p>
            <a:r>
              <a:rPr lang="en-CA" sz="2000" dirty="0"/>
              <a:t>A question in a former class made me reconsider the </a:t>
            </a:r>
            <a:r>
              <a:rPr lang="en-CA" sz="2000" dirty="0" err="1"/>
              <a:t>phdprestige:mentor</a:t>
            </a:r>
            <a:r>
              <a:rPr lang="en-CA" sz="2000" dirty="0"/>
              <a:t> interaction</a:t>
            </a:r>
          </a:p>
          <a:p>
            <a:r>
              <a:rPr lang="en-CA" sz="2000" dirty="0"/>
              <a:t>Perhaps, the effect of mentor varied with </a:t>
            </a:r>
            <a:r>
              <a:rPr lang="en-CA" sz="2000" dirty="0" err="1"/>
              <a:t>phdprestige</a:t>
            </a:r>
            <a:r>
              <a:rPr lang="en-CA" sz="2000" dirty="0"/>
              <a:t>?</a:t>
            </a:r>
          </a:p>
          <a:p>
            <a:pPr marL="0" indent="0">
              <a:buNone/>
            </a:pPr>
            <a:r>
              <a:rPr lang="en-CA" sz="2000" dirty="0"/>
              <a:t>Try this, starting with the negative-binomial, </a:t>
            </a:r>
            <a:r>
              <a:rPr lang="en-CA" sz="20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phd.nbin</a:t>
            </a:r>
            <a:r>
              <a:rPr lang="en-CA" sz="20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2000" dirty="0"/>
              <a:t>(</a:t>
            </a:r>
            <a:r>
              <a:rPr lang="en-CA" sz="2000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update</a:t>
            </a:r>
            <a:r>
              <a:rPr lang="en-CA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CA" sz="2000" dirty="0"/>
              <a:t>is your friend)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6E4E98-3F8C-ECCD-9EDC-68BF07B0E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5FCF60-0BED-EA39-DE26-15B72941F5E4}"/>
              </a:ext>
            </a:extLst>
          </p:cNvPr>
          <p:cNvSpPr txBox="1"/>
          <p:nvPr/>
        </p:nvSpPr>
        <p:spPr>
          <a:xfrm>
            <a:off x="457200" y="3063657"/>
            <a:ext cx="8229600" cy="3108543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phd.nbin2 &lt;- update(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phd.nbin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. ~ . + </a:t>
            </a:r>
            <a:r>
              <a:rPr lang="en-CA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phdprestige:mentor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Anova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(phd.nbin2)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Analysis of Deviance Table (Type II tests)</a:t>
            </a:r>
          </a:p>
          <a:p>
            <a:endParaRPr lang="en-CA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Response: articles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LR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Chisq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(&gt;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Chisq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  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female                  9.1  1     0.0026 **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married                 3.1  1     0.0762 . 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kid5                   10.7  1     0.0011 ** </a:t>
            </a:r>
          </a:p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phdprestige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0.7  1     0.3921   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mentor                 72.8  1     &lt;2e-16 ***</a:t>
            </a:r>
          </a:p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phdprestige:mentor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5.6  1     0.0179 * 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---</a:t>
            </a:r>
          </a:p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Signif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. codes:  0 ‘***’ 0.001 ‘**’ 0.01 ‘*’ 0.05 ‘.’ 0.1 ‘ ’ 1</a:t>
            </a:r>
          </a:p>
        </p:txBody>
      </p:sp>
    </p:spTree>
    <p:extLst>
      <p:ext uri="{BB962C8B-B14F-4D97-AF65-F5344CB8AC3E}">
        <p14:creationId xmlns:p14="http://schemas.microsoft.com/office/powerpoint/2010/main" val="1688508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\slides\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6F5518-B802-0986-C980-7C7D7EC12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Visualize the interaction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AD24FF-28BB-EE8F-0DA0-0EA027E83D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80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4962AE-836E-A3F3-AA39-1278A876F7A7}"/>
              </a:ext>
            </a:extLst>
          </p:cNvPr>
          <p:cNvSpPr txBox="1"/>
          <p:nvPr/>
        </p:nvSpPr>
        <p:spPr>
          <a:xfrm>
            <a:off x="457200" y="1143000"/>
            <a:ext cx="8229600" cy="646331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phd.effnb2 &lt;- </a:t>
            </a:r>
            <a:r>
              <a:rPr lang="en-CA" dirty="0" err="1"/>
              <a:t>allEffects</a:t>
            </a:r>
            <a:r>
              <a:rPr lang="en-CA" dirty="0"/>
              <a:t>(phd.nbin2)</a:t>
            </a:r>
          </a:p>
          <a:p>
            <a:r>
              <a:rPr lang="en-CA" dirty="0"/>
              <a:t>plot(phd.effnb2[4], </a:t>
            </a:r>
            <a:r>
              <a:rPr lang="en-CA" dirty="0" err="1"/>
              <a:t>x.var</a:t>
            </a:r>
            <a:r>
              <a:rPr lang="en-CA" dirty="0"/>
              <a:t>="mentor", multiline=TRUE, </a:t>
            </a:r>
            <a:r>
              <a:rPr lang="en-CA" dirty="0" err="1"/>
              <a:t>ci.style</a:t>
            </a:r>
            <a:r>
              <a:rPr lang="en-CA" dirty="0"/>
              <a:t>="bands", ...)</a:t>
            </a:r>
          </a:p>
        </p:txBody>
      </p:sp>
      <p:pic>
        <p:nvPicPr>
          <p:cNvPr id="7" name="Picture 6" descr="Chart&#10;&#10;Description automatically generated">
            <a:extLst>
              <a:ext uri="{FF2B5EF4-FFF2-40B4-BE49-F238E27FC236}">
                <a16:creationId xmlns:a16="http://schemas.microsoft.com/office/drawing/2014/main" id="{70CC2D1F-B778-8D43-320D-0E5063BEAC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283" y="2011680"/>
            <a:ext cx="4516413" cy="4572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B0C7ABD-DC08-2D64-B6B1-BC2D31F08B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5193" y="2409952"/>
            <a:ext cx="3809524" cy="2038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6701287"/>
      </p:ext>
    </p:extLst>
  </p:cSld>
  <p:clrMapOvr>
    <a:masterClrMapping/>
  </p:clrMapOvr>
</p:sld>
</file>

<file path=ppt\slides\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6F5518-B802-0986-C980-7C7D7EC12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sz="3600" dirty="0"/>
              <a:t>Visualize the interaction– The other way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AD24FF-28BB-EE8F-0DA0-0EA027E83D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81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4962AE-836E-A3F3-AA39-1278A876F7A7}"/>
              </a:ext>
            </a:extLst>
          </p:cNvPr>
          <p:cNvSpPr txBox="1"/>
          <p:nvPr/>
        </p:nvSpPr>
        <p:spPr>
          <a:xfrm>
            <a:off x="457200" y="1143000"/>
            <a:ext cx="8229600" cy="646331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phd.effnb2 &lt;- </a:t>
            </a:r>
            <a:r>
              <a:rPr lang="en-CA" dirty="0" err="1"/>
              <a:t>allEffects</a:t>
            </a:r>
            <a:r>
              <a:rPr lang="en-CA" dirty="0"/>
              <a:t>(phd.nbin2)</a:t>
            </a:r>
          </a:p>
          <a:p>
            <a:r>
              <a:rPr lang="en-CA" dirty="0"/>
              <a:t>plot(phd.effnb2[4], multiline=TRUE, </a:t>
            </a:r>
            <a:r>
              <a:rPr lang="en-CA" dirty="0" err="1"/>
              <a:t>ci.style</a:t>
            </a:r>
            <a:r>
              <a:rPr lang="en-CA" dirty="0"/>
              <a:t>="bands", ...)</a:t>
            </a:r>
          </a:p>
        </p:txBody>
      </p:sp>
      <p:pic>
        <p:nvPicPr>
          <p:cNvPr id="6" name="Picture 5" descr="Chart, line chart&#10;&#10;Description automatically generated">
            <a:extLst>
              <a:ext uri="{FF2B5EF4-FFF2-40B4-BE49-F238E27FC236}">
                <a16:creationId xmlns:a16="http://schemas.microsoft.com/office/drawing/2014/main" id="{ED18F184-764A-005C-3B78-06D5C78505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040" y="2011362"/>
            <a:ext cx="4558182" cy="4572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F478C08-76A5-C91C-7E12-6CCEAC63FE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4436" y="2438400"/>
            <a:ext cx="3809524" cy="3504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0098549"/>
      </p:ext>
    </p:extLst>
  </p:cSld>
  <p:clrMapOvr>
    <a:masterClrMapping/>
  </p:clrMapOvr>
</p:sld>
</file>

<file path=ppt\slides\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B75525-7EEE-6A88-DEBF-B2FF7BE21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Back to square ONE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DD5B67-5493-6A10-5320-D490D01780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36576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CA" sz="2400" dirty="0"/>
              <a:t>Aren’t we done yet?</a:t>
            </a:r>
          </a:p>
          <a:p>
            <a:pPr marL="0" indent="0">
              <a:buNone/>
            </a:pPr>
            <a:r>
              <a:rPr lang="en-CA" sz="2400" dirty="0"/>
              <a:t>“All data are wrong, but some are useful” – </a:t>
            </a:r>
            <a:r>
              <a:rPr lang="en-CA" sz="2400" dirty="0" err="1"/>
              <a:t>Sitsofe</a:t>
            </a:r>
            <a:r>
              <a:rPr lang="en-CA" sz="2400" dirty="0"/>
              <a:t> </a:t>
            </a:r>
            <a:r>
              <a:rPr lang="en-CA" sz="2400" dirty="0" err="1"/>
              <a:t>Tsagbey</a:t>
            </a:r>
            <a:r>
              <a:rPr lang="en-CA" sz="2400" dirty="0"/>
              <a:t> et al. TAS, 2017</a:t>
            </a:r>
          </a:p>
          <a:p>
            <a:r>
              <a:rPr lang="en-CA" sz="2400" dirty="0"/>
              <a:t>A nagging doubt: what is the coding for </a:t>
            </a:r>
            <a:r>
              <a:rPr lang="en-CA" sz="2400" dirty="0" err="1"/>
              <a:t>phdprestige</a:t>
            </a:r>
            <a:r>
              <a:rPr lang="en-CA" sz="2400" dirty="0"/>
              <a:t>?</a:t>
            </a:r>
          </a:p>
          <a:p>
            <a:pPr lvl="1"/>
            <a:r>
              <a:rPr lang="en-CA" sz="2000" dirty="0"/>
              <a:t>Email from Scott Long: “the higher the number, the more prestigious the program”</a:t>
            </a:r>
          </a:p>
          <a:p>
            <a:pPr lvl="1"/>
            <a:r>
              <a:rPr lang="en-CA" sz="2000" dirty="0"/>
              <a:t>“PS: The data I used did not categorize the continuous </a:t>
            </a:r>
            <a:r>
              <a:rPr lang="en-CA" sz="2000" dirty="0" err="1"/>
              <a:t>phd</a:t>
            </a:r>
            <a:r>
              <a:rPr lang="en-CA" sz="2000" dirty="0"/>
              <a:t> scale into discrete categories”</a:t>
            </a:r>
          </a:p>
          <a:p>
            <a:r>
              <a:rPr lang="en-CA" sz="2400" dirty="0"/>
              <a:t>Found the original Stata data set:</a:t>
            </a:r>
          </a:p>
          <a:p>
            <a:endParaRPr lang="en-CA" sz="2400" dirty="0"/>
          </a:p>
          <a:p>
            <a:pPr marL="0" indent="0">
              <a:buNone/>
            </a:pPr>
            <a:endParaRPr lang="en-CA" sz="24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7976BBF-45FC-F61A-CCA9-8EF388764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82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E5754A-746D-4448-9DB3-D202BC80F0A4}"/>
              </a:ext>
            </a:extLst>
          </p:cNvPr>
          <p:cNvSpPr txBox="1"/>
          <p:nvPr/>
        </p:nvSpPr>
        <p:spPr>
          <a:xfrm>
            <a:off x="457200" y="4876800"/>
            <a:ext cx="8229600" cy="830997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library(foreign)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PhdPubs2 &lt;- 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read.dta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("http://www.stata-press.com/data/lf2/couart2.dta")</a:t>
            </a:r>
          </a:p>
        </p:txBody>
      </p:sp>
    </p:spTree>
    <p:extLst>
      <p:ext uri="{BB962C8B-B14F-4D97-AF65-F5344CB8AC3E}">
        <p14:creationId xmlns:p14="http://schemas.microsoft.com/office/powerpoint/2010/main" val="3020139829"/>
      </p:ext>
    </p:extLst>
  </p:cSld>
  <p:clrMapOvr>
    <a:masterClrMapping/>
  </p:clrMapOvr>
</p:sld>
</file>

<file path=ppt\slides\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1E40DE-4C56-4EE6-8619-A37E316F64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Compare distributions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2E2284-8C96-42B2-8E75-5940905BC9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83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D743A6-DB11-4AE0-A64E-75CA9127EFA1}"/>
              </a:ext>
            </a:extLst>
          </p:cNvPr>
          <p:cNvSpPr txBox="1"/>
          <p:nvPr/>
        </p:nvSpPr>
        <p:spPr>
          <a:xfrm>
            <a:off x="457200" y="12192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Histograms with smoothed density estimate of the two versions of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phdprestige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They are very different!</a:t>
            </a:r>
          </a:p>
        </p:txBody>
      </p:sp>
      <p:pic>
        <p:nvPicPr>
          <p:cNvPr id="7" name="Picture 6" descr="Chart&#10;&#10;Description automatically generated">
            <a:extLst>
              <a:ext uri="{FF2B5EF4-FFF2-40B4-BE49-F238E27FC236}">
                <a16:creationId xmlns:a16="http://schemas.microsoft.com/office/drawing/2014/main" id="{AE62F834-D14B-4667-86FB-EE1CD1B0F8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2295854"/>
            <a:ext cx="4023360" cy="4023360"/>
          </a:xfrm>
          <a:prstGeom prst="rect">
            <a:avLst/>
          </a:prstGeom>
        </p:spPr>
      </p:pic>
      <p:pic>
        <p:nvPicPr>
          <p:cNvPr id="9" name="Picture 8" descr="Chart, line chart, histogram&#10;&#10;Description automatically generated">
            <a:extLst>
              <a:ext uri="{FF2B5EF4-FFF2-40B4-BE49-F238E27FC236}">
                <a16:creationId xmlns:a16="http://schemas.microsoft.com/office/drawing/2014/main" id="{A09A63FE-86B9-4076-B04F-07A3F1C094E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3440" y="2301875"/>
            <a:ext cx="4023360" cy="4011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6516895"/>
      </p:ext>
    </p:extLst>
  </p:cSld>
  <p:clrMapOvr>
    <a:masterClrMapping/>
  </p:clrMapOvr>
</p:sld>
</file>

<file path=ppt\slides\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646DC-D50B-4626-A7EA-9DC9E1AD0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What to do?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17C8FA-EA01-4FBF-9145-FDFC3738EB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Re-run the analysis with the new data set, PhdPubs2</a:t>
            </a:r>
          </a:p>
          <a:p>
            <a:r>
              <a:rPr lang="en-US" dirty="0"/>
              <a:t>This could be called a </a:t>
            </a:r>
            <a:r>
              <a:rPr lang="en-US" dirty="0">
                <a:solidFill>
                  <a:srgbClr val="0070C0"/>
                </a:solidFill>
              </a:rPr>
              <a:t>sensitivity analysis </a:t>
            </a:r>
            <a:r>
              <a:rPr lang="en-US" dirty="0"/>
              <a:t>– does the new data alter conclusions?</a:t>
            </a:r>
            <a:endParaRPr lang="en-US" dirty="0">
              <a:solidFill>
                <a:srgbClr val="0070C0"/>
              </a:solidFill>
            </a:endParaRPr>
          </a:p>
          <a:p>
            <a:r>
              <a:rPr lang="en-US" dirty="0"/>
              <a:t>Q: Are the results of the phd.nbin2 and phd.znb2 models about the same. A: </a:t>
            </a:r>
            <a:r>
              <a:rPr lang="en-US" dirty="0">
                <a:solidFill>
                  <a:srgbClr val="FF0000"/>
                </a:solidFill>
              </a:rPr>
              <a:t>YES!</a:t>
            </a:r>
          </a:p>
          <a:p>
            <a:r>
              <a:rPr lang="en-US" dirty="0"/>
              <a:t>Q: Is the interaction of </a:t>
            </a:r>
            <a:r>
              <a:rPr lang="en-US" sz="24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phdprestige:mentor</a:t>
            </a:r>
            <a:r>
              <a:rPr lang="en-US" sz="24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/>
              <a:t>about the same. A: </a:t>
            </a:r>
            <a:r>
              <a:rPr lang="en-US" dirty="0">
                <a:solidFill>
                  <a:srgbClr val="FF0000"/>
                </a:solidFill>
              </a:rPr>
              <a:t>YES!</a:t>
            </a:r>
          </a:p>
          <a:p>
            <a:r>
              <a:rPr lang="en-US" dirty="0"/>
              <a:t>Q: Does the effect plot look about the same? A: </a:t>
            </a:r>
            <a:r>
              <a:rPr lang="en-US" dirty="0">
                <a:solidFill>
                  <a:srgbClr val="FF0000"/>
                </a:solidFill>
              </a:rPr>
              <a:t>YES!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76FBD67-B82B-4475-8EF3-4B6A7B9938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3885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\slides\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816C0B-83EE-440C-9D1E-EFA92A07B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What else is there?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EF5766-EEB8-4909-8A74-43F954669B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dirty="0"/>
              <a:t>The </a:t>
            </a:r>
            <a:r>
              <a:rPr lang="en-US" sz="2400" dirty="0" err="1"/>
              <a:t>PhdPubs</a:t>
            </a:r>
            <a:r>
              <a:rPr lang="en-US" sz="2400" dirty="0"/>
              <a:t> example was rather simple</a:t>
            </a:r>
          </a:p>
          <a:p>
            <a:r>
              <a:rPr lang="en-US" sz="2400" dirty="0"/>
              <a:t>There were only a few predictors</a:t>
            </a:r>
          </a:p>
          <a:p>
            <a:pPr lvl="1"/>
            <a:r>
              <a:rPr lang="en-US" sz="2000" dirty="0"/>
              <a:t>Model selection methods could be based on simple </a:t>
            </a:r>
            <a:r>
              <a:rPr lang="en-US" sz="2000" dirty="0" err="1"/>
              <a:t>Anova</a:t>
            </a:r>
            <a:r>
              <a:rPr lang="en-US" sz="2000" dirty="0"/>
              <a:t>(), </a:t>
            </a:r>
            <a:r>
              <a:rPr lang="en-US" sz="2000" dirty="0" err="1"/>
              <a:t>coeftest</a:t>
            </a:r>
            <a:r>
              <a:rPr lang="en-US" sz="2000" dirty="0"/>
              <a:t>(), </a:t>
            </a:r>
            <a:r>
              <a:rPr lang="en-US" sz="2000" dirty="0" err="1"/>
              <a:t>LRstats</a:t>
            </a:r>
            <a:r>
              <a:rPr lang="en-US" sz="2000" dirty="0"/>
              <a:t>()</a:t>
            </a:r>
          </a:p>
          <a:p>
            <a:pPr lvl="1"/>
            <a:r>
              <a:rPr lang="en-US" sz="2000" dirty="0"/>
              <a:t>No need for more complex model selection methods or cross-validation</a:t>
            </a:r>
          </a:p>
          <a:p>
            <a:r>
              <a:rPr lang="en-US" sz="2400" dirty="0"/>
              <a:t>Of the quantitative predictors, only mentor &amp; kid5 had important effects</a:t>
            </a:r>
          </a:p>
          <a:p>
            <a:pPr lvl="1"/>
            <a:r>
              <a:rPr lang="en-US" sz="2000" dirty="0"/>
              <a:t>The effects of these were sufficiently linear</a:t>
            </a:r>
          </a:p>
          <a:p>
            <a:pPr lvl="1"/>
            <a:r>
              <a:rPr lang="en-US" sz="2000" dirty="0"/>
              <a:t>No need to try non-linear effects (poly(mentor,2), ns(mentor,2))</a:t>
            </a:r>
          </a:p>
          <a:p>
            <a:r>
              <a:rPr lang="en-US" sz="2400" dirty="0"/>
              <a:t>There turned out to be one important interaction</a:t>
            </a:r>
          </a:p>
          <a:p>
            <a:pPr lvl="1"/>
            <a:r>
              <a:rPr lang="en-US" sz="2000" dirty="0"/>
              <a:t>In Psychology, these are called “moderator” effects</a:t>
            </a:r>
          </a:p>
          <a:p>
            <a:pPr lvl="1"/>
            <a:r>
              <a:rPr lang="en-US" sz="2000" dirty="0"/>
              <a:t>Interpretation often based on post-hoc tests of simple slopes</a:t>
            </a:r>
          </a:p>
          <a:p>
            <a:pPr lvl="1"/>
            <a:r>
              <a:rPr lang="en-US" sz="2000" dirty="0"/>
              <a:t>Interpretation is usually simplified in effect plots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DCD04C-18B3-4BDD-A463-DBA91FD9BB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05234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\slides\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980C56-0FFD-4FF3-9265-B2D5CBBDB5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Other methods: Recursive partitioning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C82EAD-E268-46E8-9329-3AAB8FB00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86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D3776CF-F818-4B60-850F-8D32815463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066800"/>
            <a:ext cx="8161905" cy="1076190"/>
          </a:xfrm>
          <a:prstGeom prst="rect">
            <a:avLst/>
          </a:prstGeom>
        </p:spPr>
      </p:pic>
      <p:pic>
        <p:nvPicPr>
          <p:cNvPr id="7" name="Picture 6" descr="Diagram, map&#10;&#10;Description automatically generated">
            <a:extLst>
              <a:ext uri="{FF2B5EF4-FFF2-40B4-BE49-F238E27FC236}">
                <a16:creationId xmlns:a16="http://schemas.microsoft.com/office/drawing/2014/main" id="{BFF10524-8697-46FD-8525-2AC3B9DD22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800" y="2209802"/>
            <a:ext cx="6400800" cy="371192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5F36662-0725-4D29-A22D-14137EFCC79E}"/>
              </a:ext>
            </a:extLst>
          </p:cNvPr>
          <p:cNvSpPr txBox="1"/>
          <p:nvPr/>
        </p:nvSpPr>
        <p:spPr>
          <a:xfrm>
            <a:off x="609600" y="6096000"/>
            <a:ext cx="7543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Logistic regression tree fit to the Titanic data with </a:t>
            </a:r>
            <a:r>
              <a:rPr lang="en-US" dirty="0" err="1"/>
              <a:t>partykit</a:t>
            </a:r>
            <a:r>
              <a:rPr lang="en-US" dirty="0"/>
              <a:t>::</a:t>
            </a:r>
            <a:r>
              <a:rPr lang="en-US" dirty="0" err="1"/>
              <a:t>glmtree</a:t>
            </a:r>
            <a:r>
              <a:rPr lang="en-US" dirty="0"/>
              <a:t>()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C4FB98D-A72C-4653-A64D-B5A024E1A8BD}"/>
              </a:ext>
            </a:extLst>
          </p:cNvPr>
          <p:cNvSpPr txBox="1"/>
          <p:nvPr/>
        </p:nvSpPr>
        <p:spPr>
          <a:xfrm>
            <a:off x="7086600" y="2514600"/>
            <a:ext cx="1600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Who survived on the </a:t>
            </a:r>
            <a:r>
              <a:rPr lang="en-US" i="1" dirty="0"/>
              <a:t>Titanic</a:t>
            </a:r>
            <a:r>
              <a:rPr lang="en-US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513014935"/>
      </p:ext>
    </p:extLst>
  </p:cSld>
  <p:clrMapOvr>
    <a:masterClrMapping/>
  </p:clrMapOvr>
</p:sld>
</file>

<file path=ppt\slides\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258420-8802-494D-9944-F93C79407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Other methods: Recursive partitioning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012D045-4557-42AA-843C-02B8EBAB0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87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AB8CE8-363B-4D38-B349-301017D331A0}"/>
              </a:ext>
            </a:extLst>
          </p:cNvPr>
          <p:cNvSpPr txBox="1"/>
          <p:nvPr/>
        </p:nvSpPr>
        <p:spPr>
          <a:xfrm>
            <a:off x="457200" y="11430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Could there be a simpler or different model for the </a:t>
            </a:r>
            <a:r>
              <a:rPr lang="en-US" dirty="0" err="1"/>
              <a:t>PhdPubs</a:t>
            </a:r>
            <a:r>
              <a:rPr lang="en-US" dirty="0"/>
              <a:t> data?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13C12C3-4693-4C49-ACBF-66D733F0A5B7}"/>
              </a:ext>
            </a:extLst>
          </p:cNvPr>
          <p:cNvSpPr txBox="1"/>
          <p:nvPr/>
        </p:nvSpPr>
        <p:spPr>
          <a:xfrm>
            <a:off x="457200" y="1600200"/>
            <a:ext cx="8229600" cy="954107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library(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partykit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phd.tree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glmtree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(articles ~ mentor| female+married+kid5+phdprestige,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data=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PhdPubs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family=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poisson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plot(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phd.tree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pic>
        <p:nvPicPr>
          <p:cNvPr id="7" name="Picture 6" descr="Diagram, schematic&#10;&#10;Description automatically generated">
            <a:extLst>
              <a:ext uri="{FF2B5EF4-FFF2-40B4-BE49-F238E27FC236}">
                <a16:creationId xmlns:a16="http://schemas.microsoft.com/office/drawing/2014/main" id="{0276EB39-6A17-4BC7-982E-2D60D3307D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2626935"/>
            <a:ext cx="6142857" cy="383809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5C886AE-F58B-4577-B577-D709E638203C}"/>
              </a:ext>
            </a:extLst>
          </p:cNvPr>
          <p:cNvSpPr txBox="1"/>
          <p:nvPr/>
        </p:nvSpPr>
        <p:spPr>
          <a:xfrm>
            <a:off x="6400800" y="3163907"/>
            <a:ext cx="2286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Hmm? </a:t>
            </a:r>
          </a:p>
          <a:p>
            <a:r>
              <a:rPr lang="en-US" dirty="0"/>
              <a:t>A kid5:mentor interaction?</a:t>
            </a:r>
          </a:p>
        </p:txBody>
      </p:sp>
    </p:spTree>
    <p:extLst>
      <p:ext uri="{BB962C8B-B14F-4D97-AF65-F5344CB8AC3E}">
        <p14:creationId xmlns:p14="http://schemas.microsoft.com/office/powerpoint/2010/main" val="3796222736"/>
      </p:ext>
    </p:extLst>
  </p:cSld>
  <p:clrMapOvr>
    <a:masterClrMapping/>
  </p:clrMapOvr>
</p:sld>
</file>

<file path=ppt\slides\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DBBB1A-5093-4D17-809F-61916322BF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D3C8353-CF0C-463C-81C2-5634CE0BD7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GLMs provide a unified framework for linear models</a:t>
            </a:r>
          </a:p>
          <a:p>
            <a:pPr lvl="1"/>
            <a:r>
              <a:rPr lang="en-US" dirty="0"/>
              <a:t>Different families, all estimated in the same way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link function and associated variance function</a:t>
            </a:r>
          </a:p>
          <a:p>
            <a:r>
              <a:rPr lang="en-US" dirty="0"/>
              <a:t>For count data, starting from log(</a:t>
            </a:r>
            <a:r>
              <a:rPr lang="el-GR" b="1" dirty="0"/>
              <a:t>μ</a:t>
            </a:r>
            <a:r>
              <a:rPr lang="en-US" dirty="0"/>
              <a:t>) = </a:t>
            </a:r>
            <a:r>
              <a:rPr lang="en-US" b="1" dirty="0"/>
              <a:t>X</a:t>
            </a:r>
            <a:r>
              <a:rPr lang="en-US" dirty="0"/>
              <a:t> </a:t>
            </a:r>
            <a:r>
              <a:rPr lang="en-US" b="1" dirty="0">
                <a:sym typeface="Symbol" panose="05050102010706020507" pitchFamily="18" charset="2"/>
              </a:rPr>
              <a:t></a:t>
            </a:r>
            <a:r>
              <a:rPr lang="en-US" dirty="0">
                <a:sym typeface="Symbol" panose="05050102010706020507" pitchFamily="18" charset="2"/>
              </a:rPr>
              <a:t>, </a:t>
            </a:r>
            <a:r>
              <a:rPr lang="el-GR" b="1" dirty="0"/>
              <a:t>μ</a:t>
            </a:r>
            <a:r>
              <a:rPr lang="en-US" dirty="0"/>
              <a:t>|</a:t>
            </a:r>
            <a:r>
              <a:rPr lang="en-US" b="1" dirty="0"/>
              <a:t>X</a:t>
            </a:r>
            <a:r>
              <a:rPr lang="en-US" dirty="0"/>
              <a:t> ~</a:t>
            </a:r>
            <a:r>
              <a:rPr lang="el-GR" dirty="0"/>
              <a:t> </a:t>
            </a:r>
            <a:r>
              <a:rPr lang="en-US" dirty="0">
                <a:sym typeface="Symbol" panose="05050102010706020507" pitchFamily="18" charset="2"/>
              </a:rPr>
              <a:t>Poisson: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Overdispersion  quasi-</a:t>
            </a:r>
            <a:r>
              <a:rPr lang="en-US" dirty="0" err="1">
                <a:sym typeface="Symbol" panose="05050102010706020507" pitchFamily="18" charset="2"/>
              </a:rPr>
              <a:t>poisson</a:t>
            </a:r>
            <a:r>
              <a:rPr lang="en-US" dirty="0">
                <a:sym typeface="Symbol" panose="05050102010706020507" pitchFamily="18" charset="2"/>
              </a:rPr>
              <a:t>, negative binomial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Standard tools for assessing model fit</a:t>
            </a:r>
          </a:p>
          <a:p>
            <a:r>
              <a:rPr lang="en-US" dirty="0">
                <a:sym typeface="Symbol" panose="05050102010706020507" pitchFamily="18" charset="2"/>
              </a:rPr>
              <a:t>Excess zero counts introduce new ideas &amp; methods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ZIP model: structural model for the 0s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Hurdle model: random model for 0s, 2</a:t>
            </a:r>
            <a:r>
              <a:rPr lang="en-US" baseline="30000" dirty="0">
                <a:sym typeface="Symbol" panose="05050102010706020507" pitchFamily="18" charset="2"/>
              </a:rPr>
              <a:t>nd</a:t>
            </a:r>
            <a:r>
              <a:rPr lang="en-US" dirty="0">
                <a:sym typeface="Symbol" panose="05050102010706020507" pitchFamily="18" charset="2"/>
              </a:rPr>
              <a:t> model for Y&gt;0</a:t>
            </a:r>
          </a:p>
          <a:p>
            <a:r>
              <a:rPr lang="en-US" dirty="0">
                <a:sym typeface="Symbol" panose="05050102010706020507" pitchFamily="18" charset="2"/>
              </a:rPr>
              <a:t>In all this, we rely on data &amp; model </a:t>
            </a:r>
            <a:r>
              <a:rPr lang="en-US" dirty="0">
                <a:solidFill>
                  <a:srgbClr val="0070C0"/>
                </a:solidFill>
                <a:sym typeface="Symbol" panose="05050102010706020507" pitchFamily="18" charset="2"/>
              </a:rPr>
              <a:t>plots</a:t>
            </a:r>
            <a:r>
              <a:rPr lang="en-US" dirty="0">
                <a:sym typeface="Symbol" panose="05050102010706020507" pitchFamily="18" charset="2"/>
              </a:rPr>
              <a:t> for understanding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5E549C8-037B-42BA-8158-1FE725D2A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6716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\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\theme\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\theme\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\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7" d="100"/>
          <a:sy n="97" d="100"/>
        </p:scale>
        <p:origin x="1218" y="9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7626"/>
    </p:cViewPr>
  </p:sorterViewPr>
  <p:notesViewPr>
    <p:cSldViewPr>
      <p:cViewPr varScale="1">
        <p:scale>
          <a:sx n="87" d="100"/>
          <a:sy n="87" d="100"/>
        </p:scale>
        <p:origin x="-2040" y="-72"/>
      </p:cViewPr>
      <p:guideLst>
        <p:guide orient="horz" pos="2880"/>
        <p:guide pos="2160"/>
      </p:guideLst>
    </p:cSldViewPr>
  </p:notesViewPr>
  <p:gridSpacing cx="76200" cy="76200"/>
</p:viewPr>
</file>