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handoutMasterIdLst>
    <p:handoutMasterId r:id="rId20"/>
  </p:handoutMasterIdLst>
  <p:sldIdLst>
    <p:sldId id="257" r:id="rId2"/>
    <p:sldId id="271" r:id="rId3"/>
    <p:sldId id="272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8" r:id="rId13"/>
    <p:sldId id="266" r:id="rId14"/>
    <p:sldId id="273" r:id="rId15"/>
    <p:sldId id="274" r:id="rId16"/>
    <p:sldId id="267" r:id="rId17"/>
    <p:sldId id="269" r:id="rId18"/>
    <p:sldId id="270" r:id="rId19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1326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-2040" y="-72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BD4FA9-F3CE-45B3-A980-C331C6F1EF65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D5E95-8CAD-4274-BFFA-CD87442DEA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76907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solidFill>
            <a:srgbClr val="002060"/>
          </a:solidFill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AD3657-2200-4D14-82C0-10C39B0F0F06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966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SzPct val="120000"/>
              <a:defRPr sz="2800"/>
            </a:lvl1pPr>
            <a:lvl2pPr>
              <a:defRPr sz="2400"/>
            </a:lvl2pPr>
            <a:lvl3pPr marL="1143000" indent="-228600">
              <a:buClr>
                <a:srgbClr val="00B0F0"/>
              </a:buClr>
              <a:buSzPct val="110000"/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B1AD17-B813-4477-8AFE-B1860CC5911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55579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none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975C0D-5C9E-48CC-8D31-F42D19FA8F7A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221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43000"/>
            <a:ext cx="4038600" cy="51054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657551-0F2B-4F09-86FD-F7994CE83DC5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0701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D2B2-4200-46B9-96C3-02A55D5FAA00}" type="datetime1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7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FF7722-74E8-497F-A072-89677A2C2373}" type="datetime1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73631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6212E-B46B-426F-AE59-AA326827D9E0}" type="datetime1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6946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B81E8-09EA-4684-A39F-38DE1E49D20C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1098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C5CC5F-056C-4047-9A5C-9F5B4BED129B}" type="datetime1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99378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BBAF55-A85E-4993-914E-FC1E5AA7DF24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8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816E07-E1DB-44A4-A5E5-9F4B54E8C933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1791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15962"/>
          </a:xfrm>
          <a:prstGeom prst="rect">
            <a:avLst/>
          </a:prstGeom>
          <a:solidFill>
            <a:srgbClr val="002060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43000"/>
            <a:ext cx="8229600" cy="5105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171053-07BD-4A17-AC24-0A22EAA36098}" type="datetime1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1225AB-15B9-4C79-A121-04D1DC7E230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94294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Clr>
          <a:srgbClr val="0070C0"/>
        </a:buClr>
        <a:buSzPct val="115000"/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Clr>
          <a:srgbClr val="FF0000"/>
        </a:buClr>
        <a:buSzPct val="110000"/>
        <a:buFont typeface="Wingdings" panose="05000000000000000000" pitchFamily="2" charset="2"/>
        <a:buChar char="§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762000" y="2046233"/>
            <a:ext cx="716280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5400" b="1" dirty="0">
                <a:solidFill>
                  <a:schemeClr val="bg1"/>
                </a:solidFill>
              </a:rPr>
              <a:t>Deep Questions of Data Visualization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D4738BC-C316-C6E3-C8F7-330A787C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4347617"/>
            <a:ext cx="1234547" cy="158509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BEE41DE-B06D-976C-AF04-3C7D2589E7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600" y="212486"/>
            <a:ext cx="1600200" cy="16251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CD7C19B-AC6A-4498-C067-FAEE90A7F02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20866" y="222317"/>
            <a:ext cx="1524000" cy="1667933"/>
          </a:xfrm>
          <a:prstGeom prst="rect">
            <a:avLst/>
          </a:prstGeom>
        </p:spPr>
      </p:pic>
      <p:pic>
        <p:nvPicPr>
          <p:cNvPr id="11" name="Picture 10" descr="A black and white panda&#10;&#10;Description automatically generated with low confidence">
            <a:extLst>
              <a:ext uri="{FF2B5EF4-FFF2-40B4-BE49-F238E27FC236}">
                <a16:creationId xmlns:a16="http://schemas.microsoft.com/office/drawing/2014/main" id="{29B5370A-A17F-D370-73AD-14AAC402AB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3200" y="5932714"/>
            <a:ext cx="915152" cy="610437"/>
          </a:xfrm>
          <a:prstGeom prst="rect">
            <a:avLst/>
          </a:prstGeom>
        </p:spPr>
      </p:pic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B59CA975-0BA4-88E0-B85B-88DC45DAABD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0" y="3920965"/>
            <a:ext cx="1219200" cy="12192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1509B4BC-4CBA-A45C-A1EC-35D7723399D3}"/>
              </a:ext>
            </a:extLst>
          </p:cNvPr>
          <p:cNvSpPr txBox="1"/>
          <p:nvPr/>
        </p:nvSpPr>
        <p:spPr>
          <a:xfrm>
            <a:off x="2696565" y="635801"/>
            <a:ext cx="83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b="1" dirty="0">
                <a:solidFill>
                  <a:schemeClr val="bg1"/>
                </a:solidFill>
              </a:rPr>
              <a:t>??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1200BBC-CD1F-A0FB-5C04-C87EBFBF67CE}"/>
              </a:ext>
            </a:extLst>
          </p:cNvPr>
          <p:cNvSpPr txBox="1"/>
          <p:nvPr/>
        </p:nvSpPr>
        <p:spPr>
          <a:xfrm>
            <a:off x="5238136" y="635801"/>
            <a:ext cx="83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4800" b="1" dirty="0">
                <a:solidFill>
                  <a:schemeClr val="bg1"/>
                </a:solidFill>
              </a:rPr>
              <a:t>??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6F38771F-E331-3DFA-13D1-A6EAAD49353A}"/>
              </a:ext>
            </a:extLst>
          </p:cNvPr>
          <p:cNvSpPr txBox="1">
            <a:spLocks/>
          </p:cNvSpPr>
          <p:nvPr/>
        </p:nvSpPr>
        <p:spPr>
          <a:xfrm>
            <a:off x="2590800" y="4347617"/>
            <a:ext cx="6400800" cy="1752600"/>
          </a:xfrm>
          <a:prstGeom prst="rect">
            <a:avLst/>
          </a:prstGeom>
        </p:spPr>
        <p:txBody>
          <a:bodyPr/>
          <a:lstStyle>
            <a:lvl1pPr marL="342900" indent="-342900" algn="l" defTabSz="914400" rtl="0" eaLnBrk="1" latinLnBrk="0" hangingPunct="1">
              <a:spcBef>
                <a:spcPct val="20000"/>
              </a:spcBef>
              <a:buClr>
                <a:srgbClr val="0070C0"/>
              </a:buClr>
              <a:buSzPct val="115000"/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Clr>
                <a:srgbClr val="FF0000"/>
              </a:buClr>
              <a:buSzPct val="110000"/>
              <a:buFont typeface="Wingdings" panose="05000000000000000000" pitchFamily="2" charset="2"/>
              <a:buChar char="§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bg1"/>
                </a:solidFill>
              </a:rPr>
              <a:t>Michael Friendly</a:t>
            </a:r>
          </a:p>
          <a:p>
            <a:endParaRPr lang="en-US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25E8C58-2513-02E3-A663-F8137F63A3E9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310" y="223450"/>
            <a:ext cx="1666800" cy="1666800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592C9CDC-899C-60EC-BB55-6C5779245DA4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6336" y="5678136"/>
            <a:ext cx="1033646" cy="7791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832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FFB502-FB04-5A97-56E3-5988CE92E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2</a:t>
            </a:fld>
            <a:endParaRPr lang="en-US"/>
          </a:p>
        </p:txBody>
      </p:sp>
      <p:pic>
        <p:nvPicPr>
          <p:cNvPr id="4" name="Picture 3" descr="A scuba diver swimming near coral reef&#10;&#10;Description automatically generated">
            <a:extLst>
              <a:ext uri="{FF2B5EF4-FFF2-40B4-BE49-F238E27FC236}">
                <a16:creationId xmlns:a16="http://schemas.microsoft.com/office/drawing/2014/main" id="{43461139-F544-0619-BDDB-E0CA6799DB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" y="1938251"/>
            <a:ext cx="8290560" cy="466344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AD5815-FBD4-8770-B2DC-3134517D549C}"/>
              </a:ext>
            </a:extLst>
          </p:cNvPr>
          <p:cNvSpPr txBox="1"/>
          <p:nvPr/>
        </p:nvSpPr>
        <p:spPr>
          <a:xfrm>
            <a:off x="474898" y="221768"/>
            <a:ext cx="8288102" cy="156966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CA" sz="3200" dirty="0"/>
              <a:t>While you were enjoying a relaxing week without classes, I was working hard, pondering the: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CB78289-0A23-330C-ADAE-9CA292B2DF3E}"/>
              </a:ext>
            </a:extLst>
          </p:cNvPr>
          <p:cNvSpPr/>
          <p:nvPr/>
        </p:nvSpPr>
        <p:spPr>
          <a:xfrm>
            <a:off x="1371599" y="1979474"/>
            <a:ext cx="6477001" cy="1938992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6000" b="1" cap="none" spc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Deep questions of data visualization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ECD6215-1856-26D0-2726-A3D786556BED}"/>
              </a:ext>
            </a:extLst>
          </p:cNvPr>
          <p:cNvSpPr txBox="1"/>
          <p:nvPr/>
        </p:nvSpPr>
        <p:spPr>
          <a:xfrm>
            <a:off x="1981200" y="4495800"/>
            <a:ext cx="55626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b="1" dirty="0">
                <a:solidFill>
                  <a:schemeClr val="bg1"/>
                </a:solidFill>
              </a:rPr>
              <a:t>Preference for graphic forms among marine animals</a:t>
            </a:r>
          </a:p>
        </p:txBody>
      </p:sp>
    </p:spTree>
    <p:extLst>
      <p:ext uri="{BB962C8B-B14F-4D97-AF65-F5344CB8AC3E}">
        <p14:creationId xmlns:p14="http://schemas.microsoft.com/office/powerpoint/2010/main" val="24356678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297824D-E3DF-F9BD-1C89-B20F3E3A5E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F555746-D990-E0DF-FA80-2E65A37468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7944" y="1391610"/>
            <a:ext cx="6828112" cy="499915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11303E6-E0C3-962F-25BF-546D943275CD}"/>
              </a:ext>
            </a:extLst>
          </p:cNvPr>
          <p:cNvSpPr txBox="1"/>
          <p:nvPr/>
        </p:nvSpPr>
        <p:spPr>
          <a:xfrm>
            <a:off x="1189898" y="304800"/>
            <a:ext cx="682811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2800" b="1" dirty="0"/>
              <a:t>The Deep Question Research Institute</a:t>
            </a:r>
            <a:r>
              <a:rPr lang="en-CA" sz="2800" dirty="0"/>
              <a:t>, </a:t>
            </a:r>
          </a:p>
          <a:p>
            <a:r>
              <a:rPr lang="en-CA" sz="2800" dirty="0"/>
              <a:t>Hawksbill Resort, Antigua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65CCB7-F9E9-D943-D86F-6B1F7620EA30}"/>
              </a:ext>
            </a:extLst>
          </p:cNvPr>
          <p:cNvSpPr txBox="1"/>
          <p:nvPr/>
        </p:nvSpPr>
        <p:spPr>
          <a:xfrm>
            <a:off x="1295400" y="1600200"/>
            <a:ext cx="2514600" cy="923330"/>
          </a:xfrm>
          <a:prstGeom prst="rect">
            <a:avLst/>
          </a:prstGeom>
          <a:solidFill>
            <a:schemeClr val="accent3">
              <a:lumMod val="20000"/>
              <a:lumOff val="8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first scientific study of graphical preference among marine animals!</a:t>
            </a:r>
          </a:p>
        </p:txBody>
      </p:sp>
    </p:spTree>
    <p:extLst>
      <p:ext uri="{BB962C8B-B14F-4D97-AF65-F5344CB8AC3E}">
        <p14:creationId xmlns:p14="http://schemas.microsoft.com/office/powerpoint/2010/main" val="4138712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4</a:t>
            </a:fld>
            <a:endParaRPr lang="en-US"/>
          </a:p>
        </p:txBody>
      </p:sp>
      <p:pic>
        <p:nvPicPr>
          <p:cNvPr id="1026" name="Picture 2" descr="Image result for northwest point provo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0400" y="2514600"/>
            <a:ext cx="5029200" cy="3886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838200" y="609600"/>
            <a:ext cx="7772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b="1" dirty="0"/>
              <a:t>The Deep Question Research Institute</a:t>
            </a:r>
            <a:r>
              <a:rPr lang="en-CA" sz="2800" dirty="0"/>
              <a:t>, </a:t>
            </a:r>
          </a:p>
          <a:p>
            <a:r>
              <a:rPr lang="en-CA" sz="2800" dirty="0" err="1"/>
              <a:t>NorthWest</a:t>
            </a:r>
            <a:r>
              <a:rPr lang="en-CA" sz="2800" dirty="0"/>
              <a:t>  Point, </a:t>
            </a:r>
            <a:r>
              <a:rPr lang="en-CA" sz="2800" dirty="0" err="1"/>
              <a:t>Providenciales</a:t>
            </a:r>
            <a:r>
              <a:rPr lang="en-CA" sz="2800" dirty="0"/>
              <a:t>, Turks &amp; Caicos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53125" y="2438400"/>
            <a:ext cx="19050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The Wall (6000’)</a:t>
            </a: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514600" y="3144053"/>
            <a:ext cx="1600200" cy="208747"/>
          </a:xfrm>
          <a:prstGeom prst="straightConnector1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4038600"/>
            <a:ext cx="2514600" cy="923330"/>
          </a:xfrm>
          <a:prstGeom prst="rect">
            <a:avLst/>
          </a:prstGeom>
          <a:solidFill>
            <a:schemeClr val="accent3">
              <a:lumMod val="20000"/>
              <a:lumOff val="80000"/>
              <a:alpha val="7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dirty="0"/>
              <a:t>The first scientific study of graphical preference among marine animals!</a:t>
            </a:r>
          </a:p>
        </p:txBody>
      </p:sp>
      <p:pic>
        <p:nvPicPr>
          <p:cNvPr id="8" name="Picture 7" descr="Logo&#10;&#10;Description automatically generated with medium confidence">
            <a:extLst>
              <a:ext uri="{FF2B5EF4-FFF2-40B4-BE49-F238E27FC236}">
                <a16:creationId xmlns:a16="http://schemas.microsoft.com/office/drawing/2014/main" id="{F95F7470-B7BB-F8DE-B071-12EBE1D5FF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38753" y="1702909"/>
            <a:ext cx="1066494" cy="1066494"/>
          </a:xfrm>
          <a:prstGeom prst="rect">
            <a:avLst/>
          </a:prstGeom>
        </p:spPr>
      </p:pic>
      <p:pic>
        <p:nvPicPr>
          <p:cNvPr id="10" name="Picture 9" descr="A black and white panda&#10;&#10;Description automatically generated with low confidence">
            <a:extLst>
              <a:ext uri="{FF2B5EF4-FFF2-40B4-BE49-F238E27FC236}">
                <a16:creationId xmlns:a16="http://schemas.microsoft.com/office/drawing/2014/main" id="{9C215CD6-2384-966E-DEF9-7A12FB99E4D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9223" y="4953000"/>
            <a:ext cx="915152" cy="610437"/>
          </a:xfrm>
          <a:prstGeom prst="rect">
            <a:avLst/>
          </a:prstGeom>
        </p:spPr>
      </p:pic>
      <p:pic>
        <p:nvPicPr>
          <p:cNvPr id="11" name="Picture 10" descr="A black and white panda&#10;&#10;Description automatically generated with low confidence">
            <a:extLst>
              <a:ext uri="{FF2B5EF4-FFF2-40B4-BE49-F238E27FC236}">
                <a16:creationId xmlns:a16="http://schemas.microsoft.com/office/drawing/2014/main" id="{F6D9585D-1C85-F64E-6890-85554C200A7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5624" y="3276600"/>
            <a:ext cx="915152" cy="610437"/>
          </a:xfrm>
          <a:prstGeom prst="rect">
            <a:avLst/>
          </a:prstGeom>
        </p:spPr>
      </p:pic>
      <p:pic>
        <p:nvPicPr>
          <p:cNvPr id="12" name="Picture 11" descr="Logo&#10;&#10;Description automatically generated with medium confidence">
            <a:extLst>
              <a:ext uri="{FF2B5EF4-FFF2-40B4-BE49-F238E27FC236}">
                <a16:creationId xmlns:a16="http://schemas.microsoft.com/office/drawing/2014/main" id="{8E7249EA-B8FB-3A52-5755-46171A02BD5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6776" y="1697057"/>
            <a:ext cx="1066494" cy="1066494"/>
          </a:xfrm>
          <a:prstGeom prst="rect">
            <a:avLst/>
          </a:prstGeom>
        </p:spPr>
      </p:pic>
      <p:pic>
        <p:nvPicPr>
          <p:cNvPr id="13" name="Picture 12" descr="Logo&#10;&#10;Description automatically generated with medium confidence">
            <a:extLst>
              <a:ext uri="{FF2B5EF4-FFF2-40B4-BE49-F238E27FC236}">
                <a16:creationId xmlns:a16="http://schemas.microsoft.com/office/drawing/2014/main" id="{FDCE4B62-8842-A0E9-F21A-40E280326A2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7798" y="1697057"/>
            <a:ext cx="1066494" cy="1066494"/>
          </a:xfrm>
          <a:prstGeom prst="rect">
            <a:avLst/>
          </a:prstGeom>
        </p:spPr>
      </p:pic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33D2353C-C37B-3205-38FB-DDF835D534D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5257800"/>
            <a:ext cx="1310643" cy="8534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073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5</a:t>
            </a:fld>
            <a:endParaRPr lang="en-US"/>
          </a:p>
        </p:txBody>
      </p:sp>
      <p:pic>
        <p:nvPicPr>
          <p:cNvPr id="2051" name="Picture 3" descr="C:\Users\friendly\Pictures\2018-Provo\IMG_20180225-resize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5400" y="668311"/>
            <a:ext cx="3434080" cy="51511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/>
          <p:cNvSpPr txBox="1"/>
          <p:nvPr/>
        </p:nvSpPr>
        <p:spPr>
          <a:xfrm>
            <a:off x="457200" y="668311"/>
            <a:ext cx="4572000" cy="270843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CA" sz="4000" dirty="0"/>
              <a:t>Research team aboard the </a:t>
            </a:r>
            <a:r>
              <a:rPr lang="en-CA" sz="4000" i="1" dirty="0"/>
              <a:t>MV Playfair</a:t>
            </a:r>
          </a:p>
          <a:p>
            <a:endParaRPr lang="en-CA" dirty="0"/>
          </a:p>
          <a:p>
            <a:pPr algn="r"/>
            <a:r>
              <a:rPr lang="en-CA" sz="3200" dirty="0"/>
              <a:t>Divers suit up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3657600"/>
            <a:ext cx="3486150" cy="258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 rot="-420000">
            <a:off x="2316913" y="4994499"/>
            <a:ext cx="1295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MV Playfair</a:t>
            </a:r>
          </a:p>
        </p:txBody>
      </p:sp>
    </p:spTree>
    <p:extLst>
      <p:ext uri="{BB962C8B-B14F-4D97-AF65-F5344CB8AC3E}">
        <p14:creationId xmlns:p14="http://schemas.microsoft.com/office/powerpoint/2010/main" val="2875309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Shark experiment: Pies vs. Bars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6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18197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3200" dirty="0"/>
              <a:t>Do sharks prefer </a:t>
            </a:r>
            <a:r>
              <a:rPr lang="en-CA" sz="3200" dirty="0">
                <a:solidFill>
                  <a:srgbClr val="FF0000"/>
                </a:solidFill>
              </a:rPr>
              <a:t>conch pie charts </a:t>
            </a:r>
            <a:r>
              <a:rPr lang="en-CA" sz="3200" dirty="0"/>
              <a:t>or </a:t>
            </a:r>
            <a:r>
              <a:rPr lang="en-CA" sz="3200" dirty="0">
                <a:solidFill>
                  <a:srgbClr val="FF0000"/>
                </a:solidFill>
              </a:rPr>
              <a:t>granola bar charts</a:t>
            </a:r>
            <a:r>
              <a:rPr lang="en-CA" sz="3200" dirty="0"/>
              <a:t>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799" y="3886200"/>
            <a:ext cx="2304138" cy="2340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9" y="3886200"/>
            <a:ext cx="2138071" cy="2340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33400" y="2362200"/>
            <a:ext cx="79248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Design: Two-alternative forced-choice,  </a:t>
            </a:r>
            <a:r>
              <a:rPr lang="en-CA" sz="2800" i="1" dirty="0"/>
              <a:t>n</a:t>
            </a:r>
            <a:r>
              <a:rPr lang="en-CA" sz="2800" dirty="0"/>
              <a:t>=50 trials 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3400" y="3393375"/>
            <a:ext cx="2590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Conch pie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09999" y="3393375"/>
            <a:ext cx="21380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Granola bar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3068980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Sample stimulus items</a:t>
            </a:r>
          </a:p>
        </p:txBody>
      </p:sp>
      <p:pic>
        <p:nvPicPr>
          <p:cNvPr id="12" name="Picture 11" descr="A picture containing text&#10;&#10;Description automatically generated">
            <a:extLst>
              <a:ext uri="{FF2B5EF4-FFF2-40B4-BE49-F238E27FC236}">
                <a16:creationId xmlns:a16="http://schemas.microsoft.com/office/drawing/2014/main" id="{72353AF1-55E3-B545-D88B-21188C66E7E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4" y="3769062"/>
            <a:ext cx="693737" cy="69373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31C71EA-C093-30A4-A4DC-860F82C8A210}"/>
              </a:ext>
            </a:extLst>
          </p:cNvPr>
          <p:cNvSpPr txBox="1"/>
          <p:nvPr/>
        </p:nvSpPr>
        <p:spPr>
          <a:xfrm>
            <a:off x="6105832" y="3103860"/>
            <a:ext cx="2362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/>
              <a:t>Subjects</a:t>
            </a:r>
          </a:p>
        </p:txBody>
      </p:sp>
      <p:pic>
        <p:nvPicPr>
          <p:cNvPr id="13" name="Picture 12" descr="A picture containing text&#10;&#10;Description automatically generated">
            <a:extLst>
              <a:ext uri="{FF2B5EF4-FFF2-40B4-BE49-F238E27FC236}">
                <a16:creationId xmlns:a16="http://schemas.microsoft.com/office/drawing/2014/main" id="{CA9BC2A0-3D6E-F61F-B02C-12466DA4E7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3475" y="4101479"/>
            <a:ext cx="777518" cy="777518"/>
          </a:xfrm>
          <a:prstGeom prst="rect">
            <a:avLst/>
          </a:prstGeom>
        </p:spPr>
      </p:pic>
      <p:pic>
        <p:nvPicPr>
          <p:cNvPr id="14" name="Picture 13" descr="A picture containing text&#10;&#10;Description automatically generated">
            <a:extLst>
              <a:ext uri="{FF2B5EF4-FFF2-40B4-BE49-F238E27FC236}">
                <a16:creationId xmlns:a16="http://schemas.microsoft.com/office/drawing/2014/main" id="{26384553-C011-3363-BCB8-F2474166554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48283" y="4765339"/>
            <a:ext cx="693737" cy="693737"/>
          </a:xfrm>
          <a:prstGeom prst="rect">
            <a:avLst/>
          </a:prstGeom>
        </p:spPr>
      </p:pic>
      <p:pic>
        <p:nvPicPr>
          <p:cNvPr id="15" name="Picture 14" descr="A picture containing text&#10;&#10;Description automatically generated">
            <a:extLst>
              <a:ext uri="{FF2B5EF4-FFF2-40B4-BE49-F238E27FC236}">
                <a16:creationId xmlns:a16="http://schemas.microsoft.com/office/drawing/2014/main" id="{00C4B7A2-7C96-B62B-9D18-A5EE58FCB22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37256" y="5062706"/>
            <a:ext cx="693737" cy="693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150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Shark experiment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7</a:t>
            </a:fld>
            <a:endParaRPr lang="en-US"/>
          </a:p>
        </p:txBody>
      </p:sp>
      <p:pic>
        <p:nvPicPr>
          <p:cNvPr id="4098" name="Picture 2" descr="C:\Users\friendly\Pictures\2018-Provo\diver-and-nurseshark-small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6400" y="1752600"/>
            <a:ext cx="6858000" cy="4503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199" y="1752600"/>
            <a:ext cx="1044365" cy="114300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9" y="1752599"/>
            <a:ext cx="1044365" cy="10606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1143000"/>
            <a:ext cx="484908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One experimental trial: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52800" y="1925402"/>
            <a:ext cx="60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??</a:t>
            </a:r>
          </a:p>
        </p:txBody>
      </p:sp>
    </p:spTree>
    <p:extLst>
      <p:ext uri="{BB962C8B-B14F-4D97-AF65-F5344CB8AC3E}">
        <p14:creationId xmlns:p14="http://schemas.microsoft.com/office/powerpoint/2010/main" val="342871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Shark experiment: Pies vs. Bars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8</a:t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457200" y="1143000"/>
            <a:ext cx="818197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Results: Sharks show an overwhelming preference for conch pie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6018716"/>
              </p:ext>
            </p:extLst>
          </p:nvPr>
        </p:nvGraphicFramePr>
        <p:xfrm>
          <a:off x="457200" y="2590800"/>
          <a:ext cx="2667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496">
                <a:tc>
                  <a:txBody>
                    <a:bodyPr/>
                    <a:lstStyle/>
                    <a:p>
                      <a:r>
                        <a:rPr lang="en-CA" sz="2000" dirty="0"/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Diver </a:t>
                      </a:r>
                      <a:r>
                        <a:rPr lang="en-CA" dirty="0">
                          <a:solidFill>
                            <a:srgbClr val="FF0000"/>
                          </a:solidFill>
                        </a:rPr>
                        <a:t>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9" name="Group 8"/>
          <p:cNvGrpSpPr/>
          <p:nvPr/>
        </p:nvGrpSpPr>
        <p:grpSpPr>
          <a:xfrm>
            <a:off x="3495675" y="2286005"/>
            <a:ext cx="5143500" cy="3406140"/>
            <a:chOff x="3495675" y="2286005"/>
            <a:chExt cx="5143500" cy="3406140"/>
          </a:xfrm>
        </p:grpSpPr>
        <p:pic>
          <p:nvPicPr>
            <p:cNvPr id="3074" name="Picture 2" descr="C:\Users\friendly\Pictures\2018-Provo\TC-dive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95675" y="2286005"/>
              <a:ext cx="5143500" cy="340614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0600" y="2294911"/>
              <a:ext cx="921655" cy="93600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89950" y="4028700"/>
              <a:ext cx="855228" cy="936000"/>
            </a:xfrm>
            <a:prstGeom prst="rect">
              <a:avLst/>
            </a:prstGeom>
          </p:spPr>
        </p:pic>
        <p:sp>
          <p:nvSpPr>
            <p:cNvPr id="6" name="TextBox 5"/>
            <p:cNvSpPr txBox="1"/>
            <p:nvPr/>
          </p:nvSpPr>
          <p:spPr>
            <a:xfrm>
              <a:off x="4757262" y="3486090"/>
              <a:ext cx="6096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b="1" dirty="0">
                  <a:solidFill>
                    <a:schemeClr val="bg1"/>
                  </a:solidFill>
                </a:rPr>
                <a:t>??</a:t>
              </a:r>
            </a:p>
          </p:txBody>
        </p:sp>
      </p:grpSp>
      <p:sp>
        <p:nvSpPr>
          <p:cNvPr id="10" name="TextBox 9"/>
          <p:cNvSpPr txBox="1"/>
          <p:nvPr/>
        </p:nvSpPr>
        <p:spPr>
          <a:xfrm>
            <a:off x="457200" y="6096000"/>
            <a:ext cx="81819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*</a:t>
            </a:r>
            <a:r>
              <a:rPr lang="en-US" dirty="0"/>
              <a:t> </a:t>
            </a:r>
            <a:r>
              <a:rPr lang="en-US" sz="1600" dirty="0"/>
              <a:t>Ethics disclosure: All divers were volunteers. None were consumed in this experiment.</a:t>
            </a:r>
          </a:p>
        </p:txBody>
      </p:sp>
    </p:spTree>
    <p:extLst>
      <p:ext uri="{BB962C8B-B14F-4D97-AF65-F5344CB8AC3E}">
        <p14:creationId xmlns:p14="http://schemas.microsoft.com/office/powerpoint/2010/main" val="5285982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Turtle experiment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9</a:t>
            </a:fld>
            <a:endParaRPr lang="en-US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5315276"/>
              </p:ext>
            </p:extLst>
          </p:nvPr>
        </p:nvGraphicFramePr>
        <p:xfrm>
          <a:off x="533400" y="2941378"/>
          <a:ext cx="2667000" cy="1508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3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3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48496">
                <a:tc>
                  <a:txBody>
                    <a:bodyPr/>
                    <a:lstStyle/>
                    <a:p>
                      <a:r>
                        <a:rPr lang="en-CA" sz="2000" dirty="0"/>
                        <a:t>Choice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sz="2000" dirty="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Pie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Bar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47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CA" dirty="0"/>
                        <a:t>Diver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CA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457200" y="1066800"/>
            <a:ext cx="8196000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3200" dirty="0"/>
              <a:t>Does this generalize? What about turtles?</a:t>
            </a:r>
          </a:p>
          <a:p>
            <a:r>
              <a:rPr lang="en-CA" sz="2800" dirty="0"/>
              <a:t>Results: Turtles show an overwhelming preference for granola bar charts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3505200" y="2887675"/>
            <a:ext cx="5148000" cy="3433676"/>
            <a:chOff x="3505200" y="2590800"/>
            <a:chExt cx="5148000" cy="3433676"/>
          </a:xfrm>
        </p:grpSpPr>
        <p:pic>
          <p:nvPicPr>
            <p:cNvPr id="2050" name="Picture 2" descr="C:\Users\friendly\Pictures\2018-Provo\diving-with-turtle-the-sands-at-grace-bay-1024x683.jpg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505200" y="2590800"/>
              <a:ext cx="5148000" cy="343367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84262" y="2751507"/>
              <a:ext cx="921655" cy="936000"/>
            </a:xfrm>
            <a:prstGeom prst="rect">
              <a:avLst/>
            </a:prstGeom>
          </p:spPr>
        </p:pic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717475" y="3886200"/>
              <a:ext cx="855228" cy="936000"/>
            </a:xfrm>
            <a:prstGeom prst="rect">
              <a:avLst/>
            </a:prstGeom>
          </p:spPr>
        </p:pic>
        <p:sp>
          <p:nvSpPr>
            <p:cNvPr id="8" name="Rectangle 7"/>
            <p:cNvSpPr/>
            <p:nvPr/>
          </p:nvSpPr>
          <p:spPr>
            <a:xfrm>
              <a:off x="4885561" y="3552493"/>
              <a:ext cx="39946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b="1" dirty="0">
                  <a:solidFill>
                    <a:schemeClr val="bg1"/>
                  </a:solidFill>
                </a:rPr>
                <a:t>??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046360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the results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10</a:t>
            </a:fld>
            <a:endParaRPr lang="en-US"/>
          </a:p>
        </p:txBody>
      </p:sp>
      <p:pic>
        <p:nvPicPr>
          <p:cNvPr id="5122" name="Picture 2" descr="C:\Users\friendly\Pictures\2018-Provo\IMG_20180225_1445314-smaller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800" y="1981200"/>
            <a:ext cx="6960870" cy="46405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57200" y="1143000"/>
            <a:ext cx="822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Successful visualizations require some time for reflection</a:t>
            </a:r>
          </a:p>
        </p:txBody>
      </p:sp>
    </p:spTree>
    <p:extLst>
      <p:ext uri="{BB962C8B-B14F-4D97-AF65-F5344CB8AC3E}">
        <p14:creationId xmlns:p14="http://schemas.microsoft.com/office/powerpoint/2010/main" val="415895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Visualizing the results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11</a:t>
            </a:fld>
            <a:endParaRPr lang="en-US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3663086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2123456"/>
            <a:ext cx="3706552" cy="3657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533400" y="1262750"/>
            <a:ext cx="381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Bar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53000" y="1262750"/>
            <a:ext cx="3733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Windrose</a:t>
            </a:r>
            <a:r>
              <a:rPr lang="en-US" sz="2400" dirty="0"/>
              <a:t> = bar chart + polar </a:t>
            </a:r>
            <a:r>
              <a:rPr lang="en-US" sz="2400" dirty="0" err="1"/>
              <a:t>coords</a:t>
            </a:r>
            <a:endParaRPr lang="en-US" sz="2400" dirty="0"/>
          </a:p>
        </p:txBody>
      </p:sp>
      <p:sp>
        <p:nvSpPr>
          <p:cNvPr id="6" name="TextBox 5"/>
          <p:cNvSpPr txBox="1"/>
          <p:nvPr/>
        </p:nvSpPr>
        <p:spPr>
          <a:xfrm>
            <a:off x="533400" y="6019800"/>
            <a:ext cx="701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Which do you prefer?  Is there something better before I publish this?</a:t>
            </a:r>
          </a:p>
        </p:txBody>
      </p:sp>
    </p:spTree>
    <p:extLst>
      <p:ext uri="{BB962C8B-B14F-4D97-AF65-F5344CB8AC3E}">
        <p14:creationId xmlns:p14="http://schemas.microsoft.com/office/powerpoint/2010/main" val="358562074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403A06-6796-E1D5-FB3A-A6A5DAC78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Visualizing the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CE09F69-9222-BC3C-27E1-6BD4BD7015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12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C95FA9B-D2EE-C550-EF0F-DA3CEE1C85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355" y="2449496"/>
            <a:ext cx="4000873" cy="395130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15C44CA-0EEA-3CFD-AB58-97BFCEC0949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4773" y="2377091"/>
            <a:ext cx="4252328" cy="40237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D513594-4DF8-2B9E-DBBD-E963A445D8A0}"/>
              </a:ext>
            </a:extLst>
          </p:cNvPr>
          <p:cNvSpPr txBox="1"/>
          <p:nvPr/>
        </p:nvSpPr>
        <p:spPr>
          <a:xfrm>
            <a:off x="457200" y="1295400"/>
            <a:ext cx="822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800" dirty="0"/>
              <a:t>What about fourfold plots &amp; mosaic displays?</a:t>
            </a:r>
          </a:p>
        </p:txBody>
      </p:sp>
    </p:spTree>
    <p:extLst>
      <p:ext uri="{BB962C8B-B14F-4D97-AF65-F5344CB8AC3E}">
        <p14:creationId xmlns:p14="http://schemas.microsoft.com/office/powerpoint/2010/main" val="10692016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5" name="Rectangle 205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7" name="Freeform: Shape 2056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253670"/>
            <a:ext cx="137072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59" name="Rectangle 2058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422146"/>
            <a:ext cx="484026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1" name="Rectangle 2060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655140"/>
            <a:ext cx="515604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3" name="Freeform: Shape 2062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65" name="Isosceles Triangle 2064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6115501"/>
            <a:ext cx="1120884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7" name="Isosceles Triangle 2066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6453143"/>
            <a:ext cx="611177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6175" y="643467"/>
            <a:ext cx="7111648" cy="61870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The </a:t>
            </a:r>
            <a:r>
              <a:rPr lang="en-US" sz="3500" i="1"/>
              <a:t>Red Stripe </a:t>
            </a:r>
            <a:r>
              <a:rPr lang="en-US" sz="3500"/>
              <a:t>Award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6284062" y="5899007"/>
            <a:ext cx="1843761" cy="315525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fld id="{621225AB-15B9-4C79-A121-04D1DC7E2307}" type="slidenum">
              <a:rPr lang="en-US" sz="1600" smtClean="0">
                <a:solidFill>
                  <a:srgbClr val="555555"/>
                </a:solidFill>
              </a:rPr>
              <a:pPr>
                <a:lnSpc>
                  <a:spcPct val="90000"/>
                </a:lnSpc>
                <a:spcAft>
                  <a:spcPts val="600"/>
                </a:spcAft>
              </a:pPr>
              <a:t>13</a:t>
            </a:fld>
            <a:endParaRPr lang="en-US" sz="1600"/>
          </a:p>
        </p:txBody>
      </p:sp>
      <p:pic>
        <p:nvPicPr>
          <p:cNvPr id="2050" name="Picture 2" descr="C:\Users\Friendly\Pictures\2018Provo\red-stripe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175" y="1393866"/>
            <a:ext cx="3424127" cy="45655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703696" y="1525563"/>
            <a:ext cx="3424127" cy="1356429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solidFill>
                  <a:srgbClr val="000000"/>
                </a:solidFill>
              </a:rPr>
              <a:t>The research reported</a:t>
            </a:r>
            <a:r>
              <a:rPr lang="en-US" sz="2000" baseline="30000" dirty="0">
                <a:solidFill>
                  <a:srgbClr val="FF0000"/>
                </a:solidFill>
              </a:rPr>
              <a:t>*</a:t>
            </a:r>
            <a:r>
              <a:rPr lang="en-US" sz="2000" dirty="0">
                <a:solidFill>
                  <a:srgbClr val="000000"/>
                </a:solidFill>
              </a:rPr>
              <a:t> here was given the February 2026 </a:t>
            </a:r>
            <a:r>
              <a:rPr lang="en-US" sz="2000" i="1" dirty="0">
                <a:solidFill>
                  <a:srgbClr val="000000"/>
                </a:solidFill>
              </a:rPr>
              <a:t>Red Stripe </a:t>
            </a:r>
            <a:r>
              <a:rPr lang="en-US" sz="2000" dirty="0">
                <a:solidFill>
                  <a:srgbClr val="000000"/>
                </a:solidFill>
              </a:rPr>
              <a:t>Award by the </a:t>
            </a:r>
            <a:r>
              <a:rPr lang="en-US" sz="2000" b="1" dirty="0">
                <a:solidFill>
                  <a:srgbClr val="000000"/>
                </a:solidFill>
              </a:rPr>
              <a:t>Deep Question Research Institute</a:t>
            </a:r>
            <a:endParaRPr lang="en-US" sz="2000" b="1" dirty="0"/>
          </a:p>
        </p:txBody>
      </p:sp>
      <p:sp>
        <p:nvSpPr>
          <p:cNvPr id="5" name="TextBox 4"/>
          <p:cNvSpPr txBox="1"/>
          <p:nvPr/>
        </p:nvSpPr>
        <p:spPr>
          <a:xfrm>
            <a:off x="4703696" y="5377603"/>
            <a:ext cx="3424127" cy="744706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1300" baseline="30000">
                <a:solidFill>
                  <a:srgbClr val="FF0000"/>
                </a:solidFill>
              </a:rPr>
              <a:t>*</a:t>
            </a:r>
            <a:r>
              <a:rPr lang="en-US" sz="1300">
                <a:solidFill>
                  <a:srgbClr val="000000"/>
                </a:solidFill>
              </a:rPr>
              <a:t> This research was </a:t>
            </a:r>
            <a:r>
              <a:rPr lang="en-US" sz="1300">
                <a:solidFill>
                  <a:srgbClr val="FF0000"/>
                </a:solidFill>
              </a:rPr>
              <a:t>not</a:t>
            </a:r>
            <a:r>
              <a:rPr lang="en-US" sz="1300">
                <a:solidFill>
                  <a:srgbClr val="000000"/>
                </a:solidFill>
              </a:rPr>
              <a:t> supported by the National Sciences and Engineering Research Council of Canada</a:t>
            </a:r>
            <a:endParaRPr lang="en-US" sz="1300"/>
          </a:p>
        </p:txBody>
      </p:sp>
      <p:pic>
        <p:nvPicPr>
          <p:cNvPr id="7" name="Picture 6" descr="A picture containing text, bottle, indoor, food&#10;&#10;Description automatically generated">
            <a:extLst>
              <a:ext uri="{FF2B5EF4-FFF2-40B4-BE49-F238E27FC236}">
                <a16:creationId xmlns:a16="http://schemas.microsoft.com/office/drawing/2014/main" id="{C3D47A2B-CB53-BF1D-48F1-171D77C85AF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9545" y="3040081"/>
            <a:ext cx="676800" cy="1514518"/>
          </a:xfrm>
          <a:prstGeom prst="rect">
            <a:avLst/>
          </a:prstGeom>
        </p:spPr>
      </p:pic>
      <p:pic>
        <p:nvPicPr>
          <p:cNvPr id="6" name="Picture 5" descr="A picture containing text, bottle, indoor, food&#10;&#10;Description automatically generated">
            <a:extLst>
              <a:ext uri="{FF2B5EF4-FFF2-40B4-BE49-F238E27FC236}">
                <a16:creationId xmlns:a16="http://schemas.microsoft.com/office/drawing/2014/main" id="{AA3CACD3-6FF7-3C9B-00C6-5C1CBDA4ECD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6751" y="3040081"/>
            <a:ext cx="676800" cy="1514518"/>
          </a:xfrm>
          <a:prstGeom prst="rect">
            <a:avLst/>
          </a:prstGeom>
        </p:spPr>
      </p:pic>
      <p:pic>
        <p:nvPicPr>
          <p:cNvPr id="8" name="Picture 7" descr="A picture containing text, bottle, indoor, food&#10;&#10;Description automatically generated">
            <a:extLst>
              <a:ext uri="{FF2B5EF4-FFF2-40B4-BE49-F238E27FC236}">
                <a16:creationId xmlns:a16="http://schemas.microsoft.com/office/drawing/2014/main" id="{074FE4CD-0BFB-A37A-080B-DFDC43BD617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3957" y="3099397"/>
            <a:ext cx="676800" cy="1514518"/>
          </a:xfrm>
          <a:prstGeom prst="rect">
            <a:avLst/>
          </a:prstGeom>
        </p:spPr>
      </p:pic>
      <p:pic>
        <p:nvPicPr>
          <p:cNvPr id="9" name="Picture 8" descr="A picture containing text, bottle, indoor, food&#10;&#10;Description automatically generated">
            <a:extLst>
              <a:ext uri="{FF2B5EF4-FFF2-40B4-BE49-F238E27FC236}">
                <a16:creationId xmlns:a16="http://schemas.microsoft.com/office/drawing/2014/main" id="{4A588724-C71A-21B7-DA18-C5E781BA010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71164" y="3065300"/>
            <a:ext cx="676800" cy="151451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82FAFD5-2A54-6294-4BA2-86A2CE7B3989}"/>
              </a:ext>
            </a:extLst>
          </p:cNvPr>
          <p:cNvSpPr txBox="1"/>
          <p:nvPr/>
        </p:nvSpPr>
        <p:spPr>
          <a:xfrm>
            <a:off x="4769545" y="4712687"/>
            <a:ext cx="3358278" cy="31916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CA" sz="1600" i="1">
                <a:solidFill>
                  <a:srgbClr val="000000"/>
                </a:solidFill>
              </a:rPr>
              <a:t>“A Four Stripe research project!”</a:t>
            </a:r>
            <a:endParaRPr lang="en-CA" sz="1600" i="1"/>
          </a:p>
        </p:txBody>
      </p:sp>
    </p:spTree>
    <p:extLst>
      <p:ext uri="{BB962C8B-B14F-4D97-AF65-F5344CB8AC3E}">
        <p14:creationId xmlns:p14="http://schemas.microsoft.com/office/powerpoint/2010/main" val="38220169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61C7B-610E-9F97-B4FC-637B00522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Expanding scope: Antigua experiment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9252948-7DFF-6B99-6642-85172C7262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14</a:t>
            </a:fld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A05394-EEF2-91F2-F7C9-7EB8A389C962}"/>
              </a:ext>
            </a:extLst>
          </p:cNvPr>
          <p:cNvSpPr txBox="1"/>
          <p:nvPr/>
        </p:nvSpPr>
        <p:spPr>
          <a:xfrm>
            <a:off x="457200" y="1219200"/>
            <a:ext cx="822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000" dirty="0"/>
              <a:t>A new, more comprehensive experiment was just conducted in Antigua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9F0699C-F3C6-FDC5-B1E7-F6ED24B86A7F}"/>
              </a:ext>
            </a:extLst>
          </p:cNvPr>
          <p:cNvSpPr txBox="1"/>
          <p:nvPr/>
        </p:nvSpPr>
        <p:spPr>
          <a:xfrm>
            <a:off x="457200" y="1752600"/>
            <a:ext cx="1905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Species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B10CE62-C8F2-2C70-35D4-D993B00BE015}"/>
              </a:ext>
            </a:extLst>
          </p:cNvPr>
          <p:cNvSpPr txBox="1"/>
          <p:nvPr/>
        </p:nvSpPr>
        <p:spPr>
          <a:xfrm>
            <a:off x="533400" y="3581400"/>
            <a:ext cx="1219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/>
              <a:t>Stimuli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0657095E-35A9-CE7E-2AD0-E18863F98AD9}"/>
              </a:ext>
            </a:extLst>
          </p:cNvPr>
          <p:cNvGrpSpPr/>
          <p:nvPr/>
        </p:nvGrpSpPr>
        <p:grpSpPr>
          <a:xfrm>
            <a:off x="1790699" y="1752599"/>
            <a:ext cx="936000" cy="1238915"/>
            <a:chOff x="1790699" y="1752599"/>
            <a:chExt cx="936000" cy="1238915"/>
          </a:xfrm>
        </p:grpSpPr>
        <p:pic>
          <p:nvPicPr>
            <p:cNvPr id="6" name="Picture 5" descr="A picture containing text&#10;&#10;Description automatically generated">
              <a:extLst>
                <a:ext uri="{FF2B5EF4-FFF2-40B4-BE49-F238E27FC236}">
                  <a16:creationId xmlns:a16="http://schemas.microsoft.com/office/drawing/2014/main" id="{D3869627-3063-A0DD-54F9-F3B9F061E4A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0699" y="1752599"/>
              <a:ext cx="936000" cy="936000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3E64C9-1CCE-4F6E-C07D-D7C4F788030A}"/>
                </a:ext>
              </a:extLst>
            </p:cNvPr>
            <p:cNvSpPr txBox="1"/>
            <p:nvPr/>
          </p:nvSpPr>
          <p:spPr>
            <a:xfrm>
              <a:off x="1790699" y="2622182"/>
              <a:ext cx="93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shark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37BEE62F-FE95-2918-3CC7-2832F7009672}"/>
              </a:ext>
            </a:extLst>
          </p:cNvPr>
          <p:cNvGrpSpPr/>
          <p:nvPr/>
        </p:nvGrpSpPr>
        <p:grpSpPr>
          <a:xfrm>
            <a:off x="3970275" y="1785534"/>
            <a:ext cx="1403225" cy="1205980"/>
            <a:chOff x="3970275" y="1785534"/>
            <a:chExt cx="1403225" cy="1205980"/>
          </a:xfrm>
        </p:grpSpPr>
        <p:pic>
          <p:nvPicPr>
            <p:cNvPr id="9" name="Picture 8" descr="A black and white panda&#10;&#10;Description automatically generated with low confidence">
              <a:extLst>
                <a:ext uri="{FF2B5EF4-FFF2-40B4-BE49-F238E27FC236}">
                  <a16:creationId xmlns:a16="http://schemas.microsoft.com/office/drawing/2014/main" id="{C1CADBFF-9413-B587-0100-277AD5C0A03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0275" y="1785534"/>
              <a:ext cx="1403225" cy="936000"/>
            </a:xfrm>
            <a:prstGeom prst="rect">
              <a:avLst/>
            </a:prstGeom>
          </p:spPr>
        </p:pic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23EE98E8-8FDE-8411-DB2A-C5BFF8FEA58E}"/>
                </a:ext>
              </a:extLst>
            </p:cNvPr>
            <p:cNvSpPr txBox="1"/>
            <p:nvPr/>
          </p:nvSpPr>
          <p:spPr>
            <a:xfrm>
              <a:off x="4203887" y="2622182"/>
              <a:ext cx="93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turtle</a:t>
              </a:r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4A719447-55CF-8ABC-EB87-FA1DCD9582C2}"/>
              </a:ext>
            </a:extLst>
          </p:cNvPr>
          <p:cNvGrpSpPr/>
          <p:nvPr/>
        </p:nvGrpSpPr>
        <p:grpSpPr>
          <a:xfrm>
            <a:off x="6569279" y="1785534"/>
            <a:ext cx="1241761" cy="1203522"/>
            <a:chOff x="6569279" y="1785534"/>
            <a:chExt cx="1241761" cy="1203522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3E91982D-E28E-0E90-9D80-078471AC81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569279" y="1785534"/>
              <a:ext cx="1241761" cy="936000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864E3D5-B4BD-90E2-5308-0EAD79312655}"/>
                </a:ext>
              </a:extLst>
            </p:cNvPr>
            <p:cNvSpPr txBox="1"/>
            <p:nvPr/>
          </p:nvSpPr>
          <p:spPr>
            <a:xfrm>
              <a:off x="6722159" y="2619724"/>
              <a:ext cx="936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stingray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358D455-F43A-4BBD-4DAF-ACEFB8542ED4}"/>
              </a:ext>
            </a:extLst>
          </p:cNvPr>
          <p:cNvGrpSpPr/>
          <p:nvPr/>
        </p:nvGrpSpPr>
        <p:grpSpPr>
          <a:xfrm>
            <a:off x="1752600" y="3508970"/>
            <a:ext cx="1687097" cy="2172705"/>
            <a:chOff x="683911" y="3759227"/>
            <a:chExt cx="1687097" cy="217270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99DB02FE-011C-03D6-36C3-E0AD0735FDA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11" y="3759227"/>
              <a:ext cx="1685208" cy="1711437"/>
            </a:xfrm>
            <a:prstGeom prst="rect">
              <a:avLst/>
            </a:prstGeom>
          </p:spPr>
        </p:pic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C6BDDC7-C7DE-6F6C-6175-92D27A0853D3}"/>
                </a:ext>
              </a:extLst>
            </p:cNvPr>
            <p:cNvSpPr txBox="1"/>
            <p:nvPr/>
          </p:nvSpPr>
          <p:spPr>
            <a:xfrm>
              <a:off x="685800" y="5562600"/>
              <a:ext cx="1685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Conch pie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8E05C2FA-5C3A-477D-FDB4-E44ECB0A65A2}"/>
              </a:ext>
            </a:extLst>
          </p:cNvPr>
          <p:cNvGrpSpPr/>
          <p:nvPr/>
        </p:nvGrpSpPr>
        <p:grpSpPr>
          <a:xfrm>
            <a:off x="3829283" y="3581400"/>
            <a:ext cx="1685208" cy="2237441"/>
            <a:chOff x="6982931" y="3694491"/>
            <a:chExt cx="1685208" cy="2237441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C8070634-5C83-DC23-DC64-22FB0B0F2DB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6626" y="3694491"/>
              <a:ext cx="1597819" cy="1748724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FFC8068-78E4-1667-9E47-AABEFD549D9B}"/>
                </a:ext>
              </a:extLst>
            </p:cNvPr>
            <p:cNvSpPr txBox="1"/>
            <p:nvPr/>
          </p:nvSpPr>
          <p:spPr>
            <a:xfrm>
              <a:off x="6982931" y="5562600"/>
              <a:ext cx="1685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Granola bar</a:t>
              </a:r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5A848EB-1384-5D5B-37A4-AE4817A1E7AB}"/>
              </a:ext>
            </a:extLst>
          </p:cNvPr>
          <p:cNvGrpSpPr/>
          <p:nvPr/>
        </p:nvGrpSpPr>
        <p:grpSpPr>
          <a:xfrm>
            <a:off x="6096000" y="3570813"/>
            <a:ext cx="1927559" cy="2295528"/>
            <a:chOff x="6096000" y="3570813"/>
            <a:chExt cx="1927559" cy="2295528"/>
          </a:xfrm>
        </p:grpSpPr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304C8595-DBB9-31FE-9B50-892E2B0E78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26379" y="3570813"/>
              <a:ext cx="1666800" cy="16668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0673A1DB-2D13-764B-0770-A4F5F876EDE2}"/>
                </a:ext>
              </a:extLst>
            </p:cNvPr>
            <p:cNvSpPr txBox="1"/>
            <p:nvPr/>
          </p:nvSpPr>
          <p:spPr>
            <a:xfrm>
              <a:off x="6096000" y="5497009"/>
              <a:ext cx="192755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Shrimp star charts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568B106-D220-CDD2-B49D-D27A6C163BED}"/>
              </a:ext>
            </a:extLst>
          </p:cNvPr>
          <p:cNvSpPr txBox="1"/>
          <p:nvPr/>
        </p:nvSpPr>
        <p:spPr>
          <a:xfrm>
            <a:off x="609600" y="6096000"/>
            <a:ext cx="777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dirty="0"/>
              <a:t>n = 100 trials for each species</a:t>
            </a:r>
          </a:p>
        </p:txBody>
      </p:sp>
    </p:spTree>
    <p:extLst>
      <p:ext uri="{BB962C8B-B14F-4D97-AF65-F5344CB8AC3E}">
        <p14:creationId xmlns:p14="http://schemas.microsoft.com/office/powerpoint/2010/main" val="28677643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B46FA-DF8D-2EC7-DD00-B848AF54EE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CA" dirty="0"/>
              <a:t>Antigua experiment: Results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B245011-C0C2-6092-DF37-DB68821A9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CC67093-352C-7864-3897-7FF8244CE3E8}"/>
              </a:ext>
            </a:extLst>
          </p:cNvPr>
          <p:cNvSpPr txBox="1"/>
          <p:nvPr/>
        </p:nvSpPr>
        <p:spPr>
          <a:xfrm>
            <a:off x="457200" y="1219200"/>
            <a:ext cx="5715000" cy="1600438"/>
          </a:xfrm>
          <a:prstGeom prst="rect">
            <a:avLst/>
          </a:prstGeom>
          <a:solidFill>
            <a:schemeClr val="accent6">
              <a:lumMod val="20000"/>
              <a:lumOff val="80000"/>
              <a:alpha val="50000"/>
            </a:schemeClr>
          </a:solidFill>
        </p:spPr>
        <p:txBody>
          <a:bodyPr wrap="square" rtlCol="0">
            <a:spAutoFit/>
          </a:bodyPr>
          <a:lstStyle/>
          <a:p>
            <a:pPr latinLnBrk="1"/>
            <a:r>
              <a:rPr lang="en-CA" sz="1400" dirty="0">
                <a:latin typeface="Aptos Mono" panose="020B0009020202020204" pitchFamily="49" charset="0"/>
              </a:rPr>
              <a:t>&gt; </a:t>
            </a:r>
            <a:r>
              <a:rPr lang="en-CA" sz="1400" dirty="0" err="1">
                <a:latin typeface="Aptos Mono" panose="020B0009020202020204" pitchFamily="49" charset="0"/>
              </a:rPr>
              <a:t>addmargins</a:t>
            </a:r>
            <a:r>
              <a:rPr lang="en-CA" sz="1400" dirty="0">
                <a:latin typeface="Aptos Mono" panose="020B0009020202020204" pitchFamily="49" charset="0"/>
              </a:rPr>
              <a:t>(</a:t>
            </a:r>
            <a:r>
              <a:rPr lang="en-CA" sz="1400" dirty="0" err="1">
                <a:latin typeface="Aptos Mono" panose="020B0009020202020204" pitchFamily="49" charset="0"/>
              </a:rPr>
              <a:t>freq</a:t>
            </a:r>
            <a:r>
              <a:rPr lang="en-CA" sz="1400" dirty="0">
                <a:latin typeface="Aptos Mono" panose="020B0009020202020204" pitchFamily="49" charset="0"/>
              </a:rPr>
              <a:t>)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</a:rPr>
              <a:t>          Stimulus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</a:rPr>
              <a:t>Species    Conch Pie Granola Bar Shrimp Star Sum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</a:rPr>
              <a:t>  Shark           60          25          15 100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</a:rPr>
              <a:t>  Turtle          15          70          15 100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</a:rPr>
              <a:t>  </a:t>
            </a:r>
            <a:r>
              <a:rPr lang="en-CA" sz="1400" dirty="0" err="1">
                <a:latin typeface="Aptos Mono" panose="020B0009020202020204" pitchFamily="49" charset="0"/>
              </a:rPr>
              <a:t>StingRay</a:t>
            </a:r>
            <a:r>
              <a:rPr lang="en-CA" sz="1400" dirty="0">
                <a:latin typeface="Aptos Mono" panose="020B0009020202020204" pitchFamily="49" charset="0"/>
              </a:rPr>
              <a:t>        22          18          60 100</a:t>
            </a:r>
          </a:p>
          <a:p>
            <a:pPr latinLnBrk="1"/>
            <a:r>
              <a:rPr lang="en-CA" sz="1400" dirty="0">
                <a:latin typeface="Aptos Mono" panose="020B0009020202020204" pitchFamily="49" charset="0"/>
              </a:rPr>
              <a:t>  Sum             97         113          90 300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8808A90-43B2-C14F-3B23-20FF8BA41F0E}"/>
              </a:ext>
            </a:extLst>
          </p:cNvPr>
          <p:cNvGrpSpPr/>
          <p:nvPr/>
        </p:nvGrpSpPr>
        <p:grpSpPr>
          <a:xfrm>
            <a:off x="533400" y="3017719"/>
            <a:ext cx="3429001" cy="3545978"/>
            <a:chOff x="533400" y="3017719"/>
            <a:chExt cx="3429001" cy="3545978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EB538610-2969-06F0-3D78-AE86EDFE3F5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400" y="3501467"/>
              <a:ext cx="3023952" cy="306223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1C7C8E17-056E-8A04-98B3-ACD9A967BD2A}"/>
                </a:ext>
              </a:extLst>
            </p:cNvPr>
            <p:cNvSpPr txBox="1"/>
            <p:nvPr/>
          </p:nvSpPr>
          <p:spPr>
            <a:xfrm>
              <a:off x="533400" y="3017719"/>
              <a:ext cx="3429001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Aptos Mono" panose="020B0009020202020204" pitchFamily="49" charset="0"/>
                </a:rPr>
                <a:t>mosaic(</a:t>
              </a:r>
              <a:r>
                <a:rPr lang="en-CA" dirty="0" err="1">
                  <a:latin typeface="Aptos Mono" panose="020B0009020202020204" pitchFamily="49" charset="0"/>
                </a:rPr>
                <a:t>freq</a:t>
              </a:r>
              <a:r>
                <a:rPr lang="en-CA" dirty="0">
                  <a:latin typeface="Aptos Mono" panose="020B0009020202020204" pitchFamily="49" charset="0"/>
                </a:rPr>
                <a:t>)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16B1EB7-3224-0C62-766F-722F9094B603}"/>
              </a:ext>
            </a:extLst>
          </p:cNvPr>
          <p:cNvGrpSpPr/>
          <p:nvPr/>
        </p:nvGrpSpPr>
        <p:grpSpPr>
          <a:xfrm>
            <a:off x="4343400" y="3017719"/>
            <a:ext cx="3962400" cy="3695104"/>
            <a:chOff x="4343400" y="3017719"/>
            <a:chExt cx="3962400" cy="3695104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675F0254-3608-5635-172D-CD3E0782EE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3400" y="3501467"/>
              <a:ext cx="3962400" cy="3211356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96CC668-A0BB-B40C-2BCE-09EE9FDB9CBA}"/>
                </a:ext>
              </a:extLst>
            </p:cNvPr>
            <p:cNvSpPr txBox="1"/>
            <p:nvPr/>
          </p:nvSpPr>
          <p:spPr>
            <a:xfrm>
              <a:off x="4343400" y="3017719"/>
              <a:ext cx="3851787" cy="369332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5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CA" dirty="0">
                  <a:latin typeface="Aptos Mono" panose="020B0009020202020204" pitchFamily="49" charset="0"/>
                </a:rPr>
                <a:t>ca(</a:t>
              </a:r>
              <a:r>
                <a:rPr lang="en-CA" dirty="0" err="1">
                  <a:latin typeface="Aptos Mono" panose="020B0009020202020204" pitchFamily="49" charset="0"/>
                </a:rPr>
                <a:t>freq</a:t>
              </a:r>
              <a:r>
                <a:rPr lang="en-CA" dirty="0">
                  <a:latin typeface="Aptos Mono" panose="020B0009020202020204" pitchFamily="49" charset="0"/>
                </a:rPr>
                <a:t>)|&gt; plot()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849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/>
              <a:t>Further research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539" y="1091936"/>
            <a:ext cx="8229600" cy="1956064"/>
          </a:xfrm>
        </p:spPr>
        <p:txBody>
          <a:bodyPr/>
          <a:lstStyle/>
          <a:p>
            <a:r>
              <a:rPr lang="en-US" dirty="0"/>
              <a:t>Include the obvious and necessary control conditions in a 2 x 2 factorial design (chart type × </a:t>
            </a:r>
            <a:r>
              <a:rPr lang="en-US" dirty="0">
                <a:solidFill>
                  <a:srgbClr val="FF0000"/>
                </a:solidFill>
              </a:rPr>
              <a:t>food type</a:t>
            </a:r>
            <a:r>
              <a:rPr lang="en-US" dirty="0"/>
              <a:t>):</a:t>
            </a:r>
          </a:p>
          <a:p>
            <a:pPr lvl="1"/>
            <a:r>
              <a:rPr lang="en-US" dirty="0"/>
              <a:t>conch </a:t>
            </a:r>
            <a:r>
              <a:rPr lang="en-US" dirty="0">
                <a:solidFill>
                  <a:srgbClr val="FF0000"/>
                </a:solidFill>
              </a:rPr>
              <a:t>bar</a:t>
            </a:r>
            <a:r>
              <a:rPr lang="en-US" dirty="0"/>
              <a:t> charts vs. conch pie charts</a:t>
            </a:r>
          </a:p>
          <a:p>
            <a:pPr lvl="1"/>
            <a:r>
              <a:rPr lang="en-US" dirty="0"/>
              <a:t>granola </a:t>
            </a:r>
            <a:r>
              <a:rPr lang="en-US" dirty="0">
                <a:solidFill>
                  <a:srgbClr val="FF0000"/>
                </a:solidFill>
              </a:rPr>
              <a:t>pie</a:t>
            </a:r>
            <a:r>
              <a:rPr lang="en-US" dirty="0"/>
              <a:t> charts vs. granola bar charts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21225AB-15B9-4C79-A121-04D1DC7E2307}" type="slidenum">
              <a:rPr lang="en-US" smtClean="0"/>
              <a:t>16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953A420F-4E90-084E-821E-3C1040C39DC6}"/>
              </a:ext>
            </a:extLst>
          </p:cNvPr>
          <p:cNvGrpSpPr/>
          <p:nvPr/>
        </p:nvGrpSpPr>
        <p:grpSpPr>
          <a:xfrm>
            <a:off x="683911" y="3759227"/>
            <a:ext cx="1687097" cy="2172705"/>
            <a:chOff x="683911" y="3759227"/>
            <a:chExt cx="1687097" cy="217270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4C159827-2166-D0DD-E9AC-2ABAEF8575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3911" y="3759227"/>
              <a:ext cx="1685208" cy="1711437"/>
            </a:xfrm>
            <a:prstGeom prst="rect">
              <a:avLst/>
            </a:prstGeom>
          </p:spPr>
        </p:pic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18346B3D-1733-8D5B-8A0F-C973E66268EE}"/>
                </a:ext>
              </a:extLst>
            </p:cNvPr>
            <p:cNvSpPr txBox="1"/>
            <p:nvPr/>
          </p:nvSpPr>
          <p:spPr>
            <a:xfrm>
              <a:off x="685800" y="5562600"/>
              <a:ext cx="1685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Conch pie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7E21B2-8DEB-E80F-117C-DB9FCD10E1F6}"/>
              </a:ext>
            </a:extLst>
          </p:cNvPr>
          <p:cNvGrpSpPr/>
          <p:nvPr/>
        </p:nvGrpSpPr>
        <p:grpSpPr>
          <a:xfrm>
            <a:off x="2516680" y="3859787"/>
            <a:ext cx="1685208" cy="2072145"/>
            <a:chOff x="2516680" y="3859787"/>
            <a:chExt cx="1685208" cy="2072145"/>
          </a:xfrm>
        </p:grpSpPr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893DC65E-00A1-288F-6F9D-686A3B141441}"/>
                </a:ext>
              </a:extLst>
            </p:cNvPr>
            <p:cNvGrpSpPr/>
            <p:nvPr/>
          </p:nvGrpSpPr>
          <p:grpSpPr>
            <a:xfrm>
              <a:off x="2667000" y="3859787"/>
              <a:ext cx="1408535" cy="1610877"/>
              <a:chOff x="6400800" y="3810000"/>
              <a:chExt cx="2170534" cy="2225700"/>
            </a:xfrm>
          </p:grpSpPr>
          <p:pic>
            <p:nvPicPr>
              <p:cNvPr id="10" name="Picture 9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CE6A2F48-10AF-554E-A979-777C9A30FBF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2182" y="54483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1" name="Picture 20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B425D664-713A-8D98-F41A-B85DF67BACD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2182" y="49149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2" name="Picture 21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B6B91F7F-98B0-B284-55AC-3DBA4450530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06631" y="438945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3" name="Picture 22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2A95DBBD-E8DA-7992-B0D8-B4BD83FC790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426458" y="385774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4" name="Picture 23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E9AD8230-3E64-34A7-98BA-A9ED72DD00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27337" y="544035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5" name="Picture 24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1B37DCA9-DFD5-5FB5-B3EC-A0EF0F167B9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27337" y="490695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6" name="Picture 25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2684E114-F5C9-229C-7920-3292F1595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7211786" y="4381500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7" name="Picture 26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734F666F-4811-9E46-FE83-305CFB87579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1497" y="5464374"/>
                <a:ext cx="533400" cy="533400"/>
              </a:xfrm>
              <a:prstGeom prst="rect">
                <a:avLst/>
              </a:prstGeom>
            </p:spPr>
          </p:pic>
          <p:pic>
            <p:nvPicPr>
              <p:cNvPr id="28" name="Picture 27" descr="A close-up of a heart&#10;&#10;Description automatically generated with low confidence">
                <a:extLst>
                  <a:ext uri="{FF2B5EF4-FFF2-40B4-BE49-F238E27FC236}">
                    <a16:creationId xmlns:a16="http://schemas.microsoft.com/office/drawing/2014/main" id="{20D2708B-721F-08E7-8756-0FBE988E3F1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8011497" y="4930974"/>
                <a:ext cx="533400" cy="533400"/>
              </a:xfrm>
              <a:prstGeom prst="rect">
                <a:avLst/>
              </a:prstGeom>
            </p:spPr>
          </p:pic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483249C1-7F15-61AF-865D-721E9571FC21}"/>
                  </a:ext>
                </a:extLst>
              </p:cNvPr>
              <p:cNvSpPr/>
              <p:nvPr/>
            </p:nvSpPr>
            <p:spPr>
              <a:xfrm>
                <a:off x="6400800" y="3810000"/>
                <a:ext cx="533400" cy="2225700"/>
              </a:xfrm>
              <a:prstGeom prst="rect">
                <a:avLst/>
              </a:prstGeom>
              <a:solidFill>
                <a:schemeClr val="accent1">
                  <a:alpha val="2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1557A04-0686-5029-3EFF-C0A06743BEEF}"/>
                  </a:ext>
                </a:extLst>
              </p:cNvPr>
              <p:cNvSpPr/>
              <p:nvPr/>
            </p:nvSpPr>
            <p:spPr>
              <a:xfrm>
                <a:off x="7200900" y="4343400"/>
                <a:ext cx="533400" cy="1692300"/>
              </a:xfrm>
              <a:prstGeom prst="rect">
                <a:avLst/>
              </a:prstGeom>
              <a:solidFill>
                <a:srgbClr val="FFFF00">
                  <a:alpha val="50000"/>
                </a:srgb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  <p:sp>
            <p:nvSpPr>
              <p:cNvPr id="20" name="Rectangle 19">
                <a:extLst>
                  <a:ext uri="{FF2B5EF4-FFF2-40B4-BE49-F238E27FC236}">
                    <a16:creationId xmlns:a16="http://schemas.microsoft.com/office/drawing/2014/main" id="{E39673D0-4C2C-EACA-A393-A53A4D60A845}"/>
                  </a:ext>
                </a:extLst>
              </p:cNvPr>
              <p:cNvSpPr/>
              <p:nvPr/>
            </p:nvSpPr>
            <p:spPr>
              <a:xfrm>
                <a:off x="8037934" y="4906950"/>
                <a:ext cx="533400" cy="112875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  <a:alpha val="50000"/>
                </a:schemeClr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6E67A72A-1D03-3B58-1EA9-A5E75932FCEB}"/>
                </a:ext>
              </a:extLst>
            </p:cNvPr>
            <p:cNvSpPr txBox="1"/>
            <p:nvPr/>
          </p:nvSpPr>
          <p:spPr>
            <a:xfrm>
              <a:off x="2516680" y="5562600"/>
              <a:ext cx="1685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Conch bar</a:t>
              </a: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838A723-F907-B877-C4A4-53742D2BC530}"/>
              </a:ext>
            </a:extLst>
          </p:cNvPr>
          <p:cNvGrpSpPr/>
          <p:nvPr/>
        </p:nvGrpSpPr>
        <p:grpSpPr>
          <a:xfrm>
            <a:off x="5039835" y="3694491"/>
            <a:ext cx="1685208" cy="2237441"/>
            <a:chOff x="5039835" y="3694491"/>
            <a:chExt cx="1685208" cy="2237441"/>
          </a:xfrm>
        </p:grpSpPr>
        <p:pic>
          <p:nvPicPr>
            <p:cNvPr id="6" name="Picture 5" descr="A picture containing plate, sliced&#10;&#10;Description automatically generated">
              <a:extLst>
                <a:ext uri="{FF2B5EF4-FFF2-40B4-BE49-F238E27FC236}">
                  <a16:creationId xmlns:a16="http://schemas.microsoft.com/office/drawing/2014/main" id="{BB7D4B76-130B-33F4-C251-A1023E6064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08174" y="3694491"/>
              <a:ext cx="1597819" cy="1704340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390C4591-9576-F4BD-46C8-822162F72E60}"/>
                </a:ext>
              </a:extLst>
            </p:cNvPr>
            <p:cNvSpPr txBox="1"/>
            <p:nvPr/>
          </p:nvSpPr>
          <p:spPr>
            <a:xfrm>
              <a:off x="5039835" y="5562600"/>
              <a:ext cx="1685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Granola pie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FB4EAA5-62EA-1BFD-F430-13BC0F23192F}"/>
              </a:ext>
            </a:extLst>
          </p:cNvPr>
          <p:cNvGrpSpPr/>
          <p:nvPr/>
        </p:nvGrpSpPr>
        <p:grpSpPr>
          <a:xfrm>
            <a:off x="6982931" y="3694491"/>
            <a:ext cx="1685208" cy="2237441"/>
            <a:chOff x="6982931" y="3694491"/>
            <a:chExt cx="1685208" cy="2237441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BB9AA1EB-D263-4F3E-D829-6FAAA740C4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026626" y="3694491"/>
              <a:ext cx="1597819" cy="1748724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CED8D6E-27B2-DE43-EA60-35CE32C986D2}"/>
                </a:ext>
              </a:extLst>
            </p:cNvPr>
            <p:cNvSpPr txBox="1"/>
            <p:nvPr/>
          </p:nvSpPr>
          <p:spPr>
            <a:xfrm>
              <a:off x="6982931" y="5562600"/>
              <a:ext cx="168520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CA" dirty="0"/>
                <a:t>Granola bar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299838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31BF440-39FA-4087-84CC-2EEC0BBDAF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picture containing aquatic mammal, dolphin&#10;&#10;Description automatically generated">
            <a:extLst>
              <a:ext uri="{FF2B5EF4-FFF2-40B4-BE49-F238E27FC236}">
                <a16:creationId xmlns:a16="http://schemas.microsoft.com/office/drawing/2014/main" id="{E1162FCF-D303-CC7B-179E-38D28364633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96" r="-2" b="2784"/>
          <a:stretch/>
        </p:blipFill>
        <p:spPr>
          <a:xfrm>
            <a:off x="3662268" y="10"/>
            <a:ext cx="5481732" cy="336498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0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1210305" y="3364992"/>
                </a:lnTo>
                <a:lnTo>
                  <a:pt x="1192705" y="2943200"/>
                </a:lnTo>
                <a:cubicBezTo>
                  <a:pt x="1098874" y="1825108"/>
                  <a:pt x="684692" y="821621"/>
                  <a:pt x="62981" y="69271"/>
                </a:cubicBezTo>
                <a:close/>
              </a:path>
            </a:pathLst>
          </a:custGeom>
        </p:spPr>
      </p:pic>
      <p:pic>
        <p:nvPicPr>
          <p:cNvPr id="8" name="Picture 7" descr="A picture containing invertebrate, arthropod, lobster, shrimp&#10;&#10;Description automatically generated">
            <a:extLst>
              <a:ext uri="{FF2B5EF4-FFF2-40B4-BE49-F238E27FC236}">
                <a16:creationId xmlns:a16="http://schemas.microsoft.com/office/drawing/2014/main" id="{C32B6120-33AC-33D5-230D-3F5B3EBA25E7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03" r="-1" b="8972"/>
          <a:stretch/>
        </p:blipFill>
        <p:spPr>
          <a:xfrm>
            <a:off x="3662268" y="3493008"/>
            <a:ext cx="5481732" cy="3364992"/>
          </a:xfrm>
          <a:custGeom>
            <a:avLst/>
            <a:gdLst/>
            <a:ahLst/>
            <a:cxnLst/>
            <a:rect l="l" t="t" r="r" b="b"/>
            <a:pathLst>
              <a:path w="7308975" h="3364992">
                <a:moveTo>
                  <a:pt x="1210305" y="0"/>
                </a:moveTo>
                <a:lnTo>
                  <a:pt x="7308975" y="0"/>
                </a:lnTo>
                <a:lnTo>
                  <a:pt x="7308975" y="3364992"/>
                </a:lnTo>
                <a:lnTo>
                  <a:pt x="0" y="3364992"/>
                </a:lnTo>
                <a:lnTo>
                  <a:pt x="62981" y="3295722"/>
                </a:lnTo>
                <a:cubicBezTo>
                  <a:pt x="684692" y="2543371"/>
                  <a:pt x="1098874" y="1539884"/>
                  <a:pt x="1192705" y="421793"/>
                </a:cubicBezTo>
                <a:close/>
              </a:path>
            </a:pathLst>
          </a:custGeom>
        </p:spPr>
      </p:pic>
      <p:sp useBgFill="1">
        <p:nvSpPr>
          <p:cNvPr id="15" name="Freeform: Shape 14">
            <a:extLst>
              <a:ext uri="{FF2B5EF4-FFF2-40B4-BE49-F238E27FC236}">
                <a16:creationId xmlns:a16="http://schemas.microsoft.com/office/drawing/2014/main" id="{F04E4CBA-303B-48BD-8451-C2701CB0EE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72000" cy="6858000"/>
          </a:xfrm>
          <a:custGeom>
            <a:avLst/>
            <a:gdLst>
              <a:gd name="connsiteX0" fmla="*/ 0 w 6096001"/>
              <a:gd name="connsiteY0" fmla="*/ 0 h 6858000"/>
              <a:gd name="connsiteX1" fmla="*/ 4883024 w 6096001"/>
              <a:gd name="connsiteY1" fmla="*/ 0 h 6858000"/>
              <a:gd name="connsiteX2" fmla="*/ 4946006 w 6096001"/>
              <a:gd name="connsiteY2" fmla="*/ 69271 h 6858000"/>
              <a:gd name="connsiteX3" fmla="*/ 6096001 w 6096001"/>
              <a:gd name="connsiteY3" fmla="*/ 3429000 h 6858000"/>
              <a:gd name="connsiteX4" fmla="*/ 4946006 w 6096001"/>
              <a:gd name="connsiteY4" fmla="*/ 6788730 h 6858000"/>
              <a:gd name="connsiteX5" fmla="*/ 4883024 w 6096001"/>
              <a:gd name="connsiteY5" fmla="*/ 6858000 h 6858000"/>
              <a:gd name="connsiteX6" fmla="*/ 0 w 609600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96001" h="6858000">
                <a:moveTo>
                  <a:pt x="0" y="0"/>
                </a:moveTo>
                <a:lnTo>
                  <a:pt x="4883024" y="0"/>
                </a:lnTo>
                <a:lnTo>
                  <a:pt x="4946006" y="69271"/>
                </a:lnTo>
                <a:cubicBezTo>
                  <a:pt x="5656532" y="929100"/>
                  <a:pt x="6096001" y="2116944"/>
                  <a:pt x="6096001" y="3429000"/>
                </a:cubicBezTo>
                <a:cubicBezTo>
                  <a:pt x="6096001" y="4741056"/>
                  <a:pt x="5656532" y="5928900"/>
                  <a:pt x="4946006" y="6788730"/>
                </a:cubicBezTo>
                <a:lnTo>
                  <a:pt x="4883024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50800" dist="38100" algn="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7" name="Freeform: Shape 16">
            <a:extLst>
              <a:ext uri="{FF2B5EF4-FFF2-40B4-BE49-F238E27FC236}">
                <a16:creationId xmlns:a16="http://schemas.microsoft.com/office/drawing/2014/main" id="{F6CA58B3-AFCC-4A40-9882-50D5080879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565499" cy="6858000"/>
          </a:xfrm>
          <a:custGeom>
            <a:avLst/>
            <a:gdLst>
              <a:gd name="connsiteX0" fmla="*/ 0 w 6087332"/>
              <a:gd name="connsiteY0" fmla="*/ 0 h 6858000"/>
              <a:gd name="connsiteX1" fmla="*/ 4874355 w 6087332"/>
              <a:gd name="connsiteY1" fmla="*/ 0 h 6858000"/>
              <a:gd name="connsiteX2" fmla="*/ 4937337 w 6087332"/>
              <a:gd name="connsiteY2" fmla="*/ 69271 h 6858000"/>
              <a:gd name="connsiteX3" fmla="*/ 6087332 w 6087332"/>
              <a:gd name="connsiteY3" fmla="*/ 3429000 h 6858000"/>
              <a:gd name="connsiteX4" fmla="*/ 4937337 w 6087332"/>
              <a:gd name="connsiteY4" fmla="*/ 6788730 h 6858000"/>
              <a:gd name="connsiteX5" fmla="*/ 4874355 w 6087332"/>
              <a:gd name="connsiteY5" fmla="*/ 6858000 h 6858000"/>
              <a:gd name="connsiteX6" fmla="*/ 0 w 6087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87332" h="6858000">
                <a:moveTo>
                  <a:pt x="0" y="0"/>
                </a:moveTo>
                <a:lnTo>
                  <a:pt x="4874355" y="0"/>
                </a:lnTo>
                <a:lnTo>
                  <a:pt x="4937337" y="69271"/>
                </a:lnTo>
                <a:cubicBezTo>
                  <a:pt x="5647863" y="929100"/>
                  <a:pt x="6087332" y="2116944"/>
                  <a:pt x="6087332" y="3429000"/>
                </a:cubicBezTo>
                <a:cubicBezTo>
                  <a:pt x="6087332" y="4741056"/>
                  <a:pt x="5647863" y="5928900"/>
                  <a:pt x="4937337" y="6788730"/>
                </a:cubicBezTo>
                <a:lnTo>
                  <a:pt x="4874355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5FA51E-6AF6-4D43-9350-02DC944C76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6042" y="859536"/>
            <a:ext cx="3624601" cy="1243584"/>
          </a:xfrm>
        </p:spPr>
        <p:txBody>
          <a:bodyPr>
            <a:normAutofit/>
          </a:bodyPr>
          <a:lstStyle/>
          <a:p>
            <a:r>
              <a:rPr lang="en-CA" sz="3000" dirty="0"/>
              <a:t>Extend this to other species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5C56826-D4E5-42ED-8529-079651CB30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152144"/>
            <a:ext cx="96012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82095FCE-EF05-4443-B97A-85DEE3A5CA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A00AE6B-AA30-4CF8-BA6F-339B780AD7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37158" y="2194560"/>
            <a:ext cx="366903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68BD09-6C2A-D8C1-98C1-8A028F524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6042" y="2512611"/>
            <a:ext cx="3624602" cy="3664351"/>
          </a:xfrm>
        </p:spPr>
        <p:txBody>
          <a:bodyPr>
            <a:normAutofit/>
          </a:bodyPr>
          <a:lstStyle/>
          <a:p>
            <a:r>
              <a:rPr lang="en-US" sz="2100" dirty="0"/>
              <a:t>Dolphins: known to be much smarter than sharks &amp; turtles</a:t>
            </a:r>
          </a:p>
          <a:p>
            <a:r>
              <a:rPr lang="en-US" sz="2100" dirty="0"/>
              <a:t>Caribbean lobsters (no claws!) are stupider</a:t>
            </a:r>
          </a:p>
          <a:p>
            <a:r>
              <a:rPr lang="en-US" sz="2100" dirty="0"/>
              <a:t>Is graphical preference related to intelligence?</a:t>
            </a:r>
          </a:p>
          <a:p>
            <a:endParaRPr lang="en-CA" sz="170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8EE0B0-B77C-7EB0-2B08-698B9BE3C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757416" y="6356350"/>
            <a:ext cx="20574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621225AB-15B9-4C79-A121-04D1DC7E2307}" type="slidenum">
              <a:rPr lang="en-US">
                <a:solidFill>
                  <a:schemeClr val="bg1"/>
                </a:solidFill>
              </a:rPr>
              <a:pPr>
                <a:spcAft>
                  <a:spcPts val="600"/>
                </a:spcAft>
              </a:pPr>
              <a:t>17</a:t>
            </a:fld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331098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water, bird, swimming, pool&#10;&#10;Description automatically generated">
            <a:extLst>
              <a:ext uri="{FF2B5EF4-FFF2-40B4-BE49-F238E27FC236}">
                <a16:creationId xmlns:a16="http://schemas.microsoft.com/office/drawing/2014/main" id="{3146A511-E501-B6D9-70DE-DD3C7BA4D9C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35" r="23799" b="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9144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E0C0FDF-DCB5-A422-3648-97F41D71DAB7}"/>
              </a:ext>
            </a:extLst>
          </p:cNvPr>
          <p:cNvSpPr txBox="1"/>
          <p:nvPr/>
        </p:nvSpPr>
        <p:spPr>
          <a:xfrm>
            <a:off x="392906" y="5317240"/>
            <a:ext cx="8408194" cy="7448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rPr>
              <a:t>Dramatis personnae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9144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98C06D2-5112-A3A5-1653-0365137E63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defTabSz="457200">
              <a:spcAft>
                <a:spcPts val="600"/>
              </a:spcAft>
            </a:pPr>
            <a:fld id="{621225AB-15B9-4C79-A121-04D1DC7E2307}" type="slidenum">
              <a:rPr lang="en-US">
                <a:solidFill>
                  <a:srgbClr val="FFFFFF"/>
                </a:solidFill>
              </a:rPr>
              <a:pPr defTabSz="457200">
                <a:spcAft>
                  <a:spcPts val="600"/>
                </a:spcAft>
              </a:pPr>
              <a:t>18</a:t>
            </a:fld>
            <a:endParaRPr lang="en-US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C291B45-AA69-5E0B-1C5B-D538BEFCDA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5700" y="243351"/>
            <a:ext cx="1234547" cy="1585097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86E0730-F7C7-158B-AE80-DB4679D2F49F}"/>
              </a:ext>
            </a:extLst>
          </p:cNvPr>
          <p:cNvSpPr txBox="1"/>
          <p:nvPr/>
        </p:nvSpPr>
        <p:spPr>
          <a:xfrm>
            <a:off x="1447800" y="2721114"/>
            <a:ext cx="2514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Nellie Nurse shark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B0B321-91C0-44A1-1A1D-1AB11F8FF102}"/>
              </a:ext>
            </a:extLst>
          </p:cNvPr>
          <p:cNvSpPr txBox="1"/>
          <p:nvPr/>
        </p:nvSpPr>
        <p:spPr>
          <a:xfrm>
            <a:off x="5907646" y="4114800"/>
            <a:ext cx="289345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Tommy turtle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B56D0BD-3E1B-DD24-680A-171FFDCCC4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003" y="104604"/>
            <a:ext cx="1723844" cy="172384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19FB187B-D696-705A-26E8-B789B84C812C}"/>
              </a:ext>
            </a:extLst>
          </p:cNvPr>
          <p:cNvSpPr txBox="1"/>
          <p:nvPr/>
        </p:nvSpPr>
        <p:spPr>
          <a:xfrm>
            <a:off x="4267200" y="990600"/>
            <a:ext cx="2438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A" sz="2400" dirty="0">
                <a:solidFill>
                  <a:schemeClr val="bg1"/>
                </a:solidFill>
              </a:rPr>
              <a:t>Sammy Sting Ray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720D04E-9AF6-8B31-B2F0-5280C891BB10}"/>
              </a:ext>
            </a:extLst>
          </p:cNvPr>
          <p:cNvSpPr txBox="1"/>
          <p:nvPr/>
        </p:nvSpPr>
        <p:spPr>
          <a:xfrm>
            <a:off x="7505700" y="1708364"/>
            <a:ext cx="12954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400" dirty="0">
                <a:solidFill>
                  <a:schemeClr val="bg1"/>
                </a:solidFill>
              </a:rPr>
              <a:t>Author</a:t>
            </a:r>
          </a:p>
        </p:txBody>
      </p:sp>
    </p:spTree>
    <p:extLst>
      <p:ext uri="{BB962C8B-B14F-4D97-AF65-F5344CB8AC3E}">
        <p14:creationId xmlns:p14="http://schemas.microsoft.com/office/powerpoint/2010/main" val="1597613954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4707</TotalTime>
  <Words>504</Words>
  <Application>Microsoft Office PowerPoint</Application>
  <PresentationFormat>On-screen Show (4:3)</PresentationFormat>
  <Paragraphs>120</Paragraphs>
  <Slides>18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Aptos Mono</vt:lpstr>
      <vt:lpstr>Arial</vt:lpstr>
      <vt:lpstr>Calibri</vt:lpstr>
      <vt:lpstr>Wingdings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Shark experiment: Pies vs. Bars</vt:lpstr>
      <vt:lpstr>Shark experiment</vt:lpstr>
      <vt:lpstr>Shark experiment: Pies vs. Bars</vt:lpstr>
      <vt:lpstr>Turtle experiment</vt:lpstr>
      <vt:lpstr>Visualizing the results</vt:lpstr>
      <vt:lpstr>Visualizing the results</vt:lpstr>
      <vt:lpstr>Visualizing the results</vt:lpstr>
      <vt:lpstr>The Red Stripe Award</vt:lpstr>
      <vt:lpstr>Expanding scope: Antigua experiment</vt:lpstr>
      <vt:lpstr>Antigua experiment: Results</vt:lpstr>
      <vt:lpstr>Further research</vt:lpstr>
      <vt:lpstr>Extend this to other species</vt:lpstr>
      <vt:lpstr>PowerPoint Presentation</vt:lpstr>
    </vt:vector>
  </TitlesOfParts>
  <Company>YORK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Psychology of Data Visualization Psych 6135</dc:title>
  <dc:creator>Michael Friendly</dc:creator>
  <cp:lastModifiedBy>Michael L Friendly</cp:lastModifiedBy>
  <cp:revision>49</cp:revision>
  <dcterms:created xsi:type="dcterms:W3CDTF">2017-10-14T20:35:56Z</dcterms:created>
  <dcterms:modified xsi:type="dcterms:W3CDTF">2026-02-26T14:41:54Z</dcterms:modified>
</cp:coreProperties>
</file>