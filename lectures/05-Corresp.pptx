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76"/>
  </p:notesMasterIdLst>
  <p:handoutMasterIdLst>
    <p:handoutMasterId r:id="rId77"/>
  </p:handoutMasterIdLst>
  <p:sldIdLst>
    <p:sldId id="256" r:id="rId2"/>
    <p:sldId id="324" r:id="rId3"/>
    <p:sldId id="323" r:id="rId4"/>
    <p:sldId id="257" r:id="rId5"/>
    <p:sldId id="322" r:id="rId6"/>
    <p:sldId id="300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320" r:id="rId17"/>
    <p:sldId id="326" r:id="rId18"/>
    <p:sldId id="327" r:id="rId19"/>
    <p:sldId id="328" r:id="rId20"/>
    <p:sldId id="329" r:id="rId21"/>
    <p:sldId id="330" r:id="rId22"/>
    <p:sldId id="325" r:id="rId23"/>
    <p:sldId id="268" r:id="rId24"/>
    <p:sldId id="269" r:id="rId25"/>
    <p:sldId id="270" r:id="rId26"/>
    <p:sldId id="321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2" r:id="rId37"/>
    <p:sldId id="319" r:id="rId38"/>
    <p:sldId id="318" r:id="rId39"/>
    <p:sldId id="280" r:id="rId40"/>
    <p:sldId id="281" r:id="rId41"/>
    <p:sldId id="283" r:id="rId42"/>
    <p:sldId id="284" r:id="rId43"/>
    <p:sldId id="285" r:id="rId44"/>
    <p:sldId id="286" r:id="rId45"/>
    <p:sldId id="287" r:id="rId46"/>
    <p:sldId id="288" r:id="rId47"/>
    <p:sldId id="289" r:id="rId48"/>
    <p:sldId id="290" r:id="rId49"/>
    <p:sldId id="291" r:id="rId50"/>
    <p:sldId id="292" r:id="rId51"/>
    <p:sldId id="293" r:id="rId52"/>
    <p:sldId id="294" r:id="rId53"/>
    <p:sldId id="295" r:id="rId54"/>
    <p:sldId id="296" r:id="rId55"/>
    <p:sldId id="297" r:id="rId56"/>
    <p:sldId id="298" r:id="rId57"/>
    <p:sldId id="299" r:id="rId58"/>
    <p:sldId id="301" r:id="rId59"/>
    <p:sldId id="302" r:id="rId60"/>
    <p:sldId id="303" r:id="rId61"/>
    <p:sldId id="304" r:id="rId62"/>
    <p:sldId id="305" r:id="rId63"/>
    <p:sldId id="306" r:id="rId64"/>
    <p:sldId id="307" r:id="rId65"/>
    <p:sldId id="308" r:id="rId66"/>
    <p:sldId id="309" r:id="rId67"/>
    <p:sldId id="310" r:id="rId68"/>
    <p:sldId id="311" r:id="rId69"/>
    <p:sldId id="312" r:id="rId70"/>
    <p:sldId id="313" r:id="rId71"/>
    <p:sldId id="314" r:id="rId72"/>
    <p:sldId id="315" r:id="rId73"/>
    <p:sldId id="316" r:id="rId74"/>
    <p:sldId id="317" r:id="rId75"/>
  </p:sldIdLst>
  <p:sldSz cx="9144000" cy="6858000" type="screen4x3"/>
  <p:notesSz cx="6858000" cy="9144000"/>
  <p:embeddedFontLst>
    <p:embeddedFont>
      <p:font typeface="Aptos Mono" panose="020B0009020202020204" pitchFamily="49" charset="0"/>
      <p:regular r:id="rId78"/>
      <p:bold r:id="rId79"/>
      <p:italic r:id="rId80"/>
      <p:boldItalic r:id="rId81"/>
    </p:embeddedFont>
    <p:embeddedFont>
      <p:font typeface="Britannic Bold" panose="020B0903060703020204" pitchFamily="34" charset="0"/>
      <p:regular r:id="rId82"/>
    </p:embeddedFont>
    <p:embeddedFont>
      <p:font typeface="Dreaming Outloud Pro" panose="03050502040302030504" pitchFamily="66" charset="0"/>
      <p:regular r:id="rId83"/>
      <p:italic r:id="rId8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F6BE38A-C363-4CB1-B80F-F10A858FEEA2}">
          <p14:sldIdLst>
            <p14:sldId id="256"/>
            <p14:sldId id="324"/>
            <p14:sldId id="323"/>
            <p14:sldId id="257"/>
            <p14:sldId id="322"/>
            <p14:sldId id="300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320"/>
            <p14:sldId id="326"/>
            <p14:sldId id="327"/>
            <p14:sldId id="328"/>
            <p14:sldId id="329"/>
            <p14:sldId id="330"/>
          </p14:sldIdLst>
        </p14:section>
        <p14:section name="SVD" id="{9D8C2E62-6E77-4B11-8560-821B58321A40}">
          <p14:sldIdLst>
            <p14:sldId id="325"/>
            <p14:sldId id="268"/>
            <p14:sldId id="269"/>
            <p14:sldId id="270"/>
            <p14:sldId id="321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Optimal category scores" id="{BDDAD1F5-C007-41FE-9798-74CB7EF434D5}">
          <p14:sldIdLst>
            <p14:sldId id="278"/>
            <p14:sldId id="279"/>
            <p14:sldId id="282"/>
            <p14:sldId id="319"/>
            <p14:sldId id="318"/>
            <p14:sldId id="280"/>
            <p14:sldId id="281"/>
            <p14:sldId id="283"/>
            <p14:sldId id="284"/>
            <p14:sldId id="285"/>
            <p14:sldId id="286"/>
          </p14:sldIdLst>
        </p14:section>
        <p14:section name="Multi-way tables" id="{CC02DF73-0714-4D97-BC8C-DE46E357F9D4}">
          <p14:sldIdLst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  <p14:section name="Multiple correspondence analysis" id="{574F0131-3A55-4D11-A05A-4BF8A9B273AD}">
          <p14:sldIdLst>
            <p14:sldId id="299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80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388"/>
    </p:cViewPr>
  </p:sorterViewPr>
  <p:notesViewPr>
    <p:cSldViewPr>
      <p:cViewPr varScale="1">
        <p:scale>
          <a:sx n="87" d="100"/>
          <a:sy n="87" d="100"/>
        </p:scale>
        <p:origin x="-2040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7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font" Target="fonts/font2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3.fntdata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6.fntdata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font" Target="fonts/font1.fntdata"/><Relationship Id="rId81" Type="http://schemas.openxmlformats.org/officeDocument/2006/relationships/font" Target="fonts/font4.fntdata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D4FA9-F3CE-45B3-A980-C331C6F1EF65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D5E95-8CAD-4274-BFFA-CD87442DE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69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ECD275-92FA-4F7E-8B0B-EA233E7B91E3}" type="datetimeFigureOut">
              <a:rPr lang="en-CA" smtClean="0"/>
              <a:t>2026-02-03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96F0F3-A011-4141-9845-589A101390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3075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6F0F3-A011-4141-9845-589A101390FF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3121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6F0F3-A011-4141-9845-589A101390FF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5481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6F0F3-A011-4141-9845-589A101390FF}" type="slidenum">
              <a:rPr lang="en-CA" smtClean="0"/>
              <a:t>49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1342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solidFill>
            <a:srgbClr val="002060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D3657-2200-4D14-82C0-10C39B0F0F06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6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SzPct val="120000"/>
              <a:defRPr sz="2800"/>
            </a:lvl1pPr>
            <a:lvl2pPr>
              <a:defRPr sz="2400"/>
            </a:lvl2pPr>
            <a:lvl3pPr marL="1143000" indent="-228600">
              <a:buClr>
                <a:srgbClr val="00B0F0"/>
              </a:buClr>
              <a:buSzPct val="110000"/>
              <a:buFont typeface="Arial" panose="020B0604020202020204" pitchFamily="34" charset="0"/>
              <a:buChar char="•"/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1AD17-B813-4477-8AFE-B1860CC59113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57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75C0D-5C9E-48CC-8D31-F42D19FA8F7A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21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57551-0F2B-4F09-86FD-F7994CE83DC5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01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9D2B2-4200-46B9-96C3-02A55D5FAA00}" type="datetime1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76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F7722-74E8-497F-A072-89677A2C2373}" type="datetime1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363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6212E-B46B-426F-AE59-AA326827D9E0}" type="datetime1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94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B81E8-09EA-4684-A39F-38DE1E49D20C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109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CC5F-056C-4047-9A5C-9F5B4BED129B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37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BAF55-A85E-4993-914E-FC1E5AA7DF24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18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6E07-E1DB-44A4-A5E5-9F4B54E8C933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7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71053-07BD-4A17-AC24-0A22EAA36098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29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70C0"/>
        </a:buClr>
        <a:buSzPct val="115000"/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FF0000"/>
        </a:buClr>
        <a:buSzPct val="110000"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friendly.github.io/psy6136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factominer.free.fr/" TargetMode="External"/><Relationship Id="rId7" Type="http://schemas.openxmlformats.org/officeDocument/2006/relationships/image" Target="../media/image17.svg"/><Relationship Id="rId2" Type="http://schemas.openxmlformats.org/officeDocument/2006/relationships/hyperlink" Target="https://cran.r-project.org/package=ca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hyperlink" Target="https://adeverse.github.io/ade4/" TargetMode="External"/><Relationship Id="rId4" Type="http://schemas.openxmlformats.org/officeDocument/2006/relationships/hyperlink" Target="http://factominer.free.fr/graphs/factoshiny.html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JEYLfIVvR9I?feature=oembed" TargetMode="External"/><Relationship Id="rId4" Type="http://schemas.openxmlformats.org/officeDocument/2006/relationships/hyperlink" Target="https://www.youtube.com/watch?v=JEYLfIVvR9I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1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429000"/>
            <a:ext cx="7772400" cy="708025"/>
          </a:xfrm>
        </p:spPr>
        <p:txBody>
          <a:bodyPr>
            <a:normAutofit fontScale="90000"/>
          </a:bodyPr>
          <a:lstStyle/>
          <a:p>
            <a:r>
              <a:rPr lang="en-US" dirty="0"/>
              <a:t>Correspondence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648200"/>
            <a:ext cx="6400800" cy="1752600"/>
          </a:xfrm>
        </p:spPr>
        <p:txBody>
          <a:bodyPr/>
          <a:lstStyle/>
          <a:p>
            <a:r>
              <a:rPr lang="en-US" dirty="0"/>
              <a:t>Michael Friendly</a:t>
            </a:r>
          </a:p>
          <a:p>
            <a:r>
              <a:rPr lang="en-US" dirty="0"/>
              <a:t>Psych 6136</a:t>
            </a:r>
          </a:p>
          <a:p>
            <a:pPr lvl="0"/>
            <a:r>
              <a:rPr lang="en-US" sz="2200" dirty="0">
                <a:solidFill>
                  <a:prstClr val="black">
                    <a:tint val="75000"/>
                  </a:prstClr>
                </a:solidFill>
                <a:hlinkClick r:id="rId2"/>
              </a:rPr>
              <a:t>https://friendly.github.io/psy6136 </a:t>
            </a:r>
            <a:endParaRPr lang="en-US" sz="2200" dirty="0">
              <a:solidFill>
                <a:prstClr val="black">
                  <a:tint val="75000"/>
                </a:prstClr>
              </a:solidFill>
            </a:endParaRPr>
          </a:p>
          <a:p>
            <a:endParaRPr lang="en-US" dirty="0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15D465FD-F1E7-4DD7-A16E-F94296DB38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578350"/>
            <a:ext cx="1495928" cy="1730890"/>
          </a:xfrm>
          <a:prstGeom prst="rect">
            <a:avLst/>
          </a:prstGeom>
        </p:spPr>
      </p:pic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82E36437-FB1B-4935-AF18-CE18C68FBF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272" y="4578350"/>
            <a:ext cx="1495928" cy="17308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A29909-C7E0-AF55-9B88-221843AFC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76" y="359104"/>
            <a:ext cx="8019048" cy="26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465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0F787-E705-C1FC-3800-CF0142995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Today’s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E8111-76E8-A1B3-FEE5-A76AF1722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    Correspondence analysis: Basic ideas</a:t>
            </a:r>
          </a:p>
          <a:p>
            <a:r>
              <a:rPr lang="en-CA" dirty="0"/>
              <a:t>    Singular value decomposition (SVD)</a:t>
            </a:r>
          </a:p>
          <a:p>
            <a:r>
              <a:rPr lang="en-CA" dirty="0"/>
              <a:t>    Optimal category scores</a:t>
            </a:r>
          </a:p>
          <a:p>
            <a:r>
              <a:rPr lang="en-CA" dirty="0"/>
              <a:t>    Multiway tables: MCA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B764B-70F5-3EFF-EE39-62639AE27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 descr="Chart, line chart, scatter chart&#10;&#10;Description automatically generated">
            <a:extLst>
              <a:ext uri="{FF2B5EF4-FFF2-40B4-BE49-F238E27FC236}">
                <a16:creationId xmlns:a16="http://schemas.microsoft.com/office/drawing/2014/main" id="{20E244F4-36FD-D9EA-6226-D34A38E57E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332416"/>
            <a:ext cx="2408724" cy="1728531"/>
          </a:xfrm>
          <a:prstGeom prst="rect">
            <a:avLst/>
          </a:prstGeom>
        </p:spPr>
      </p:pic>
      <p:pic>
        <p:nvPicPr>
          <p:cNvPr id="6" name="Picture 5" descr="Chart&#10;&#10;Description automatically generated with low confidence">
            <a:extLst>
              <a:ext uri="{FF2B5EF4-FFF2-40B4-BE49-F238E27FC236}">
                <a16:creationId xmlns:a16="http://schemas.microsoft.com/office/drawing/2014/main" id="{649E03F1-A774-1473-C898-3571C5855F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4608956"/>
            <a:ext cx="2117774" cy="1175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1BE787-629D-364D-0BDE-719688F627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9903" y="4191000"/>
            <a:ext cx="2235433" cy="20113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C61B48-6867-668F-4E45-25A020B147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327" y="1752600"/>
            <a:ext cx="2196775" cy="213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3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5D4611ED-190D-40E9-2508-C20A4FAF6326}"/>
              </a:ext>
            </a:extLst>
          </p:cNvPr>
          <p:cNvGrpSpPr/>
          <p:nvPr/>
        </p:nvGrpSpPr>
        <p:grpSpPr>
          <a:xfrm>
            <a:off x="2946889" y="2133600"/>
            <a:ext cx="3390900" cy="2543175"/>
            <a:chOff x="2946889" y="2338754"/>
            <a:chExt cx="3390900" cy="254317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F9FA5FD-62CA-052D-903D-57539650F62B}"/>
                </a:ext>
              </a:extLst>
            </p:cNvPr>
            <p:cNvGrpSpPr/>
            <p:nvPr/>
          </p:nvGrpSpPr>
          <p:grpSpPr>
            <a:xfrm>
              <a:off x="2946889" y="2338754"/>
              <a:ext cx="3390900" cy="2543175"/>
              <a:chOff x="2946889" y="2338754"/>
              <a:chExt cx="3390900" cy="2543175"/>
            </a:xfrm>
          </p:grpSpPr>
          <p:pic>
            <p:nvPicPr>
              <p:cNvPr id="2" name="Picture 1" descr="Diagram, engineering drawing&#10;&#10;Description automatically generated with medium confidence">
                <a:extLst>
                  <a:ext uri="{FF2B5EF4-FFF2-40B4-BE49-F238E27FC236}">
                    <a16:creationId xmlns:a16="http://schemas.microsoft.com/office/drawing/2014/main" id="{72FD6771-D775-4B9D-9F0D-498B99014C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3742" b="98597" l="2313" r="99563">
                            <a14:foregroundMark x1="8313" y1="11880" x2="9750" y2="24041"/>
                            <a14:foregroundMark x1="9750" y1="24041" x2="33500" y2="34892"/>
                            <a14:foregroundMark x1="33500" y1="34892" x2="52500" y2="84939"/>
                            <a14:foregroundMark x1="52500" y1="84939" x2="52500" y2="84939"/>
                            <a14:foregroundMark x1="52500" y1="84659" x2="87813" y2="66511"/>
                            <a14:foregroundMark x1="87813" y1="66511" x2="90000" y2="47521"/>
                            <a14:foregroundMark x1="90000" y1="47521" x2="90000" y2="47521"/>
                            <a14:foregroundMark x1="71875" y1="22544" x2="57563" y2="22451"/>
                            <a14:foregroundMark x1="57563" y1="22451" x2="37188" y2="34238"/>
                            <a14:foregroundMark x1="37188" y1="34238" x2="39688" y2="50889"/>
                            <a14:foregroundMark x1="39688" y1="50889" x2="67313" y2="49298"/>
                            <a14:foregroundMark x1="64699" y1="37180" x2="59562" y2="13377"/>
                            <a14:foregroundMark x1="44364" y1="47152" x2="32875" y2="72685"/>
                            <a14:foregroundMark x1="59562" y1="13377" x2="48449" y2="38073"/>
                            <a14:foregroundMark x1="32875" y1="72685" x2="83250" y2="57624"/>
                            <a14:foregroundMark x1="83250" y1="57624" x2="66066" y2="44375"/>
                            <a14:foregroundMark x1="21250" y1="21328" x2="14125" y2="26754"/>
                            <a14:foregroundMark x1="14125" y1="26754" x2="9625" y2="33489"/>
                            <a14:foregroundMark x1="9625" y1="33489" x2="43425" y2="44695"/>
                            <a14:foregroundMark x1="64569" y1="37137" x2="67813" y2="35360"/>
                            <a14:foregroundMark x1="67813" y1="35360" x2="69625" y2="12254"/>
                            <a14:foregroundMark x1="48283" y1="47579" x2="36563" y2="66978"/>
                            <a14:foregroundMark x1="69625" y1="12254" x2="55024" y2="36421"/>
                            <a14:foregroundMark x1="36563" y1="66978" x2="50000" y2="69317"/>
                            <a14:foregroundMark x1="50000" y1="69317" x2="62500" y2="48176"/>
                            <a14:foregroundMark x1="62500" y1="48176" x2="62625" y2="67166"/>
                            <a14:foregroundMark x1="62625" y1="67166" x2="72750" y2="69691"/>
                            <a14:foregroundMark x1="72750" y1="69691" x2="74875" y2="76894"/>
                            <a14:foregroundMark x1="74875" y1="76894" x2="75063" y2="85968"/>
                            <a14:foregroundMark x1="95813" y1="72404" x2="89500" y2="89804"/>
                            <a14:foregroundMark x1="89500" y1="89804" x2="94375" y2="84378"/>
                            <a14:foregroundMark x1="94375" y1="84378" x2="89188" y2="96632"/>
                            <a14:foregroundMark x1="89188" y1="96632" x2="95500" y2="90833"/>
                            <a14:foregroundMark x1="95500" y1="90833" x2="84875" y2="88400"/>
                            <a14:foregroundMark x1="84875" y1="88400" x2="84375" y2="80355"/>
                            <a14:foregroundMark x1="84375" y1="80355" x2="76250" y2="82226"/>
                            <a14:foregroundMark x1="76250" y1="82226" x2="80688" y2="63704"/>
                            <a14:foregroundMark x1="80688" y1="63704" x2="70625" y2="72030"/>
                            <a14:foregroundMark x1="70625" y1="72030" x2="66688" y2="59027"/>
                            <a14:foregroundMark x1="66688" y1="59027" x2="59688" y2="58653"/>
                            <a14:foregroundMark x1="59688" y1="58653" x2="52250" y2="70065"/>
                            <a14:foregroundMark x1="52250" y1="70065" x2="70000" y2="41534"/>
                            <a14:foregroundMark x1="57241" y1="46759" x2="44875" y2="51824"/>
                            <a14:foregroundMark x1="70000" y1="41534" x2="66313" y2="43043"/>
                            <a14:foregroundMark x1="44875" y1="51824" x2="34313" y2="47053"/>
                            <a14:foregroundMark x1="34313" y1="47053" x2="30500" y2="34799"/>
                            <a14:foregroundMark x1="30500" y1="34799" x2="27000" y2="29935"/>
                            <a14:foregroundMark x1="27000" y1="29935" x2="21750" y2="34331"/>
                            <a14:foregroundMark x1="21750" y1="34331" x2="18500" y2="17493"/>
                            <a14:foregroundMark x1="16313" y1="40879" x2="18500" y2="40879"/>
                            <a14:foregroundMark x1="20563" y1="42937" x2="29250" y2="55659"/>
                            <a14:foregroundMark x1="33313" y1="26660" x2="36688" y2="20767"/>
                            <a14:foregroundMark x1="36688" y1="20767" x2="31000" y2="26567"/>
                            <a14:foregroundMark x1="31000" y1="26567" x2="36063" y2="23480"/>
                            <a14:foregroundMark x1="36063" y1="23480" x2="37375" y2="27689"/>
                            <a14:foregroundMark x1="71688" y1="87933" x2="71688" y2="89242"/>
                            <a14:foregroundMark x1="43125" y1="87746" x2="41813" y2="92049"/>
                            <a14:foregroundMark x1="84438" y1="12442" x2="83750" y2="22077"/>
                            <a14:foregroundMark x1="83750" y1="22077" x2="85250" y2="30028"/>
                            <a14:foregroundMark x1="85250" y1="30028" x2="88375" y2="17961"/>
                            <a14:foregroundMark x1="88375" y1="17961" x2="87625" y2="26286"/>
                            <a14:foregroundMark x1="87625" y1="26286" x2="91563" y2="30496"/>
                            <a14:foregroundMark x1="9000" y1="60524" x2="8875" y2="86342"/>
                            <a14:foregroundMark x1="8875" y1="86342" x2="14750" y2="81197"/>
                            <a14:foregroundMark x1="14750" y1="81197" x2="22688" y2="78017"/>
                            <a14:foregroundMark x1="22688" y1="78017" x2="27187" y2="95136"/>
                            <a14:foregroundMark x1="27187" y1="95136" x2="31625" y2="98690"/>
                            <a14:foregroundMark x1="31625" y1="98690" x2="31625" y2="98690"/>
                            <a14:foregroundMark x1="5813" y1="87746" x2="1688" y2="94761"/>
                            <a14:foregroundMark x1="1688" y1="94761" x2="3938" y2="78391"/>
                            <a14:foregroundMark x1="3938" y1="78391" x2="2438" y2="51169"/>
                            <a14:foregroundMark x1="2438" y1="51169" x2="4188" y2="39196"/>
                            <a14:foregroundMark x1="4188" y1="39196" x2="375" y2="44715"/>
                            <a14:foregroundMark x1="375" y1="44715" x2="2313" y2="8419"/>
                            <a14:foregroundMark x1="2313" y1="8419" x2="13250" y2="16183"/>
                            <a14:foregroundMark x1="13250" y1="16183" x2="14438" y2="13938"/>
                            <a14:foregroundMark x1="97500" y1="95323" x2="98625" y2="83349"/>
                            <a14:foregroundMark x1="98625" y1="83349" x2="94750" y2="87278"/>
                            <a14:foregroundMark x1="94750" y1="87278" x2="98625" y2="10384"/>
                            <a14:foregroundMark x1="98625" y1="10384" x2="96250" y2="29280"/>
                            <a14:foregroundMark x1="96250" y1="29280" x2="96250" y2="21048"/>
                            <a14:foregroundMark x1="96250" y1="21048" x2="94750" y2="29747"/>
                            <a14:foregroundMark x1="94750" y1="29747" x2="90188" y2="34705"/>
                            <a14:foregroundMark x1="90188" y1="34705" x2="90250" y2="22825"/>
                            <a14:foregroundMark x1="90250" y1="22825" x2="85875" y2="26193"/>
                            <a14:foregroundMark x1="85875" y1="26193" x2="80938" y2="12909"/>
                            <a14:foregroundMark x1="80938" y1="12909" x2="76125" y2="17493"/>
                            <a14:foregroundMark x1="76125" y1="17493" x2="71063" y2="14406"/>
                            <a14:foregroundMark x1="71063" y1="14406" x2="60375" y2="15248"/>
                            <a14:foregroundMark x1="60375" y1="15248" x2="58938" y2="13190"/>
                            <a14:foregroundMark x1="97500" y1="61272" x2="98875" y2="98129"/>
                            <a14:foregroundMark x1="98875" y1="98129" x2="96375" y2="40692"/>
                            <a14:foregroundMark x1="96375" y1="40692" x2="99375" y2="65949"/>
                            <a14:foregroundMark x1="99375" y1="65949" x2="96938" y2="17399"/>
                            <a14:foregroundMark x1="96938" y1="17399" x2="99125" y2="38634"/>
                            <a14:foregroundMark x1="99125" y1="38634" x2="96938" y2="14125"/>
                            <a14:foregroundMark x1="96938" y1="14125" x2="97688" y2="6455"/>
                            <a14:foregroundMark x1="97688" y1="6455" x2="89250" y2="11880"/>
                            <a14:foregroundMark x1="89250" y1="11880" x2="86563" y2="5145"/>
                            <a14:foregroundMark x1="86563" y1="5145" x2="83250" y2="3742"/>
                            <a14:foregroundMark x1="98313" y1="69411" x2="98313" y2="91768"/>
                            <a14:foregroundMark x1="98313" y1="91768" x2="98250" y2="77923"/>
                            <a14:foregroundMark x1="98250" y1="77923" x2="99813" y2="84846"/>
                            <a14:foregroundMark x1="99813" y1="84846" x2="99563" y2="72498"/>
                            <a14:foregroundMark x1="99563" y1="72498" x2="98188" y2="69130"/>
                            <a14:foregroundMark x1="43313" y1="45557" x2="43500" y2="44341"/>
                            <a14:foregroundMark x1="43375" y1="44808" x2="43438" y2="44715"/>
                            <a14:foregroundMark x1="43313" y1="45370" x2="43563" y2="45744"/>
                            <a14:foregroundMark x1="43563" y1="46024" x2="43813" y2="46866"/>
                            <a14:backgroundMark x1="50813" y1="42470" x2="56688" y2="43312"/>
                            <a14:backgroundMark x1="56688" y1="43312" x2="50313" y2="42657"/>
                            <a14:backgroundMark x1="51125" y1="41908" x2="53000" y2="45276"/>
                            <a14:backgroundMark x1="52000" y1="42189" x2="57563" y2="43031"/>
                            <a14:backgroundMark x1="57563" y1="43031" x2="56875" y2="43966"/>
                            <a14:backgroundMark x1="57938" y1="43686" x2="59813" y2="43686"/>
                            <a14:backgroundMark x1="57938" y1="43218" x2="59813" y2="44434"/>
                            <a14:backgroundMark x1="56250" y1="41628" x2="57063" y2="39850"/>
                            <a14:backgroundMark x1="51625" y1="41628" x2="53312" y2="45276"/>
                            <a14:backgroundMark x1="52125" y1="40692" x2="50813" y2="41628"/>
                            <a14:backgroundMark x1="54875" y1="40131" x2="60875" y2="42657"/>
                            <a14:backgroundMark x1="60875" y1="42657" x2="61313" y2="43218"/>
                            <a14:backgroundMark x1="60500" y1="42657" x2="53938" y2="39850"/>
                            <a14:backgroundMark x1="53938" y1="39850" x2="48125" y2="41534"/>
                            <a14:backgroundMark x1="48125" y1="41534" x2="53312" y2="44715"/>
                            <a14:backgroundMark x1="53312" y1="44715" x2="53312" y2="44715"/>
                            <a14:backgroundMark x1="45375" y1="42657" x2="50063" y2="43312"/>
                            <a14:backgroundMark x1="50063" y1="43312" x2="48750" y2="44995"/>
                            <a14:backgroundMark x1="44875" y1="43966" x2="49063" y2="38634"/>
                            <a14:backgroundMark x1="49063" y1="38634" x2="49438" y2="38634"/>
                            <a14:backgroundMark x1="58250" y1="42189" x2="62750" y2="40225"/>
                            <a14:backgroundMark x1="62750" y1="40225" x2="63500" y2="44434"/>
                            <a14:backgroundMark x1="63188" y1="41908" x2="64875" y2="44715"/>
                            <a14:backgroundMark x1="58625" y1="45276" x2="57438" y2="45463"/>
                            <a14:backgroundMark x1="58750" y1="40131" x2="61000" y2="39850"/>
                            <a14:backgroundMark x1="59813" y1="45744" x2="61813" y2="44247"/>
                            <a14:backgroundMark x1="61313" y1="45744" x2="62000" y2="44434"/>
                            <a14:backgroundMark x1="58938" y1="46024" x2="58938" y2="45463"/>
                            <a14:backgroundMark x1="47750" y1="46211" x2="45188" y2="45744"/>
                            <a14:backgroundMark x1="46875" y1="45744" x2="47250" y2="43686"/>
                            <a14:backgroundMark x1="44660" y1="45804" x2="48250" y2="46024"/>
                            <a14:backgroundMark x1="49625" y1="45744" x2="47875" y2="46024"/>
                            <a14:backgroundMark x1="44688" y1="44247" x2="45375" y2="44434"/>
                            <a14:backgroundMark x1="63500" y1="39383" x2="65875" y2="40131"/>
                            <a14:backgroundMark x1="62687" y1="45276" x2="57438" y2="46024"/>
                            <a14:backgroundMark x1="46875" y1="38634" x2="47375" y2="38634"/>
                            <a14:backgroundMark x1="47750" y1="38073" x2="47750" y2="38354"/>
                            <a14:backgroundMark x1="47875" y1="38354" x2="48750" y2="37886"/>
                            <a14:backgroundMark x1="47875" y1="38915" x2="48438" y2="38354"/>
                            <a14:backgroundMark x1="53000" y1="39850" x2="58375" y2="40412"/>
                            <a14:backgroundMark x1="58375" y1="40412" x2="63500" y2="38915"/>
                            <a14:backgroundMark x1="63500" y1="38915" x2="56063" y2="38915"/>
                            <a14:backgroundMark x1="56063" y1="38915" x2="63313" y2="38354"/>
                            <a14:backgroundMark x1="63313" y1="38354" x2="53312" y2="37605"/>
                            <a14:backgroundMark x1="52500" y1="38634" x2="53688" y2="39102"/>
                            <a14:backgroundMark x1="47563" y1="38634" x2="48063" y2="38354"/>
                            <a14:backgroundMark x1="48063" y1="38354" x2="48563" y2="38073"/>
                            <a14:backgroundMark x1="64563" y1="41160" x2="65750" y2="40692"/>
                            <a14:backgroundMark x1="65563" y1="40692" x2="65375" y2="41441"/>
                            <a14:backgroundMark x1="65750" y1="45463" x2="65875" y2="43218"/>
                            <a14:backgroundMark x1="65563" y1="45744" x2="65563" y2="42189"/>
                            <a14:backgroundMark x1="65375" y1="45463" x2="65375" y2="42470"/>
                            <a14:backgroundMark x1="64875" y1="45276" x2="64875" y2="42189"/>
                            <a14:backgroundMark x1="64875" y1="44715" x2="64688" y2="42189"/>
                            <a14:backgroundMark x1="64375" y1="42189" x2="64375" y2="42189"/>
                            <a14:backgroundMark x1="64563" y1="43218" x2="65375" y2="44995"/>
                            <a14:backgroundMark x1="65063" y1="41441" x2="65250" y2="42470"/>
                            <a14:backgroundMark x1="65250" y1="42470" x2="65250" y2="44247"/>
                            <a14:backgroundMark x1="57375" y1="46399" x2="58438" y2="46024"/>
                            <a14:backgroundMark x1="65938" y1="43779" x2="66000" y2="44247"/>
                            <a14:backgroundMark x1="66000" y1="44621" x2="65938" y2="43779"/>
                            <a14:backgroundMark x1="66063" y1="44995" x2="66063" y2="44153"/>
                            <a14:backgroundMark x1="63188" y1="38167" x2="64875" y2="38728"/>
                            <a14:backgroundMark x1="48438" y1="38073" x2="48500" y2="37979"/>
                            <a14:backgroundMark x1="48375" y1="37979" x2="48188" y2="37792"/>
                            <a14:backgroundMark x1="48500" y1="37886" x2="48625" y2="37979"/>
                            <a14:backgroundMark x1="48500" y1="37792" x2="48188" y2="37792"/>
                            <a14:backgroundMark x1="48313" y1="37605" x2="49063" y2="37886"/>
                          </a14:backgroundRemoval>
                        </a14:imgEffect>
                      </a14:imgLayer>
                    </a14:imgProps>
                  </a:ext>
                </a:extLst>
              </a:blip>
              <a:srcRect l="11000"/>
              <a:stretch/>
            </p:blipFill>
            <p:spPr>
              <a:xfrm>
                <a:off x="2946889" y="2338754"/>
                <a:ext cx="3390900" cy="2543175"/>
              </a:xfrm>
              <a:prstGeom prst="rect">
                <a:avLst/>
              </a:prstGeom>
            </p:spPr>
          </p:pic>
          <p:pic>
            <p:nvPicPr>
              <p:cNvPr id="9" name="Picture 8" descr="Diagram&#10;&#10;Description automatically generated">
                <a:extLst>
                  <a:ext uri="{FF2B5EF4-FFF2-40B4-BE49-F238E27FC236}">
                    <a16:creationId xmlns:a16="http://schemas.microsoft.com/office/drawing/2014/main" id="{E4814DF3-06D3-4C35-9F20-1E6EBDD378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17480" y="3543300"/>
                <a:ext cx="1049718" cy="359601"/>
              </a:xfrm>
              <a:prstGeom prst="rect">
                <a:avLst/>
              </a:prstGeom>
            </p:spPr>
          </p:pic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2ED9200-736F-893C-401E-BC1D0103C3C4}"/>
                </a:ext>
              </a:extLst>
            </p:cNvPr>
            <p:cNvSpPr txBox="1"/>
            <p:nvPr/>
          </p:nvSpPr>
          <p:spPr>
            <a:xfrm>
              <a:off x="4095083" y="3220089"/>
              <a:ext cx="11183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dirty="0">
                  <a:latin typeface="Britannic Bold" panose="020B0903060703020204" pitchFamily="34" charset="0"/>
                </a:rPr>
                <a:t>SVD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DB497BF-02CE-45A4-90D0-3FBF562109AE}"/>
              </a:ext>
            </a:extLst>
          </p:cNvPr>
          <p:cNvSpPr txBox="1"/>
          <p:nvPr/>
        </p:nvSpPr>
        <p:spPr>
          <a:xfrm>
            <a:off x="3191608" y="457200"/>
            <a:ext cx="5193440" cy="78483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500" dirty="0">
                <a:solidFill>
                  <a:schemeClr val="bg1"/>
                </a:solidFill>
              </a:rPr>
              <a:t>Multivariate Juicers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6CEBBC-13DA-44D1-85B3-86960864DB49}"/>
              </a:ext>
            </a:extLst>
          </p:cNvPr>
          <p:cNvSpPr txBox="1"/>
          <p:nvPr/>
        </p:nvSpPr>
        <p:spPr>
          <a:xfrm>
            <a:off x="5760720" y="1524000"/>
            <a:ext cx="2697480" cy="1200329"/>
          </a:xfrm>
          <a:custGeom>
            <a:avLst/>
            <a:gdLst>
              <a:gd name="connsiteX0" fmla="*/ 0 w 2697480"/>
              <a:gd name="connsiteY0" fmla="*/ 0 h 1200329"/>
              <a:gd name="connsiteX1" fmla="*/ 512521 w 2697480"/>
              <a:gd name="connsiteY1" fmla="*/ 0 h 1200329"/>
              <a:gd name="connsiteX2" fmla="*/ 971093 w 2697480"/>
              <a:gd name="connsiteY2" fmla="*/ 0 h 1200329"/>
              <a:gd name="connsiteX3" fmla="*/ 1456639 w 2697480"/>
              <a:gd name="connsiteY3" fmla="*/ 0 h 1200329"/>
              <a:gd name="connsiteX4" fmla="*/ 2023110 w 2697480"/>
              <a:gd name="connsiteY4" fmla="*/ 0 h 1200329"/>
              <a:gd name="connsiteX5" fmla="*/ 2697480 w 2697480"/>
              <a:gd name="connsiteY5" fmla="*/ 0 h 1200329"/>
              <a:gd name="connsiteX6" fmla="*/ 2697480 w 2697480"/>
              <a:gd name="connsiteY6" fmla="*/ 376103 h 1200329"/>
              <a:gd name="connsiteX7" fmla="*/ 2697480 w 2697480"/>
              <a:gd name="connsiteY7" fmla="*/ 740203 h 1200329"/>
              <a:gd name="connsiteX8" fmla="*/ 2697480 w 2697480"/>
              <a:gd name="connsiteY8" fmla="*/ 1200329 h 1200329"/>
              <a:gd name="connsiteX9" fmla="*/ 2157984 w 2697480"/>
              <a:gd name="connsiteY9" fmla="*/ 1200329 h 1200329"/>
              <a:gd name="connsiteX10" fmla="*/ 1672438 w 2697480"/>
              <a:gd name="connsiteY10" fmla="*/ 1200329 h 1200329"/>
              <a:gd name="connsiteX11" fmla="*/ 1078992 w 2697480"/>
              <a:gd name="connsiteY11" fmla="*/ 1200329 h 1200329"/>
              <a:gd name="connsiteX12" fmla="*/ 566471 w 2697480"/>
              <a:gd name="connsiteY12" fmla="*/ 1200329 h 1200329"/>
              <a:gd name="connsiteX13" fmla="*/ 0 w 2697480"/>
              <a:gd name="connsiteY13" fmla="*/ 1200329 h 1200329"/>
              <a:gd name="connsiteX14" fmla="*/ 0 w 2697480"/>
              <a:gd name="connsiteY14" fmla="*/ 788216 h 1200329"/>
              <a:gd name="connsiteX15" fmla="*/ 0 w 2697480"/>
              <a:gd name="connsiteY15" fmla="*/ 400110 h 1200329"/>
              <a:gd name="connsiteX16" fmla="*/ 0 w 2697480"/>
              <a:gd name="connsiteY16" fmla="*/ 0 h 1200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697480" h="1200329" fill="none" extrusionOk="0">
                <a:moveTo>
                  <a:pt x="0" y="0"/>
                </a:moveTo>
                <a:cubicBezTo>
                  <a:pt x="150581" y="-37137"/>
                  <a:pt x="295001" y="45586"/>
                  <a:pt x="512521" y="0"/>
                </a:cubicBezTo>
                <a:cubicBezTo>
                  <a:pt x="730041" y="-45586"/>
                  <a:pt x="869780" y="33485"/>
                  <a:pt x="971093" y="0"/>
                </a:cubicBezTo>
                <a:cubicBezTo>
                  <a:pt x="1072406" y="-33485"/>
                  <a:pt x="1271808" y="41970"/>
                  <a:pt x="1456639" y="0"/>
                </a:cubicBezTo>
                <a:cubicBezTo>
                  <a:pt x="1641470" y="-41970"/>
                  <a:pt x="1845177" y="2285"/>
                  <a:pt x="2023110" y="0"/>
                </a:cubicBezTo>
                <a:cubicBezTo>
                  <a:pt x="2201043" y="-2285"/>
                  <a:pt x="2401274" y="46220"/>
                  <a:pt x="2697480" y="0"/>
                </a:cubicBezTo>
                <a:cubicBezTo>
                  <a:pt x="2711647" y="169149"/>
                  <a:pt x="2654574" y="219373"/>
                  <a:pt x="2697480" y="376103"/>
                </a:cubicBezTo>
                <a:cubicBezTo>
                  <a:pt x="2740386" y="532833"/>
                  <a:pt x="2666844" y="599246"/>
                  <a:pt x="2697480" y="740203"/>
                </a:cubicBezTo>
                <a:cubicBezTo>
                  <a:pt x="2728116" y="881160"/>
                  <a:pt x="2653550" y="1059557"/>
                  <a:pt x="2697480" y="1200329"/>
                </a:cubicBezTo>
                <a:cubicBezTo>
                  <a:pt x="2587848" y="1232992"/>
                  <a:pt x="2361662" y="1198008"/>
                  <a:pt x="2157984" y="1200329"/>
                </a:cubicBezTo>
                <a:cubicBezTo>
                  <a:pt x="1954306" y="1202650"/>
                  <a:pt x="1840434" y="1164755"/>
                  <a:pt x="1672438" y="1200329"/>
                </a:cubicBezTo>
                <a:cubicBezTo>
                  <a:pt x="1504442" y="1235903"/>
                  <a:pt x="1262712" y="1152605"/>
                  <a:pt x="1078992" y="1200329"/>
                </a:cubicBezTo>
                <a:cubicBezTo>
                  <a:pt x="895272" y="1248053"/>
                  <a:pt x="711143" y="1165025"/>
                  <a:pt x="566471" y="1200329"/>
                </a:cubicBezTo>
                <a:cubicBezTo>
                  <a:pt x="421799" y="1235633"/>
                  <a:pt x="234706" y="1197672"/>
                  <a:pt x="0" y="1200329"/>
                </a:cubicBezTo>
                <a:cubicBezTo>
                  <a:pt x="-36570" y="1073116"/>
                  <a:pt x="11" y="923213"/>
                  <a:pt x="0" y="788216"/>
                </a:cubicBezTo>
                <a:cubicBezTo>
                  <a:pt x="-11" y="653219"/>
                  <a:pt x="24973" y="546784"/>
                  <a:pt x="0" y="400110"/>
                </a:cubicBezTo>
                <a:cubicBezTo>
                  <a:pt x="-24973" y="253436"/>
                  <a:pt x="17867" y="124798"/>
                  <a:pt x="0" y="0"/>
                </a:cubicBezTo>
                <a:close/>
              </a:path>
              <a:path w="2697480" h="1200329" stroke="0" extrusionOk="0">
                <a:moveTo>
                  <a:pt x="0" y="0"/>
                </a:moveTo>
                <a:cubicBezTo>
                  <a:pt x="110660" y="-20409"/>
                  <a:pt x="306690" y="1235"/>
                  <a:pt x="512521" y="0"/>
                </a:cubicBezTo>
                <a:cubicBezTo>
                  <a:pt x="718352" y="-1235"/>
                  <a:pt x="841238" y="2571"/>
                  <a:pt x="971093" y="0"/>
                </a:cubicBezTo>
                <a:cubicBezTo>
                  <a:pt x="1100948" y="-2571"/>
                  <a:pt x="1420619" y="4003"/>
                  <a:pt x="1564538" y="0"/>
                </a:cubicBezTo>
                <a:cubicBezTo>
                  <a:pt x="1708457" y="-4003"/>
                  <a:pt x="1869089" y="49856"/>
                  <a:pt x="2077060" y="0"/>
                </a:cubicBezTo>
                <a:cubicBezTo>
                  <a:pt x="2285031" y="-49856"/>
                  <a:pt x="2485941" y="6104"/>
                  <a:pt x="2697480" y="0"/>
                </a:cubicBezTo>
                <a:cubicBezTo>
                  <a:pt x="2713249" y="122159"/>
                  <a:pt x="2668665" y="286271"/>
                  <a:pt x="2697480" y="424116"/>
                </a:cubicBezTo>
                <a:cubicBezTo>
                  <a:pt x="2726295" y="561961"/>
                  <a:pt x="2685147" y="650178"/>
                  <a:pt x="2697480" y="824226"/>
                </a:cubicBezTo>
                <a:cubicBezTo>
                  <a:pt x="2709813" y="998274"/>
                  <a:pt x="2669964" y="1018621"/>
                  <a:pt x="2697480" y="1200329"/>
                </a:cubicBezTo>
                <a:cubicBezTo>
                  <a:pt x="2568381" y="1231230"/>
                  <a:pt x="2379184" y="1150368"/>
                  <a:pt x="2211934" y="1200329"/>
                </a:cubicBezTo>
                <a:cubicBezTo>
                  <a:pt x="2044684" y="1250290"/>
                  <a:pt x="1904253" y="1196471"/>
                  <a:pt x="1672438" y="1200329"/>
                </a:cubicBezTo>
                <a:cubicBezTo>
                  <a:pt x="1440623" y="1204187"/>
                  <a:pt x="1282740" y="1152863"/>
                  <a:pt x="1132942" y="1200329"/>
                </a:cubicBezTo>
                <a:cubicBezTo>
                  <a:pt x="983144" y="1247795"/>
                  <a:pt x="742952" y="1182877"/>
                  <a:pt x="620420" y="1200329"/>
                </a:cubicBezTo>
                <a:cubicBezTo>
                  <a:pt x="497888" y="1217781"/>
                  <a:pt x="192663" y="1133361"/>
                  <a:pt x="0" y="1200329"/>
                </a:cubicBezTo>
                <a:cubicBezTo>
                  <a:pt x="-50310" y="1067409"/>
                  <a:pt x="23771" y="957076"/>
                  <a:pt x="0" y="776213"/>
                </a:cubicBezTo>
                <a:cubicBezTo>
                  <a:pt x="-23771" y="595350"/>
                  <a:pt x="24572" y="550718"/>
                  <a:pt x="0" y="352097"/>
                </a:cubicBezTo>
                <a:cubicBezTo>
                  <a:pt x="-24572" y="153476"/>
                  <a:pt x="2515" y="110124"/>
                  <a:pt x="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50000"/>
            </a:schemeClr>
          </a:solidFill>
          <a:ln w="254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Squeeze the most flavor from your data in low-D space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1F364F-8409-4682-B75D-C19ED2684FDE}"/>
              </a:ext>
            </a:extLst>
          </p:cNvPr>
          <p:cNvSpPr txBox="1"/>
          <p:nvPr/>
        </p:nvSpPr>
        <p:spPr>
          <a:xfrm>
            <a:off x="630936" y="4114800"/>
            <a:ext cx="3486544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FF0000"/>
              </a:buClr>
              <a:buSzPct val="110000"/>
            </a:pPr>
            <a:r>
              <a:rPr lang="en-US" sz="2100" dirty="0"/>
              <a:t>Examples:</a:t>
            </a:r>
          </a:p>
          <a:p>
            <a:pPr marL="342900" indent="-342900">
              <a:buClr>
                <a:srgbClr val="FF0000"/>
              </a:buClr>
              <a:buSzPct val="110000"/>
              <a:buFont typeface="Wingdings" panose="05000000000000000000" pitchFamily="2" charset="2"/>
              <a:buChar char="v"/>
            </a:pPr>
            <a:r>
              <a:rPr lang="en-US" sz="2100" dirty="0"/>
              <a:t>PCA/Biplot: Data juicer</a:t>
            </a:r>
          </a:p>
          <a:p>
            <a:pPr marL="342900" indent="-342900">
              <a:buClr>
                <a:srgbClr val="FF0000"/>
              </a:buClr>
              <a:buSzPct val="110000"/>
              <a:buFont typeface="Wingdings" panose="05000000000000000000" pitchFamily="2" charset="2"/>
              <a:buChar char="v"/>
            </a:pPr>
            <a:r>
              <a:rPr lang="en-US" sz="2100" dirty="0"/>
              <a:t>HE plots:  MANOVA juicer</a:t>
            </a:r>
          </a:p>
          <a:p>
            <a:pPr marL="342900" indent="-342900">
              <a:buClr>
                <a:srgbClr val="FF0000"/>
              </a:buClr>
              <a:buSzPct val="110000"/>
              <a:buFont typeface="Wingdings" panose="05000000000000000000" pitchFamily="2" charset="2"/>
              <a:buChar char="v"/>
            </a:pPr>
            <a:r>
              <a:rPr lang="en-US" sz="2100" b="1" dirty="0"/>
              <a:t>CA/plot: The categorical juicer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DE4B933-6AC6-6B57-AA2D-B7EC0ECBA2D0}"/>
              </a:ext>
            </a:extLst>
          </p:cNvPr>
          <p:cNvGrpSpPr/>
          <p:nvPr/>
        </p:nvGrpSpPr>
        <p:grpSpPr>
          <a:xfrm>
            <a:off x="745102" y="1524000"/>
            <a:ext cx="2264569" cy="1942871"/>
            <a:chOff x="745102" y="1524000"/>
            <a:chExt cx="2264569" cy="1942871"/>
          </a:xfrm>
        </p:grpSpPr>
        <p:pic>
          <p:nvPicPr>
            <p:cNvPr id="8" name="Picture 7" descr="A picture containing colorful, fresh&#10;&#10;Description automatically generated">
              <a:extLst>
                <a:ext uri="{FF2B5EF4-FFF2-40B4-BE49-F238E27FC236}">
                  <a16:creationId xmlns:a16="http://schemas.microsoft.com/office/drawing/2014/main" id="{11EC24D1-F4F5-4911-9BFA-87CD5F05C8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6800" y="1524000"/>
              <a:ext cx="1942871" cy="1942871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E52B774-E800-6EFD-C9B8-DCDEB90445A3}"/>
                </a:ext>
              </a:extLst>
            </p:cNvPr>
            <p:cNvSpPr txBox="1"/>
            <p:nvPr/>
          </p:nvSpPr>
          <p:spPr>
            <a:xfrm>
              <a:off x="745102" y="1524000"/>
              <a:ext cx="1298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dirty="0"/>
                <a:t>My data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14A3BC8-459F-5118-F6D0-7F7BE694EAFD}"/>
              </a:ext>
            </a:extLst>
          </p:cNvPr>
          <p:cNvGrpSpPr/>
          <p:nvPr/>
        </p:nvGrpSpPr>
        <p:grpSpPr>
          <a:xfrm>
            <a:off x="6161085" y="3354417"/>
            <a:ext cx="2068515" cy="1979583"/>
            <a:chOff x="6161085" y="3354417"/>
            <a:chExt cx="2068515" cy="1979583"/>
          </a:xfrm>
        </p:grpSpPr>
        <p:pic>
          <p:nvPicPr>
            <p:cNvPr id="4" name="Picture 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F91B85D0-E564-489F-B755-5DBEB0E53B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22256" y="3733800"/>
              <a:ext cx="1607344" cy="16002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8ECEEE9-F8AF-18C8-C534-7BC3CAACBBFB}"/>
                </a:ext>
              </a:extLst>
            </p:cNvPr>
            <p:cNvSpPr txBox="1"/>
            <p:nvPr/>
          </p:nvSpPr>
          <p:spPr>
            <a:xfrm>
              <a:off x="6161085" y="3354417"/>
              <a:ext cx="152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dirty="0"/>
                <a:t>Insight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0417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12E87-12CE-8A57-835D-ADCF9407D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Correspondence analysis: Basic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E3158-CAE0-407A-4621-08C2476AE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dirty="0"/>
              <a:t>Analog of PCA for frequency data</a:t>
            </a:r>
          </a:p>
          <a:p>
            <a:r>
              <a:rPr lang="en-CA" sz="2000" dirty="0"/>
              <a:t>Account for </a:t>
            </a:r>
            <a:r>
              <a:rPr lang="en-CA" sz="2000" dirty="0">
                <a:solidFill>
                  <a:srgbClr val="0070C0"/>
                </a:solidFill>
              </a:rPr>
              <a:t>maximum</a:t>
            </a:r>
            <a:r>
              <a:rPr lang="en-CA" sz="2000" dirty="0"/>
              <a:t> % of </a:t>
            </a:r>
            <a:r>
              <a:rPr lang="en-CA" sz="2000" dirty="0">
                <a:sym typeface="Symbol" panose="05050102010706020507" pitchFamily="18" charset="2"/>
              </a:rPr>
              <a:t></a:t>
            </a:r>
            <a:r>
              <a:rPr lang="en-CA" sz="2000" baseline="30000" dirty="0">
                <a:sym typeface="Symbol" panose="05050102010706020507" pitchFamily="18" charset="2"/>
              </a:rPr>
              <a:t>2</a:t>
            </a:r>
            <a:r>
              <a:rPr lang="en-CA" sz="2000" dirty="0">
                <a:sym typeface="Symbol" panose="05050102010706020507" pitchFamily="18" charset="2"/>
              </a:rPr>
              <a:t> in few (2-3) dimensions</a:t>
            </a:r>
          </a:p>
          <a:p>
            <a:r>
              <a:rPr lang="en-CA" sz="2000" dirty="0">
                <a:sym typeface="Symbol" panose="05050102010706020507" pitchFamily="18" charset="2"/>
              </a:rPr>
              <a:t>Finds </a:t>
            </a:r>
            <a:r>
              <a:rPr lang="en-CA" sz="2000" dirty="0">
                <a:solidFill>
                  <a:srgbClr val="0070C0"/>
                </a:solidFill>
                <a:sym typeface="Symbol" panose="05050102010706020507" pitchFamily="18" charset="2"/>
              </a:rPr>
              <a:t>scores</a:t>
            </a:r>
            <a:r>
              <a:rPr lang="en-CA" sz="2000" dirty="0">
                <a:sym typeface="Symbol" panose="05050102010706020507" pitchFamily="18" charset="2"/>
              </a:rPr>
              <a:t> for row (</a:t>
            </a:r>
            <a:r>
              <a:rPr lang="en-CA" sz="2000" dirty="0" err="1">
                <a:sym typeface="Symbol" panose="05050102010706020507" pitchFamily="18" charset="2"/>
              </a:rPr>
              <a:t>x</a:t>
            </a:r>
            <a:r>
              <a:rPr lang="en-CA" sz="2000" baseline="-25000" dirty="0" err="1">
                <a:sym typeface="Symbol" panose="05050102010706020507" pitchFamily="18" charset="2"/>
              </a:rPr>
              <a:t>im</a:t>
            </a:r>
            <a:r>
              <a:rPr lang="en-CA" sz="2000" dirty="0">
                <a:sym typeface="Symbol" panose="05050102010706020507" pitchFamily="18" charset="2"/>
              </a:rPr>
              <a:t>) and col (</a:t>
            </a:r>
            <a:r>
              <a:rPr lang="en-CA" sz="2000" dirty="0" err="1">
                <a:sym typeface="Symbol" panose="05050102010706020507" pitchFamily="18" charset="2"/>
              </a:rPr>
              <a:t>y</a:t>
            </a:r>
            <a:r>
              <a:rPr lang="en-CA" sz="2000" baseline="-25000" dirty="0" err="1">
                <a:sym typeface="Symbol" panose="05050102010706020507" pitchFamily="18" charset="2"/>
              </a:rPr>
              <a:t>jm</a:t>
            </a:r>
            <a:r>
              <a:rPr lang="en-CA" sz="2000" dirty="0">
                <a:sym typeface="Symbol" panose="05050102010706020507" pitchFamily="18" charset="2"/>
              </a:rPr>
              <a:t>) categories on these dimensions</a:t>
            </a:r>
          </a:p>
          <a:p>
            <a:r>
              <a:rPr lang="en-CA" sz="2000" dirty="0">
                <a:sym typeface="Symbol" panose="05050102010706020507" pitchFamily="18" charset="2"/>
              </a:rPr>
              <a:t>Uses </a:t>
            </a:r>
            <a:r>
              <a:rPr lang="en-CA" sz="2000" dirty="0">
                <a:solidFill>
                  <a:srgbClr val="0070C0"/>
                </a:solidFill>
                <a:sym typeface="Symbol" panose="05050102010706020507" pitchFamily="18" charset="2"/>
              </a:rPr>
              <a:t>Singular Value Decomposition </a:t>
            </a:r>
            <a:r>
              <a:rPr lang="en-CA" sz="2000" dirty="0">
                <a:sym typeface="Symbol" panose="05050102010706020507" pitchFamily="18" charset="2"/>
              </a:rPr>
              <a:t>of residuals from independence, </a:t>
            </a:r>
          </a:p>
          <a:p>
            <a:endParaRPr lang="en-CA" sz="2000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CA" sz="2000" dirty="0">
              <a:sym typeface="Symbol" panose="05050102010706020507" pitchFamily="18" charset="2"/>
            </a:endParaRPr>
          </a:p>
          <a:p>
            <a:endParaRPr lang="en-CA" sz="2000" dirty="0">
              <a:sym typeface="Symbol" panose="05050102010706020507" pitchFamily="18" charset="2"/>
            </a:endParaRPr>
          </a:p>
          <a:p>
            <a:endParaRPr lang="en-CA" sz="2000" dirty="0">
              <a:sym typeface="Symbol" panose="05050102010706020507" pitchFamily="18" charset="2"/>
            </a:endParaRPr>
          </a:p>
          <a:p>
            <a:r>
              <a:rPr lang="en-CA" sz="2000" dirty="0">
                <a:solidFill>
                  <a:srgbClr val="0070C0"/>
                </a:solidFill>
                <a:sym typeface="Symbol" panose="05050102010706020507" pitchFamily="18" charset="2"/>
              </a:rPr>
              <a:t>Optimal scaling</a:t>
            </a:r>
            <a:r>
              <a:rPr lang="en-CA" sz="2000" dirty="0">
                <a:sym typeface="Symbol" panose="05050102010706020507" pitchFamily="18" charset="2"/>
              </a:rPr>
              <a:t>: each pair of scores for rows (</a:t>
            </a:r>
            <a:r>
              <a:rPr lang="en-CA" sz="2000" dirty="0" err="1">
                <a:sym typeface="Symbol" panose="05050102010706020507" pitchFamily="18" charset="2"/>
              </a:rPr>
              <a:t>x</a:t>
            </a:r>
            <a:r>
              <a:rPr lang="en-CA" sz="2000" baseline="-25000" dirty="0" err="1">
                <a:sym typeface="Symbol" panose="05050102010706020507" pitchFamily="18" charset="2"/>
              </a:rPr>
              <a:t>im</a:t>
            </a:r>
            <a:r>
              <a:rPr lang="en-CA" sz="2000" dirty="0">
                <a:sym typeface="Symbol" panose="05050102010706020507" pitchFamily="18" charset="2"/>
              </a:rPr>
              <a:t>) and col (</a:t>
            </a:r>
            <a:r>
              <a:rPr lang="en-CA" sz="2000" dirty="0" err="1">
                <a:sym typeface="Symbol" panose="05050102010706020507" pitchFamily="18" charset="2"/>
              </a:rPr>
              <a:t>y</a:t>
            </a:r>
            <a:r>
              <a:rPr lang="en-CA" sz="2000" baseline="-25000" dirty="0" err="1">
                <a:sym typeface="Symbol" panose="05050102010706020507" pitchFamily="18" charset="2"/>
              </a:rPr>
              <a:t>jm</a:t>
            </a:r>
            <a:r>
              <a:rPr lang="en-CA" sz="2000" dirty="0">
                <a:sym typeface="Symbol" panose="05050102010706020507" pitchFamily="18" charset="2"/>
              </a:rPr>
              <a:t>)  have highest possible correlation (= </a:t>
            </a:r>
            <a:r>
              <a:rPr lang="en-CA" sz="2000" baseline="-25000" dirty="0">
                <a:sym typeface="Symbol" panose="05050102010706020507" pitchFamily="18" charset="2"/>
              </a:rPr>
              <a:t>m</a:t>
            </a:r>
            <a:r>
              <a:rPr lang="en-CA" sz="2000" dirty="0">
                <a:sym typeface="Symbol" panose="05050102010706020507" pitchFamily="18" charset="2"/>
              </a:rPr>
              <a:t>)</a:t>
            </a:r>
          </a:p>
          <a:p>
            <a:r>
              <a:rPr lang="en-CA" sz="2000" dirty="0">
                <a:solidFill>
                  <a:srgbClr val="0070C0"/>
                </a:solidFill>
                <a:sym typeface="Symbol" panose="05050102010706020507" pitchFamily="18" charset="2"/>
              </a:rPr>
              <a:t>Plots</a:t>
            </a:r>
            <a:r>
              <a:rPr lang="en-CA" sz="2000" dirty="0">
                <a:sym typeface="Symbol" panose="05050102010706020507" pitchFamily="18" charset="2"/>
              </a:rPr>
              <a:t> of the row and column scores show associations</a:t>
            </a:r>
          </a:p>
          <a:p>
            <a:pPr lvl="1"/>
            <a:r>
              <a:rPr lang="en-CA" sz="1600" dirty="0">
                <a:sym typeface="Symbol" panose="05050102010706020507" pitchFamily="18" charset="2"/>
              </a:rPr>
              <a:t>Row point (</a:t>
            </a:r>
            <a:r>
              <a:rPr lang="en-CA" sz="1600" dirty="0" err="1">
                <a:sym typeface="Symbol" panose="05050102010706020507" pitchFamily="18" charset="2"/>
              </a:rPr>
              <a:t>x</a:t>
            </a:r>
            <a:r>
              <a:rPr lang="en-CA" sz="1600" baseline="-25000" dirty="0" err="1">
                <a:sym typeface="Symbol" panose="05050102010706020507" pitchFamily="18" charset="2"/>
              </a:rPr>
              <a:t>im</a:t>
            </a:r>
            <a:r>
              <a:rPr lang="en-CA" sz="1600" dirty="0">
                <a:sym typeface="Symbol" panose="05050102010706020507" pitchFamily="18" charset="2"/>
              </a:rPr>
              <a:t>)  near col point (</a:t>
            </a:r>
            <a:r>
              <a:rPr lang="en-CA" sz="1600" dirty="0" err="1">
                <a:sym typeface="Symbol" panose="05050102010706020507" pitchFamily="18" charset="2"/>
              </a:rPr>
              <a:t>y</a:t>
            </a:r>
            <a:r>
              <a:rPr lang="en-CA" sz="1600" baseline="-25000" dirty="0" err="1">
                <a:sym typeface="Symbol" panose="05050102010706020507" pitchFamily="18" charset="2"/>
              </a:rPr>
              <a:t>jm</a:t>
            </a:r>
            <a:r>
              <a:rPr lang="en-CA" sz="1600" dirty="0">
                <a:sym typeface="Symbol" panose="05050102010706020507" pitchFamily="18" charset="2"/>
              </a:rPr>
              <a:t>)   positive association </a:t>
            </a:r>
            <a:r>
              <a:rPr lang="en-CA" sz="1600" dirty="0" err="1">
                <a:sym typeface="Symbol" panose="05050102010706020507" pitchFamily="18" charset="2"/>
              </a:rPr>
              <a:t>d</a:t>
            </a:r>
            <a:r>
              <a:rPr lang="en-CA" sz="1600" baseline="-25000" dirty="0" err="1">
                <a:sym typeface="Symbol" panose="05050102010706020507" pitchFamily="18" charset="2"/>
              </a:rPr>
              <a:t>ij</a:t>
            </a:r>
            <a:r>
              <a:rPr lang="en-CA" sz="1600" dirty="0">
                <a:sym typeface="Symbol" panose="05050102010706020507" pitchFamily="18" charset="2"/>
              </a:rPr>
              <a:t> &gt; 0</a:t>
            </a:r>
            <a:endParaRPr lang="en-CA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0355F8-E2FA-B94F-D4DC-F23CE3623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7D14A1-ADB7-9500-D6EA-34C15FF61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24199"/>
            <a:ext cx="2333625" cy="51435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0D8566E1-37F2-4453-67F2-69C1B829002A}"/>
              </a:ext>
            </a:extLst>
          </p:cNvPr>
          <p:cNvSpPr/>
          <p:nvPr/>
        </p:nvSpPr>
        <p:spPr>
          <a:xfrm>
            <a:off x="3452812" y="3319461"/>
            <a:ext cx="533400" cy="1238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3F2999-557A-4296-BCF3-ED06EAD10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3353" y="2958070"/>
            <a:ext cx="4509656" cy="85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40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738AC-A1BB-39AD-6E44-B341FCF39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Correspondence analysis: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EB450-54CC-1C67-4021-6322C70F3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5257800" cy="5105400"/>
          </a:xfrm>
        </p:spPr>
        <p:txBody>
          <a:bodyPr>
            <a:normAutofit/>
          </a:bodyPr>
          <a:lstStyle/>
          <a:p>
            <a:r>
              <a:rPr lang="en-CA" sz="2400" dirty="0"/>
              <a:t>Mathematical foundations: “Geometric data analysis”, J. P. </a:t>
            </a:r>
            <a:r>
              <a:rPr lang="en-CA" sz="2400" dirty="0" err="1"/>
              <a:t>Benzecri</a:t>
            </a:r>
            <a:r>
              <a:rPr lang="en-CA" sz="2400" dirty="0"/>
              <a:t>, ~ 1960s</a:t>
            </a:r>
          </a:p>
          <a:p>
            <a:pPr lvl="1"/>
            <a:r>
              <a:rPr lang="en-CA" sz="2000" dirty="0"/>
              <a:t>The French school: L’ Analyse des </a:t>
            </a:r>
            <a:r>
              <a:rPr lang="en-CA" sz="2000" dirty="0" err="1"/>
              <a:t>Donnes</a:t>
            </a:r>
            <a:endParaRPr lang="en-CA" sz="2000" dirty="0"/>
          </a:p>
          <a:p>
            <a:pPr lvl="1"/>
            <a:r>
              <a:rPr lang="en-CA" sz="2000" dirty="0"/>
              <a:t>Popularized in European social science</a:t>
            </a:r>
          </a:p>
          <a:p>
            <a:r>
              <a:rPr lang="en-CA" sz="2400" dirty="0"/>
              <a:t>Multidimensional EDA</a:t>
            </a:r>
          </a:p>
          <a:p>
            <a:pPr lvl="1"/>
            <a:r>
              <a:rPr lang="en-CA" sz="2000" dirty="0"/>
              <a:t>More descriptive than inferential</a:t>
            </a:r>
          </a:p>
          <a:p>
            <a:pPr lvl="1"/>
            <a:r>
              <a:rPr lang="en-CA" sz="2000" dirty="0"/>
              <a:t>“models should follow the data, not vice versa”</a:t>
            </a:r>
          </a:p>
          <a:p>
            <a:pPr lvl="1"/>
            <a:r>
              <a:rPr lang="en-CA" sz="2000" dirty="0"/>
              <a:t>High-D phenomena </a:t>
            </a:r>
            <a:r>
              <a:rPr lang="en-CA" sz="2000" dirty="0">
                <a:sym typeface="Symbol" panose="05050102010706020507" pitchFamily="18" charset="2"/>
              </a:rPr>
              <a:t> Low-D approximations</a:t>
            </a:r>
          </a:p>
          <a:p>
            <a:r>
              <a:rPr lang="en-CA" sz="2400" dirty="0">
                <a:sym typeface="Symbol" panose="05050102010706020507" pitchFamily="18" charset="2"/>
              </a:rPr>
              <a:t>CARME conferences: every 4 years</a:t>
            </a:r>
            <a:endParaRPr lang="en-CA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D3FDE-C2C5-4B68-18BF-765E62B2F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32BFB51B-9BBF-22C8-BE3B-70A100A1C8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1132193"/>
            <a:ext cx="1499257" cy="2184401"/>
          </a:xfrm>
          <a:prstGeom prst="rect">
            <a:avLst/>
          </a:prstGeom>
        </p:spPr>
      </p:pic>
      <p:pic>
        <p:nvPicPr>
          <p:cNvPr id="10" name="Picture 9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3C7BBE2E-94C8-D3E2-431D-584891D930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5826" y="5533615"/>
            <a:ext cx="2133600" cy="1200150"/>
          </a:xfrm>
          <a:prstGeom prst="rect">
            <a:avLst/>
          </a:prstGeom>
        </p:spPr>
      </p:pic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97BFAFC9-56DF-2C49-3B07-37333F3344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3455729"/>
            <a:ext cx="1414297" cy="201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046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C185A-D08A-42EB-981C-46B70785E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 software for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7B2D6-FF29-440A-8ADF-918FCE528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ca package</a:t>
            </a:r>
            <a:endParaRPr lang="en-US" dirty="0"/>
          </a:p>
          <a:p>
            <a:pPr lvl="1"/>
            <a:r>
              <a:rPr lang="en-US" dirty="0"/>
              <a:t>ca() – two-way tables; plot(ca() ) for graphs</a:t>
            </a:r>
          </a:p>
          <a:p>
            <a:pPr lvl="1"/>
            <a:r>
              <a:rPr lang="en-US" dirty="0" err="1"/>
              <a:t>mjca</a:t>
            </a:r>
            <a:r>
              <a:rPr lang="en-US" dirty="0"/>
              <a:t>() – multiple &amp; joint CA; </a:t>
            </a:r>
            <a:r>
              <a:rPr lang="en-US" dirty="0" err="1"/>
              <a:t>vcdExtra</a:t>
            </a:r>
            <a:r>
              <a:rPr lang="en-US" dirty="0"/>
              <a:t>::</a:t>
            </a:r>
            <a:r>
              <a:rPr lang="en-US" dirty="0" err="1"/>
              <a:t>mcaplot</a:t>
            </a:r>
            <a:r>
              <a:rPr lang="en-US" dirty="0"/>
              <a:t>() for plots</a:t>
            </a:r>
          </a:p>
          <a:p>
            <a:r>
              <a:rPr lang="en-US" dirty="0" err="1">
                <a:hlinkClick r:id="rId3"/>
              </a:rPr>
              <a:t>FactoMineR</a:t>
            </a:r>
            <a:r>
              <a:rPr lang="en-US" dirty="0"/>
              <a:t>, </a:t>
            </a:r>
            <a:r>
              <a:rPr lang="en-US" dirty="0" err="1"/>
              <a:t>factoextra</a:t>
            </a:r>
            <a:r>
              <a:rPr lang="en-US" dirty="0"/>
              <a:t> &amp; </a:t>
            </a:r>
            <a:r>
              <a:rPr lang="en-US" dirty="0" err="1">
                <a:hlinkClick r:id="rId4"/>
              </a:rPr>
              <a:t>Factoshiny</a:t>
            </a:r>
            <a:r>
              <a:rPr lang="en-US" dirty="0"/>
              <a:t> packages</a:t>
            </a:r>
          </a:p>
          <a:p>
            <a:pPr lvl="1"/>
            <a:r>
              <a:rPr lang="en-US" dirty="0"/>
              <a:t>CA() – many options for graphical displays</a:t>
            </a:r>
          </a:p>
          <a:p>
            <a:pPr lvl="1"/>
            <a:r>
              <a:rPr lang="en-US" dirty="0" err="1"/>
              <a:t>fviz_ca</a:t>
            </a:r>
            <a:r>
              <a:rPr lang="en-US" dirty="0"/>
              <a:t>() – uses ggplot2; can </a:t>
            </a:r>
            <a:r>
              <a:rPr lang="en-US" dirty="0" err="1"/>
              <a:t>ggrepel</a:t>
            </a:r>
            <a:r>
              <a:rPr lang="en-US" dirty="0"/>
              <a:t> point labels</a:t>
            </a:r>
          </a:p>
          <a:p>
            <a:r>
              <a:rPr lang="en-US" dirty="0">
                <a:hlinkClick r:id="rId5"/>
              </a:rPr>
              <a:t>ade4</a:t>
            </a:r>
            <a:r>
              <a:rPr lang="en-US" dirty="0"/>
              <a:t> &amp; ade4shiny packages</a:t>
            </a:r>
          </a:p>
          <a:p>
            <a:pPr lvl="1"/>
            <a:r>
              <a:rPr lang="en-US" dirty="0" err="1"/>
              <a:t>dudi.coa</a:t>
            </a:r>
            <a:r>
              <a:rPr lang="en-US" dirty="0"/>
              <a:t>() – very nice graphics, but somewhat quirky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5BD9E-3860-4ECB-BFD2-02154B9B8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96D6765-50B2-AAC7-57F8-7291B5601F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96200" y="3673695"/>
            <a:ext cx="856383" cy="97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640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F5BD1AA-8682-7F78-724F-B7BF9EDC7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Example: Hair color, eye color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F1369-B203-1DF4-EB1B-F2C7B6570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926198-AB79-628C-AFE8-919FE7EA5907}"/>
              </a:ext>
            </a:extLst>
          </p:cNvPr>
          <p:cNvSpPr txBox="1"/>
          <p:nvPr/>
        </p:nvSpPr>
        <p:spPr>
          <a:xfrm>
            <a:off x="533400" y="1108119"/>
            <a:ext cx="8153400" cy="5262979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library(ca)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margin.table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HairEyeColor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1:2)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(haireye.ca &lt;- </a:t>
            </a:r>
            <a:r>
              <a:rPr lang="en-CA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Principal inertias (eigenvalues):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1        2        3     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Value      0.208773 0.022227 0.002598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Percentage 89.37%   9.52%    1.11%   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Rows: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Black   Brown     Red Blond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Mass     0.1824  0.4831  0.1199 0.215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ChiDist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0.5512  0.1595  0.3548 0.838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Inertia  0.0554  0.0123  0.0151 0.151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Dim. 1  -1.1043 -0.3245 -0.2835 1.828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Dim. 2   1.4409 -0.2191 -2.1440 0.467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Columns: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Brown  Blue   Hazel   Green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Mass     0.3716 0.363  0.1571  0.1081</a:t>
            </a: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ChiDist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0.5005 0.554  0.2887  0.3857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Inertia  0.0931 0.111  0.0131  0.0161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Dim. 1  -1.0771 1.198 -0.4653  0.3540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Dim. 2   0.5924 0.556 -1.1228 -2.2741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D69F3B-9F20-4E43-8AAE-B094A6930EE5}"/>
              </a:ext>
            </a:extLst>
          </p:cNvPr>
          <p:cNvSpPr txBox="1"/>
          <p:nvPr/>
        </p:nvSpPr>
        <p:spPr>
          <a:xfrm>
            <a:off x="5181600" y="4191000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Hair category scores, Dim1-2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F3CC29-5523-4909-ABFC-DD10AC9CABB4}"/>
              </a:ext>
            </a:extLst>
          </p:cNvPr>
          <p:cNvSpPr txBox="1"/>
          <p:nvPr/>
        </p:nvSpPr>
        <p:spPr>
          <a:xfrm>
            <a:off x="5181600" y="5821307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Eye category scores, Dim1-2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6C5DAD-ED93-49F8-B5FF-7711AA49E863}"/>
              </a:ext>
            </a:extLst>
          </p:cNvPr>
          <p:cNvSpPr txBox="1"/>
          <p:nvPr/>
        </p:nvSpPr>
        <p:spPr>
          <a:xfrm>
            <a:off x="5105400" y="2482334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χ</a:t>
            </a:r>
            <a:r>
              <a:rPr lang="en-US" baseline="30000" dirty="0"/>
              <a:t>2</a:t>
            </a:r>
            <a:r>
              <a:rPr lang="en-US" dirty="0"/>
              <a:t> % for dimensions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3D6D28AB-1074-40E7-A18D-BC30304DAA2B}"/>
              </a:ext>
            </a:extLst>
          </p:cNvPr>
          <p:cNvSpPr/>
          <p:nvPr/>
        </p:nvSpPr>
        <p:spPr>
          <a:xfrm>
            <a:off x="4953000" y="4191000"/>
            <a:ext cx="152400" cy="369332"/>
          </a:xfrm>
          <a:prstGeom prst="rightBrac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101A3ED4-3798-478A-B02F-57CE5B7544DE}"/>
              </a:ext>
            </a:extLst>
          </p:cNvPr>
          <p:cNvSpPr/>
          <p:nvPr/>
        </p:nvSpPr>
        <p:spPr>
          <a:xfrm>
            <a:off x="4953000" y="5850279"/>
            <a:ext cx="152400" cy="369332"/>
          </a:xfrm>
          <a:prstGeom prst="rightBrac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05D087-F951-DD58-3497-FCF9B732FE10}"/>
              </a:ext>
            </a:extLst>
          </p:cNvPr>
          <p:cNvSpPr/>
          <p:nvPr/>
        </p:nvSpPr>
        <p:spPr>
          <a:xfrm>
            <a:off x="533400" y="4114800"/>
            <a:ext cx="4038600" cy="4455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EACF29-AEB0-A27F-7714-38B7D4AF6E44}"/>
              </a:ext>
            </a:extLst>
          </p:cNvPr>
          <p:cNvSpPr/>
          <p:nvPr/>
        </p:nvSpPr>
        <p:spPr>
          <a:xfrm>
            <a:off x="561975" y="5830832"/>
            <a:ext cx="4038600" cy="4455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5423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7E8866-8747-3507-EECF-5AFD2C482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 descr="Chart, line chart, scatter chart&#10;&#10;Description automatically generated">
            <a:extLst>
              <a:ext uri="{FF2B5EF4-FFF2-40B4-BE49-F238E27FC236}">
                <a16:creationId xmlns:a16="http://schemas.microsoft.com/office/drawing/2014/main" id="{24618ED1-BBAC-5514-4482-E7088892C9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757088"/>
            <a:ext cx="6371124" cy="457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0C0AF9-6791-7D1D-4999-1418A841F78D}"/>
              </a:ext>
            </a:extLst>
          </p:cNvPr>
          <p:cNvSpPr txBox="1"/>
          <p:nvPr/>
        </p:nvSpPr>
        <p:spPr>
          <a:xfrm>
            <a:off x="762000" y="322008"/>
            <a:ext cx="7543800" cy="36933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plot(haireye.ca, lines=TRUE)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2C44D8-7180-F4EA-8A9E-567F060FCC97}"/>
              </a:ext>
            </a:extLst>
          </p:cNvPr>
          <p:cNvSpPr txBox="1"/>
          <p:nvPr/>
        </p:nvSpPr>
        <p:spPr>
          <a:xfrm>
            <a:off x="762000" y="5410200"/>
            <a:ext cx="7543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Rough interpretation: row/col points “near” each other are positively associated (independence residuals </a:t>
            </a:r>
            <a:r>
              <a:rPr lang="en-CA" dirty="0" err="1"/>
              <a:t>d</a:t>
            </a:r>
            <a:r>
              <a:rPr lang="en-CA" baseline="-25000" dirty="0" err="1"/>
              <a:t>ij</a:t>
            </a:r>
            <a:r>
              <a:rPr lang="en-CA" dirty="0"/>
              <a:t> &gt;&gt; 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Dim 1: 89.4% of </a:t>
            </a:r>
            <a:r>
              <a:rPr lang="en-CA" sz="1800" dirty="0">
                <a:sym typeface="Symbol" panose="05050102010706020507" pitchFamily="18" charset="2"/>
              </a:rPr>
              <a:t></a:t>
            </a:r>
            <a:r>
              <a:rPr lang="en-CA" sz="1800" baseline="30000" dirty="0">
                <a:sym typeface="Symbol" panose="05050102010706020507" pitchFamily="18" charset="2"/>
              </a:rPr>
              <a:t>2</a:t>
            </a:r>
            <a:r>
              <a:rPr lang="en-CA" sz="1800" dirty="0">
                <a:sym typeface="Symbol" panose="05050102010706020507" pitchFamily="18" charset="2"/>
              </a:rPr>
              <a:t> (dark  light)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ym typeface="Symbol" panose="05050102010706020507" pitchFamily="18" charset="2"/>
              </a:rPr>
              <a:t>Dim 2: 9.5% </a:t>
            </a:r>
            <a:r>
              <a:rPr lang="en-CA" dirty="0"/>
              <a:t>of </a:t>
            </a:r>
            <a:r>
              <a:rPr lang="en-CA" sz="1800" dirty="0">
                <a:sym typeface="Symbol" panose="05050102010706020507" pitchFamily="18" charset="2"/>
              </a:rPr>
              <a:t></a:t>
            </a:r>
            <a:r>
              <a:rPr lang="en-CA" sz="1800" baseline="30000" dirty="0">
                <a:sym typeface="Symbol" panose="05050102010706020507" pitchFamily="18" charset="2"/>
              </a:rPr>
              <a:t>2</a:t>
            </a:r>
            <a:r>
              <a:rPr lang="en-CA" sz="1800" dirty="0">
                <a:sym typeface="Symbol" panose="05050102010706020507" pitchFamily="18" charset="2"/>
              </a:rPr>
              <a:t> (Red/Green vs. others)</a:t>
            </a:r>
          </a:p>
        </p:txBody>
      </p:sp>
    </p:spTree>
    <p:extLst>
      <p:ext uri="{BB962C8B-B14F-4D97-AF65-F5344CB8AC3E}">
        <p14:creationId xmlns:p14="http://schemas.microsoft.com/office/powerpoint/2010/main" val="348702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879B9F-29E2-532B-3D65-86334E05E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78CA61-C9C9-324F-6F99-CC4EB6822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95" y="1152809"/>
            <a:ext cx="8123809" cy="45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748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D13784-08CB-E5D0-492B-26F2042DE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Row &amp; column profiles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26000D-5A3A-39DB-FCB3-66A896EF3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600200"/>
          </a:xfrm>
        </p:spPr>
        <p:txBody>
          <a:bodyPr>
            <a:normAutofit/>
          </a:bodyPr>
          <a:lstStyle/>
          <a:p>
            <a:r>
              <a:rPr lang="en-CA" sz="2000" dirty="0"/>
              <a:t>For a two-way table, row profiles &amp; column profiles give </a:t>
            </a:r>
            <a:r>
              <a:rPr lang="en-CA" sz="2000" dirty="0">
                <a:solidFill>
                  <a:srgbClr val="0070C0"/>
                </a:solidFill>
              </a:rPr>
              <a:t>relative</a:t>
            </a:r>
            <a:r>
              <a:rPr lang="en-CA" sz="2000" dirty="0"/>
              <a:t> proportions of the categories</a:t>
            </a:r>
          </a:p>
          <a:p>
            <a:r>
              <a:rPr lang="en-CA" sz="2000" dirty="0"/>
              <a:t>An association is present to the extent that the row/col profiles differ</a:t>
            </a:r>
          </a:p>
          <a:p>
            <a:r>
              <a:rPr lang="en-CA" sz="2000" dirty="0"/>
              <a:t>Profiles add to 1.0 (100%), and can be visualized in profile space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C6319D-DBF7-E9CC-A0FF-69BE6561E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B3F37F-41A5-EF2E-0A35-366AF6DF0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93" y="2930727"/>
            <a:ext cx="8152381" cy="32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108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0D765-E0D4-C387-F210-F50752FDE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11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5832FE-6F93-8F98-B52E-CF77DCAF0678}"/>
              </a:ext>
            </a:extLst>
          </p:cNvPr>
          <p:cNvSpPr txBox="1"/>
          <p:nvPr/>
        </p:nvSpPr>
        <p:spPr>
          <a:xfrm>
            <a:off x="533400" y="533400"/>
            <a:ext cx="777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tx2">
                  <a:lumMod val="60000"/>
                  <a:lumOff val="40000"/>
                </a:schemeClr>
              </a:buClr>
              <a:buSzPct val="110000"/>
              <a:buFont typeface="Arial" panose="020B0604020202020204" pitchFamily="34" charset="0"/>
              <a:buChar char="•"/>
            </a:pPr>
            <a:r>
              <a:rPr lang="en-CA" sz="2000" dirty="0"/>
              <a:t>Row profiles pertain to the differences among </a:t>
            </a:r>
            <a:r>
              <a:rPr lang="en-CA" sz="2000" dirty="0">
                <a:solidFill>
                  <a:srgbClr val="0070C0"/>
                </a:solidFill>
              </a:rPr>
              <a:t>brand</a:t>
            </a:r>
            <a:r>
              <a:rPr lang="en-CA" sz="2000" dirty="0"/>
              <a:t> preference</a:t>
            </a:r>
          </a:p>
          <a:p>
            <a:pPr marL="342900" indent="-342900">
              <a:buClr>
                <a:schemeClr val="tx2">
                  <a:lumMod val="60000"/>
                  <a:lumOff val="40000"/>
                </a:schemeClr>
              </a:buClr>
              <a:buSzPct val="110000"/>
              <a:buFont typeface="Arial" panose="020B0604020202020204" pitchFamily="34" charset="0"/>
              <a:buChar char="•"/>
            </a:pPr>
            <a:r>
              <a:rPr lang="en-CA" sz="2000" dirty="0"/>
              <a:t>Column profiles pertain to the differences among </a:t>
            </a:r>
            <a:r>
              <a:rPr lang="en-CA" sz="2000" dirty="0">
                <a:solidFill>
                  <a:srgbClr val="0070C0"/>
                </a:solidFill>
              </a:rPr>
              <a:t>regions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36E7A6-3705-4951-9819-FC6A3A844F8D}"/>
              </a:ext>
            </a:extLst>
          </p:cNvPr>
          <p:cNvSpPr txBox="1"/>
          <p:nvPr/>
        </p:nvSpPr>
        <p:spPr>
          <a:xfrm>
            <a:off x="533400" y="3886200"/>
            <a:ext cx="746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There is clearly an association: </a:t>
            </a:r>
            <a:r>
              <a:rPr lang="en-CA" dirty="0">
                <a:sym typeface="Symbol" panose="05050102010706020507" pitchFamily="18" charset="2"/>
              </a:rPr>
              <a:t> </a:t>
            </a:r>
            <a:r>
              <a:rPr lang="en-CA" dirty="0"/>
              <a:t>the row (&amp; column) profiles differ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6A7A3A-18FB-C933-526D-887D77991FC3}"/>
              </a:ext>
            </a:extLst>
          </p:cNvPr>
          <p:cNvSpPr txBox="1"/>
          <p:nvPr/>
        </p:nvSpPr>
        <p:spPr>
          <a:xfrm>
            <a:off x="533400" y="4495800"/>
            <a:ext cx="7772400" cy="156966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chisq.test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(toothpaste)</a:t>
            </a:r>
          </a:p>
          <a:p>
            <a:endParaRPr lang="en-CA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Pearson's Chi-squared test</a:t>
            </a:r>
          </a:p>
          <a:p>
            <a:endParaRPr lang="en-CA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data:  toothpaste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X-squared = 79.6,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6, p-value = 4.3e-15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30E7007-F2B6-2470-2F79-BC9A5EA17E48}"/>
              </a:ext>
            </a:extLst>
          </p:cNvPr>
          <p:cNvGrpSpPr/>
          <p:nvPr/>
        </p:nvGrpSpPr>
        <p:grpSpPr>
          <a:xfrm>
            <a:off x="4572000" y="1676400"/>
            <a:ext cx="3733800" cy="1815882"/>
            <a:chOff x="4572000" y="1676400"/>
            <a:chExt cx="3733800" cy="181588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C1359D5-F26D-BC37-0E3C-2BE9351877DA}"/>
                </a:ext>
              </a:extLst>
            </p:cNvPr>
            <p:cNvSpPr txBox="1"/>
            <p:nvPr/>
          </p:nvSpPr>
          <p:spPr>
            <a:xfrm>
              <a:off x="4572000" y="1676400"/>
              <a:ext cx="3733800" cy="1815882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pt-BR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Region</a:t>
              </a:r>
            </a:p>
            <a:p>
              <a:r>
                <a:rPr lang="pt-BR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Brand        R1    R2    R3</a:t>
              </a:r>
            </a:p>
            <a:p>
              <a:r>
                <a:rPr lang="pt-BR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Brand A  12.5  12.5  75.0</a:t>
              </a:r>
            </a:p>
            <a:p>
              <a:r>
                <a:rPr lang="pt-BR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Brand B  12.5  62.5  12.5</a:t>
              </a:r>
            </a:p>
            <a:p>
              <a:r>
                <a:rPr lang="pt-BR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Brand C  37.5  12.5  12.5</a:t>
              </a:r>
            </a:p>
            <a:p>
              <a:r>
                <a:rPr lang="pt-BR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Brand D  37.5  12.5   0.0</a:t>
              </a:r>
            </a:p>
            <a:p>
              <a:r>
                <a:rPr lang="pt-BR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Sum     100.0 100.0 100.0</a:t>
              </a:r>
              <a:endParaRPr lang="en-CA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21D67945-98FE-B92C-41A5-BE96E8EB22CD}"/>
                </a:ext>
              </a:extLst>
            </p:cNvPr>
            <p:cNvCxnSpPr/>
            <p:nvPr/>
          </p:nvCxnSpPr>
          <p:spPr>
            <a:xfrm>
              <a:off x="8153400" y="2057400"/>
              <a:ext cx="0" cy="129540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8DE42CD-175F-A57E-934A-A3F9FAD3CBDC}"/>
              </a:ext>
            </a:extLst>
          </p:cNvPr>
          <p:cNvGrpSpPr/>
          <p:nvPr/>
        </p:nvGrpSpPr>
        <p:grpSpPr>
          <a:xfrm>
            <a:off x="533400" y="1676400"/>
            <a:ext cx="3733800" cy="1569660"/>
            <a:chOff x="533400" y="1676400"/>
            <a:chExt cx="3733800" cy="156966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A4979CC-FD82-570D-C584-17255D268090}"/>
                </a:ext>
              </a:extLst>
            </p:cNvPr>
            <p:cNvSpPr txBox="1"/>
            <p:nvPr/>
          </p:nvSpPr>
          <p:spPr>
            <a:xfrm>
              <a:off x="533400" y="1676400"/>
              <a:ext cx="3733800" cy="156966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pt-BR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Region</a:t>
              </a:r>
            </a:p>
            <a:p>
              <a:r>
                <a:rPr lang="pt-BR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Brand       R1   R2   R3 Sum</a:t>
              </a:r>
            </a:p>
            <a:p>
              <a:r>
                <a:rPr lang="pt-BR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Brand A 12.5 12.5 75.0 100</a:t>
              </a:r>
            </a:p>
            <a:p>
              <a:r>
                <a:rPr lang="pt-BR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Brand B 14.3 71.4 14.3 100</a:t>
              </a:r>
            </a:p>
            <a:p>
              <a:r>
                <a:rPr lang="pt-BR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Brand C 60.0 20.0 20.0 100</a:t>
              </a:r>
            </a:p>
            <a:p>
              <a:r>
                <a:rPr lang="pt-BR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Brand D 75.0 25.0  0.0 100</a:t>
              </a:r>
              <a:endParaRPr lang="en-CA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FA23512-CA1A-6C9C-3247-C796EC5AAA53}"/>
                </a:ext>
              </a:extLst>
            </p:cNvPr>
            <p:cNvCxnSpPr>
              <a:cxnSpLocks/>
            </p:cNvCxnSpPr>
            <p:nvPr/>
          </p:nvCxnSpPr>
          <p:spPr>
            <a:xfrm>
              <a:off x="1905000" y="1905000"/>
              <a:ext cx="1752600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95492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F1C6CC-04AE-7B35-8CD6-21C3FC54B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Plotting profiles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D3959F-0882-29F0-83D0-4F41053D6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D4DE57-49B6-2069-6359-8EE78C20F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290905"/>
            <a:ext cx="8171428" cy="42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267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6B83C-A618-7424-F0B7-9BEDB8257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Plotting profiles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48BF4D-C0DE-1D25-9E70-7E2128C8C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C4690D-7D97-BB6F-A47D-D63258DA6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333936"/>
            <a:ext cx="8171428" cy="4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123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54CD-DE41-BF1A-CC86-753EE3DDE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CA solution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215331-6469-6058-2489-A20EB0E24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7F727C-BEF5-4549-1583-72D5CF353C69}"/>
              </a:ext>
            </a:extLst>
          </p:cNvPr>
          <p:cNvSpPr txBox="1"/>
          <p:nvPr/>
        </p:nvSpPr>
        <p:spPr>
          <a:xfrm>
            <a:off x="4572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CA solution has at most min(</a:t>
            </a:r>
            <a:r>
              <a:rPr lang="en-CA" i="1" dirty="0"/>
              <a:t>r</a:t>
            </a:r>
            <a:r>
              <a:rPr lang="en-CA" dirty="0"/>
              <a:t> – 1, </a:t>
            </a:r>
            <a:r>
              <a:rPr lang="en-CA" i="1" dirty="0"/>
              <a:t>c</a:t>
            </a:r>
            <a:r>
              <a:rPr lang="en-CA" dirty="0"/>
              <a:t> – 1) dimensions</a:t>
            </a:r>
          </a:p>
          <a:p>
            <a:r>
              <a:rPr lang="en-CA" dirty="0"/>
              <a:t>The 2D solution here is </a:t>
            </a:r>
            <a:r>
              <a:rPr lang="en-CA" dirty="0">
                <a:solidFill>
                  <a:srgbClr val="0070C0"/>
                </a:solidFill>
              </a:rPr>
              <a:t>exact</a:t>
            </a:r>
            <a:r>
              <a:rPr lang="en-CA" dirty="0"/>
              <a:t>, i.e., accounts for 100% of Pearson </a:t>
            </a:r>
            <a:r>
              <a:rPr lang="en-CA" sz="1800" dirty="0">
                <a:sym typeface="Symbol" panose="05050102010706020507" pitchFamily="18" charset="2"/>
              </a:rPr>
              <a:t></a:t>
            </a:r>
            <a:r>
              <a:rPr lang="en-CA" sz="1800" baseline="30000" dirty="0">
                <a:sym typeface="Symbol" panose="05050102010706020507" pitchFamily="18" charset="2"/>
              </a:rPr>
              <a:t>2</a:t>
            </a:r>
            <a:r>
              <a:rPr lang="en-CA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59465F-64C2-E189-C153-10B0CEA718B4}"/>
              </a:ext>
            </a:extLst>
          </p:cNvPr>
          <p:cNvSpPr txBox="1"/>
          <p:nvPr/>
        </p:nvSpPr>
        <p:spPr>
          <a:xfrm>
            <a:off x="457200" y="2062318"/>
            <a:ext cx="8229600" cy="2246769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tp.ca &lt;- ca(toothpaste)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summary(tp.ca, rows=FALSE, columns=FALSE)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Principal inertias (eigenvalues):</a:t>
            </a:r>
          </a:p>
          <a:p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dim    value      %   cum%   scree plot             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1      0.410259  61.8  61.8  ***************        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2      0.253134  38.2 100.0  **********             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-------- -----                               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Total: 0.663393 100.0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3E772B-9E02-EE61-CA8F-4FCA5512C6B4}"/>
              </a:ext>
            </a:extLst>
          </p:cNvPr>
          <p:cNvSpPr txBox="1"/>
          <p:nvPr/>
        </p:nvSpPr>
        <p:spPr>
          <a:xfrm>
            <a:off x="457200" y="4648200"/>
            <a:ext cx="3048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Pearson </a:t>
            </a:r>
            <a:r>
              <a:rPr lang="en-CA" sz="1800" dirty="0">
                <a:sym typeface="Symbol" panose="05050102010706020507" pitchFamily="18" charset="2"/>
              </a:rPr>
              <a:t></a:t>
            </a:r>
            <a:r>
              <a:rPr lang="en-CA" sz="1800" baseline="30000" dirty="0">
                <a:sym typeface="Symbol" panose="05050102010706020507" pitchFamily="18" charset="2"/>
              </a:rPr>
              <a:t>2  </a:t>
            </a:r>
            <a:r>
              <a:rPr lang="en-CA" dirty="0"/>
              <a:t> = N ∑ </a:t>
            </a:r>
            <a:r>
              <a:rPr lang="en-CA" dirty="0">
                <a:sym typeface="Symbol" panose="05050102010706020507" pitchFamily="18" charset="2"/>
              </a:rPr>
              <a:t></a:t>
            </a:r>
            <a:r>
              <a:rPr lang="en-CA" baseline="30000" dirty="0">
                <a:sym typeface="Symbol" panose="05050102010706020507" pitchFamily="18" charset="2"/>
              </a:rPr>
              <a:t>2</a:t>
            </a:r>
            <a:r>
              <a:rPr lang="en-CA" dirty="0">
                <a:sym typeface="Symbol" panose="05050102010706020507" pitchFamily="18" charset="2"/>
              </a:rPr>
              <a:t> 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0378F9-2812-8929-BE17-A3EB671737EF}"/>
              </a:ext>
            </a:extLst>
          </p:cNvPr>
          <p:cNvSpPr txBox="1"/>
          <p:nvPr/>
        </p:nvSpPr>
        <p:spPr>
          <a:xfrm>
            <a:off x="457200" y="5257800"/>
            <a:ext cx="8229600" cy="73866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reproduce chi-square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sum(tp.ca$sv^2) * sum(toothpaste)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[1] 79.607</a:t>
            </a:r>
          </a:p>
        </p:txBody>
      </p:sp>
    </p:spTree>
    <p:extLst>
      <p:ext uri="{BB962C8B-B14F-4D97-AF65-F5344CB8AC3E}">
        <p14:creationId xmlns:p14="http://schemas.microsoft.com/office/powerpoint/2010/main" val="2339452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538CD-BD3D-3E71-EFD6-637473CC7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CA solution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A10004-151B-B337-9FA9-1B7C2D5CA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EC92E9-C45B-8C34-96CB-06D9674B5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05" y="1295400"/>
            <a:ext cx="8238095" cy="5238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917087-1F89-0BA9-5306-56D8A89B9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152585"/>
            <a:ext cx="5495238" cy="40190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B17E6D-A2A5-9F3E-F66A-5BDC9290E8DB}"/>
              </a:ext>
            </a:extLst>
          </p:cNvPr>
          <p:cNvSpPr txBox="1"/>
          <p:nvPr/>
        </p:nvSpPr>
        <p:spPr>
          <a:xfrm>
            <a:off x="6096000" y="2362200"/>
            <a:ext cx="2514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Brand A: most in R3</a:t>
            </a:r>
          </a:p>
          <a:p>
            <a:r>
              <a:rPr lang="en-CA" dirty="0"/>
              <a:t>Brand B: most in R2</a:t>
            </a:r>
          </a:p>
          <a:p>
            <a:r>
              <a:rPr lang="en-CA" dirty="0"/>
              <a:t>Brands C, D: most in R1</a:t>
            </a:r>
          </a:p>
        </p:txBody>
      </p:sp>
    </p:spTree>
    <p:extLst>
      <p:ext uri="{BB962C8B-B14F-4D97-AF65-F5344CB8AC3E}">
        <p14:creationId xmlns:p14="http://schemas.microsoft.com/office/powerpoint/2010/main" val="954263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DBA58-388C-B867-2632-51E6B7C7D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Profiles &amp; inertia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C05B59-98AE-0822-9DF4-EAC6C860F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CF4A51-4CE0-4C35-8463-DD7EFA56C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7648"/>
            <a:ext cx="1961905" cy="52857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545CC6-5998-DD93-128C-6BE6D1075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1371600"/>
            <a:ext cx="6295238" cy="26380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29470D-CBCA-96CE-14CB-3628555C0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800" y="4009695"/>
            <a:ext cx="5885714" cy="26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427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C352C-34E3-BD6D-FB0E-CA63522B1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err="1"/>
              <a:t>Housetasks</a:t>
            </a:r>
            <a:r>
              <a:rPr lang="en-CA" dirty="0"/>
              <a:t>: Who does what?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1A4E77-8FC7-F653-D5BE-96F40D458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A6C00A-015B-5622-484A-0AD643F413AB}"/>
              </a:ext>
            </a:extLst>
          </p:cNvPr>
          <p:cNvSpPr txBox="1"/>
          <p:nvPr/>
        </p:nvSpPr>
        <p:spPr>
          <a:xfrm>
            <a:off x="457200" y="1219200"/>
            <a:ext cx="8229600" cy="1323439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Aptos Mono" panose="020B0009020202020204" pitchFamily="49" charset="0"/>
              </a:rPr>
              <a:t>data(</a:t>
            </a:r>
            <a:r>
              <a:rPr lang="en-CA" sz="1600" dirty="0" err="1">
                <a:latin typeface="Aptos Mono" panose="020B0009020202020204" pitchFamily="49" charset="0"/>
              </a:rPr>
              <a:t>housetasks</a:t>
            </a:r>
            <a:r>
              <a:rPr lang="en-CA" sz="1600" dirty="0">
                <a:latin typeface="Aptos Mono" panose="020B0009020202020204" pitchFamily="49" charset="0"/>
              </a:rPr>
              <a:t>, package = "</a:t>
            </a:r>
            <a:r>
              <a:rPr lang="en-CA" sz="1600" dirty="0" err="1">
                <a:latin typeface="Aptos Mono" panose="020B0009020202020204" pitchFamily="49" charset="0"/>
              </a:rPr>
              <a:t>factoextra</a:t>
            </a:r>
            <a:r>
              <a:rPr lang="en-CA" sz="1600" dirty="0">
                <a:latin typeface="Aptos Mono" panose="020B0009020202020204" pitchFamily="49" charset="0"/>
              </a:rPr>
              <a:t>")</a:t>
            </a:r>
          </a:p>
          <a:p>
            <a:r>
              <a:rPr lang="en-CA" sz="1600" dirty="0">
                <a:solidFill>
                  <a:srgbClr val="00B050"/>
                </a:solidFill>
                <a:latin typeface="Aptos Mono" panose="020B0009020202020204" pitchFamily="49" charset="0"/>
              </a:rPr>
              <a:t># Convert the </a:t>
            </a:r>
            <a:r>
              <a:rPr lang="en-CA" sz="1600" dirty="0" err="1">
                <a:solidFill>
                  <a:srgbClr val="00B050"/>
                </a:solidFill>
                <a:latin typeface="Aptos Mono" panose="020B0009020202020204" pitchFamily="49" charset="0"/>
              </a:rPr>
              <a:t>data.frame</a:t>
            </a:r>
            <a:r>
              <a:rPr lang="en-CA" sz="1600" dirty="0">
                <a:solidFill>
                  <a:srgbClr val="00B050"/>
                </a:solidFill>
                <a:latin typeface="Aptos Mono" panose="020B0009020202020204" pitchFamily="49" charset="0"/>
              </a:rPr>
              <a:t> to a table</a:t>
            </a:r>
          </a:p>
          <a:p>
            <a:r>
              <a:rPr lang="en-CA" sz="1600" dirty="0">
                <a:latin typeface="Aptos Mono" panose="020B0009020202020204" pitchFamily="49" charset="0"/>
              </a:rPr>
              <a:t>dt &lt;- </a:t>
            </a:r>
            <a:r>
              <a:rPr lang="en-CA" sz="1600" dirty="0" err="1">
                <a:latin typeface="Aptos Mono" panose="020B0009020202020204" pitchFamily="49" charset="0"/>
              </a:rPr>
              <a:t>as.table</a:t>
            </a:r>
            <a:r>
              <a:rPr lang="en-CA" sz="1600" dirty="0">
                <a:latin typeface="Aptos Mono" panose="020B0009020202020204" pitchFamily="49" charset="0"/>
              </a:rPr>
              <a:t>(</a:t>
            </a:r>
            <a:r>
              <a:rPr lang="en-CA" sz="1600" dirty="0" err="1">
                <a:latin typeface="Aptos Mono" panose="020B0009020202020204" pitchFamily="49" charset="0"/>
              </a:rPr>
              <a:t>as.matrix</a:t>
            </a:r>
            <a:r>
              <a:rPr lang="en-CA" sz="1600" dirty="0">
                <a:latin typeface="Aptos Mono" panose="020B0009020202020204" pitchFamily="49" charset="0"/>
              </a:rPr>
              <a:t>(</a:t>
            </a:r>
            <a:r>
              <a:rPr lang="en-CA" sz="1600" dirty="0" err="1">
                <a:latin typeface="Aptos Mono" panose="020B0009020202020204" pitchFamily="49" charset="0"/>
              </a:rPr>
              <a:t>housetasks</a:t>
            </a:r>
            <a:r>
              <a:rPr lang="en-CA" sz="1600" dirty="0">
                <a:latin typeface="Aptos Mono" panose="020B0009020202020204" pitchFamily="49" charset="0"/>
              </a:rPr>
              <a:t>))</a:t>
            </a:r>
          </a:p>
          <a:p>
            <a:r>
              <a:rPr lang="en-CA" sz="1600" dirty="0">
                <a:latin typeface="Aptos Mono" panose="020B0009020202020204" pitchFamily="49" charset="0"/>
              </a:rPr>
              <a:t>names(</a:t>
            </a:r>
            <a:r>
              <a:rPr lang="en-CA" sz="1600" dirty="0" err="1">
                <a:latin typeface="Aptos Mono" panose="020B0009020202020204" pitchFamily="49" charset="0"/>
              </a:rPr>
              <a:t>dimnames</a:t>
            </a:r>
            <a:r>
              <a:rPr lang="en-CA" sz="1600" dirty="0">
                <a:latin typeface="Aptos Mono" panose="020B0009020202020204" pitchFamily="49" charset="0"/>
              </a:rPr>
              <a:t>(dt)) &lt;- c("Task", "</a:t>
            </a:r>
            <a:r>
              <a:rPr lang="en-CA" sz="1600" dirty="0" err="1">
                <a:latin typeface="Aptos Mono" panose="020B0009020202020204" pitchFamily="49" charset="0"/>
              </a:rPr>
              <a:t>Who_does</a:t>
            </a:r>
            <a:r>
              <a:rPr lang="en-CA" sz="1600" dirty="0">
                <a:latin typeface="Aptos Mono" panose="020B0009020202020204" pitchFamily="49" charset="0"/>
              </a:rPr>
              <a:t>?")</a:t>
            </a:r>
          </a:p>
          <a:p>
            <a:r>
              <a:rPr lang="en-CA" sz="1600" dirty="0">
                <a:latin typeface="Aptos Mono" panose="020B0009020202020204" pitchFamily="49" charset="0"/>
              </a:rPr>
              <a:t>dt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736499-64DA-DC22-6F05-3544382562C4}"/>
              </a:ext>
            </a:extLst>
          </p:cNvPr>
          <p:cNvSpPr txBox="1"/>
          <p:nvPr/>
        </p:nvSpPr>
        <p:spPr>
          <a:xfrm>
            <a:off x="533400" y="2743200"/>
            <a:ext cx="8077200" cy="3323987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latinLnBrk="1"/>
            <a:r>
              <a:rPr lang="en-CA" sz="1400" dirty="0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            </a:t>
            </a:r>
            <a:r>
              <a:rPr lang="en-CA" sz="1400" dirty="0" err="1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Who_does</a:t>
            </a:r>
            <a:r>
              <a:rPr lang="en-CA" sz="1400" dirty="0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?</a:t>
            </a:r>
          </a:p>
          <a:p>
            <a:pPr latinLnBrk="1"/>
            <a:r>
              <a:rPr lang="en-CA" sz="1400" dirty="0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Task         Wife Alternating Husband Jointly</a:t>
            </a:r>
          </a:p>
          <a:p>
            <a:pPr latinLnBrk="1"/>
            <a:r>
              <a:rPr lang="en-CA" sz="1400" dirty="0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 Laundry     156          14       2       4</a:t>
            </a:r>
          </a:p>
          <a:p>
            <a:pPr latinLnBrk="1"/>
            <a:r>
              <a:rPr lang="en-CA" sz="1400" dirty="0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CA" sz="1400" dirty="0" err="1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Main_meal</a:t>
            </a:r>
            <a:r>
              <a:rPr lang="en-CA" sz="1400" dirty="0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  124          20       5       4</a:t>
            </a:r>
          </a:p>
          <a:p>
            <a:pPr latinLnBrk="1"/>
            <a:r>
              <a:rPr lang="en-CA" sz="1400" dirty="0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 Dinner       77          11       7      13</a:t>
            </a:r>
          </a:p>
          <a:p>
            <a:pPr latinLnBrk="1"/>
            <a:r>
              <a:rPr lang="en-CA" sz="1400" dirty="0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lang="en-CA" sz="1400" dirty="0" err="1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Breakfeast</a:t>
            </a:r>
            <a:r>
              <a:rPr lang="en-CA" sz="1400" dirty="0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  82          36      15       7</a:t>
            </a:r>
          </a:p>
          <a:p>
            <a:pPr latinLnBrk="1"/>
            <a:r>
              <a:rPr lang="en-CA" sz="1400" dirty="0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 Tidying      53          11       1      57</a:t>
            </a:r>
          </a:p>
          <a:p>
            <a:pPr latinLnBrk="1"/>
            <a:r>
              <a:rPr lang="en-CA" sz="1400" dirty="0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 Dishes       32          24       4      53</a:t>
            </a:r>
          </a:p>
          <a:p>
            <a:pPr latinLnBrk="1"/>
            <a:r>
              <a:rPr lang="en-CA" sz="1400" dirty="0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 Shopping     33          23       9      55</a:t>
            </a:r>
          </a:p>
          <a:p>
            <a:pPr latinLnBrk="1"/>
            <a:r>
              <a:rPr lang="en-CA" sz="1400" dirty="0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 Official     12          46      23      15</a:t>
            </a:r>
          </a:p>
          <a:p>
            <a:pPr latinLnBrk="1"/>
            <a:r>
              <a:rPr lang="en-CA" sz="1400" dirty="0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 Driving      10          51      75       3</a:t>
            </a:r>
          </a:p>
          <a:p>
            <a:pPr latinLnBrk="1"/>
            <a:r>
              <a:rPr lang="en-CA" sz="1400" dirty="0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 Finances     13          13      21      66</a:t>
            </a:r>
          </a:p>
          <a:p>
            <a:pPr latinLnBrk="1"/>
            <a:r>
              <a:rPr lang="en-CA" sz="1400" dirty="0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 Insurance     8           1      53      77</a:t>
            </a:r>
          </a:p>
          <a:p>
            <a:pPr latinLnBrk="1"/>
            <a:r>
              <a:rPr lang="en-CA" sz="1400" dirty="0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 Repairs       0           3     160       2</a:t>
            </a:r>
          </a:p>
          <a:p>
            <a:pPr latinLnBrk="1"/>
            <a:r>
              <a:rPr lang="en-CA" sz="1400" dirty="0">
                <a:latin typeface="Aptos Mono" panose="020B0009020202020204" pitchFamily="49" charset="0"/>
                <a:ea typeface="Open Sans" panose="020B0606030504020204" pitchFamily="34" charset="0"/>
                <a:cs typeface="Open Sans" panose="020B0606030504020204" pitchFamily="34" charset="0"/>
              </a:rPr>
              <a:t>  Holidays      0           1       6     153</a:t>
            </a:r>
          </a:p>
        </p:txBody>
      </p:sp>
    </p:spTree>
    <p:extLst>
      <p:ext uri="{BB962C8B-B14F-4D97-AF65-F5344CB8AC3E}">
        <p14:creationId xmlns:p14="http://schemas.microsoft.com/office/powerpoint/2010/main" val="220523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14858-78D9-4BE0-6795-FAAC3CD27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err="1"/>
              <a:t>Housetasks</a:t>
            </a:r>
            <a:r>
              <a:rPr lang="en-CA" dirty="0"/>
              <a:t>: Semi-graphic tables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DD0351-3694-5BE4-8995-8A33827FC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ACC025-CE3C-3A2D-3BD0-92A20E1AA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91" y="2204376"/>
            <a:ext cx="4047619" cy="4171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BA896F-4E4E-E4C7-1782-B7FB36D50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2180057"/>
            <a:ext cx="3091771" cy="43384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7A8560-E6AF-95CA-510D-3FC9E9F03205}"/>
              </a:ext>
            </a:extLst>
          </p:cNvPr>
          <p:cNvSpPr txBox="1"/>
          <p:nvPr/>
        </p:nvSpPr>
        <p:spPr>
          <a:xfrm>
            <a:off x="5105400" y="1371600"/>
            <a:ext cx="3581400" cy="338554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 err="1">
                <a:latin typeface="Aptos Mono" panose="020B0009020202020204" pitchFamily="49" charset="0"/>
              </a:rPr>
              <a:t>vcdExtra</a:t>
            </a:r>
            <a:r>
              <a:rPr lang="en-CA" sz="1600" dirty="0">
                <a:latin typeface="Aptos Mono" panose="020B0009020202020204" pitchFamily="49" charset="0"/>
              </a:rPr>
              <a:t>::</a:t>
            </a:r>
            <a:r>
              <a:rPr lang="en-CA" sz="1600" dirty="0" err="1">
                <a:latin typeface="Aptos Mono" panose="020B0009020202020204" pitchFamily="49" charset="0"/>
              </a:rPr>
              <a:t>color_table</a:t>
            </a:r>
            <a:r>
              <a:rPr lang="en-CA" sz="1600" dirty="0">
                <a:latin typeface="Aptos Mono" panose="020B0009020202020204" pitchFamily="49" charset="0"/>
              </a:rPr>
              <a:t>(dt)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78FD9F-61F1-92CD-679B-F2F50D80857A}"/>
              </a:ext>
            </a:extLst>
          </p:cNvPr>
          <p:cNvSpPr txBox="1"/>
          <p:nvPr/>
        </p:nvSpPr>
        <p:spPr>
          <a:xfrm>
            <a:off x="457200" y="1295400"/>
            <a:ext cx="4157410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Aptos Mono" panose="020B0009020202020204" pitchFamily="49" charset="0"/>
              </a:rPr>
              <a:t>library("</a:t>
            </a:r>
            <a:r>
              <a:rPr lang="en-CA" sz="1600" dirty="0" err="1">
                <a:latin typeface="Aptos Mono" panose="020B0009020202020204" pitchFamily="49" charset="0"/>
              </a:rPr>
              <a:t>gplots</a:t>
            </a:r>
            <a:r>
              <a:rPr lang="en-CA" sz="1600" dirty="0">
                <a:latin typeface="Aptos Mono" panose="020B0009020202020204" pitchFamily="49" charset="0"/>
              </a:rPr>
              <a:t>")</a:t>
            </a:r>
          </a:p>
          <a:p>
            <a:r>
              <a:rPr lang="en-CA" sz="1600" dirty="0" err="1">
                <a:latin typeface="Aptos Mono" panose="020B0009020202020204" pitchFamily="49" charset="0"/>
              </a:rPr>
              <a:t>balloonplot</a:t>
            </a:r>
            <a:r>
              <a:rPr lang="en-CA" sz="1600" dirty="0">
                <a:latin typeface="Aptos Mono" panose="020B0009020202020204" pitchFamily="49" charset="0"/>
              </a:rPr>
              <a:t>(t(dt), </a:t>
            </a:r>
          </a:p>
          <a:p>
            <a:r>
              <a:rPr lang="en-CA" sz="1600" dirty="0">
                <a:latin typeface="Aptos Mono" panose="020B0009020202020204" pitchFamily="49" charset="0"/>
              </a:rPr>
              <a:t>            </a:t>
            </a:r>
            <a:r>
              <a:rPr lang="en-CA" sz="1600" dirty="0" err="1">
                <a:latin typeface="Aptos Mono" panose="020B0009020202020204" pitchFamily="49" charset="0"/>
              </a:rPr>
              <a:t>label.size</a:t>
            </a:r>
            <a:r>
              <a:rPr lang="en-CA" sz="1600" dirty="0">
                <a:latin typeface="Aptos Mono" panose="020B0009020202020204" pitchFamily="49" charset="0"/>
              </a:rPr>
              <a:t> =5, …)</a:t>
            </a:r>
          </a:p>
        </p:txBody>
      </p:sp>
    </p:spTree>
    <p:extLst>
      <p:ext uri="{BB962C8B-B14F-4D97-AF65-F5344CB8AC3E}">
        <p14:creationId xmlns:p14="http://schemas.microsoft.com/office/powerpoint/2010/main" val="14324843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782FA-4834-85FC-5629-308BE7A56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CA with </a:t>
            </a:r>
            <a:r>
              <a:rPr lang="en-CA" dirty="0" err="1"/>
              <a:t>FactoMineR</a:t>
            </a: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FE4F9B-D1E1-D6C9-2F96-A83B9AA7C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52FC0C-85E0-5982-9719-30CC75961993}"/>
              </a:ext>
            </a:extLst>
          </p:cNvPr>
          <p:cNvSpPr txBox="1"/>
          <p:nvPr/>
        </p:nvSpPr>
        <p:spPr>
          <a:xfrm>
            <a:off x="457200" y="1219200"/>
            <a:ext cx="8229600" cy="584775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Aptos Mono" panose="020B0009020202020204" pitchFamily="49" charset="0"/>
              </a:rPr>
              <a:t>house.ca &lt;- CA(</a:t>
            </a:r>
            <a:r>
              <a:rPr lang="en-CA" sz="1600" dirty="0" err="1">
                <a:latin typeface="Aptos Mono" panose="020B0009020202020204" pitchFamily="49" charset="0"/>
              </a:rPr>
              <a:t>housetasks</a:t>
            </a:r>
            <a:r>
              <a:rPr lang="en-CA" sz="1600" dirty="0">
                <a:latin typeface="Aptos Mono" panose="020B0009020202020204" pitchFamily="49" charset="0"/>
              </a:rPr>
              <a:t>, graph = FALSE) </a:t>
            </a:r>
            <a:r>
              <a:rPr lang="en-CA" sz="1600" dirty="0">
                <a:solidFill>
                  <a:srgbClr val="00B050"/>
                </a:solidFill>
                <a:latin typeface="Aptos Mono" panose="020B0009020202020204" pitchFamily="49" charset="0"/>
              </a:rPr>
              <a:t># ugly default graph</a:t>
            </a:r>
          </a:p>
          <a:p>
            <a:r>
              <a:rPr lang="en-CA" sz="1600" dirty="0">
                <a:latin typeface="Aptos Mono" panose="020B0009020202020204" pitchFamily="49" charset="0"/>
              </a:rPr>
              <a:t>summary(house.ca, </a:t>
            </a:r>
            <a:r>
              <a:rPr lang="en-CA" sz="1600" dirty="0" err="1">
                <a:latin typeface="Aptos Mono" panose="020B0009020202020204" pitchFamily="49" charset="0"/>
              </a:rPr>
              <a:t>ncp</a:t>
            </a:r>
            <a:r>
              <a:rPr lang="en-CA" sz="1600" dirty="0">
                <a:latin typeface="Aptos Mono" panose="020B0009020202020204" pitchFamily="49" charset="0"/>
              </a:rPr>
              <a:t> = 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3D517D-C13A-9E69-BD16-C560AAA20AFF}"/>
              </a:ext>
            </a:extLst>
          </p:cNvPr>
          <p:cNvSpPr txBox="1"/>
          <p:nvPr/>
        </p:nvSpPr>
        <p:spPr>
          <a:xfrm>
            <a:off x="491247" y="1981200"/>
            <a:ext cx="8229600" cy="4708981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000" dirty="0">
                <a:latin typeface="Aptos Mono" panose="020B0009020202020204" pitchFamily="49" charset="0"/>
              </a:rPr>
              <a:t>Call: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CA(X = </a:t>
            </a:r>
            <a:r>
              <a:rPr lang="en-CA" sz="1000" dirty="0" err="1">
                <a:latin typeface="Aptos Mono" panose="020B0009020202020204" pitchFamily="49" charset="0"/>
              </a:rPr>
              <a:t>housetasks</a:t>
            </a:r>
            <a:r>
              <a:rPr lang="en-CA" sz="1000" dirty="0">
                <a:latin typeface="Aptos Mono" panose="020B0009020202020204" pitchFamily="49" charset="0"/>
              </a:rPr>
              <a:t>, graph = FALSE) </a:t>
            </a:r>
          </a:p>
          <a:p>
            <a:endParaRPr lang="en-CA" sz="1000" dirty="0">
              <a:latin typeface="Aptos Mono" panose="020B0009020202020204" pitchFamily="49" charset="0"/>
            </a:endParaRPr>
          </a:p>
          <a:p>
            <a:r>
              <a:rPr lang="en-CA" sz="1000" dirty="0">
                <a:latin typeface="Aptos Mono" panose="020B0009020202020204" pitchFamily="49" charset="0"/>
              </a:rPr>
              <a:t>The chi square of independence between the two variables is equal to 1944.456 (p-value =  0 ).</a:t>
            </a:r>
          </a:p>
          <a:p>
            <a:endParaRPr lang="en-CA" sz="1000" dirty="0">
              <a:latin typeface="Aptos Mono" panose="020B0009020202020204" pitchFamily="49" charset="0"/>
            </a:endParaRPr>
          </a:p>
          <a:p>
            <a:r>
              <a:rPr lang="en-CA" sz="1000" dirty="0">
                <a:latin typeface="Aptos Mono" panose="020B0009020202020204" pitchFamily="49" charset="0"/>
              </a:rPr>
              <a:t>Eigenvalues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                       Dim.1   Dim.2   Dim.3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Variance               0.543   0.445   0.127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% of var.             48.692  39.913  11.395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Cumulative % of var.  48.692  88.605 100.000</a:t>
            </a:r>
          </a:p>
          <a:p>
            <a:endParaRPr lang="en-CA" sz="1000" dirty="0">
              <a:latin typeface="Aptos Mono" panose="020B0009020202020204" pitchFamily="49" charset="0"/>
            </a:endParaRPr>
          </a:p>
          <a:p>
            <a:r>
              <a:rPr lang="en-CA" sz="1000" dirty="0">
                <a:latin typeface="Aptos Mono" panose="020B0009020202020204" pitchFamily="49" charset="0"/>
              </a:rPr>
              <a:t>Rows (the 10 first)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              Iner*1000     Dim.1     ctr    cos2     Dim.2     ctr    cos2  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Laundry     |   134.160 |  -0.992  18.287   0.740 |   0.495   5.564   0.185 |</a:t>
            </a:r>
          </a:p>
          <a:p>
            <a:r>
              <a:rPr lang="en-CA" sz="1000" dirty="0" err="1">
                <a:latin typeface="Aptos Mono" panose="020B0009020202020204" pitchFamily="49" charset="0"/>
              </a:rPr>
              <a:t>Main_meal</a:t>
            </a:r>
            <a:r>
              <a:rPr lang="en-CA" sz="1000" dirty="0">
                <a:latin typeface="Aptos Mono" panose="020B0009020202020204" pitchFamily="49" charset="0"/>
              </a:rPr>
              <a:t>   |    90.692 |  -0.876  12.389   0.742 |   0.490   4.736   0.232 |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Dinner      |    38.246 |  -0.693   5.471   0.777 |   0.308   1.321   0.154 |</a:t>
            </a:r>
          </a:p>
          <a:p>
            <a:r>
              <a:rPr lang="en-CA" sz="1000" dirty="0" err="1">
                <a:latin typeface="Aptos Mono" panose="020B0009020202020204" pitchFamily="49" charset="0"/>
              </a:rPr>
              <a:t>Breakfeast</a:t>
            </a:r>
            <a:r>
              <a:rPr lang="en-CA" sz="1000" dirty="0">
                <a:latin typeface="Aptos Mono" panose="020B0009020202020204" pitchFamily="49" charset="0"/>
              </a:rPr>
              <a:t>  |    41.124 |  -0.509   3.825   0.505 |   0.453   3.699   0.400 |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Tidying     |    24.667 |  -0.394   1.998   0.440 |  -0.434   2.966   0.535 |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Dishes      |    19.587 |  -0.189   0.426   0.118 |  -0.442   2.844   0.646 |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Shopping    |    14.970 |  -0.118   0.176   0.064 |  -0.403   2.515   0.748 |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Official    |    53.300 |   0.227   0.521   0.053 |   0.254   0.796   0.066 |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Driving     |   101.509 |   0.742   8.078   0.432 |   0.653   7.647   0.335 |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Finances    |    29.564 |   0.271   0.875   0.161 |  -0.618   5.559   0.837 |</a:t>
            </a:r>
          </a:p>
          <a:p>
            <a:endParaRPr lang="en-CA" sz="1000" dirty="0">
              <a:latin typeface="Aptos Mono" panose="020B0009020202020204" pitchFamily="49" charset="0"/>
            </a:endParaRPr>
          </a:p>
          <a:p>
            <a:r>
              <a:rPr lang="en-CA" sz="1000" dirty="0">
                <a:latin typeface="Aptos Mono" panose="020B0009020202020204" pitchFamily="49" charset="0"/>
              </a:rPr>
              <a:t>Columns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              Iner*1000     Dim.1     ctr    cos2     Dim.2     ctr    cos2  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Wife        |   301.019 |  -0.838  44.462   0.802 |   0.365  10.312   0.152 |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Alternating |   117.824 |  -0.062   0.104   0.005 |   0.292   2.783   0.105 |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Husband     |   381.373 |   1.161  54.234   0.772 |   0.602  17.787   0.208 |</a:t>
            </a:r>
          </a:p>
          <a:p>
            <a:r>
              <a:rPr lang="en-CA" sz="1000" dirty="0">
                <a:latin typeface="Aptos Mono" panose="020B0009020202020204" pitchFamily="49" charset="0"/>
              </a:rPr>
              <a:t>Jointly     |   314.725 |   0.149   1.200   0.021 |  -1.027  69.118   0.977 |</a:t>
            </a:r>
          </a:p>
        </p:txBody>
      </p:sp>
    </p:spTree>
    <p:extLst>
      <p:ext uri="{BB962C8B-B14F-4D97-AF65-F5344CB8AC3E}">
        <p14:creationId xmlns:p14="http://schemas.microsoft.com/office/powerpoint/2010/main" val="1404629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E90D7-6A0A-985E-C8DC-2C4D2AE75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How many dimensions to consider?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8ADF97-5B24-2953-7670-47215DE6F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6FD51A-A5F8-940A-3DD8-539F1D8A1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70711"/>
            <a:ext cx="4214466" cy="37937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E2D220-5135-1380-F21F-80FE486F9589}"/>
              </a:ext>
            </a:extLst>
          </p:cNvPr>
          <p:cNvSpPr txBox="1"/>
          <p:nvPr/>
        </p:nvSpPr>
        <p:spPr>
          <a:xfrm>
            <a:off x="457200" y="1143000"/>
            <a:ext cx="739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 err="1">
                <a:latin typeface="Aptos Mono" panose="020B0009020202020204" pitchFamily="49" charset="0"/>
              </a:rPr>
              <a:t>fviz_screeplot</a:t>
            </a:r>
            <a:r>
              <a:rPr lang="en-CA" sz="1600" dirty="0">
                <a:latin typeface="Aptos Mono" panose="020B0009020202020204" pitchFamily="49" charset="0"/>
              </a:rPr>
              <a:t>(house.ca,                </a:t>
            </a:r>
          </a:p>
          <a:p>
            <a:r>
              <a:rPr lang="en-CA" sz="1600" dirty="0">
                <a:latin typeface="Aptos Mono" panose="020B0009020202020204" pitchFamily="49" charset="0"/>
              </a:rPr>
              <a:t>        </a:t>
            </a:r>
            <a:r>
              <a:rPr lang="en-CA" sz="1600" dirty="0" err="1">
                <a:latin typeface="Aptos Mono" panose="020B0009020202020204" pitchFamily="49" charset="0"/>
              </a:rPr>
              <a:t>addlabels</a:t>
            </a:r>
            <a:r>
              <a:rPr lang="en-CA" sz="1600" dirty="0">
                <a:latin typeface="Aptos Mono" panose="020B0009020202020204" pitchFamily="49" charset="0"/>
              </a:rPr>
              <a:t> = TRUE, </a:t>
            </a:r>
            <a:r>
              <a:rPr lang="en-CA" sz="1600" dirty="0" err="1">
                <a:latin typeface="Aptos Mono" panose="020B0009020202020204" pitchFamily="49" charset="0"/>
              </a:rPr>
              <a:t>ylim</a:t>
            </a:r>
            <a:r>
              <a:rPr lang="en-CA" sz="1600" dirty="0">
                <a:latin typeface="Aptos Mono" panose="020B0009020202020204" pitchFamily="49" charset="0"/>
              </a:rPr>
              <a:t> = c(0, 50),</a:t>
            </a:r>
          </a:p>
          <a:p>
            <a:r>
              <a:rPr lang="en-CA" sz="1600" dirty="0">
                <a:latin typeface="Aptos Mono" panose="020B0009020202020204" pitchFamily="49" charset="0"/>
              </a:rPr>
              <a:t>        </a:t>
            </a:r>
            <a:r>
              <a:rPr lang="en-CA" sz="1600" dirty="0" err="1">
                <a:latin typeface="Aptos Mono" panose="020B0009020202020204" pitchFamily="49" charset="0"/>
              </a:rPr>
              <a:t>ggtheme</a:t>
            </a:r>
            <a:r>
              <a:rPr lang="en-CA" sz="1600" dirty="0">
                <a:latin typeface="Aptos Mono" panose="020B0009020202020204" pitchFamily="49" charset="0"/>
              </a:rPr>
              <a:t> = </a:t>
            </a:r>
            <a:r>
              <a:rPr lang="en-CA" sz="1600" dirty="0" err="1">
                <a:latin typeface="Aptos Mono" panose="020B0009020202020204" pitchFamily="49" charset="0"/>
              </a:rPr>
              <a:t>theme_minimal</a:t>
            </a:r>
            <a:r>
              <a:rPr lang="en-CA" sz="1600" dirty="0">
                <a:latin typeface="Aptos Mono" panose="020B0009020202020204" pitchFamily="49" charset="0"/>
              </a:rPr>
              <a:t>(</a:t>
            </a:r>
            <a:r>
              <a:rPr lang="en-CA" sz="1600" dirty="0" err="1">
                <a:latin typeface="Aptos Mono" panose="020B0009020202020204" pitchFamily="49" charset="0"/>
              </a:rPr>
              <a:t>base_size</a:t>
            </a:r>
            <a:r>
              <a:rPr lang="en-CA" sz="1600" dirty="0">
                <a:latin typeface="Aptos Mono" panose="020B0009020202020204" pitchFamily="49" charset="0"/>
              </a:rPr>
              <a:t> = 16))</a:t>
            </a:r>
          </a:p>
        </p:txBody>
      </p:sp>
    </p:spTree>
    <p:extLst>
      <p:ext uri="{BB962C8B-B14F-4D97-AF65-F5344CB8AC3E}">
        <p14:creationId xmlns:p14="http://schemas.microsoft.com/office/powerpoint/2010/main" val="34151817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0BE60-37E0-EA43-1AAC-AB3206A7F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CA biplot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1980EB-1D2D-2701-F244-C0318CA20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901C8D-5B6F-6AA4-3EAB-AF94911E4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438400"/>
            <a:ext cx="6590790" cy="40345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11481C-3FDC-C86D-F904-F03FDDC081BF}"/>
              </a:ext>
            </a:extLst>
          </p:cNvPr>
          <p:cNvSpPr txBox="1"/>
          <p:nvPr/>
        </p:nvSpPr>
        <p:spPr>
          <a:xfrm>
            <a:off x="457200" y="1143000"/>
            <a:ext cx="8229600" cy="923330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latinLnBrk="1"/>
            <a:r>
              <a:rPr lang="en-CA" dirty="0" err="1"/>
              <a:t>fviz_ca_biplot</a:t>
            </a:r>
            <a:r>
              <a:rPr lang="en-CA" dirty="0"/>
              <a:t>(house.ca, </a:t>
            </a:r>
          </a:p>
          <a:p>
            <a:pPr latinLnBrk="1"/>
            <a:r>
              <a:rPr lang="en-CA" dirty="0"/>
              <a:t>    repel = TRUE,  </a:t>
            </a:r>
            <a:r>
              <a:rPr lang="en-CA" dirty="0" err="1"/>
              <a:t>labelsize</a:t>
            </a:r>
            <a:r>
              <a:rPr lang="en-CA" dirty="0"/>
              <a:t> = 6, arrows = c(FALSE, TRUE),</a:t>
            </a:r>
          </a:p>
          <a:p>
            <a:pPr latinLnBrk="1"/>
            <a:r>
              <a:rPr lang="en-CA" dirty="0"/>
              <a:t>    title = "</a:t>
            </a:r>
            <a:r>
              <a:rPr lang="en-CA" dirty="0" err="1"/>
              <a:t>Housetasks</a:t>
            </a:r>
            <a:r>
              <a:rPr lang="en-CA" dirty="0"/>
              <a:t> Symmetric Biplot (principal coordinates)") </a:t>
            </a:r>
          </a:p>
        </p:txBody>
      </p:sp>
    </p:spTree>
    <p:extLst>
      <p:ext uri="{BB962C8B-B14F-4D97-AF65-F5344CB8AC3E}">
        <p14:creationId xmlns:p14="http://schemas.microsoft.com/office/powerpoint/2010/main" val="10104623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184C77-E35E-3705-1B20-C8C497FDF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 descr="A game of a board game&#10;&#10;AI-generated content may be incorrect.">
            <a:extLst>
              <a:ext uri="{FF2B5EF4-FFF2-40B4-BE49-F238E27FC236}">
                <a16:creationId xmlns:a16="http://schemas.microsoft.com/office/drawing/2014/main" id="{E87467E8-517F-DAC9-F9C8-893D6F4BE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5182"/>
            <a:ext cx="9144000" cy="49876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168AA3-3E17-D2EC-53C6-EE6F97E9EE7C}"/>
              </a:ext>
            </a:extLst>
          </p:cNvPr>
          <p:cNvSpPr txBox="1"/>
          <p:nvPr/>
        </p:nvSpPr>
        <p:spPr>
          <a:xfrm>
            <a:off x="1600200" y="3352800"/>
            <a:ext cx="6096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6000" b="1" dirty="0">
                <a:solidFill>
                  <a:schemeClr val="bg1"/>
                </a:solidFill>
                <a:latin typeface="Dreaming Outloud Pro" panose="020F0502020204030204" pitchFamily="66" charset="0"/>
                <a:cs typeface="Dreaming Outloud Pro" panose="020F0502020204030204" pitchFamily="66" charset="0"/>
              </a:rPr>
              <a:t>The Magical SVD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42D48F-E8BE-B1B8-ED47-A388B8145A34}"/>
              </a:ext>
            </a:extLst>
          </p:cNvPr>
          <p:cNvSpPr txBox="1"/>
          <p:nvPr/>
        </p:nvSpPr>
        <p:spPr>
          <a:xfrm>
            <a:off x="76200" y="6019800"/>
            <a:ext cx="861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Image source: Gemini (Nano Banana) imagines the “magic of the SVD for extracting juice from frequency tables”</a:t>
            </a:r>
          </a:p>
        </p:txBody>
      </p:sp>
    </p:spTree>
    <p:extLst>
      <p:ext uri="{BB962C8B-B14F-4D97-AF65-F5344CB8AC3E}">
        <p14:creationId xmlns:p14="http://schemas.microsoft.com/office/powerpoint/2010/main" val="315079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BBCF2-D28C-4F7D-4521-C371A8E58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Singular value decomposition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D8B8D0-97F9-9306-0A67-911D63B39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8DF06B-D032-D35B-2684-E0D88E9AFCCB}"/>
              </a:ext>
            </a:extLst>
          </p:cNvPr>
          <p:cNvSpPr txBox="1"/>
          <p:nvPr/>
        </p:nvSpPr>
        <p:spPr>
          <a:xfrm>
            <a:off x="457200" y="1219200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singular value decomposition (SVD) is a basic technique for factoring a matrix and for matrix approximation</a:t>
            </a:r>
          </a:p>
          <a:p>
            <a:r>
              <a:rPr lang="en-CA" dirty="0"/>
              <a:t>For an </a:t>
            </a:r>
            <a:r>
              <a:rPr lang="en-CA" i="1" dirty="0"/>
              <a:t>m</a:t>
            </a:r>
            <a:r>
              <a:rPr lang="en-CA" dirty="0"/>
              <a:t> x </a:t>
            </a:r>
            <a:r>
              <a:rPr lang="en-CA" i="1" dirty="0"/>
              <a:t>n</a:t>
            </a:r>
            <a:r>
              <a:rPr lang="en-CA" dirty="0"/>
              <a:t> matrix </a:t>
            </a:r>
            <a:r>
              <a:rPr lang="en-CA" b="1" dirty="0"/>
              <a:t>X</a:t>
            </a:r>
            <a:r>
              <a:rPr lang="en-CA" dirty="0"/>
              <a:t> of rank </a:t>
            </a:r>
            <a:r>
              <a:rPr lang="en-CA" i="1" dirty="0"/>
              <a:t>r</a:t>
            </a:r>
            <a:r>
              <a:rPr lang="en-CA" dirty="0"/>
              <a:t> ≤ min(</a:t>
            </a:r>
            <a:r>
              <a:rPr lang="en-CA" i="1" dirty="0"/>
              <a:t>m</a:t>
            </a:r>
            <a:r>
              <a:rPr lang="en-CA" dirty="0"/>
              <a:t>, </a:t>
            </a:r>
            <a:r>
              <a:rPr lang="en-CA" i="1" dirty="0"/>
              <a:t>n</a:t>
            </a:r>
            <a:r>
              <a:rPr lang="en-CA" dirty="0"/>
              <a:t>) the SVD of </a:t>
            </a:r>
            <a:r>
              <a:rPr lang="en-CA" b="1" dirty="0"/>
              <a:t>X</a:t>
            </a:r>
            <a:r>
              <a:rPr lang="en-CA" dirty="0"/>
              <a:t> is:</a:t>
            </a:r>
          </a:p>
        </p:txBody>
      </p:sp>
      <p:pic>
        <p:nvPicPr>
          <p:cNvPr id="6" name="Picture 5" descr="Chart&#10;&#10;Description automatically generated with low confidence">
            <a:extLst>
              <a:ext uri="{FF2B5EF4-FFF2-40B4-BE49-F238E27FC236}">
                <a16:creationId xmlns:a16="http://schemas.microsoft.com/office/drawing/2014/main" id="{54DFF247-7B63-A7C6-1E0C-45E659653A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96" y="2286000"/>
            <a:ext cx="6766560" cy="37557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C74400-9DAD-B37E-3B9C-29354BD4C915}"/>
              </a:ext>
            </a:extLst>
          </p:cNvPr>
          <p:cNvSpPr txBox="1"/>
          <p:nvPr/>
        </p:nvSpPr>
        <p:spPr>
          <a:xfrm>
            <a:off x="1295400" y="6199993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8D8ADF-9941-67D5-9565-DA5906EB2E72}"/>
              </a:ext>
            </a:extLst>
          </p:cNvPr>
          <p:cNvSpPr txBox="1"/>
          <p:nvPr/>
        </p:nvSpPr>
        <p:spPr>
          <a:xfrm>
            <a:off x="3200400" y="6165623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Row scores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871E54-8C9B-DD3B-5476-8CC7DC599C12}"/>
              </a:ext>
            </a:extLst>
          </p:cNvPr>
          <p:cNvSpPr txBox="1"/>
          <p:nvPr/>
        </p:nvSpPr>
        <p:spPr>
          <a:xfrm>
            <a:off x="6585256" y="609600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Col scores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70140D-22B1-50C3-413D-3290CAAD6821}"/>
              </a:ext>
            </a:extLst>
          </p:cNvPr>
          <p:cNvSpPr txBox="1"/>
          <p:nvPr/>
        </p:nvSpPr>
        <p:spPr>
          <a:xfrm>
            <a:off x="4907678" y="6136778"/>
            <a:ext cx="129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Singular values</a:t>
            </a:r>
          </a:p>
        </p:txBody>
      </p:sp>
    </p:spTree>
    <p:extLst>
      <p:ext uri="{BB962C8B-B14F-4D97-AF65-F5344CB8AC3E}">
        <p14:creationId xmlns:p14="http://schemas.microsoft.com/office/powerpoint/2010/main" val="1588382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61B51-B524-8539-D197-AC69DCD4B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Properties of the SVD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A5280-A65C-7AD8-2D52-D0106DF27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133600"/>
          </a:xfrm>
        </p:spPr>
        <p:txBody>
          <a:bodyPr>
            <a:normAutofit/>
          </a:bodyPr>
          <a:lstStyle/>
          <a:p>
            <a:r>
              <a:rPr lang="en-CA" sz="2400" b="1" dirty="0"/>
              <a:t>U</a:t>
            </a:r>
            <a:r>
              <a:rPr lang="en-CA" sz="2400" dirty="0"/>
              <a:t>: columns are </a:t>
            </a:r>
            <a:r>
              <a:rPr lang="en-CA" sz="2400" dirty="0">
                <a:solidFill>
                  <a:srgbClr val="0070C0"/>
                </a:solidFill>
              </a:rPr>
              <a:t>eigenvectors</a:t>
            </a:r>
            <a:r>
              <a:rPr lang="en-CA" sz="2400" dirty="0"/>
              <a:t> of </a:t>
            </a:r>
            <a:r>
              <a:rPr lang="en-CA" sz="2400" b="1" dirty="0"/>
              <a:t>XX</a:t>
            </a:r>
            <a:r>
              <a:rPr lang="en-CA" sz="2400" baseline="30000" dirty="0"/>
              <a:t>T</a:t>
            </a:r>
            <a:r>
              <a:rPr lang="en-CA" sz="2400" dirty="0"/>
              <a:t> and form an orthonormal basis for observation profiles such that </a:t>
            </a:r>
            <a:r>
              <a:rPr lang="en-CA" sz="2400" b="1" dirty="0"/>
              <a:t>U</a:t>
            </a:r>
            <a:r>
              <a:rPr lang="en-CA" sz="2400" baseline="30000" dirty="0"/>
              <a:t>T</a:t>
            </a:r>
            <a:r>
              <a:rPr lang="en-CA" sz="2400" b="1" dirty="0"/>
              <a:t>U</a:t>
            </a:r>
            <a:r>
              <a:rPr lang="en-CA" sz="2400" dirty="0"/>
              <a:t> = </a:t>
            </a:r>
            <a:r>
              <a:rPr lang="en-CA" sz="2400" b="1" dirty="0"/>
              <a:t>I</a:t>
            </a:r>
          </a:p>
          <a:p>
            <a:r>
              <a:rPr lang="en-CA" sz="2400" b="1" dirty="0"/>
              <a:t>Λ</a:t>
            </a:r>
            <a:r>
              <a:rPr lang="en-CA" sz="2400" dirty="0"/>
              <a:t>: diagonal, </a:t>
            </a:r>
            <a:r>
              <a:rPr lang="en-CA" sz="2400" i="1" dirty="0"/>
              <a:t>r</a:t>
            </a:r>
            <a:r>
              <a:rPr lang="en-CA" sz="2400" dirty="0"/>
              <a:t> singular values = sqrt eigenvalues of both </a:t>
            </a:r>
            <a:r>
              <a:rPr lang="en-CA" sz="2400" b="1" dirty="0"/>
              <a:t>XX</a:t>
            </a:r>
            <a:r>
              <a:rPr lang="en-CA" sz="2400" baseline="30000" dirty="0"/>
              <a:t>T  </a:t>
            </a:r>
            <a:r>
              <a:rPr lang="en-CA" sz="2400" dirty="0"/>
              <a:t>and</a:t>
            </a:r>
            <a:r>
              <a:rPr lang="en-CA" sz="2400" baseline="30000" dirty="0"/>
              <a:t> </a:t>
            </a:r>
            <a:r>
              <a:rPr lang="en-CA" sz="2400" b="1" dirty="0"/>
              <a:t>X</a:t>
            </a:r>
            <a:r>
              <a:rPr lang="en-CA" sz="2400" baseline="30000" dirty="0"/>
              <a:t>T</a:t>
            </a:r>
            <a:r>
              <a:rPr lang="en-CA" sz="2400" b="1" dirty="0"/>
              <a:t>X</a:t>
            </a:r>
          </a:p>
          <a:p>
            <a:r>
              <a:rPr lang="en-CA" sz="2400" b="1" dirty="0"/>
              <a:t>V</a:t>
            </a:r>
            <a:r>
              <a:rPr lang="en-CA" sz="2400" dirty="0"/>
              <a:t>: columns are eigenvectors of </a:t>
            </a:r>
            <a:r>
              <a:rPr lang="en-CA" sz="2400" b="1" dirty="0"/>
              <a:t>X</a:t>
            </a:r>
            <a:r>
              <a:rPr lang="en-CA" sz="2400" baseline="30000" dirty="0"/>
              <a:t>T</a:t>
            </a:r>
            <a:r>
              <a:rPr lang="en-CA" sz="2400" b="1" dirty="0"/>
              <a:t>X</a:t>
            </a:r>
            <a:r>
              <a:rPr lang="en-CA" sz="2400" dirty="0"/>
              <a:t>, orthonormal: </a:t>
            </a:r>
            <a:r>
              <a:rPr lang="en-CA" sz="2400" b="1" dirty="0"/>
              <a:t>V</a:t>
            </a:r>
            <a:r>
              <a:rPr lang="en-CA" sz="2400" baseline="30000" dirty="0"/>
              <a:t>T</a:t>
            </a:r>
            <a:r>
              <a:rPr lang="en-CA" sz="2400" b="1" dirty="0"/>
              <a:t>V</a:t>
            </a:r>
            <a:r>
              <a:rPr lang="en-CA" sz="2400" dirty="0"/>
              <a:t> = </a:t>
            </a:r>
            <a:r>
              <a:rPr lang="en-CA" sz="2400" b="1" dirty="0"/>
              <a:t>I</a:t>
            </a:r>
          </a:p>
          <a:p>
            <a:endParaRPr lang="en-CA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F3C0ED-41E1-FE74-11A1-B57B28FD4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24</a:t>
            </a:fld>
            <a:endParaRPr lang="en-US"/>
          </a:p>
        </p:txBody>
      </p:sp>
      <p:pic>
        <p:nvPicPr>
          <p:cNvPr id="5" name="Picture 4" descr="Chart&#10;&#10;Description automatically generated with low confidence">
            <a:extLst>
              <a:ext uri="{FF2B5EF4-FFF2-40B4-BE49-F238E27FC236}">
                <a16:creationId xmlns:a16="http://schemas.microsoft.com/office/drawing/2014/main" id="{C8E24D9B-B563-8566-575A-A3C374748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3581401"/>
            <a:ext cx="4985056" cy="276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422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1098D-A38D-BF14-E9E9-F3DD56130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SVD: Matrix approximation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5AE6D-D3BF-FAE2-D5A1-855BCDE81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FA7F59-C9E3-B9B3-04D7-FEABDB618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818" y="1295400"/>
            <a:ext cx="7493182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9035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BE687-6319-A689-5665-0E3E8CCA1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SVD song: It had to be U 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9E13FB-6F71-E2D4-0072-B042486F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26</a:t>
            </a:fld>
            <a:endParaRPr lang="en-US"/>
          </a:p>
        </p:txBody>
      </p:sp>
      <p:pic>
        <p:nvPicPr>
          <p:cNvPr id="4" name="Online Media 3" title="It had to be U  -  the SVD song">
            <a:hlinkClick r:id="" action="ppaction://media"/>
            <a:extLst>
              <a:ext uri="{FF2B5EF4-FFF2-40B4-BE49-F238E27FC236}">
                <a16:creationId xmlns:a16="http://schemas.microsoft.com/office/drawing/2014/main" id="{55596D4A-5A2F-A089-111F-2A19638E297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02182" y="1447800"/>
            <a:ext cx="7932218" cy="44817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9ED357-5745-3762-E6FF-F6593D0ECCEF}"/>
              </a:ext>
            </a:extLst>
          </p:cNvPr>
          <p:cNvSpPr txBox="1"/>
          <p:nvPr/>
        </p:nvSpPr>
        <p:spPr>
          <a:xfrm>
            <a:off x="602182" y="6096000"/>
            <a:ext cx="7932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Michael Greenacre, </a:t>
            </a:r>
            <a:r>
              <a:rPr lang="en-CA" sz="1400" i="1" dirty="0"/>
              <a:t>It had to be U - the SVD song</a:t>
            </a:r>
            <a:r>
              <a:rPr lang="en-CA" sz="1400" dirty="0"/>
              <a:t>, </a:t>
            </a:r>
            <a:r>
              <a:rPr lang="en-CA" sz="1400" dirty="0">
                <a:hlinkClick r:id="rId4"/>
              </a:rPr>
              <a:t>https://www.youtube.com/watch?v=JEYLfIVvR9I</a:t>
            </a:r>
            <a:r>
              <a:rPr lang="en-CA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43461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E5D8C-7FC3-168F-4C53-E2E3E2CE3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CA notation &amp; terminology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C9BBD2-FA17-B2AD-724B-02232FCCD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CC8509-338D-1E2D-DCB5-B6F7A1CC3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5400"/>
            <a:ext cx="8171428" cy="15047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8E1681-96A6-3BBE-A7E0-6C5B22AD8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19710"/>
            <a:ext cx="8171428" cy="25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962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DAC81-D4B0-CB90-A8FE-101A181C5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Principal &amp; standard coordinates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D9A5C6-21CD-BEBF-5063-ACC613693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0F2C4B-95BF-BA61-341C-975E98819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2188604"/>
            <a:ext cx="8171428" cy="41333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C3684B6-C947-95A2-C16F-B59CD0221887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Two types of coordinates are used in CA, based on re-</a:t>
            </a:r>
            <a:r>
              <a:rPr lang="en-CA" dirty="0" err="1"/>
              <a:t>scalings</a:t>
            </a:r>
            <a:r>
              <a:rPr lang="en-CA" dirty="0"/>
              <a:t> of A and B.</a:t>
            </a:r>
          </a:p>
          <a:p>
            <a:r>
              <a:rPr lang="en-CA" dirty="0">
                <a:solidFill>
                  <a:srgbClr val="0070C0"/>
                </a:solidFill>
              </a:rPr>
              <a:t>Principal coordinates </a:t>
            </a:r>
            <a:r>
              <a:rPr lang="en-CA" dirty="0"/>
              <a:t>are most commonly used in plotting CA solutions.</a:t>
            </a:r>
          </a:p>
        </p:txBody>
      </p:sp>
    </p:spTree>
    <p:extLst>
      <p:ext uri="{BB962C8B-B14F-4D97-AF65-F5344CB8AC3E}">
        <p14:creationId xmlns:p14="http://schemas.microsoft.com/office/powerpoint/2010/main" val="7134855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07868-CF97-3020-F462-9551E4DD5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Standard coordinates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D48E5D-B383-85EC-CCF5-D0DC21A7B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185CC2-D815-FD7C-E662-A1EBF8FD8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652809"/>
            <a:ext cx="8171428" cy="35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5355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0AC14-4FB1-0085-EAD1-9C66C47BB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Geometric &amp; statistical properties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74EE0-35BD-2019-1103-859851342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000" b="1" dirty="0">
                <a:solidFill>
                  <a:srgbClr val="0070C0"/>
                </a:solidFill>
              </a:rPr>
              <a:t>Nested solutions</a:t>
            </a:r>
            <a:r>
              <a:rPr lang="en-CA" sz="2000" b="1" dirty="0"/>
              <a:t>: </a:t>
            </a:r>
            <a:r>
              <a:rPr lang="en-CA" sz="2000" dirty="0"/>
              <a:t>CA solutions are </a:t>
            </a:r>
            <a:r>
              <a:rPr lang="en-CA" sz="2000" dirty="0">
                <a:solidFill>
                  <a:srgbClr val="0070C0"/>
                </a:solidFill>
              </a:rPr>
              <a:t>nested</a:t>
            </a:r>
            <a:r>
              <a:rPr lang="en-CA" sz="2000" dirty="0"/>
              <a:t>, meaning that the first two dimensions of a 3D solution will be identical to the 2D solution (similar to PCA)</a:t>
            </a:r>
          </a:p>
          <a:p>
            <a:r>
              <a:rPr lang="en-CA" sz="2000" b="1" dirty="0">
                <a:solidFill>
                  <a:srgbClr val="0070C0"/>
                </a:solidFill>
              </a:rPr>
              <a:t>Centroids at origin</a:t>
            </a:r>
            <a:r>
              <a:rPr lang="en-CA" sz="2000" b="1" dirty="0"/>
              <a:t>: </a:t>
            </a:r>
            <a:r>
              <a:rPr lang="en-CA" sz="2000" dirty="0"/>
              <a:t>In both principal coordinates and standard coordinates the points representing the row and column profiles have their centroids (weighted averages) at the origin. </a:t>
            </a:r>
          </a:p>
          <a:p>
            <a:pPr lvl="1"/>
            <a:r>
              <a:rPr lang="en-CA" sz="1800" dirty="0"/>
              <a:t>The origin represents the (weighted) average row profile and column profile.</a:t>
            </a:r>
          </a:p>
          <a:p>
            <a:r>
              <a:rPr lang="en-CA" sz="2000" b="1" dirty="0">
                <a:solidFill>
                  <a:srgbClr val="0070C0"/>
                </a:solidFill>
              </a:rPr>
              <a:t>Chi-square distances</a:t>
            </a:r>
            <a:r>
              <a:rPr lang="en-CA" sz="2000" b="1" dirty="0"/>
              <a:t>: </a:t>
            </a:r>
            <a:r>
              <a:rPr lang="en-CA" sz="2000" dirty="0"/>
              <a:t>In principal coordinates, distances between two row profiles, </a:t>
            </a:r>
            <a:r>
              <a:rPr lang="en-CA" sz="2000" b="1" i="1" dirty="0" err="1"/>
              <a:t>r</a:t>
            </a:r>
            <a:r>
              <a:rPr lang="en-CA" sz="2000" baseline="-25000" dirty="0" err="1"/>
              <a:t>i</a:t>
            </a:r>
            <a:r>
              <a:rPr lang="en-CA" sz="2000" dirty="0"/>
              <a:t> and </a:t>
            </a:r>
            <a:r>
              <a:rPr lang="en-CA" sz="2000" b="1" i="1" dirty="0" err="1"/>
              <a:t>r</a:t>
            </a:r>
            <a:r>
              <a:rPr lang="en-CA" sz="2000" baseline="-25000" dirty="0" err="1"/>
              <a:t>i</a:t>
            </a:r>
            <a:r>
              <a:rPr lang="en-CA" sz="2000" baseline="-25000" dirty="0"/>
              <a:t>’ </a:t>
            </a:r>
            <a:r>
              <a:rPr lang="en-CA" sz="2000" dirty="0"/>
              <a:t>are </a:t>
            </a:r>
            <a:r>
              <a:rPr lang="en-CA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  <a:sym typeface="Symbol" panose="05050102010706020507" pitchFamily="18" charset="2"/>
              </a:rPr>
              <a:t></a:t>
            </a:r>
            <a:r>
              <a:rPr lang="en-CA" sz="1800" kern="1200" baseline="30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2</a:t>
            </a:r>
            <a:r>
              <a:rPr lang="en-CA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en-CA" sz="2000" dirty="0"/>
              <a:t>distances</a:t>
            </a:r>
          </a:p>
          <a:p>
            <a:pPr lvl="1"/>
            <a:r>
              <a:rPr lang="en-CA" sz="1800" dirty="0"/>
              <a:t>The squared difference (</a:t>
            </a:r>
            <a:r>
              <a:rPr lang="en-CA" sz="1800" dirty="0" err="1"/>
              <a:t>r</a:t>
            </a:r>
            <a:r>
              <a:rPr lang="en-CA" sz="1800" baseline="-25000" dirty="0" err="1"/>
              <a:t>ij</a:t>
            </a:r>
            <a:r>
              <a:rPr lang="en-CA" sz="1800" dirty="0"/>
              <a:t> – </a:t>
            </a:r>
            <a:r>
              <a:rPr lang="en-CA" sz="1800" dirty="0" err="1"/>
              <a:t>r</a:t>
            </a:r>
            <a:r>
              <a:rPr lang="en-CA" sz="1800" baseline="-25000" dirty="0" err="1"/>
              <a:t>i’j</a:t>
            </a:r>
            <a:r>
              <a:rPr lang="en-CA" sz="1800" dirty="0"/>
              <a:t> )</a:t>
            </a:r>
            <a:r>
              <a:rPr lang="en-CA" sz="1800" baseline="30000" dirty="0"/>
              <a:t>2</a:t>
            </a:r>
            <a:r>
              <a:rPr lang="en-CA" sz="1800" dirty="0"/>
              <a:t> between two row profiles is inversely weighted by the column frequency, to account for the different relative frequency of the column categories.</a:t>
            </a:r>
          </a:p>
          <a:p>
            <a:r>
              <a:rPr lang="en-CA" sz="2000" b="1" dirty="0">
                <a:solidFill>
                  <a:srgbClr val="0070C0"/>
                </a:solidFill>
              </a:rPr>
              <a:t>Plotting</a:t>
            </a:r>
            <a:r>
              <a:rPr lang="en-CA" sz="2000" b="1" dirty="0"/>
              <a:t>: </a:t>
            </a:r>
            <a:r>
              <a:rPr lang="en-CA" sz="2000" dirty="0"/>
              <a:t>For distances to be interpretable, it’s crucial to scale the axes equally, so 1</a:t>
            </a:r>
            <a:r>
              <a:rPr lang="en-CA" sz="2000" baseline="30000" dirty="0"/>
              <a:t>cm</a:t>
            </a:r>
            <a:r>
              <a:rPr lang="en-CA" sz="2000" dirty="0"/>
              <a:t> is the same on both axes (</a:t>
            </a:r>
            <a:r>
              <a:rPr lang="en-CA" sz="2000" dirty="0">
                <a:solidFill>
                  <a:srgbClr val="0070C0"/>
                </a:solidFill>
              </a:rPr>
              <a:t>aspect ratio = 1</a:t>
            </a:r>
            <a:r>
              <a:rPr lang="en-CA" sz="2000" dirty="0"/>
              <a:t>). This is standard in most packages.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4A4D3F-5025-533F-8CBE-1AAEAA369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808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EB10B-FACA-6688-2EEA-DE35D2B42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The </a:t>
            </a: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ca</a:t>
            </a:r>
            <a:r>
              <a:rPr lang="en-CA" dirty="0"/>
              <a:t> package in 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C8C94-47B3-7F87-9A08-E4DBA01E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0D4F00-62C9-BC50-ECE7-905B5048DF08}"/>
              </a:ext>
            </a:extLst>
          </p:cNvPr>
          <p:cNvSpPr txBox="1"/>
          <p:nvPr/>
        </p:nvSpPr>
        <p:spPr>
          <a:xfrm>
            <a:off x="457200" y="12954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ca() </a:t>
            </a:r>
            <a:r>
              <a:rPr lang="en-CA" dirty="0"/>
              <a:t>calculates CA solutions, returning a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“ca” </a:t>
            </a:r>
            <a:r>
              <a:rPr lang="en-CA" dirty="0"/>
              <a:t>object with all the details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A48860-CBDD-9547-6D97-BD0BC928DDDE}"/>
              </a:ext>
            </a:extLst>
          </p:cNvPr>
          <p:cNvSpPr txBox="1"/>
          <p:nvPr/>
        </p:nvSpPr>
        <p:spPr>
          <a:xfrm>
            <a:off x="457200" y="2011362"/>
            <a:ext cx="8229600" cy="116955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names(haireye.ca)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[1]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sv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       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       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rownames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 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rowmass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  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rowdist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[6]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rowinertia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rowcoord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 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rowsup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   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colnames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 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colmass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[11]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coldist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  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colinertia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colcoord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  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colsup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    "N"        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[16] "call"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A05E9F-74CE-3129-C655-CE4E40FDDD82}"/>
              </a:ext>
            </a:extLst>
          </p:cNvPr>
          <p:cNvSpPr txBox="1"/>
          <p:nvPr/>
        </p:nvSpPr>
        <p:spPr>
          <a:xfrm>
            <a:off x="457200" y="3527543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result contains the standard row coordinates (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rowcoord</a:t>
            </a:r>
            <a:r>
              <a:rPr lang="en-CA" dirty="0"/>
              <a:t>: </a:t>
            </a:r>
            <a:r>
              <a:rPr lang="el-GR" dirty="0"/>
              <a:t>Φ</a:t>
            </a:r>
            <a:r>
              <a:rPr lang="en-CA" dirty="0"/>
              <a:t> ) and column coordinates (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colcoord</a:t>
            </a:r>
            <a:r>
              <a:rPr lang="en-CA" dirty="0"/>
              <a:t>: </a:t>
            </a:r>
            <a:r>
              <a:rPr lang="el-GR" dirty="0"/>
              <a:t>Γ</a:t>
            </a:r>
            <a:r>
              <a:rPr lang="en-CA" dirty="0"/>
              <a:t>) used in plotting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FBB5C2-BE5B-DEA3-BE53-D3251AF5B9C5}"/>
              </a:ext>
            </a:extLst>
          </p:cNvPr>
          <p:cNvSpPr txBox="1"/>
          <p:nvPr/>
        </p:nvSpPr>
        <p:spPr>
          <a:xfrm>
            <a:off x="457200" y="4520504"/>
            <a:ext cx="3886200" cy="138499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haireye.ca$rowcoord</a:t>
            </a:r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Dim1   Dim2   Dim3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Black -1.104  1.441 -1.089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Brown -0.324 -0.219  0.957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Red   -0.283 -2.144 -1.631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Blond  1.828  0.467 -0.318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650B61-AA31-F047-3B27-E5F73282F41B}"/>
              </a:ext>
            </a:extLst>
          </p:cNvPr>
          <p:cNvSpPr txBox="1"/>
          <p:nvPr/>
        </p:nvSpPr>
        <p:spPr>
          <a:xfrm>
            <a:off x="4572000" y="4520504"/>
            <a:ext cx="3810000" cy="138499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haireye.ca$colcoord</a:t>
            </a:r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Dim1   Dim2    Dim3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Brown -1.077  0.592 -0.4240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Blue   1.198  0.556  0.0924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Hazel -0.465 -1.123  1.9719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Green  0.354 -2.274 -1.7184</a:t>
            </a:r>
          </a:p>
        </p:txBody>
      </p:sp>
    </p:spTree>
    <p:extLst>
      <p:ext uri="{BB962C8B-B14F-4D97-AF65-F5344CB8AC3E}">
        <p14:creationId xmlns:p14="http://schemas.microsoft.com/office/powerpoint/2010/main" val="9874115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AF891-FF7A-1B40-1B57-760A875E3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ca</a:t>
            </a:r>
            <a:r>
              <a:rPr lang="en-CA" dirty="0"/>
              <a:t> plots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145CB6-0B96-E4DC-E85C-69ED6BE3F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dirty="0"/>
              <a:t>The </a:t>
            </a:r>
            <a:r>
              <a:rPr lang="en-CA" sz="1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plot() </a:t>
            </a:r>
            <a:r>
              <a:rPr lang="en-CA" sz="2400" dirty="0"/>
              <a:t>method provides a wide variety of </a:t>
            </a:r>
            <a:r>
              <a:rPr lang="en-CA" sz="2400" dirty="0" err="1"/>
              <a:t>scalings</a:t>
            </a:r>
            <a:r>
              <a:rPr lang="en-CA" sz="2400" dirty="0"/>
              <a:t> (</a:t>
            </a:r>
            <a:r>
              <a:rPr lang="en-CA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map= </a:t>
            </a:r>
            <a:r>
              <a:rPr lang="en-CA" sz="2400" dirty="0"/>
              <a:t>), with different interpretative properties. Some of these:</a:t>
            </a:r>
          </a:p>
          <a:p>
            <a:r>
              <a:rPr lang="en-CA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“symmetric” </a:t>
            </a:r>
            <a:r>
              <a:rPr lang="en-CA" sz="2000" dirty="0"/>
              <a:t>– </a:t>
            </a:r>
            <a:r>
              <a:rPr lang="en-CA" sz="2000" dirty="0">
                <a:solidFill>
                  <a:srgbClr val="0070C0"/>
                </a:solidFill>
              </a:rPr>
              <a:t>both rows &amp; cols in principal coordinates (default)</a:t>
            </a:r>
          </a:p>
          <a:p>
            <a:r>
              <a:rPr lang="en-CA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CA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rowprincipal</a:t>
            </a:r>
            <a:r>
              <a:rPr lang="en-CA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” </a:t>
            </a:r>
            <a:r>
              <a:rPr lang="en-CA" sz="2000" dirty="0"/>
              <a:t>or </a:t>
            </a:r>
            <a:r>
              <a:rPr lang="en-CA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CA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colprincipal</a:t>
            </a:r>
            <a:r>
              <a:rPr lang="en-CA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” </a:t>
            </a:r>
            <a:r>
              <a:rPr lang="en-CA" sz="2000" dirty="0"/>
              <a:t>– asymmetric maps with rows in principal coordinates and cols in std coordinates, or vice versa</a:t>
            </a:r>
          </a:p>
          <a:p>
            <a:r>
              <a:rPr lang="en-CA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CA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symbiplot</a:t>
            </a:r>
            <a:r>
              <a:rPr lang="en-CA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” </a:t>
            </a:r>
            <a:r>
              <a:rPr lang="en-CA" sz="2000" dirty="0"/>
              <a:t>– scales both rows and cols to have variances equal to the singular value</a:t>
            </a:r>
          </a:p>
          <a:p>
            <a:endParaRPr lang="en-CA" sz="2000" dirty="0"/>
          </a:p>
          <a:p>
            <a:pPr marL="0" indent="0">
              <a:buNone/>
            </a:pPr>
            <a:r>
              <a:rPr lang="en-CA" sz="2000" dirty="0"/>
              <a:t>The </a:t>
            </a:r>
            <a:r>
              <a:rPr lang="en-CA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mjca</a:t>
            </a:r>
            <a:r>
              <a:rPr lang="en-CA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CA" sz="2000" dirty="0"/>
              <a:t>function is used for multiple correspondence analysis (MCA) for 3+ way tables.  Has analogous print(), summary() and plot() methods</a:t>
            </a:r>
          </a:p>
          <a:p>
            <a:r>
              <a:rPr lang="en-CA" sz="18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vcdExtra</a:t>
            </a:r>
            <a:r>
              <a:rPr lang="en-CA" sz="1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CA" sz="18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mcaplot</a:t>
            </a:r>
            <a:r>
              <a:rPr lang="en-CA" sz="1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CA" sz="2000" dirty="0"/>
              <a:t>does a nicer job of plotting MCA solutions</a:t>
            </a:r>
          </a:p>
          <a:p>
            <a:pPr marL="0" indent="0">
              <a:buNone/>
            </a:pPr>
            <a:endParaRPr lang="en-CA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4F35C1-E7BD-B520-F719-95B131D3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5798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C717A-7DAF-1421-B2FA-F8DDEA8E7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BE8CE6-31ED-6611-BF64-2A9A782BC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447800"/>
            <a:ext cx="8171428" cy="45142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136CA1-147D-EC67-9935-4B7AF97A6C13}"/>
              </a:ext>
            </a:extLst>
          </p:cNvPr>
          <p:cNvSpPr txBox="1"/>
          <p:nvPr/>
        </p:nvSpPr>
        <p:spPr>
          <a:xfrm>
            <a:off x="457200" y="457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0070C0"/>
                </a:solidFill>
              </a:rPr>
              <a:t>Asymmetric</a:t>
            </a:r>
            <a:r>
              <a:rPr lang="en-CA" dirty="0"/>
              <a:t> row/col principal plots are </a:t>
            </a:r>
            <a:r>
              <a:rPr lang="en-CA" dirty="0">
                <a:solidFill>
                  <a:srgbClr val="0070C0"/>
                </a:solidFill>
              </a:rPr>
              <a:t>biplots</a:t>
            </a:r>
            <a:r>
              <a:rPr lang="en-CA" dirty="0"/>
              <a:t> – can interpret the projection of points on vectors for the other variable</a:t>
            </a:r>
          </a:p>
        </p:txBody>
      </p:sp>
    </p:spTree>
    <p:extLst>
      <p:ext uri="{BB962C8B-B14F-4D97-AF65-F5344CB8AC3E}">
        <p14:creationId xmlns:p14="http://schemas.microsoft.com/office/powerpoint/2010/main" val="11196029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D98601-77EB-E0C2-7DCF-8ECF8789B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Optimal category scores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DD6B5C-C2A8-297A-1EB0-5E37FD215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400" dirty="0"/>
              <a:t>CA has a close relation to </a:t>
            </a:r>
            <a:r>
              <a:rPr lang="en-CA" sz="2400" dirty="0">
                <a:solidFill>
                  <a:srgbClr val="0070C0"/>
                </a:solidFill>
              </a:rPr>
              <a:t>canonical correlation analysis</a:t>
            </a:r>
            <a:r>
              <a:rPr lang="en-CA" sz="2400" dirty="0"/>
              <a:t>, applied to dummy variables representing the categories</a:t>
            </a:r>
          </a:p>
          <a:p>
            <a:r>
              <a:rPr lang="en-CA" sz="2400" dirty="0"/>
              <a:t>The singular values, </a:t>
            </a:r>
            <a:r>
              <a:rPr lang="en-CA" sz="2400" dirty="0">
                <a:sym typeface="Symbol" panose="05050102010706020507" pitchFamily="18" charset="2"/>
              </a:rPr>
              <a:t></a:t>
            </a:r>
            <a:r>
              <a:rPr lang="en-CA" sz="2400" baseline="-25000" dirty="0" err="1"/>
              <a:t>i</a:t>
            </a:r>
            <a:r>
              <a:rPr lang="en-CA" sz="2400" dirty="0"/>
              <a:t> , are the </a:t>
            </a:r>
            <a:r>
              <a:rPr lang="en-CA" sz="2400" dirty="0">
                <a:solidFill>
                  <a:srgbClr val="0070C0"/>
                </a:solidFill>
              </a:rPr>
              <a:t>correlations </a:t>
            </a:r>
            <a:r>
              <a:rPr lang="en-CA" sz="2400" dirty="0"/>
              <a:t>between the category scores</a:t>
            </a:r>
          </a:p>
          <a:p>
            <a:pPr lvl="1"/>
            <a:r>
              <a:rPr lang="en-CA" sz="2000" dirty="0"/>
              <a:t>Assign Dim 1 scores, </a:t>
            </a:r>
            <a:r>
              <a:rPr lang="en-CA" sz="2000" b="1" dirty="0"/>
              <a:t>X</a:t>
            </a:r>
            <a:r>
              <a:rPr lang="en-CA" sz="2000" dirty="0"/>
              <a:t>1 and </a:t>
            </a:r>
            <a:r>
              <a:rPr lang="en-CA" sz="2000" b="1" dirty="0"/>
              <a:t>Y</a:t>
            </a:r>
            <a:r>
              <a:rPr lang="en-CA" sz="2000" dirty="0"/>
              <a:t>1 to the row/column categories: </a:t>
            </a:r>
            <a:r>
              <a:rPr lang="en-CA" sz="2000" dirty="0">
                <a:sym typeface="Symbol" panose="05050102010706020507" pitchFamily="18" charset="2"/>
              </a:rPr>
              <a:t></a:t>
            </a:r>
            <a:r>
              <a:rPr lang="en-CA" sz="2000" dirty="0"/>
              <a:t> Max. possible correlation, </a:t>
            </a:r>
            <a:r>
              <a:rPr lang="en-CA" sz="2000" dirty="0">
                <a:sym typeface="Symbol" panose="05050102010706020507" pitchFamily="18" charset="2"/>
              </a:rPr>
              <a:t></a:t>
            </a:r>
            <a:r>
              <a:rPr lang="en-CA" sz="2000" baseline="-25000" dirty="0"/>
              <a:t>1</a:t>
            </a:r>
          </a:p>
          <a:p>
            <a:pPr lvl="1"/>
            <a:r>
              <a:rPr lang="en-CA" sz="2000" dirty="0"/>
              <a:t>Assign Dim 2 scores, </a:t>
            </a:r>
            <a:r>
              <a:rPr lang="en-CA" sz="2000" b="1" dirty="0"/>
              <a:t>X</a:t>
            </a:r>
            <a:r>
              <a:rPr lang="en-CA" sz="2000" dirty="0"/>
              <a:t>2 and </a:t>
            </a:r>
            <a:r>
              <a:rPr lang="en-CA" sz="2000" b="1" dirty="0"/>
              <a:t>Y</a:t>
            </a:r>
            <a:r>
              <a:rPr lang="en-CA" sz="2000" dirty="0"/>
              <a:t>2 to the row/column categories: </a:t>
            </a:r>
            <a:r>
              <a:rPr lang="en-CA" sz="2000" dirty="0">
                <a:sym typeface="Symbol" panose="05050102010706020507" pitchFamily="18" charset="2"/>
              </a:rPr>
              <a:t></a:t>
            </a:r>
            <a:r>
              <a:rPr lang="en-CA" sz="2000" dirty="0"/>
              <a:t> Max. possible correlation, </a:t>
            </a:r>
            <a:r>
              <a:rPr lang="en-CA" sz="2000" dirty="0">
                <a:sym typeface="Symbol" panose="05050102010706020507" pitchFamily="18" charset="2"/>
              </a:rPr>
              <a:t></a:t>
            </a:r>
            <a:r>
              <a:rPr lang="en-CA" sz="2000" baseline="-25000" dirty="0"/>
              <a:t>2</a:t>
            </a:r>
            <a:r>
              <a:rPr lang="en-CA" sz="2000" dirty="0"/>
              <a:t>, but uncorrelated with </a:t>
            </a:r>
            <a:r>
              <a:rPr lang="en-CA" sz="2000" b="1" dirty="0"/>
              <a:t>X</a:t>
            </a:r>
            <a:r>
              <a:rPr lang="en-CA" sz="2000" dirty="0"/>
              <a:t>1, </a:t>
            </a:r>
            <a:r>
              <a:rPr lang="en-CA" sz="2000" b="1" dirty="0"/>
              <a:t>Y</a:t>
            </a:r>
            <a:r>
              <a:rPr lang="en-CA" sz="2000" dirty="0"/>
              <a:t>1</a:t>
            </a:r>
          </a:p>
          <a:p>
            <a:pPr lvl="1"/>
            <a:r>
              <a:rPr lang="en-CA" sz="2000" dirty="0"/>
              <a:t>All association between row/col categories is captured by the scores</a:t>
            </a:r>
          </a:p>
          <a:p>
            <a:r>
              <a:rPr lang="en-CA" sz="2400" dirty="0"/>
              <a:t>This </a:t>
            </a:r>
            <a:r>
              <a:rPr lang="en-CA" sz="2400" dirty="0">
                <a:solidFill>
                  <a:srgbClr val="0070C0"/>
                </a:solidFill>
              </a:rPr>
              <a:t>optimal scaling </a:t>
            </a:r>
            <a:r>
              <a:rPr lang="en-CA" sz="2400" dirty="0"/>
              <a:t>interpretation can be used to quantify categorical variables, particularly if Dim 1 is large</a:t>
            </a:r>
          </a:p>
          <a:p>
            <a:r>
              <a:rPr lang="en-CA" sz="2400" dirty="0"/>
              <a:t>Mosaics: Permute rows / cols by Dim 1 scores</a:t>
            </a:r>
          </a:p>
          <a:p>
            <a:pPr lvl="1"/>
            <a:endParaRPr lang="en-CA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7B28BC-0986-85FF-B23D-0BE5E9B0D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932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39F7F-7888-8C73-6960-511A1CF9F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Optimal category scores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13BB5-9822-0528-8864-7F31D14F4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30406D-F8C6-4A3B-8233-D215F5438609}"/>
              </a:ext>
            </a:extLst>
          </p:cNvPr>
          <p:cNvSpPr txBox="1"/>
          <p:nvPr/>
        </p:nvSpPr>
        <p:spPr>
          <a:xfrm>
            <a:off x="457200" y="1371600"/>
            <a:ext cx="4114800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haireye.ca &lt;- ca(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round(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haireye.ca$sv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3)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[1] 0.457 0.149 0.051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33C377-F355-47E1-B642-4808C8E7214C}"/>
              </a:ext>
            </a:extLst>
          </p:cNvPr>
          <p:cNvSpPr txBox="1"/>
          <p:nvPr/>
        </p:nvSpPr>
        <p:spPr>
          <a:xfrm>
            <a:off x="533400" y="2514600"/>
            <a:ext cx="815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demonstrate category scores, extract row/col coordinates to a data frame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AA0B9C-2B13-4D2F-B110-2BCEC1AE79A9}"/>
              </a:ext>
            </a:extLst>
          </p:cNvPr>
          <p:cNvSpPr txBox="1"/>
          <p:nvPr/>
        </p:nvSpPr>
        <p:spPr>
          <a:xfrm>
            <a:off x="609600" y="3276600"/>
            <a:ext cx="8077200" cy="246221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HE.df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as.data.frame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RC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haireye.ca$rowcoord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# row coordinates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CC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haireye.ca$colcoord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# col coordinates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Y1 &lt;- RC[match(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HE.df$Hair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haireye.ca$rownames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), 1]   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Dim 1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X1 &lt;- CC[match(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HE.df$Eye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haireye.ca$colnames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), 1]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Y2 &lt;- RC[match(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HE.df$Hair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haireye.ca$rownames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), 2]   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Dim 2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X2 &lt;- CC[match(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HE.df$Eye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haireye.ca$colnames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), 2]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HE.df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cbind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HE.df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X1, Y1, X2, Y2)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78FB87-40CF-4628-AC1C-B1A464C63C80}"/>
              </a:ext>
            </a:extLst>
          </p:cNvPr>
          <p:cNvSpPr txBox="1"/>
          <p:nvPr/>
        </p:nvSpPr>
        <p:spPr>
          <a:xfrm>
            <a:off x="4800600" y="1447800"/>
            <a:ext cx="3886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singular values </a:t>
            </a:r>
            <a:r>
              <a:rPr lang="en-US" dirty="0">
                <a:sym typeface="Symbol" panose="05050102010706020507" pitchFamily="18" charset="2"/>
              </a:rPr>
              <a:t></a:t>
            </a:r>
            <a:r>
              <a:rPr lang="en-US" baseline="-25000" dirty="0">
                <a:sym typeface="Symbol" panose="05050102010706020507" pitchFamily="18" charset="2"/>
              </a:rPr>
              <a:t>i</a:t>
            </a:r>
            <a:r>
              <a:rPr lang="en-US" dirty="0">
                <a:sym typeface="Symbol" panose="05050102010706020507" pitchFamily="18" charset="2"/>
              </a:rPr>
              <a:t> = canonical correlations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3648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D1C8F-F6E9-4B47-897C-6FA22AAD3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Optimal category scores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FD7EBD-1E13-493E-B4B3-9E292DF4E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64FFE0-811F-4887-8683-BAE540C8FC8A}"/>
              </a:ext>
            </a:extLst>
          </p:cNvPr>
          <p:cNvSpPr txBox="1"/>
          <p:nvPr/>
        </p:nvSpPr>
        <p:spPr>
          <a:xfrm>
            <a:off x="457200" y="1264920"/>
            <a:ext cx="8229600" cy="2677656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HE.df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cbind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HE.df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X1, Y1, X2, Y2)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print(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HE.df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digits=3)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Hair   Eye Freq     X1     Y1     X2     Y2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  Black Brown   68 -1.077 -1.104  0.592  1.441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2  Brown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Brown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119 -1.077 -0.324  0.592 -0.219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3    Red Brown   26 -1.077 -0.283  0.592 -2.144</a:t>
            </a:r>
          </a:p>
          <a:p>
            <a:pPr marL="342900" indent="-342900">
              <a:buAutoNum type="arabicPlain" startAt="4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Blond Brown    7 -1.077  1.828  0.592  0.467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 . .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13 Black Green    5  0.354 -1.104 -2.274  1.441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14 Brown Green   29  0.354 -0.324 -2.274 -0.219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15   Red Green   14  0.354 -0.283 -2.274 -2.144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16 Blond Green   16  0.354  1.828 -2.274  0.467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162058-DA01-405D-912C-1EAD7607BA0B}"/>
              </a:ext>
            </a:extLst>
          </p:cNvPr>
          <p:cNvSpPr txBox="1"/>
          <p:nvPr/>
        </p:nvSpPr>
        <p:spPr>
          <a:xfrm>
            <a:off x="457200" y="41148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 Freq-weighted correlations. All are zero except r(X1, Y1) = </a:t>
            </a:r>
            <a:r>
              <a:rPr lang="en-US" dirty="0">
                <a:sym typeface="Symbol" panose="05050102010706020507" pitchFamily="18" charset="2"/>
              </a:rPr>
              <a:t></a:t>
            </a:r>
            <a:r>
              <a:rPr lang="en-US" baseline="-25000" dirty="0">
                <a:sym typeface="Symbol" panose="05050102010706020507" pitchFamily="18" charset="2"/>
              </a:rPr>
              <a:t>1</a:t>
            </a:r>
            <a:r>
              <a:rPr lang="en-US" dirty="0">
                <a:sym typeface="Symbol" panose="05050102010706020507" pitchFamily="18" charset="2"/>
              </a:rPr>
              <a:t> &amp; </a:t>
            </a:r>
            <a:r>
              <a:rPr lang="en-US" dirty="0"/>
              <a:t>r(X2, Y2) = </a:t>
            </a:r>
            <a:r>
              <a:rPr lang="en-US" dirty="0">
                <a:sym typeface="Symbol" panose="05050102010706020507" pitchFamily="18" charset="2"/>
              </a:rPr>
              <a:t></a:t>
            </a:r>
            <a:r>
              <a:rPr lang="en-US" baseline="-25000" dirty="0">
                <a:sym typeface="Symbol" panose="05050102010706020507" pitchFamily="18" charset="2"/>
              </a:rPr>
              <a:t>2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64228D-01A6-4646-8DC1-8B9345BDA164}"/>
              </a:ext>
            </a:extLst>
          </p:cNvPr>
          <p:cNvSpPr txBox="1"/>
          <p:nvPr/>
        </p:nvSpPr>
        <p:spPr>
          <a:xfrm>
            <a:off x="457200" y="4724400"/>
            <a:ext cx="8229600" cy="160043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cov.wt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HE.df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[,4:7],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HE.df$Freq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=TRUE)$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round(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zapsmall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), 3)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X1    Y1    X2    Y2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X1 1.000 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0.457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0.000 0.000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Y1 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0.457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1.000 0.000 0.000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X2 0.000 0.000 1.000 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0.149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Y2 0.000 0.000 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0.149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1.000</a:t>
            </a:r>
          </a:p>
        </p:txBody>
      </p:sp>
    </p:spTree>
    <p:extLst>
      <p:ext uri="{BB962C8B-B14F-4D97-AF65-F5344CB8AC3E}">
        <p14:creationId xmlns:p14="http://schemas.microsoft.com/office/powerpoint/2010/main" val="2997902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80207-13F3-B4EF-D8F4-BED4258C4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Permuting for a mosaic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92E2E7-A647-36FC-1F00-80E32BAE2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37</a:t>
            </a:fld>
            <a:endParaRPr lang="en-US"/>
          </a:p>
        </p:txBody>
      </p:sp>
      <p:pic>
        <p:nvPicPr>
          <p:cNvPr id="7" name="Picture 6" descr="Chart&#10;&#10;Description automatically generated">
            <a:extLst>
              <a:ext uri="{FF2B5EF4-FFF2-40B4-BE49-F238E27FC236}">
                <a16:creationId xmlns:a16="http://schemas.microsoft.com/office/drawing/2014/main" id="{FA66CAD1-6AFF-1630-0831-5BA4243457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497005"/>
            <a:ext cx="6217920" cy="42244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1AC8AF-6D19-D291-3C02-88B081805E44}"/>
              </a:ext>
            </a:extLst>
          </p:cNvPr>
          <p:cNvSpPr txBox="1"/>
          <p:nvPr/>
        </p:nvSpPr>
        <p:spPr>
          <a:xfrm>
            <a:off x="457200" y="1143000"/>
            <a:ext cx="8229600" cy="1323439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data(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housetasks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package="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factoextra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res.ca &lt;- </a:t>
            </a:r>
            <a:r>
              <a:rPr lang="en-CA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FactoMiner</a:t>
            </a:r>
            <a:r>
              <a:rPr lang="en-CA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::CA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housetasks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graph=FALSE)</a:t>
            </a:r>
          </a:p>
          <a:p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fviz_ca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(res.ca, repel = TRUE,   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geom.col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c("point", "text", "arrow"))  +    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theme_minimal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3681BC-DBDC-A478-1EF7-B1E3176D0632}"/>
              </a:ext>
            </a:extLst>
          </p:cNvPr>
          <p:cNvSpPr txBox="1"/>
          <p:nvPr/>
        </p:nvSpPr>
        <p:spPr>
          <a:xfrm>
            <a:off x="6858000" y="3886200"/>
            <a:ext cx="1828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Dim1: H vs Wife</a:t>
            </a:r>
          </a:p>
          <a:p>
            <a:endParaRPr lang="en-CA" dirty="0"/>
          </a:p>
          <a:p>
            <a:r>
              <a:rPr lang="en-CA" dirty="0"/>
              <a:t>Dim2: single vs jointly</a:t>
            </a:r>
          </a:p>
        </p:txBody>
      </p:sp>
    </p:spTree>
    <p:extLst>
      <p:ext uri="{BB962C8B-B14F-4D97-AF65-F5344CB8AC3E}">
        <p14:creationId xmlns:p14="http://schemas.microsoft.com/office/powerpoint/2010/main" val="20168650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A607B-BF2A-12FA-5FBF-1D0733979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Permuting for a mosaic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66BD1D-8965-6D96-F6E2-611F6CF6B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38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3FF795-DF57-BBD7-F057-11DEAA5B8D0F}"/>
              </a:ext>
            </a:extLst>
          </p:cNvPr>
          <p:cNvSpPr txBox="1"/>
          <p:nvPr/>
        </p:nvSpPr>
        <p:spPr>
          <a:xfrm>
            <a:off x="4681301" y="1143000"/>
            <a:ext cx="4081699" cy="107721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/>
              <a:t>library(seriation)</a:t>
            </a:r>
          </a:p>
          <a:p>
            <a:r>
              <a:rPr lang="en-CA" sz="1600" dirty="0"/>
              <a:t>order &lt;- </a:t>
            </a:r>
            <a:r>
              <a:rPr lang="en-CA" sz="1600" b="1" dirty="0"/>
              <a:t>seriate(</a:t>
            </a:r>
            <a:r>
              <a:rPr lang="en-CA" sz="1600" dirty="0" err="1"/>
              <a:t>housetasks</a:t>
            </a:r>
            <a:r>
              <a:rPr lang="en-CA" sz="1600" dirty="0"/>
              <a:t>, method = "CA")</a:t>
            </a:r>
          </a:p>
          <a:p>
            <a:r>
              <a:rPr lang="en-CA" sz="1600" dirty="0" err="1"/>
              <a:t>ht</a:t>
            </a:r>
            <a:r>
              <a:rPr lang="en-CA" sz="1600" dirty="0"/>
              <a:t> &lt;- permute(</a:t>
            </a:r>
            <a:r>
              <a:rPr lang="en-CA" sz="1600" dirty="0" err="1"/>
              <a:t>housetasks</a:t>
            </a:r>
            <a:r>
              <a:rPr lang="en-CA" sz="1600" dirty="0"/>
              <a:t>, order, margin=1)</a:t>
            </a:r>
          </a:p>
          <a:p>
            <a:r>
              <a:rPr lang="en-CA" sz="1600" dirty="0"/>
              <a:t>mosaic(</a:t>
            </a:r>
            <a:r>
              <a:rPr lang="en-CA" sz="1600" dirty="0" err="1"/>
              <a:t>ht</a:t>
            </a:r>
            <a:r>
              <a:rPr lang="en-CA" sz="1600" dirty="0"/>
              <a:t>, shade = TRUE, ...)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652710-7883-D9D6-DF75-D9501C2D8572}"/>
              </a:ext>
            </a:extLst>
          </p:cNvPr>
          <p:cNvSpPr txBox="1"/>
          <p:nvPr/>
        </p:nvSpPr>
        <p:spPr>
          <a:xfrm>
            <a:off x="457200" y="1295400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seriate package has a CA method to permute rows/cols of a </a:t>
            </a:r>
            <a:r>
              <a:rPr lang="en-CA" dirty="0" err="1"/>
              <a:t>df</a:t>
            </a:r>
            <a:r>
              <a:rPr lang="en-CA" dirty="0"/>
              <a:t> or matrix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890C32F-0C59-7264-094B-E3CC158FF806}"/>
              </a:ext>
            </a:extLst>
          </p:cNvPr>
          <p:cNvGrpSpPr/>
          <p:nvPr/>
        </p:nvGrpSpPr>
        <p:grpSpPr>
          <a:xfrm>
            <a:off x="436310" y="2602468"/>
            <a:ext cx="4133333" cy="4255532"/>
            <a:chOff x="436310" y="2602468"/>
            <a:chExt cx="4133333" cy="4255532"/>
          </a:xfrm>
        </p:grpSpPr>
        <p:pic>
          <p:nvPicPr>
            <p:cNvPr id="7" name="Picture 6" descr="A picture containing chart&#10;&#10;Description automatically generated">
              <a:extLst>
                <a:ext uri="{FF2B5EF4-FFF2-40B4-BE49-F238E27FC236}">
                  <a16:creationId xmlns:a16="http://schemas.microsoft.com/office/drawing/2014/main" id="{115CF10D-78C1-E0F9-D274-1BBC55AA3B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310" y="2991333"/>
              <a:ext cx="4133333" cy="3866667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D45AFEF-5217-B4CB-9AD2-02728F9D6E73}"/>
                </a:ext>
              </a:extLst>
            </p:cNvPr>
            <p:cNvSpPr txBox="1"/>
            <p:nvPr/>
          </p:nvSpPr>
          <p:spPr>
            <a:xfrm>
              <a:off x="457200" y="2602468"/>
              <a:ext cx="3581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/>
                <a:t>Alpha ordered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BA2BA98-8915-2A05-8C3C-4D6B12BC435F}"/>
              </a:ext>
            </a:extLst>
          </p:cNvPr>
          <p:cNvGrpSpPr/>
          <p:nvPr/>
        </p:nvGrpSpPr>
        <p:grpSpPr>
          <a:xfrm>
            <a:off x="4681301" y="2602468"/>
            <a:ext cx="4000000" cy="4179332"/>
            <a:chOff x="4681301" y="2602468"/>
            <a:chExt cx="4000000" cy="4179332"/>
          </a:xfrm>
        </p:grpSpPr>
        <p:pic>
          <p:nvPicPr>
            <p:cNvPr id="9" name="Picture 8" descr="A picture containing diagram&#10;&#10;Description automatically generated">
              <a:extLst>
                <a:ext uri="{FF2B5EF4-FFF2-40B4-BE49-F238E27FC236}">
                  <a16:creationId xmlns:a16="http://schemas.microsoft.com/office/drawing/2014/main" id="{417FF62F-22BF-5331-41A4-401CC50D28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1301" y="3010371"/>
              <a:ext cx="4000000" cy="3771429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47D1B7D-3C4A-673E-3FC0-3BCE3861B53B}"/>
                </a:ext>
              </a:extLst>
            </p:cNvPr>
            <p:cNvSpPr txBox="1"/>
            <p:nvPr/>
          </p:nvSpPr>
          <p:spPr>
            <a:xfrm>
              <a:off x="4762500" y="2602468"/>
              <a:ext cx="3581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/>
                <a:t>CA ordered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1045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9814E-903E-FB8C-2C2B-6B6B9495F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Simultaneous linear regression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A36CA2-65C3-18C4-5944-0C953654F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5D03B5-F91C-026C-BAB0-4BA5290A5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81200"/>
            <a:ext cx="7765453" cy="37874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7B8E14-8118-56F9-560D-D0D8D479DFC7}"/>
              </a:ext>
            </a:extLst>
          </p:cNvPr>
          <p:cNvSpPr txBox="1"/>
          <p:nvPr/>
        </p:nvSpPr>
        <p:spPr>
          <a:xfrm>
            <a:off x="457200" y="11430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Assign linear scores (1-4) X1 to eye color and Y1 to hair color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E23ECC-7A25-6184-497F-501DBE6A50BF}"/>
              </a:ext>
            </a:extLst>
          </p:cNvPr>
          <p:cNvSpPr/>
          <p:nvPr/>
        </p:nvSpPr>
        <p:spPr>
          <a:xfrm>
            <a:off x="4876800" y="4267200"/>
            <a:ext cx="3352800" cy="838200"/>
          </a:xfrm>
          <a:custGeom>
            <a:avLst/>
            <a:gdLst>
              <a:gd name="connsiteX0" fmla="*/ 0 w 3352800"/>
              <a:gd name="connsiteY0" fmla="*/ 0 h 838200"/>
              <a:gd name="connsiteX1" fmla="*/ 525272 w 3352800"/>
              <a:gd name="connsiteY1" fmla="*/ 0 h 838200"/>
              <a:gd name="connsiteX2" fmla="*/ 983488 w 3352800"/>
              <a:gd name="connsiteY2" fmla="*/ 0 h 838200"/>
              <a:gd name="connsiteX3" fmla="*/ 1609344 w 3352800"/>
              <a:gd name="connsiteY3" fmla="*/ 0 h 838200"/>
              <a:gd name="connsiteX4" fmla="*/ 2134616 w 3352800"/>
              <a:gd name="connsiteY4" fmla="*/ 0 h 838200"/>
              <a:gd name="connsiteX5" fmla="*/ 2659888 w 3352800"/>
              <a:gd name="connsiteY5" fmla="*/ 0 h 838200"/>
              <a:gd name="connsiteX6" fmla="*/ 3352800 w 3352800"/>
              <a:gd name="connsiteY6" fmla="*/ 0 h 838200"/>
              <a:gd name="connsiteX7" fmla="*/ 3352800 w 3352800"/>
              <a:gd name="connsiteY7" fmla="*/ 402336 h 838200"/>
              <a:gd name="connsiteX8" fmla="*/ 3352800 w 3352800"/>
              <a:gd name="connsiteY8" fmla="*/ 838200 h 838200"/>
              <a:gd name="connsiteX9" fmla="*/ 2861056 w 3352800"/>
              <a:gd name="connsiteY9" fmla="*/ 838200 h 838200"/>
              <a:gd name="connsiteX10" fmla="*/ 2302256 w 3352800"/>
              <a:gd name="connsiteY10" fmla="*/ 838200 h 838200"/>
              <a:gd name="connsiteX11" fmla="*/ 1743456 w 3352800"/>
              <a:gd name="connsiteY11" fmla="*/ 838200 h 838200"/>
              <a:gd name="connsiteX12" fmla="*/ 1218184 w 3352800"/>
              <a:gd name="connsiteY12" fmla="*/ 838200 h 838200"/>
              <a:gd name="connsiteX13" fmla="*/ 592328 w 3352800"/>
              <a:gd name="connsiteY13" fmla="*/ 838200 h 838200"/>
              <a:gd name="connsiteX14" fmla="*/ 0 w 3352800"/>
              <a:gd name="connsiteY14" fmla="*/ 838200 h 838200"/>
              <a:gd name="connsiteX15" fmla="*/ 0 w 3352800"/>
              <a:gd name="connsiteY15" fmla="*/ 435864 h 838200"/>
              <a:gd name="connsiteX16" fmla="*/ 0 w 3352800"/>
              <a:gd name="connsiteY16" fmla="*/ 0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352800" h="838200" extrusionOk="0">
                <a:moveTo>
                  <a:pt x="0" y="0"/>
                </a:moveTo>
                <a:cubicBezTo>
                  <a:pt x="114673" y="-2613"/>
                  <a:pt x="392929" y="25541"/>
                  <a:pt x="525272" y="0"/>
                </a:cubicBezTo>
                <a:cubicBezTo>
                  <a:pt x="657615" y="-25541"/>
                  <a:pt x="864236" y="4191"/>
                  <a:pt x="983488" y="0"/>
                </a:cubicBezTo>
                <a:cubicBezTo>
                  <a:pt x="1102740" y="-4191"/>
                  <a:pt x="1410230" y="17066"/>
                  <a:pt x="1609344" y="0"/>
                </a:cubicBezTo>
                <a:cubicBezTo>
                  <a:pt x="1808458" y="-17066"/>
                  <a:pt x="1977495" y="37297"/>
                  <a:pt x="2134616" y="0"/>
                </a:cubicBezTo>
                <a:cubicBezTo>
                  <a:pt x="2291737" y="-37297"/>
                  <a:pt x="2481941" y="9644"/>
                  <a:pt x="2659888" y="0"/>
                </a:cubicBezTo>
                <a:cubicBezTo>
                  <a:pt x="2837835" y="-9644"/>
                  <a:pt x="3027678" y="29707"/>
                  <a:pt x="3352800" y="0"/>
                </a:cubicBezTo>
                <a:cubicBezTo>
                  <a:pt x="3360497" y="162929"/>
                  <a:pt x="3321697" y="209397"/>
                  <a:pt x="3352800" y="402336"/>
                </a:cubicBezTo>
                <a:cubicBezTo>
                  <a:pt x="3383903" y="595275"/>
                  <a:pt x="3349414" y="621616"/>
                  <a:pt x="3352800" y="838200"/>
                </a:cubicBezTo>
                <a:cubicBezTo>
                  <a:pt x="3132042" y="884114"/>
                  <a:pt x="3005623" y="809884"/>
                  <a:pt x="2861056" y="838200"/>
                </a:cubicBezTo>
                <a:cubicBezTo>
                  <a:pt x="2716489" y="866516"/>
                  <a:pt x="2571578" y="834586"/>
                  <a:pt x="2302256" y="838200"/>
                </a:cubicBezTo>
                <a:cubicBezTo>
                  <a:pt x="2032934" y="841814"/>
                  <a:pt x="1950944" y="796342"/>
                  <a:pt x="1743456" y="838200"/>
                </a:cubicBezTo>
                <a:cubicBezTo>
                  <a:pt x="1535968" y="880058"/>
                  <a:pt x="1453842" y="779384"/>
                  <a:pt x="1218184" y="838200"/>
                </a:cubicBezTo>
                <a:cubicBezTo>
                  <a:pt x="982526" y="897016"/>
                  <a:pt x="900789" y="781863"/>
                  <a:pt x="592328" y="838200"/>
                </a:cubicBezTo>
                <a:cubicBezTo>
                  <a:pt x="283867" y="894537"/>
                  <a:pt x="142506" y="777339"/>
                  <a:pt x="0" y="838200"/>
                </a:cubicBezTo>
                <a:cubicBezTo>
                  <a:pt x="-34039" y="668020"/>
                  <a:pt x="16684" y="562045"/>
                  <a:pt x="0" y="435864"/>
                </a:cubicBezTo>
                <a:cubicBezTo>
                  <a:pt x="-16684" y="309683"/>
                  <a:pt x="45017" y="148676"/>
                  <a:pt x="0" y="0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219080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6089E-EBD2-FBE0-EC2E-0932FBFBF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Simultaneous linear regressions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5CD0FE-C6D4-E324-DABE-F94715EBC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00F8C4-0BC1-B6E6-9889-A2AF5FED7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05" y="1245681"/>
            <a:ext cx="7963590" cy="436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0139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BDBC7-86BB-4BC6-8BCF-DC2BFD296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Example: Mental impairment &amp; parent’ 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7C57B0-81E9-4137-A574-8B367B5B4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C9551D-0997-42D3-AEE5-7E2841960DB1}"/>
              </a:ext>
            </a:extLst>
          </p:cNvPr>
          <p:cNvSpPr txBox="1"/>
          <p:nvPr/>
        </p:nvSpPr>
        <p:spPr>
          <a:xfrm>
            <a:off x="457200" y="10668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on mental health status of 1660 young NYC residents, by parents’ SES, a 6 x 4 table.  Is higher SES associated with better kids’ mental health?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4C871B-518B-4B3E-93DF-C48320C7EE55}"/>
              </a:ext>
            </a:extLst>
          </p:cNvPr>
          <p:cNvSpPr txBox="1"/>
          <p:nvPr/>
        </p:nvSpPr>
        <p:spPr>
          <a:xfrm>
            <a:off x="533400" y="1828800"/>
            <a:ext cx="8153400" cy="1200329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data("Mental", package="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vcdExtra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str(Mental)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data.frame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':	24 obs. of  3 variables: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$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Ord.factor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w/ 6 levels "1"&lt;"2"&lt;"3"&lt;"4"&lt;..: 1 1 1 1 2 2 2 2 3 3 ...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$ mental: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Ord.factor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w/ 4 levels "Well"&lt;"Mild"&lt;..: 1 2 3 4 1 2 3 4 1 2 ...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$ Freq  : int  64 94 58 46 57 94 54 40 57 105 ...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B75E99-037D-4EBE-B822-18B52DC9D066}"/>
              </a:ext>
            </a:extLst>
          </p:cNvPr>
          <p:cNvSpPr txBox="1"/>
          <p:nvPr/>
        </p:nvSpPr>
        <p:spPr>
          <a:xfrm>
            <a:off x="533400" y="3200400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Both </a:t>
            </a:r>
            <a:r>
              <a:rPr lang="en-US" dirty="0" err="1"/>
              <a:t>ses</a:t>
            </a:r>
            <a:r>
              <a:rPr lang="en-US" dirty="0"/>
              <a:t> and mental are </a:t>
            </a:r>
            <a:r>
              <a:rPr lang="en-US" dirty="0">
                <a:solidFill>
                  <a:srgbClr val="0070C0"/>
                </a:solidFill>
              </a:rPr>
              <a:t>ordered</a:t>
            </a:r>
            <a:r>
              <a:rPr lang="en-US" dirty="0"/>
              <a:t> factors in a frequency data frame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ca(), convert this to a table using </a:t>
            </a:r>
            <a:r>
              <a:rPr lang="en-US" dirty="0" err="1"/>
              <a:t>xtabs</a:t>
            </a:r>
            <a:r>
              <a:rPr lang="en-US" dirty="0"/>
              <a:t>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3CDEFE-4F47-48D2-812D-6D5C2BD65BD2}"/>
              </a:ext>
            </a:extLst>
          </p:cNvPr>
          <p:cNvSpPr txBox="1"/>
          <p:nvPr/>
        </p:nvSpPr>
        <p:spPr>
          <a:xfrm>
            <a:off x="533400" y="4114800"/>
            <a:ext cx="8153400" cy="203132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mental.tab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xtabs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(Freq ~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+ mental, data=Mental))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mental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Well Mild Moderate Impaired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1   64   94       58       46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2   57   94       54       40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3   57  105       65       60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4   72  141       77       94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5   36   97       54       78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6   21   71       54       71</a:t>
            </a:r>
          </a:p>
        </p:txBody>
      </p:sp>
    </p:spTree>
    <p:extLst>
      <p:ext uri="{BB962C8B-B14F-4D97-AF65-F5344CB8AC3E}">
        <p14:creationId xmlns:p14="http://schemas.microsoft.com/office/powerpoint/2010/main" val="20354138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2FA82-77A4-4BAB-BED7-D47CCC534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Mental data: CA solution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344F70-FD92-441C-BDEF-046856D71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49507C-89BE-47F4-9F44-E98A98D268B9}"/>
              </a:ext>
            </a:extLst>
          </p:cNvPr>
          <p:cNvSpPr txBox="1"/>
          <p:nvPr/>
        </p:nvSpPr>
        <p:spPr>
          <a:xfrm>
            <a:off x="457200" y="1524000"/>
            <a:ext cx="8229600" cy="280076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mental.ca &lt;- ca(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mental.tab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summary(mental.ca, rows=FALSE, columns=FALSE)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Principal inertias (eigenvalues):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dim    value      %   cum%   scree plot          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1      0.026025  93.9  93.9  ***********************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2      0.001379   5.0  98.9  *                   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3      0.000298   1.1 100.0                      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-------- -----                            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Total: 0.027702 100.0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620F26-B97E-458F-84B1-D2A0B08F50D1}"/>
              </a:ext>
            </a:extLst>
          </p:cNvPr>
          <p:cNvSpPr txBox="1"/>
          <p:nvPr/>
        </p:nvSpPr>
        <p:spPr>
          <a:xfrm>
            <a:off x="533400" y="4648200"/>
            <a:ext cx="807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exact CA solution requires min(r-1, c-1) = 3 dimensions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Total Pearson </a:t>
            </a:r>
            <a:r>
              <a:rPr lang="el-GR" sz="2400" dirty="0"/>
              <a:t>χ</a:t>
            </a:r>
            <a:r>
              <a:rPr lang="en-US" sz="2400" baseline="30000" dirty="0"/>
              <a:t>2</a:t>
            </a:r>
            <a:r>
              <a:rPr lang="en-US" sz="2400" dirty="0"/>
              <a:t> is n</a:t>
            </a:r>
            <a:r>
              <a:rPr lang="el-GR" sz="2400" dirty="0">
                <a:sym typeface="Symbol" panose="05050102010706020507" pitchFamily="18" charset="2"/>
              </a:rPr>
              <a:t></a:t>
            </a:r>
            <a:r>
              <a:rPr lang="en-US" sz="2400" dirty="0">
                <a:sym typeface="Symbol" panose="05050102010706020507" pitchFamily="18" charset="2"/>
              </a:rPr>
              <a:t> </a:t>
            </a:r>
            <a:r>
              <a:rPr lang="el-GR" sz="2400" dirty="0">
                <a:sym typeface="Symbol" panose="05050102010706020507" pitchFamily="18" charset="2"/>
              </a:rPr>
              <a:t></a:t>
            </a:r>
            <a:r>
              <a:rPr lang="en-US" sz="2400" baseline="-25000" dirty="0">
                <a:sym typeface="Symbol" panose="05050102010706020507" pitchFamily="18" charset="2"/>
              </a:rPr>
              <a:t>i</a:t>
            </a:r>
            <a:r>
              <a:rPr lang="en-US" sz="2400" baseline="30000" dirty="0">
                <a:sym typeface="Symbol" panose="05050102010706020507" pitchFamily="18" charset="2"/>
              </a:rPr>
              <a:t>2</a:t>
            </a:r>
            <a:r>
              <a:rPr lang="en-US" sz="2400" dirty="0">
                <a:sym typeface="Symbol" panose="05050102010706020507" pitchFamily="18" charset="2"/>
              </a:rPr>
              <a:t> = 1660 x 0.0277 = 45.98 with 15 df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ym typeface="Symbol" panose="05050102010706020507" pitchFamily="18" charset="2"/>
              </a:rPr>
              <a:t>Of this, 93.9% is accounted for by the 1</a:t>
            </a:r>
            <a:r>
              <a:rPr lang="en-US" sz="2400" baseline="30000" dirty="0">
                <a:sym typeface="Symbol" panose="05050102010706020507" pitchFamily="18" charset="2"/>
              </a:rPr>
              <a:t>st</a:t>
            </a:r>
            <a:r>
              <a:rPr lang="en-US" sz="2400" dirty="0">
                <a:sym typeface="Symbol" panose="05050102010706020507" pitchFamily="18" charset="2"/>
              </a:rPr>
              <a:t> dimension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997966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096969-F2D1-49A1-964F-A5441D251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Mental data: CA plot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ED7BCF-F0B5-4309-BC39-4E83A4DF8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5DBACE-5111-492A-9D3F-020E4EB00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48932"/>
            <a:ext cx="5562600" cy="37560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EB3ABD-B49F-49D8-9281-9F1F4C865CC3}"/>
              </a:ext>
            </a:extLst>
          </p:cNvPr>
          <p:cNvSpPr txBox="1"/>
          <p:nvPr/>
        </p:nvSpPr>
        <p:spPr>
          <a:xfrm>
            <a:off x="457200" y="1447800"/>
            <a:ext cx="5562600" cy="36933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plot(mental.ca, lines = TRUE)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2BCFE3-1D60-475D-8CD0-539535B20FCB}"/>
              </a:ext>
            </a:extLst>
          </p:cNvPr>
          <p:cNvSpPr txBox="1"/>
          <p:nvPr/>
        </p:nvSpPr>
        <p:spPr>
          <a:xfrm>
            <a:off x="6101080" y="2413337"/>
            <a:ext cx="25857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Category spacing:</a:t>
            </a:r>
          </a:p>
          <a:p>
            <a:endParaRPr lang="en-US" dirty="0"/>
          </a:p>
          <a:p>
            <a:r>
              <a:rPr lang="en-US" dirty="0"/>
              <a:t>SES: perhaps collapse categories (1,2) ??</a:t>
            </a:r>
          </a:p>
          <a:p>
            <a:endParaRPr lang="en-US" dirty="0"/>
          </a:p>
          <a:p>
            <a:r>
              <a:rPr lang="en-US" dirty="0"/>
              <a:t>Mental: Smaller diff </a:t>
            </a:r>
            <a:r>
              <a:rPr lang="en-US" dirty="0" err="1"/>
              <a:t>betw</a:t>
            </a:r>
            <a:r>
              <a:rPr lang="en-US" dirty="0"/>
              <a:t>. Mild, Moderate ??</a:t>
            </a:r>
          </a:p>
        </p:txBody>
      </p:sp>
    </p:spTree>
    <p:extLst>
      <p:ext uri="{BB962C8B-B14F-4D97-AF65-F5344CB8AC3E}">
        <p14:creationId xmlns:p14="http://schemas.microsoft.com/office/powerpoint/2010/main" val="33519941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344464-18AD-42BE-AA57-49742C078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Looking ahead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23AE23-D1B0-4BFF-B33D-5ACD398A1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CA is largely an exploratory method — row/column scores are not </a:t>
            </a:r>
            <a:r>
              <a:rPr lang="en-US" sz="2400" dirty="0">
                <a:solidFill>
                  <a:srgbClr val="00B0F0"/>
                </a:solidFill>
              </a:rPr>
              <a:t>parameters</a:t>
            </a:r>
            <a:r>
              <a:rPr lang="en-US" sz="2400" dirty="0"/>
              <a:t> of a statistical model; no </a:t>
            </a:r>
            <a:r>
              <a:rPr lang="en-US" sz="2400" dirty="0">
                <a:solidFill>
                  <a:srgbClr val="00B0F0"/>
                </a:solidFill>
              </a:rPr>
              <a:t>confidence intervals</a:t>
            </a:r>
          </a:p>
          <a:p>
            <a:r>
              <a:rPr lang="en-US" sz="2400" dirty="0"/>
              <a:t>Only rough tests for the number of CA dimensions</a:t>
            </a:r>
          </a:p>
          <a:p>
            <a:r>
              <a:rPr lang="en-US" sz="2400" dirty="0"/>
              <a:t>Can’t test a </a:t>
            </a:r>
            <a:r>
              <a:rPr lang="en-US" sz="2400" dirty="0">
                <a:solidFill>
                  <a:srgbClr val="00B0F0"/>
                </a:solidFill>
              </a:rPr>
              <a:t>hypothesis</a:t>
            </a:r>
            <a:r>
              <a:rPr lang="en-US" sz="2400" dirty="0"/>
              <a:t> that the row/column scores are have some particular spacing (e.g., are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mental</a:t>
            </a:r>
            <a:r>
              <a:rPr lang="en-US" sz="2400" dirty="0"/>
              <a:t> and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</a:t>
            </a:r>
            <a:r>
              <a:rPr lang="en-US" sz="2400" dirty="0"/>
              <a:t> equally spaced?)</a:t>
            </a:r>
          </a:p>
          <a:p>
            <a:r>
              <a:rPr lang="en-US" sz="2400" dirty="0"/>
              <a:t>These questions can be answered with specialized loglinear models</a:t>
            </a:r>
          </a:p>
          <a:p>
            <a:r>
              <a:rPr lang="en-US" sz="2400" dirty="0"/>
              <a:t>Nevertheless,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plot(ca(table)) </a:t>
            </a:r>
            <a:r>
              <a:rPr lang="en-US" sz="2400" dirty="0"/>
              <a:t>gives an excellent quick view of associations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1B4E9D-389D-4BBA-8D83-A2C9F13DE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0CEDE8-0D54-DB81-137A-67D72B33B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4988" y="303542"/>
            <a:ext cx="741812" cy="7315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E60C3A-B696-0980-F501-35BE6505C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457200" y="259092"/>
            <a:ext cx="741812" cy="73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1425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397B1-3F6F-4D32-AF71-FF73CF647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Multi-way tables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266B9-D835-4BDB-9CDF-C639D51F4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45A6EA-95B3-473C-BF28-DA5D90D0F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200"/>
            <a:ext cx="8171428" cy="23428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B4B5EB-19D9-4058-A7D0-FA093B86F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59754"/>
            <a:ext cx="8171428" cy="18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833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959C9-0194-4040-986D-809A07734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Multi-way tables: Stacking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0BE37A-0AB4-4433-84D3-CDCAD9535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D0B156-9737-4689-9E38-D06B9373F9BD}"/>
              </a:ext>
            </a:extLst>
          </p:cNvPr>
          <p:cNvSpPr txBox="1"/>
          <p:nvPr/>
        </p:nvSpPr>
        <p:spPr>
          <a:xfrm>
            <a:off x="457200" y="1200150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3-way table of size </a:t>
            </a:r>
            <a:r>
              <a:rPr lang="en-US" sz="2000" i="1" dirty="0"/>
              <a:t>I</a:t>
            </a:r>
            <a:r>
              <a:rPr lang="en-US" sz="2000" dirty="0"/>
              <a:t> × </a:t>
            </a:r>
            <a:r>
              <a:rPr lang="en-US" sz="2000" i="1" dirty="0"/>
              <a:t>J</a:t>
            </a:r>
            <a:r>
              <a:rPr lang="en-US" sz="2000" dirty="0"/>
              <a:t> × </a:t>
            </a:r>
            <a:r>
              <a:rPr lang="en-US" sz="2000" i="1" dirty="0"/>
              <a:t>K</a:t>
            </a:r>
            <a:r>
              <a:rPr lang="en-US" sz="2000" dirty="0"/>
              <a:t> can be sliced and stacked as a two-way table in several ways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360980-65DC-459C-9D6E-6E485248A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2558565"/>
            <a:ext cx="3961905" cy="320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8DFEE5-93E3-477E-844F-46E25CB43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2221566"/>
            <a:ext cx="3923809" cy="18857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FD2FCE-48DF-4A2B-B6E5-42A9377FD7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2999" y="4267200"/>
            <a:ext cx="3923809" cy="16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852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B166D-43E1-4349-9116-12A5482E5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Interactive coding in 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79376-546A-4C28-B3FD-0BC3EAA8E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66520"/>
            <a:ext cx="8229600" cy="281940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Data in table or array form: use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as.matrix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structable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(rows ~ cols))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Data as frequency data frame: use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interaction() </a:t>
            </a:r>
            <a:r>
              <a:rPr lang="en-US" sz="2400" dirty="0"/>
              <a:t>or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paste() </a:t>
            </a:r>
            <a:r>
              <a:rPr lang="en-US" sz="2400" dirty="0"/>
              <a:t>followed by </a:t>
            </a:r>
            <a:r>
              <a:rPr lang="en-US" sz="2000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xtabs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A89268-6CF3-4F84-8919-1C306EE77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FC697B-9053-45EF-83C5-FD4E009514A9}"/>
              </a:ext>
            </a:extLst>
          </p:cNvPr>
          <p:cNvSpPr txBox="1"/>
          <p:nvPr/>
        </p:nvSpPr>
        <p:spPr>
          <a:xfrm>
            <a:off x="650240" y="2179141"/>
            <a:ext cx="8077200" cy="73866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mat1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as.matrix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structable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(A + B ~ C, data=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mytable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))     # [A B][C]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mat2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as.matrix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structable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(A + C ~ B + D, data=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mytable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)) # [A C][B D]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ca(mat2)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52FB66-25C4-4D9D-B089-20D965CAB98E}"/>
              </a:ext>
            </a:extLst>
          </p:cNvPr>
          <p:cNvSpPr txBox="1"/>
          <p:nvPr/>
        </p:nvSpPr>
        <p:spPr>
          <a:xfrm>
            <a:off x="650240" y="4293533"/>
            <a:ext cx="8077200" cy="95410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mydf$AB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interaction(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mydf$A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mydf$B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='.’)     # levels: A.B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mydf$AB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paste(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mydf$A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mydf$B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=':')           # levels: A:B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mytab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xtabs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(Freq ~ AB + C, data=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           # [A B] [C]</a:t>
            </a:r>
          </a:p>
        </p:txBody>
      </p:sp>
    </p:spTree>
    <p:extLst>
      <p:ext uri="{BB962C8B-B14F-4D97-AF65-F5344CB8AC3E}">
        <p14:creationId xmlns:p14="http://schemas.microsoft.com/office/powerpoint/2010/main" val="30749526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707BD-6620-4A28-84DB-101685590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Suicide rates in Germany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D20F4-7D6A-4AE4-921D-426655F69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295400"/>
          </a:xfrm>
        </p:spPr>
        <p:txBody>
          <a:bodyPr>
            <a:normAutofit lnSpcReduction="10000"/>
          </a:bodyPr>
          <a:lstStyle/>
          <a:p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::Suicide </a:t>
            </a:r>
            <a:r>
              <a:rPr lang="en-US" sz="2000" dirty="0"/>
              <a:t>gives a 2 x 5 x 8 table of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sex</a:t>
            </a:r>
            <a:r>
              <a:rPr lang="en-US" sz="2000" dirty="0"/>
              <a:t> by 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age.group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/>
              <a:t>by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method</a:t>
            </a:r>
            <a:r>
              <a:rPr lang="en-US" sz="2000" dirty="0"/>
              <a:t> for 53,158 suicides in Germany, in a frequency data frame</a:t>
            </a:r>
          </a:p>
          <a:p>
            <a:r>
              <a:rPr lang="en-US" sz="2000" dirty="0"/>
              <a:t>Use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paste() </a:t>
            </a:r>
            <a:r>
              <a:rPr lang="en-US" sz="2000" dirty="0"/>
              <a:t>to join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age.group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/>
              <a:t>and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sex</a:t>
            </a:r>
            <a:r>
              <a:rPr lang="en-US" sz="2000" dirty="0"/>
              <a:t> </a:t>
            </a:r>
            <a:r>
              <a:rPr lang="en-US" sz="2000" dirty="0">
                <a:sym typeface="Symbol" panose="05050102010706020507" pitchFamily="18" charset="2"/>
              </a:rPr>
              <a:t>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age_sex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en-US" sz="2000" dirty="0">
                <a:cs typeface="Courier New" panose="02070309020205020404" pitchFamily="49" charset="0"/>
                <a:sym typeface="Symbol" panose="05050102010706020507" pitchFamily="18" charset="2"/>
              </a:rPr>
              <a:t>in the form ’10-20 M’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C747A-7017-4138-AEFB-9AE6B9FA7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10A5C5-684D-4E25-A0D2-48F7640BB28D}"/>
              </a:ext>
            </a:extLst>
          </p:cNvPr>
          <p:cNvSpPr txBox="1"/>
          <p:nvPr/>
        </p:nvSpPr>
        <p:spPr>
          <a:xfrm>
            <a:off x="457200" y="2895600"/>
            <a:ext cx="8229600" cy="246221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Suicide &lt;- within(Suicide,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age_sex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paste(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age.group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toupper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substr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(sex,1,1)))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head(Suicide)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Freq  sex   method age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age.group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method2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age_sex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    4 male   poison  10     10-20  poison 10-20 M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2    0 male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cookgas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10     10-20     gas 10-20 M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3    0 male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toxicgas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10     10-20     gas 10-20 M</a:t>
            </a:r>
          </a:p>
          <a:p>
            <a:pPr marL="342900" indent="-342900">
              <a:buAutoNum type="arabicPlain" startAt="4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247 male     hang  10     10-20    hang 10-20 M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5    1 male    drown  10     10-20   drown 10-20 M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6   17 male      gun  10     10-20     gun 10-20 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85EBC6-1146-DD78-A6D2-7D21D18291C6}"/>
              </a:ext>
            </a:extLst>
          </p:cNvPr>
          <p:cNvSpPr/>
          <p:nvPr/>
        </p:nvSpPr>
        <p:spPr>
          <a:xfrm>
            <a:off x="5085944" y="3790543"/>
            <a:ext cx="914400" cy="15478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7245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6651FE9-ADAE-4278-8A8B-BACF0EE8C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Suicide rates in Germany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DFDA2-B3B9-4CEF-8555-56D1E2152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067B01-0070-4907-8AE3-D6F81F470CCF}"/>
              </a:ext>
            </a:extLst>
          </p:cNvPr>
          <p:cNvSpPr txBox="1"/>
          <p:nvPr/>
        </p:nvSpPr>
        <p:spPr>
          <a:xfrm>
            <a:off x="457200" y="1432560"/>
            <a:ext cx="8229600" cy="310854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suicide.tab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xtabs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(Freq ~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age_sex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+ method2, data=Suicide)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suicide.tab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method2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age_sex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poison  gas hang drown  gun knife jump other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10-20 F    921   40  212    30   25    11  131   100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10-20 M   1160  335 1524    67  512    47  189   464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25-35 F   1672  113  575   139   64    41  276   263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25-35 M   2823  883 2751   213  852   139  366   775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40-50 F   2224   91 1481   354   52    80  327   305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40-50 M   2465  625 3936   247  875   183  244   534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55-65 F   2283   45 2014   679   29   103  388   296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55-65 M   1531  201 3581   207  477   154  273   294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70-90 F   1548   29 1355   501    3    74  383   106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70-90 M    938   45 2948   212  229   105  268   147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2EB292-47EA-4C1A-A1BB-4747689DD856}"/>
              </a:ext>
            </a:extLst>
          </p:cNvPr>
          <p:cNvSpPr txBox="1"/>
          <p:nvPr/>
        </p:nvSpPr>
        <p:spPr>
          <a:xfrm>
            <a:off x="685800" y="4800600"/>
            <a:ext cx="8001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dirty="0"/>
              <a:t>The CA analysis will be that of the loglinear model </a:t>
            </a:r>
            <a:r>
              <a:rPr lang="en-US" dirty="0">
                <a:solidFill>
                  <a:srgbClr val="0070C0"/>
                </a:solidFill>
              </a:rPr>
              <a:t>[Age Sex] [Method]</a:t>
            </a:r>
          </a:p>
          <a:p>
            <a:pPr marL="285750" indent="-285750"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dirty="0"/>
              <a:t>It will show associations between the age–sex combinations and method of suicide</a:t>
            </a:r>
          </a:p>
          <a:p>
            <a:pPr marL="285750" indent="-285750">
              <a:buClr>
                <a:srgbClr val="0070C0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dirty="0"/>
              <a:t>Associations between age and sex will </a:t>
            </a:r>
            <a:r>
              <a:rPr lang="en-US" dirty="0">
                <a:solidFill>
                  <a:srgbClr val="0070C0"/>
                </a:solidFill>
              </a:rPr>
              <a:t>not be shown </a:t>
            </a:r>
            <a:r>
              <a:rPr lang="en-US" dirty="0"/>
              <a:t>in this analysis</a:t>
            </a:r>
          </a:p>
        </p:txBody>
      </p:sp>
    </p:spTree>
    <p:extLst>
      <p:ext uri="{BB962C8B-B14F-4D97-AF65-F5344CB8AC3E}">
        <p14:creationId xmlns:p14="http://schemas.microsoft.com/office/powerpoint/2010/main" val="26895145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FEB57-1BF3-4F51-A849-91E2311B9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Suicide rates in Germany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2F6D0A-80DC-4A16-B66B-1C4866F2C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E3FB92-B712-4401-8FF1-5068889D7665}"/>
              </a:ext>
            </a:extLst>
          </p:cNvPr>
          <p:cNvSpPr txBox="1"/>
          <p:nvPr/>
        </p:nvSpPr>
        <p:spPr>
          <a:xfrm>
            <a:off x="457200" y="1447800"/>
            <a:ext cx="8229600" cy="332398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suicide.ca &lt;-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suicide.tab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summary(suicide.ca, rows=FALSE, columns = FALSE)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Principal inertias (eigenvalues):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dim    value      %   cum%   scree plot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1      0.096151  57.2  57.2  **************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2      0.059692  35.5  92.6  ********* 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3      0.008183   4.9  97.5  *         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4      0.002158   1.3  98.8            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5      0.001399   0.8  99.6            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6      0.000557   0.3 100.0            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7      6.7e-050   0.0 100.0            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-------- -----                  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Total: 0.168207 100.0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B4565-53B5-4D75-9D00-8017D5842DFC}"/>
              </a:ext>
            </a:extLst>
          </p:cNvPr>
          <p:cNvSpPr txBox="1"/>
          <p:nvPr/>
        </p:nvSpPr>
        <p:spPr>
          <a:xfrm>
            <a:off x="457200" y="51054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this table </a:t>
            </a:r>
            <a:r>
              <a:rPr lang="el-GR" dirty="0"/>
              <a:t>χ</a:t>
            </a:r>
            <a:r>
              <a:rPr lang="en-US" dirty="0"/>
              <a:t>2 (63) = 8946. Of this, 92.6% is accounted for in the first two dimensions </a:t>
            </a:r>
          </a:p>
        </p:txBody>
      </p:sp>
    </p:spTree>
    <p:extLst>
      <p:ext uri="{BB962C8B-B14F-4D97-AF65-F5344CB8AC3E}">
        <p14:creationId xmlns:p14="http://schemas.microsoft.com/office/powerpoint/2010/main" val="5495253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208B61-ECC4-4523-8B30-81B62A572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51</a:t>
            </a:fld>
            <a:endParaRPr lang="en-US"/>
          </a:p>
        </p:txBody>
      </p: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604794F9-46E7-416E-91D3-82BF10229B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371600"/>
            <a:ext cx="5486400" cy="47246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751079-023C-42EE-B2D2-36C56EE93DE4}"/>
              </a:ext>
            </a:extLst>
          </p:cNvPr>
          <p:cNvSpPr txBox="1"/>
          <p:nvPr/>
        </p:nvSpPr>
        <p:spPr>
          <a:xfrm>
            <a:off x="609600" y="533400"/>
            <a:ext cx="5105400" cy="36933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plot(suicide.ca)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3E817A-4B42-45AE-A68C-B24B0731FE9A}"/>
              </a:ext>
            </a:extLst>
          </p:cNvPr>
          <p:cNvSpPr txBox="1"/>
          <p:nvPr/>
        </p:nvSpPr>
        <p:spPr>
          <a:xfrm>
            <a:off x="5943600" y="1676400"/>
            <a:ext cx="2895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Dim 1: Sex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Dim 2: 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interpret method use by age-sex combination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  young M: gas, gun,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  young F: poison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6AF438-3B75-443F-AE89-7A1E00E965BF}"/>
              </a:ext>
            </a:extLst>
          </p:cNvPr>
          <p:cNvSpPr txBox="1"/>
          <p:nvPr/>
        </p:nvSpPr>
        <p:spPr>
          <a:xfrm>
            <a:off x="5029200" y="29718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8B809E-1AC1-4A98-8F0B-ACD596A72D30}"/>
              </a:ext>
            </a:extLst>
          </p:cNvPr>
          <p:cNvSpPr txBox="1"/>
          <p:nvPr/>
        </p:nvSpPr>
        <p:spPr>
          <a:xfrm rot="16200000">
            <a:off x="2786380" y="1644134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7CB749D-8347-8127-80D9-7BD8FAACCBE7}"/>
              </a:ext>
            </a:extLst>
          </p:cNvPr>
          <p:cNvCxnSpPr/>
          <p:nvPr/>
        </p:nvCxnSpPr>
        <p:spPr>
          <a:xfrm>
            <a:off x="2906514" y="3429000"/>
            <a:ext cx="2427486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8E3582E-B9E9-A9A9-BBD0-51119CEFB4C4}"/>
              </a:ext>
            </a:extLst>
          </p:cNvPr>
          <p:cNvCxnSpPr/>
          <p:nvPr/>
        </p:nvCxnSpPr>
        <p:spPr>
          <a:xfrm flipV="1">
            <a:off x="609600" y="1600200"/>
            <a:ext cx="0" cy="220980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D63CDE8-D07D-7EC9-DAA8-A94EF75A092D}"/>
              </a:ext>
            </a:extLst>
          </p:cNvPr>
          <p:cNvSpPr txBox="1"/>
          <p:nvPr/>
        </p:nvSpPr>
        <p:spPr>
          <a:xfrm>
            <a:off x="282102" y="12308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Age</a:t>
            </a:r>
          </a:p>
        </p:txBody>
      </p:sp>
    </p:spTree>
    <p:extLst>
      <p:ext uri="{BB962C8B-B14F-4D97-AF65-F5344CB8AC3E}">
        <p14:creationId xmlns:p14="http://schemas.microsoft.com/office/powerpoint/2010/main" val="6668825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D3D106-E929-43B8-A648-4BC4EB3D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CD5769-2097-41C1-98E4-1D070D0D0A54}"/>
              </a:ext>
            </a:extLst>
          </p:cNvPr>
          <p:cNvSpPr txBox="1"/>
          <p:nvPr/>
        </p:nvSpPr>
        <p:spPr>
          <a:xfrm>
            <a:off x="381000" y="28448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Compare with a mosaic plot, also fitting the model [Age Sex][Method]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691536-C483-417F-8454-A0291323AB6E}"/>
              </a:ext>
            </a:extLst>
          </p:cNvPr>
          <p:cNvSpPr txBox="1"/>
          <p:nvPr/>
        </p:nvSpPr>
        <p:spPr>
          <a:xfrm>
            <a:off x="381000" y="792480"/>
            <a:ext cx="8229600" cy="73866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suicide.tab3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xtabs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(Freq ~ sex +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age.group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+ method2, data=Suicide)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mosaic(suicide.tab3, shade=TRUE, legend=FALSE,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expected=~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age.group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*sex + method2, ... )      </a:t>
            </a:r>
          </a:p>
        </p:txBody>
      </p:sp>
      <p:pic>
        <p:nvPicPr>
          <p:cNvPr id="8" name="Picture 7" descr="Chart, bar chart&#10;&#10;Description automatically generated">
            <a:extLst>
              <a:ext uri="{FF2B5EF4-FFF2-40B4-BE49-F238E27FC236}">
                <a16:creationId xmlns:a16="http://schemas.microsoft.com/office/drawing/2014/main" id="{5B52A4E2-54D6-4EEB-9C20-406E5F3420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49" y="1932888"/>
            <a:ext cx="6277851" cy="49251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17EF6A-5E36-421A-B664-B178B340F999}"/>
              </a:ext>
            </a:extLst>
          </p:cNvPr>
          <p:cNvSpPr txBox="1"/>
          <p:nvPr/>
        </p:nvSpPr>
        <p:spPr>
          <a:xfrm>
            <a:off x="6729971" y="2404695"/>
            <a:ext cx="2133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DDAR Fig 6.7, p 238</a:t>
            </a:r>
          </a:p>
          <a:p>
            <a:endParaRPr lang="en-US" sz="1600" dirty="0"/>
          </a:p>
          <a:p>
            <a:r>
              <a:rPr lang="en-US" sz="1600" dirty="0"/>
              <a:t>(I permuted methods by CA Dim1 &amp; deleted “Other”)</a:t>
            </a:r>
          </a:p>
        </p:txBody>
      </p:sp>
    </p:spTree>
    <p:extLst>
      <p:ext uri="{BB962C8B-B14F-4D97-AF65-F5344CB8AC3E}">
        <p14:creationId xmlns:p14="http://schemas.microsoft.com/office/powerpoint/2010/main" val="12641400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832248F-2353-4421-879C-4BE7DD5F3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Marginal tables &amp; supplementary variables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E2F07-EB19-4DDF-B0AA-3E3D8C902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20574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Supplementary variables </a:t>
            </a:r>
            <a:r>
              <a:rPr lang="en-US" sz="2000" dirty="0"/>
              <a:t>provide a way to include more info in CA</a:t>
            </a:r>
          </a:p>
          <a:p>
            <a:pPr lvl="1"/>
            <a:r>
              <a:rPr lang="en-US" sz="2000" dirty="0"/>
              <a:t>An </a:t>
            </a:r>
            <a:r>
              <a:rPr lang="en-US" sz="2000" i="1" dirty="0"/>
              <a:t>n</a:t>
            </a:r>
            <a:r>
              <a:rPr lang="en-US" sz="2000" dirty="0"/>
              <a:t>-way table is collapsed to a marginal table by ignoring factors</a:t>
            </a:r>
          </a:p>
          <a:p>
            <a:pPr lvl="1"/>
            <a:r>
              <a:rPr lang="en-US" sz="2000" dirty="0"/>
              <a:t>Omitted variables can be included by treating them as supplementary</a:t>
            </a:r>
          </a:p>
          <a:p>
            <a:pPr lvl="1"/>
            <a:r>
              <a:rPr lang="en-US" sz="2000" dirty="0"/>
              <a:t>These are </a:t>
            </a:r>
            <a:r>
              <a:rPr lang="en-US" sz="2000" dirty="0">
                <a:solidFill>
                  <a:srgbClr val="0070C0"/>
                </a:solidFill>
              </a:rPr>
              <a:t>projected</a:t>
            </a:r>
            <a:r>
              <a:rPr lang="en-US" sz="2000" dirty="0"/>
              <a:t> into the space of the marginal CA</a:t>
            </a:r>
          </a:p>
          <a:p>
            <a:r>
              <a:rPr lang="en-US" sz="2000" dirty="0"/>
              <a:t>E.g., age by method, ignoring sex as the main analysis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264086-B388-4B1F-B5ED-B654E9527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BC32A4-22E0-46A9-9E65-6A1D93F97FF9}"/>
              </a:ext>
            </a:extLst>
          </p:cNvPr>
          <p:cNvSpPr txBox="1"/>
          <p:nvPr/>
        </p:nvSpPr>
        <p:spPr>
          <a:xfrm>
            <a:off x="457200" y="3114774"/>
            <a:ext cx="8229600" cy="230832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suicide.tab2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xtabs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(Freq ~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age.group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+ method2, data=Suicide)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suicide.tab2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method2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age.group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poison  gas hang drown  gun knife jump other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10-20   2081  375 1736    97  537    58  320   564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25-35   4495  996 3326   352  916   180  642  1038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40-50   4689  716 5417   601  927   263  571   839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55-65   3814  246 5595   886  506   257  661   590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70-90   2486   74 4303   713  232   179  651   253</a:t>
            </a:r>
          </a:p>
        </p:txBody>
      </p:sp>
    </p:spTree>
    <p:extLst>
      <p:ext uri="{BB962C8B-B14F-4D97-AF65-F5344CB8AC3E}">
        <p14:creationId xmlns:p14="http://schemas.microsoft.com/office/powerpoint/2010/main" val="22484122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B6068-0C5D-400F-9FB2-1305D937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2DE5E3-BA34-44C8-92AE-24ECDABD3B72}"/>
              </a:ext>
            </a:extLst>
          </p:cNvPr>
          <p:cNvSpPr txBox="1"/>
          <p:nvPr/>
        </p:nvSpPr>
        <p:spPr>
          <a:xfrm>
            <a:off x="685800" y="457200"/>
            <a:ext cx="777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Also have data on relation of sex and method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58899-207F-47DA-BBAF-0EF50D34D0AF}"/>
              </a:ext>
            </a:extLst>
          </p:cNvPr>
          <p:cNvSpPr txBox="1"/>
          <p:nvPr/>
        </p:nvSpPr>
        <p:spPr>
          <a:xfrm>
            <a:off x="685800" y="1219200"/>
            <a:ext cx="7772400" cy="138499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suicide.sup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xtabs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(Freq ~ sex + method2, data=Suicide))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method2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sex      poison   gas  hang drown   gun knife  jump other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male     8917  2089 14740   946  2945   628  1340  2214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female   8648   318  5637  1703   173   309  1505  1070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suicide.tab2s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rbind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(suicide.tab2,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suicide.sup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BF9878-DAF7-4982-9EE1-1E80D2C36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122209"/>
            <a:ext cx="4297625" cy="11417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60C390-C4E2-4620-9A26-4454114CE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80" y="4248726"/>
            <a:ext cx="4297680" cy="428382"/>
          </a:xfrm>
          <a:prstGeom prst="rect">
            <a:avLst/>
          </a:prstGeom>
        </p:spPr>
      </p:pic>
      <p:sp>
        <p:nvSpPr>
          <p:cNvPr id="10" name="Right Brace 9">
            <a:extLst>
              <a:ext uri="{FF2B5EF4-FFF2-40B4-BE49-F238E27FC236}">
                <a16:creationId xmlns:a16="http://schemas.microsoft.com/office/drawing/2014/main" id="{55ECCE05-CDD0-4A79-B24E-E4EB4E1FFDDB}"/>
              </a:ext>
            </a:extLst>
          </p:cNvPr>
          <p:cNvSpPr/>
          <p:nvPr/>
        </p:nvSpPr>
        <p:spPr>
          <a:xfrm>
            <a:off x="5140960" y="3393440"/>
            <a:ext cx="304800" cy="838200"/>
          </a:xfrm>
          <a:prstGeom prst="rightBrace">
            <a:avLst>
              <a:gd name="adj1" fmla="val 8333"/>
              <a:gd name="adj2" fmla="val 50000"/>
            </a:avLst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58CD2B22-7494-4E01-B0D9-26138B54B0B9}"/>
              </a:ext>
            </a:extLst>
          </p:cNvPr>
          <p:cNvSpPr/>
          <p:nvPr/>
        </p:nvSpPr>
        <p:spPr>
          <a:xfrm>
            <a:off x="5140960" y="4275094"/>
            <a:ext cx="304800" cy="402014"/>
          </a:xfrm>
          <a:prstGeom prst="rightBrace">
            <a:avLst>
              <a:gd name="adj1" fmla="val 8333"/>
              <a:gd name="adj2" fmla="val 50000"/>
            </a:avLst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651682-9CA0-4327-AB29-C963D17FE901}"/>
              </a:ext>
            </a:extLst>
          </p:cNvPr>
          <p:cNvSpPr txBox="1"/>
          <p:nvPr/>
        </p:nvSpPr>
        <p:spPr>
          <a:xfrm>
            <a:off x="5791200" y="3581400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 analysis table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8B5A42-750D-477A-B089-B81DDC72A338}"/>
              </a:ext>
            </a:extLst>
          </p:cNvPr>
          <p:cNvSpPr txBox="1"/>
          <p:nvPr/>
        </p:nvSpPr>
        <p:spPr>
          <a:xfrm>
            <a:off x="5791200" y="4263966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Supplementary rows</a:t>
            </a:r>
          </a:p>
        </p:txBody>
      </p:sp>
    </p:spTree>
    <p:extLst>
      <p:ext uri="{BB962C8B-B14F-4D97-AF65-F5344CB8AC3E}">
        <p14:creationId xmlns:p14="http://schemas.microsoft.com/office/powerpoint/2010/main" val="12955669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077D5DA-46C2-4C2F-8CB3-EC9AD22EF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Supplementary variables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131CA5-2FF7-475A-ADCE-69D71ABA0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C1D1CD-FA15-4CC6-8CA4-D5C71DD90913}"/>
              </a:ext>
            </a:extLst>
          </p:cNvPr>
          <p:cNvSpPr txBox="1"/>
          <p:nvPr/>
        </p:nvSpPr>
        <p:spPr>
          <a:xfrm>
            <a:off x="533400" y="1884680"/>
            <a:ext cx="7924800" cy="2677656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suicide.ca2s &lt;- ca(suicide.tab2s,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suprow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=6:7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summary(suicide.ca2s, rows=FALSE, columns = FALSE)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Principal inertias (eigenvalues):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dim    value      %   cum%   scree plot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1      0.060429  93.9  93.9  ***********************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2      0.002090   3.2  97.1  *         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3      0.001479   2.3  99.4  *         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4      0.000356   0.6 100.0            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-------- -----                  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Total: 0.064354 100.0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F90C3A-9627-4E1D-BF15-64DF52DB278B}"/>
              </a:ext>
            </a:extLst>
          </p:cNvPr>
          <p:cNvSpPr txBox="1"/>
          <p:nvPr/>
        </p:nvSpPr>
        <p:spPr>
          <a:xfrm>
            <a:off x="533400" y="1107440"/>
            <a:ext cx="792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Call ca(table, </a:t>
            </a:r>
            <a:r>
              <a:rPr lang="en-US" dirty="0" err="1"/>
              <a:t>suprow</a:t>
            </a:r>
            <a:r>
              <a:rPr lang="en-US" dirty="0"/>
              <a:t> = ) to treat some rows as supplementary variables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6DE19B-7609-489E-8A03-D853D7A39AA9}"/>
              </a:ext>
            </a:extLst>
          </p:cNvPr>
          <p:cNvSpPr txBox="1"/>
          <p:nvPr/>
        </p:nvSpPr>
        <p:spPr>
          <a:xfrm>
            <a:off x="533400" y="4953000"/>
            <a:ext cx="7924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relation of age and method is now essentially 1 dimensional</a:t>
            </a:r>
          </a:p>
          <a:p>
            <a:r>
              <a:rPr lang="en-US" dirty="0"/>
              <a:t>The inertia of Dim 1 here (0.604) is nearly the same as that of Dim 2 (0.596) for age in the stacked table</a:t>
            </a:r>
          </a:p>
        </p:txBody>
      </p:sp>
    </p:spTree>
    <p:extLst>
      <p:ext uri="{BB962C8B-B14F-4D97-AF65-F5344CB8AC3E}">
        <p14:creationId xmlns:p14="http://schemas.microsoft.com/office/powerpoint/2010/main" val="18709572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D19A0F-F14F-4BBC-81B0-84F25FC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56</a:t>
            </a:fld>
            <a:endParaRPr lang="en-US"/>
          </a:p>
        </p:txBody>
      </p:sp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B39DF873-39DC-4A89-90A0-4BEF2B693E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05000"/>
            <a:ext cx="6582694" cy="34294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71D347-9D7B-410D-AD31-87583D0DEC35}"/>
              </a:ext>
            </a:extLst>
          </p:cNvPr>
          <p:cNvSpPr txBox="1"/>
          <p:nvPr/>
        </p:nvSpPr>
        <p:spPr>
          <a:xfrm>
            <a:off x="685800" y="533400"/>
            <a:ext cx="5029200" cy="1231106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res &lt;- plot(suicide.ca2s,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=c(16, 15, 17, 24),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lines = c(FALSE, TRUE))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lines(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res$rows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[1:5,], col = "blue",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lty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=2)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lines(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res$rows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[6:7,], col = "black",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=3</a:t>
            </a:r>
            <a:r>
              <a:rPr lang="en-US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AF7CA5-1AEA-4F49-8CC3-A828781E2064}"/>
              </a:ext>
            </a:extLst>
          </p:cNvPr>
          <p:cNvSpPr txBox="1"/>
          <p:nvPr/>
        </p:nvSpPr>
        <p:spPr>
          <a:xfrm>
            <a:off x="838200" y="5638800"/>
            <a:ext cx="76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Ignoring Sex has collapsed Sim 1 (Sex) of the [Age Sex][Method] analysis</a:t>
            </a:r>
          </a:p>
          <a:p>
            <a:r>
              <a:rPr lang="en-US" dirty="0"/>
              <a:t>Supp. points for Sex show the association of Method with Sex in this space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E695C7-278D-4E79-9CE5-C714371ECC0B}"/>
              </a:ext>
            </a:extLst>
          </p:cNvPr>
          <p:cNvSpPr txBox="1"/>
          <p:nvPr/>
        </p:nvSpPr>
        <p:spPr>
          <a:xfrm>
            <a:off x="6096000" y="572869"/>
            <a:ext cx="259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Plotting the solution shows points for row, col &amp; supplementary rows</a:t>
            </a:r>
          </a:p>
        </p:txBody>
      </p:sp>
    </p:spTree>
    <p:extLst>
      <p:ext uri="{BB962C8B-B14F-4D97-AF65-F5344CB8AC3E}">
        <p14:creationId xmlns:p14="http://schemas.microsoft.com/office/powerpoint/2010/main" val="10535043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09F156-CAA9-45D1-B02D-CE5EDFB70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Multiple correspondence analysis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6FE082-301E-4ADF-8630-B9A7771A8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E28AC2-3B0C-449E-A94B-5DE744899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49665"/>
            <a:ext cx="8171428" cy="23238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914CD8-D61E-4BF0-B109-9C404A315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94760"/>
            <a:ext cx="8171428" cy="13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984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86343-7680-4EFE-AB59-3059674AE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Titanic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95F9D8-A616-460E-9C23-BBC602D6C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A9D2EC-1534-43F0-A59C-226E5B10A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20" y="1714561"/>
            <a:ext cx="5411197" cy="48688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9E22BC-4CDA-4188-B2F8-49178205468B}"/>
              </a:ext>
            </a:extLst>
          </p:cNvPr>
          <p:cNvSpPr txBox="1"/>
          <p:nvPr/>
        </p:nvSpPr>
        <p:spPr>
          <a:xfrm>
            <a:off x="6096000" y="1676400"/>
            <a:ext cx="2667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Plot of MCA for the Titanic data</a:t>
            </a:r>
          </a:p>
          <a:p>
            <a:endParaRPr lang="en-US" dirty="0"/>
          </a:p>
          <a:p>
            <a:r>
              <a:rPr lang="en-US" dirty="0"/>
              <a:t>All 4 variables represented in a single plot</a:t>
            </a:r>
          </a:p>
          <a:p>
            <a:endParaRPr lang="en-US" dirty="0"/>
          </a:p>
          <a:p>
            <a:r>
              <a:rPr lang="en-US" dirty="0"/>
              <a:t>Dim 1: Sex</a:t>
            </a:r>
          </a:p>
          <a:p>
            <a:r>
              <a:rPr lang="en-US" dirty="0"/>
              <a:t>Dim 2: Class &amp; Age</a:t>
            </a:r>
          </a:p>
          <a:p>
            <a:endParaRPr lang="en-US" dirty="0"/>
          </a:p>
          <a:p>
            <a:r>
              <a:rPr lang="en-US" dirty="0"/>
              <a:t>Distance from origin = inertia ~ 1/category </a:t>
            </a:r>
            <a:r>
              <a:rPr lang="en-US" dirty="0" err="1"/>
              <a:t>freq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0796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384C6-B328-42B7-9449-32CEBBB31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 </a:t>
            </a:r>
            <a:r>
              <a:rPr lang="en-US" dirty="0">
                <a:sym typeface="Symbol" panose="05050102010706020507" pitchFamily="18" charset="2"/>
              </a:rPr>
              <a:t> MCA: Indicator &amp; Burt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3A5188-05B4-4B71-81D7-2AA4B3CC9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BC8436-B53A-459A-9D58-7790778B9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30617"/>
            <a:ext cx="8171428" cy="23428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656781-500D-4102-A98C-7516680BC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16176"/>
            <a:ext cx="8171428" cy="22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157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1F5AD-7074-4AC9-A2CC-B92209A34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Indicator matrix: Hair Eye color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A5533F-18F6-459F-B1E3-2E2300CA8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752600"/>
          </a:xfrm>
        </p:spPr>
        <p:txBody>
          <a:bodyPr/>
          <a:lstStyle/>
          <a:p>
            <a:r>
              <a:rPr lang="en-US" sz="2000" dirty="0"/>
              <a:t>For the hair-eye data, the indicator matrix </a:t>
            </a:r>
            <a:r>
              <a:rPr lang="en-US" sz="2000" b="1" dirty="0"/>
              <a:t>Z</a:t>
            </a:r>
            <a:r>
              <a:rPr lang="en-US" sz="2000" dirty="0"/>
              <a:t> has n=592 rows (observations) and 4 + 4 = 8 columns (categories).</a:t>
            </a:r>
          </a:p>
          <a:p>
            <a:pPr lvl="1"/>
            <a:r>
              <a:rPr lang="en-US" sz="1800" dirty="0"/>
              <a:t>Shown below in frequency form: h1 — h4 indicators for hair color, e1—e4 for eye color</a:t>
            </a:r>
          </a:p>
          <a:p>
            <a:pPr lvl="1"/>
            <a:r>
              <a:rPr lang="en-US" sz="1800" dirty="0"/>
              <a:t>E.g., 1</a:t>
            </a:r>
            <a:r>
              <a:rPr lang="en-US" sz="1800" baseline="30000" dirty="0"/>
              <a:t>st</a:t>
            </a:r>
            <a:r>
              <a:rPr lang="en-US" sz="1800" dirty="0"/>
              <a:t> row represents 68 observations with black hair and brown eyes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0B5E51-E8A6-46DA-B7F6-61DAD2BD0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85033B-FA78-47AB-A693-73CB7F175156}"/>
              </a:ext>
            </a:extLst>
          </p:cNvPr>
          <p:cNvSpPr txBox="1"/>
          <p:nvPr/>
        </p:nvSpPr>
        <p:spPr>
          <a:xfrm>
            <a:off x="457200" y="3200400"/>
            <a:ext cx="8229600" cy="255454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Hair   Eye Freq h1 h2 h3 h4 e1 e2 e3 e4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  Black Brown   68  1  0  0  0  1  0  0  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  Brown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Brown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119  0  1  0  0  1  0  0  0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3    Red Brown   26  0  0  1  0  1  0  0  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4  Blond Brown    7  0  0  0  1  1  0  0  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5  Black  Blue   20  1  0  0  0  0  1  0  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6  Brown  Blue   84  0  1  0  0  0  1  0  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7    Red  Blue   17  0  0  1  0  0  1  0  0</a:t>
            </a:r>
          </a:p>
          <a:p>
            <a:pPr marL="342900" indent="-342900">
              <a:buAutoNum type="arabicPlain" startAt="8"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Blond  Blue   94  0  0  0  1  0  1  0  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. . 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B56745-57DF-438C-97D3-2598B0F0265D}"/>
              </a:ext>
            </a:extLst>
          </p:cNvPr>
          <p:cNvSpPr/>
          <p:nvPr/>
        </p:nvSpPr>
        <p:spPr>
          <a:xfrm>
            <a:off x="2941320" y="3048000"/>
            <a:ext cx="1447800" cy="266700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A7C9E1-CBE4-42A9-91F1-37A84969474D}"/>
              </a:ext>
            </a:extLst>
          </p:cNvPr>
          <p:cNvSpPr/>
          <p:nvPr/>
        </p:nvSpPr>
        <p:spPr>
          <a:xfrm>
            <a:off x="4429760" y="3048000"/>
            <a:ext cx="1447800" cy="266700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3571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2AA05-DCD9-44FC-9243-4ABCEF5BF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84A329-CF3E-414C-8DD5-1008B4C8A06C}"/>
              </a:ext>
            </a:extLst>
          </p:cNvPr>
          <p:cNvSpPr txBox="1"/>
          <p:nvPr/>
        </p:nvSpPr>
        <p:spPr>
          <a:xfrm>
            <a:off x="685800" y="685800"/>
            <a:ext cx="7848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Expand this to case form to get </a:t>
            </a:r>
            <a:r>
              <a:rPr lang="en-US" sz="2000" b="1" dirty="0"/>
              <a:t>Z</a:t>
            </a:r>
            <a:r>
              <a:rPr lang="en-US" sz="2000" dirty="0"/>
              <a:t> (592 x 8)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E312FE-B975-4E79-AEF9-FF21A6FAFA32}"/>
              </a:ext>
            </a:extLst>
          </p:cNvPr>
          <p:cNvSpPr txBox="1"/>
          <p:nvPr/>
        </p:nvSpPr>
        <p:spPr>
          <a:xfrm>
            <a:off x="685800" y="1170305"/>
            <a:ext cx="7848600" cy="116955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Z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expand.dft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haireye.df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)[,-(1:2)]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vnames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c(levels(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haireye.df$Hair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), levels(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haireye.df$Eye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colnames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(Z)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vnames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dim(Z)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[1] 592   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298A02-5A5B-43FA-BA51-7DCC7611FADD}"/>
              </a:ext>
            </a:extLst>
          </p:cNvPr>
          <p:cNvSpPr txBox="1"/>
          <p:nvPr/>
        </p:nvSpPr>
        <p:spPr>
          <a:xfrm>
            <a:off x="685800" y="2667000"/>
            <a:ext cx="784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the indicator matrix is partitioned as </a:t>
            </a:r>
            <a:r>
              <a:rPr lang="en-US" b="1" dirty="0"/>
              <a:t>Z</a:t>
            </a:r>
            <a:r>
              <a:rPr lang="en-US" dirty="0"/>
              <a:t> = [</a:t>
            </a:r>
            <a:r>
              <a:rPr lang="en-US" b="1" dirty="0"/>
              <a:t>Z</a:t>
            </a:r>
            <a:r>
              <a:rPr lang="en-US" baseline="-25000" dirty="0"/>
              <a:t>1</a:t>
            </a:r>
            <a:r>
              <a:rPr lang="en-US" dirty="0"/>
              <a:t>; </a:t>
            </a:r>
            <a:r>
              <a:rPr lang="en-US" b="1" dirty="0"/>
              <a:t>Z</a:t>
            </a:r>
            <a:r>
              <a:rPr lang="en-US" baseline="-25000" dirty="0"/>
              <a:t>2</a:t>
            </a:r>
            <a:r>
              <a:rPr lang="en-US" dirty="0"/>
              <a:t>], corresponding to the hair, eye categories, then the </a:t>
            </a:r>
            <a:r>
              <a:rPr lang="en-US" dirty="0">
                <a:solidFill>
                  <a:srgbClr val="0070C0"/>
                </a:solidFill>
              </a:rPr>
              <a:t>contingency table </a:t>
            </a:r>
            <a:r>
              <a:rPr lang="en-US" dirty="0"/>
              <a:t>is given by </a:t>
            </a:r>
            <a:r>
              <a:rPr lang="en-US" b="1" dirty="0"/>
              <a:t>N</a:t>
            </a:r>
            <a:r>
              <a:rPr lang="en-US" dirty="0"/>
              <a:t> = </a:t>
            </a:r>
            <a:r>
              <a:rPr lang="en-US" b="1" dirty="0"/>
              <a:t>Z</a:t>
            </a:r>
            <a:r>
              <a:rPr lang="en-US" baseline="30000" dirty="0"/>
              <a:t>T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b="1" dirty="0"/>
              <a:t>Z</a:t>
            </a:r>
            <a:r>
              <a:rPr lang="en-US" baseline="-25000" dirty="0"/>
              <a:t>2</a:t>
            </a:r>
            <a:r>
              <a:rPr lang="en-US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319A3E-0F05-469C-BE0E-F5E6E6DD7D92}"/>
              </a:ext>
            </a:extLst>
          </p:cNvPr>
          <p:cNvSpPr txBox="1"/>
          <p:nvPr/>
        </p:nvSpPr>
        <p:spPr>
          <a:xfrm>
            <a:off x="685800" y="3640475"/>
            <a:ext cx="7924800" cy="206210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Z1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as.matrix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(Z[,1:4])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Z2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as.matrix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(Z[,5:8])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(N &lt;- t(Z1) %*% Z2)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Brown Blue Hazel Green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Black    68   20    15     5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Brown   119   84    54    29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Red      26   17    14    14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Blond     7   94    10    16</a:t>
            </a:r>
          </a:p>
        </p:txBody>
      </p:sp>
    </p:spTree>
    <p:extLst>
      <p:ext uri="{BB962C8B-B14F-4D97-AF65-F5344CB8AC3E}">
        <p14:creationId xmlns:p14="http://schemas.microsoft.com/office/powerpoint/2010/main" val="284673015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105CD5-5BDF-4B85-9F88-4EE89D8DA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BB72AF-8384-4FC7-9616-85D61D141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01650"/>
            <a:ext cx="7590476" cy="8952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2E388B-EB20-43CC-A2C2-0BC2CEE4D75E}"/>
              </a:ext>
            </a:extLst>
          </p:cNvPr>
          <p:cNvSpPr txBox="1"/>
          <p:nvPr/>
        </p:nvSpPr>
        <p:spPr>
          <a:xfrm>
            <a:off x="457200" y="1752600"/>
            <a:ext cx="7772400" cy="58477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Z.ca &lt;- ca(Z)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res &lt;- plot(Z.ca, what=c("none", "all")) # plus customization</a:t>
            </a:r>
          </a:p>
        </p:txBody>
      </p:sp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3497CF80-1560-4A71-8B2C-5EC475645D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719" y="2766486"/>
            <a:ext cx="6154009" cy="37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98530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BB7AD8-1BD2-450F-8DEA-5C0F83DCD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Burt matrix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8CD5B8-87ED-4504-A0E1-24393148A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8F430D-B8A8-48C6-8DB5-3D4E61236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200"/>
            <a:ext cx="8171428" cy="23904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1CB654-93FC-46E3-939E-87C789053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4794"/>
            <a:ext cx="8171428" cy="24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3367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958FB-09F2-44C5-8636-6368DA0B3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Multivariate MCA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8429E1-9F75-4771-881A-EF744ECA6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30D254-C754-4639-97D8-8BD9DCB32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80" y="1143000"/>
            <a:ext cx="8171428" cy="30666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C3C795-E1B9-4385-8405-38893D4F8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80" y="4423027"/>
            <a:ext cx="8171428" cy="11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42936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AFC08-FFDA-4021-B50E-94D97A272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MCA properties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7A829-BEC3-4DDF-A8CA-3EC9631FA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</a:t>
            </a:r>
            <a:r>
              <a:rPr lang="en-US" sz="2400" dirty="0">
                <a:solidFill>
                  <a:srgbClr val="0070C0"/>
                </a:solidFill>
              </a:rPr>
              <a:t>inertia</a:t>
            </a:r>
            <a:r>
              <a:rPr lang="en-US" sz="2400" dirty="0"/>
              <a:t> contributed by a given variable increases with the number of response categories: </a:t>
            </a:r>
          </a:p>
          <a:p>
            <a:pPr lvl="1"/>
            <a:r>
              <a:rPr lang="en-US" dirty="0"/>
              <a:t>inertia (</a:t>
            </a:r>
            <a:r>
              <a:rPr lang="en-US" dirty="0" err="1"/>
              <a:t>Z</a:t>
            </a:r>
            <a:r>
              <a:rPr lang="en-US" baseline="-25000" dirty="0" err="1"/>
              <a:t>q</a:t>
            </a:r>
            <a:r>
              <a:rPr lang="en-US" dirty="0"/>
              <a:t>) = </a:t>
            </a:r>
            <a:r>
              <a:rPr lang="en-US" dirty="0" err="1"/>
              <a:t>J</a:t>
            </a:r>
            <a:r>
              <a:rPr lang="en-US" baseline="-25000" dirty="0" err="1"/>
              <a:t>q</a:t>
            </a:r>
            <a:r>
              <a:rPr lang="en-US" dirty="0"/>
              <a:t> – 1</a:t>
            </a:r>
          </a:p>
          <a:p>
            <a:r>
              <a:rPr lang="en-US" sz="2400" dirty="0"/>
              <a:t>The </a:t>
            </a:r>
            <a:r>
              <a:rPr lang="en-US" sz="2400" dirty="0">
                <a:solidFill>
                  <a:srgbClr val="0070C0"/>
                </a:solidFill>
              </a:rPr>
              <a:t>centroid</a:t>
            </a:r>
            <a:r>
              <a:rPr lang="en-US" sz="2400" dirty="0"/>
              <a:t> of the categories for each variable is at the </a:t>
            </a:r>
            <a:r>
              <a:rPr lang="en-US" sz="2400" dirty="0">
                <a:solidFill>
                  <a:srgbClr val="0070C0"/>
                </a:solidFill>
              </a:rPr>
              <a:t>origin</a:t>
            </a:r>
            <a:r>
              <a:rPr lang="en-US" sz="2400" dirty="0"/>
              <a:t> of the display.</a:t>
            </a:r>
          </a:p>
          <a:p>
            <a:r>
              <a:rPr lang="en-US" sz="2400" dirty="0"/>
              <a:t>For a given variable, the inertia contributed by a given category increases as the marginal frequency in that category decreases.</a:t>
            </a:r>
          </a:p>
          <a:p>
            <a:pPr lvl="1"/>
            <a:r>
              <a:rPr lang="en-US" sz="2000" dirty="0"/>
              <a:t>Low frequency points therefore appear </a:t>
            </a:r>
            <a:r>
              <a:rPr lang="en-US" sz="2000" dirty="0">
                <a:solidFill>
                  <a:srgbClr val="0070C0"/>
                </a:solidFill>
              </a:rPr>
              <a:t>further</a:t>
            </a:r>
            <a:r>
              <a:rPr lang="en-US" sz="2000" dirty="0"/>
              <a:t> from the origin.</a:t>
            </a:r>
          </a:p>
          <a:p>
            <a:r>
              <a:rPr lang="en-US" sz="2400" dirty="0"/>
              <a:t>The category points for a </a:t>
            </a:r>
            <a:r>
              <a:rPr lang="en-US" sz="2400" dirty="0">
                <a:solidFill>
                  <a:srgbClr val="0070C0"/>
                </a:solidFill>
              </a:rPr>
              <a:t>binary</a:t>
            </a:r>
            <a:r>
              <a:rPr lang="en-US" sz="2400" dirty="0"/>
              <a:t> variable lie on a line through the origin</a:t>
            </a:r>
            <a:r>
              <a:rPr lang="en-US" dirty="0"/>
              <a:t>.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34F58C-7E60-42A2-ADBF-0B24BB736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72021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4BA6D-C9A7-4E17-A715-F516DBA3C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MCA example: pre- and extramarital sex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835BD-1EF7-4A20-A156-63C35D5EA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F5528F-A917-4895-B84C-1C0B872D7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8171428" cy="12666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E02D18-157E-4E1B-980B-019BF864D2D8}"/>
              </a:ext>
            </a:extLst>
          </p:cNvPr>
          <p:cNvSpPr txBox="1"/>
          <p:nvPr/>
        </p:nvSpPr>
        <p:spPr>
          <a:xfrm>
            <a:off x="457200" y="2667000"/>
            <a:ext cx="8229600" cy="95410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data("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", package="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aperm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4:1)            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order variables G, P, E, M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presex.mca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mjca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lambda="Burt")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summary(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presex.mca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rows=FALSE, columns = FALSE)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012E9B-6AEA-4FE3-8B64-66BE16EFD3C1}"/>
              </a:ext>
            </a:extLst>
          </p:cNvPr>
          <p:cNvSpPr txBox="1"/>
          <p:nvPr/>
        </p:nvSpPr>
        <p:spPr>
          <a:xfrm>
            <a:off x="457200" y="3727231"/>
            <a:ext cx="8229600" cy="203132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Principal inertias (eigenvalues):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dim    value      %   cum%   scree plot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1      0.149930  53.6  53.6  *************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2      0.067201  24.0  77.6  ******    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3      0.035396  12.6  90.2  ***       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4      0.027365   9.8 100.0  **        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-------- -----                  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Total: 0.279892 100.0 </a:t>
            </a:r>
          </a:p>
        </p:txBody>
      </p:sp>
    </p:spTree>
    <p:extLst>
      <p:ext uri="{BB962C8B-B14F-4D97-AF65-F5344CB8AC3E}">
        <p14:creationId xmlns:p14="http://schemas.microsoft.com/office/powerpoint/2010/main" val="117090767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4282D-4ECA-4F55-840C-5CB0C5D27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prstClr val="white"/>
                </a:solidFill>
              </a:rPr>
              <a:t>MCA example: pre- and extramarital sex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22A21B-4994-43D6-94A5-A0C5F3B0F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BCD135-908B-4A79-8247-ABD6E3E37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724" y="2028069"/>
            <a:ext cx="5400076" cy="48096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25DE06-2476-4570-86DF-9C083900603F}"/>
              </a:ext>
            </a:extLst>
          </p:cNvPr>
          <p:cNvSpPr txBox="1"/>
          <p:nvPr/>
        </p:nvSpPr>
        <p:spPr>
          <a:xfrm>
            <a:off x="457200" y="1143000"/>
            <a:ext cx="8229600" cy="52322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vcdExtra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mcaplot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presex.mca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legend=TRUE,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legend.pos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bottomright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2C881A-0988-4B0D-8347-62C3FCE371B6}"/>
              </a:ext>
            </a:extLst>
          </p:cNvPr>
          <p:cNvSpPr txBox="1"/>
          <p:nvPr/>
        </p:nvSpPr>
        <p:spPr>
          <a:xfrm>
            <a:off x="457200" y="2138680"/>
            <a:ext cx="2667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Accounts for 76% of total inertia</a:t>
            </a:r>
          </a:p>
          <a:p>
            <a:endParaRPr lang="en-US" sz="1600" dirty="0"/>
          </a:p>
          <a:p>
            <a:r>
              <a:rPr lang="en-US" sz="1600" dirty="0"/>
              <a:t>Women less likely to report pre- and/or extra-marital sex</a:t>
            </a:r>
          </a:p>
          <a:p>
            <a:endParaRPr lang="en-US" sz="1600" dirty="0"/>
          </a:p>
          <a:p>
            <a:r>
              <a:rPr lang="en-US" sz="1600" dirty="0"/>
              <a:t>Divorced associated with pre- and extra- sex</a:t>
            </a:r>
          </a:p>
          <a:p>
            <a:endParaRPr lang="en-US" sz="1600" dirty="0"/>
          </a:p>
          <a:p>
            <a:r>
              <a:rPr lang="en-US" sz="1600" dirty="0"/>
              <a:t>Gender </a:t>
            </a:r>
            <a:r>
              <a:rPr lang="en-US" sz="1600" dirty="0">
                <a:sym typeface="Symbol" panose="05050102010706020507" pitchFamily="18" charset="2"/>
              </a:rPr>
              <a:t> Marital</a:t>
            </a:r>
          </a:p>
          <a:p>
            <a:endParaRPr lang="en-US" sz="1600" dirty="0">
              <a:sym typeface="Symbol" panose="05050102010706020507" pitchFamily="18" charset="2"/>
            </a:endParaRPr>
          </a:p>
          <a:p>
            <a:r>
              <a:rPr lang="en-US" sz="1600" dirty="0">
                <a:sym typeface="Symbol" panose="05050102010706020507" pitchFamily="18" charset="2"/>
              </a:rPr>
              <a:t>NB: This only analyzes </a:t>
            </a:r>
            <a:r>
              <a:rPr lang="en-US" sz="1600" dirty="0">
                <a:solidFill>
                  <a:srgbClr val="0070C0"/>
                </a:solidFill>
                <a:sym typeface="Symbol" panose="05050102010706020507" pitchFamily="18" charset="2"/>
              </a:rPr>
              <a:t>bivariate</a:t>
            </a:r>
            <a:r>
              <a:rPr lang="en-US" sz="1600" dirty="0">
                <a:sym typeface="Symbol" panose="05050102010706020507" pitchFamily="18" charset="2"/>
              </a:rPr>
              <a:t> associations, i.e., no 3-way associations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3080997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91E22-5007-4E97-A834-2D98FE19B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Inertia in MCA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6837BC-11E5-46A6-8F7F-180F9FEC3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477724-61CB-4E8F-9BD0-CE9D58DA5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200"/>
            <a:ext cx="8171428" cy="7142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44B506-8FB9-481F-A84D-F512E1797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86" y="1996573"/>
            <a:ext cx="8171428" cy="2133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9B8974-72ED-4172-91D7-1AE7B3FC0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248872"/>
            <a:ext cx="8171428" cy="1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329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2CA12-8E31-451F-B6C4-199FE9630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Inertia in MCA: Details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29BC60-80F7-4402-9817-0E0B41A46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ED32F9-FE02-4A20-A42C-BC0B495FD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07440"/>
            <a:ext cx="8171428" cy="30857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010C3A-49C4-4E7C-8054-CC2D1702D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421754"/>
            <a:ext cx="8171428" cy="13047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9F17F1-FBBA-4993-AA52-091934AA6335}"/>
              </a:ext>
            </a:extLst>
          </p:cNvPr>
          <p:cNvSpPr txBox="1"/>
          <p:nvPr/>
        </p:nvSpPr>
        <p:spPr>
          <a:xfrm>
            <a:off x="457200" y="5943600"/>
            <a:ext cx="8171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NB: JCA solutions aren’t nested. I generally use </a:t>
            </a:r>
            <a:r>
              <a:rPr lang="en-US" dirty="0">
                <a:solidFill>
                  <a:srgbClr val="0070C0"/>
                </a:solidFill>
              </a:rPr>
              <a:t>adjusted inertia</a:t>
            </a:r>
          </a:p>
        </p:txBody>
      </p:sp>
    </p:spTree>
    <p:extLst>
      <p:ext uri="{BB962C8B-B14F-4D97-AF65-F5344CB8AC3E}">
        <p14:creationId xmlns:p14="http://schemas.microsoft.com/office/powerpoint/2010/main" val="364453521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43CCC-8C48-4486-B148-15E5C99D9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MCA example: Survival on the </a:t>
            </a:r>
            <a:r>
              <a:rPr lang="en-US" i="1" dirty="0"/>
              <a:t>Titanic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09A4E6-512B-4325-BAE8-A994F060D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F4B0A0-7A7C-4203-9189-0414557C728A}"/>
              </a:ext>
            </a:extLst>
          </p:cNvPr>
          <p:cNvSpPr txBox="1"/>
          <p:nvPr/>
        </p:nvSpPr>
        <p:spPr>
          <a:xfrm>
            <a:off x="457200" y="1219200"/>
            <a:ext cx="8229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Analyse</a:t>
            </a:r>
            <a:r>
              <a:rPr lang="en-US" sz="2000" dirty="0"/>
              <a:t> the Titanic data using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ca::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mcja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default inertia method is lambda = “adjusted”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Other methods: “indicator”, “Burt”, “JCA”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5A12E1-02C1-43ED-9625-789E55D0B93F}"/>
              </a:ext>
            </a:extLst>
          </p:cNvPr>
          <p:cNvSpPr txBox="1"/>
          <p:nvPr/>
        </p:nvSpPr>
        <p:spPr>
          <a:xfrm>
            <a:off x="457200" y="2371130"/>
            <a:ext cx="8229600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data(Titanic)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titanic.mca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mjca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(Titanic)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summary(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titanic.mca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columns = FALSE)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8DD744-9C7D-4403-88CA-68877CF764D7}"/>
              </a:ext>
            </a:extLst>
          </p:cNvPr>
          <p:cNvSpPr txBox="1"/>
          <p:nvPr/>
        </p:nvSpPr>
        <p:spPr>
          <a:xfrm>
            <a:off x="457200" y="3505200"/>
            <a:ext cx="8229600" cy="206210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Principal inertias (eigenvalues):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dim    value      %   cum%   scree plot          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1      0.067655  76.8  76.8  ***********************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2      0.005386   6.1  82.9  **                  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3      00000000   0.0  82.9                      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-------- -----                            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Total: 0.088118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C1D46F-3A2C-4929-BCE5-FEFB80D3B9AC}"/>
              </a:ext>
            </a:extLst>
          </p:cNvPr>
          <p:cNvSpPr txBox="1"/>
          <p:nvPr/>
        </p:nvSpPr>
        <p:spPr>
          <a:xfrm>
            <a:off x="609600" y="5791200"/>
            <a:ext cx="7696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Using adjusted inertia, the 2D solution accounts for ~ 83% of total, bivariate association.</a:t>
            </a:r>
          </a:p>
        </p:txBody>
      </p:sp>
    </p:spTree>
    <p:extLst>
      <p:ext uri="{BB962C8B-B14F-4D97-AF65-F5344CB8AC3E}">
        <p14:creationId xmlns:p14="http://schemas.microsoft.com/office/powerpoint/2010/main" val="136226753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52E695-B979-4F92-B1D7-E87017C5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9EC0E8-9B57-4245-B325-1D5F879FACB4}"/>
              </a:ext>
            </a:extLst>
          </p:cNvPr>
          <p:cNvSpPr txBox="1"/>
          <p:nvPr/>
        </p:nvSpPr>
        <p:spPr>
          <a:xfrm>
            <a:off x="533400" y="445541"/>
            <a:ext cx="792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Plot the solution with 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vcdExtra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mcaplot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CB6EF0-98D9-48C1-A753-F332A9BAE2E2}"/>
              </a:ext>
            </a:extLst>
          </p:cNvPr>
          <p:cNvSpPr txBox="1"/>
          <p:nvPr/>
        </p:nvSpPr>
        <p:spPr>
          <a:xfrm>
            <a:off x="533400" y="1143000"/>
            <a:ext cx="7924800" cy="33855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mcaplot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titanic.mca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legend=TRUE,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legend.pos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topleft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</p:txBody>
      </p:sp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D47FB72D-EEC4-48B2-ABED-AA62CFA556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268371"/>
            <a:ext cx="4629881" cy="44531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7CD192-C1CB-4292-8422-635EAE94AF74}"/>
              </a:ext>
            </a:extLst>
          </p:cNvPr>
          <p:cNvSpPr txBox="1"/>
          <p:nvPr/>
        </p:nvSpPr>
        <p:spPr>
          <a:xfrm>
            <a:off x="5410200" y="2362200"/>
            <a:ext cx="3352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Dim 1 perfectly aligned with Sex</a:t>
            </a:r>
          </a:p>
          <a:p>
            <a:r>
              <a:rPr lang="en-US" dirty="0"/>
              <a:t>Also strongly aligned w/ survival &amp; class</a:t>
            </a:r>
          </a:p>
          <a:p>
            <a:endParaRPr lang="en-US" dirty="0"/>
          </a:p>
          <a:p>
            <a:r>
              <a:rPr lang="en-US" dirty="0"/>
              <a:t>Dim 2: reflects class &amp; age</a:t>
            </a:r>
          </a:p>
          <a:p>
            <a:endParaRPr lang="en-US" dirty="0"/>
          </a:p>
          <a:p>
            <a:r>
              <a:rPr lang="en-US" dirty="0">
                <a:sym typeface="Symbol" panose="05050102010706020507" pitchFamily="18" charset="2"/>
              </a:rPr>
              <a:t> Survival associated with Female, 1</a:t>
            </a:r>
            <a:r>
              <a:rPr lang="en-US" baseline="30000" dirty="0">
                <a:sym typeface="Symbol" panose="05050102010706020507" pitchFamily="18" charset="2"/>
              </a:rPr>
              <a:t>st</a:t>
            </a:r>
            <a:r>
              <a:rPr lang="en-US" dirty="0">
                <a:sym typeface="Symbol" panose="05050102010706020507" pitchFamily="18" charset="2"/>
              </a:rPr>
              <a:t> vs 3</a:t>
            </a:r>
            <a:r>
              <a:rPr lang="en-US" baseline="30000" dirty="0">
                <a:sym typeface="Symbol" panose="05050102010706020507" pitchFamily="18" charset="2"/>
              </a:rPr>
              <a:t>rd</a:t>
            </a:r>
            <a:r>
              <a:rPr lang="en-US" dirty="0">
                <a:sym typeface="Symbol" panose="05050102010706020507" pitchFamily="18" charset="2"/>
              </a:rPr>
              <a:t> class, child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83397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624138-AA11-4787-8FA4-CAD5E88CE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Biplots for contingency tables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D53FAC-F56C-4435-A53E-F9B92561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1FBBC1-FA4C-4540-8D8A-A10C154796D3}"/>
              </a:ext>
            </a:extLst>
          </p:cNvPr>
          <p:cNvSpPr txBox="1"/>
          <p:nvPr/>
        </p:nvSpPr>
        <p:spPr>
          <a:xfrm>
            <a:off x="457200" y="1219200"/>
            <a:ext cx="8229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biplot is a related visualization that also uses the SVD to give a low-rank (2D) approximation.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 CA, the weighted χ</a:t>
            </a:r>
            <a:r>
              <a:rPr lang="en-US" sz="1600" baseline="30000" dirty="0"/>
              <a:t>2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0070C0"/>
                </a:solidFill>
              </a:rPr>
              <a:t>distances</a:t>
            </a:r>
            <a:r>
              <a:rPr lang="en-US" sz="1600" dirty="0"/>
              <a:t> between row (column) points reflect the </a:t>
            </a:r>
            <a:r>
              <a:rPr lang="en-US" sz="1600" dirty="0">
                <a:solidFill>
                  <a:srgbClr val="0070C0"/>
                </a:solidFill>
              </a:rPr>
              <a:t>differences</a:t>
            </a:r>
            <a:r>
              <a:rPr lang="en-US" sz="1600" dirty="0"/>
              <a:t> among row (column) </a:t>
            </a:r>
            <a:r>
              <a:rPr lang="en-US" sz="1600" dirty="0">
                <a:solidFill>
                  <a:srgbClr val="0070C0"/>
                </a:solidFill>
              </a:rPr>
              <a:t>profiles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 the biplot, rows (columns) are represented by </a:t>
            </a:r>
            <a:r>
              <a:rPr lang="en-US" sz="1600" dirty="0">
                <a:solidFill>
                  <a:srgbClr val="0070C0"/>
                </a:solidFill>
              </a:rPr>
              <a:t>vectors</a:t>
            </a:r>
            <a:r>
              <a:rPr lang="en-US" sz="1600" dirty="0"/>
              <a:t> from the origin, with an inner-product (</a:t>
            </a:r>
            <a:r>
              <a:rPr lang="en-US" sz="1600" dirty="0">
                <a:solidFill>
                  <a:srgbClr val="0070C0"/>
                </a:solidFill>
              </a:rPr>
              <a:t>projection</a:t>
            </a:r>
            <a:r>
              <a:rPr lang="en-US" sz="1600" dirty="0"/>
              <a:t>) interpretation – row point </a:t>
            </a:r>
            <a:r>
              <a:rPr lang="en-US" sz="1600" b="1" dirty="0"/>
              <a:t>a</a:t>
            </a:r>
            <a:r>
              <a:rPr lang="en-US" sz="1600" baseline="-25000" dirty="0"/>
              <a:t>i</a:t>
            </a:r>
            <a:r>
              <a:rPr lang="en-US" sz="1600" dirty="0"/>
              <a:t> is fit by projection on col point </a:t>
            </a:r>
            <a:r>
              <a:rPr lang="en-US" sz="1600" b="1" dirty="0" err="1"/>
              <a:t>b</a:t>
            </a:r>
            <a:r>
              <a:rPr lang="en-US" sz="1600" baseline="-25000" dirty="0" err="1"/>
              <a:t>j</a:t>
            </a:r>
            <a:endParaRPr lang="en-US" sz="1600" baseline="-25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735CF8-2301-4D76-B58D-6070718C1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46240"/>
            <a:ext cx="2628571" cy="2514286"/>
          </a:xfrm>
          <a:prstGeom prst="rect">
            <a:avLst/>
          </a:prstGeom>
        </p:spPr>
      </p:pic>
      <p:pic>
        <p:nvPicPr>
          <p:cNvPr id="9" name="Picture 8" descr="Chart, radar chart&#10;&#10;Description automatically generated">
            <a:extLst>
              <a:ext uri="{FF2B5EF4-FFF2-40B4-BE49-F238E27FC236}">
                <a16:creationId xmlns:a16="http://schemas.microsoft.com/office/drawing/2014/main" id="{035AC6A3-C98F-401C-BD83-7384585D52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2865657"/>
            <a:ext cx="3931920" cy="378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60594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D4531-546F-4CBD-B111-47AB1F1EA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Suicide rates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EEEDB9-C863-4B18-8854-1183693C9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2D9C03-374B-48FF-B841-893923715BD3}"/>
              </a:ext>
            </a:extLst>
          </p:cNvPr>
          <p:cNvSpPr txBox="1"/>
          <p:nvPr/>
        </p:nvSpPr>
        <p:spPr>
          <a:xfrm>
            <a:off x="457200" y="1066800"/>
            <a:ext cx="82296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different </a:t>
            </a:r>
            <a:r>
              <a:rPr lang="en-US" dirty="0" err="1"/>
              <a:t>scalings</a:t>
            </a:r>
            <a:r>
              <a:rPr lang="en-US" dirty="0"/>
              <a:t> for CA biplots.  Here I use the ‘contribution’ biplot</a:t>
            </a:r>
          </a:p>
          <a:p>
            <a:r>
              <a:rPr lang="en-US" sz="1600" dirty="0"/>
              <a:t>I find the plot less messy to plot arrows for only rows or cols and imagine the projection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BBF5BB-048B-4B0A-97E0-88BF23F2F055}"/>
              </a:ext>
            </a:extLst>
          </p:cNvPr>
          <p:cNvSpPr txBox="1"/>
          <p:nvPr/>
        </p:nvSpPr>
        <p:spPr>
          <a:xfrm>
            <a:off x="457200" y="1762760"/>
            <a:ext cx="8229600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plot(suicide.ca, map="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colgreen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", arrows=c(FALSE, TRUE),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=2)</a:t>
            </a:r>
          </a:p>
        </p:txBody>
      </p:sp>
      <p:pic>
        <p:nvPicPr>
          <p:cNvPr id="7" name="Picture 6" descr="Chart, scatter chart&#10;&#10;Description automatically generated">
            <a:extLst>
              <a:ext uri="{FF2B5EF4-FFF2-40B4-BE49-F238E27FC236}">
                <a16:creationId xmlns:a16="http://schemas.microsoft.com/office/drawing/2014/main" id="{65FC59AF-8773-495D-8D4F-13872C755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" y="2362200"/>
            <a:ext cx="4270392" cy="41153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610420-187F-4D17-AD76-FF34F963ED01}"/>
              </a:ext>
            </a:extLst>
          </p:cNvPr>
          <p:cNvSpPr txBox="1"/>
          <p:nvPr/>
        </p:nvSpPr>
        <p:spPr>
          <a:xfrm>
            <a:off x="5029200" y="2667000"/>
            <a:ext cx="3505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Associations between age-sex categories and suicide methods can be read as projections of the points on the vectors</a:t>
            </a:r>
          </a:p>
          <a:p>
            <a:endParaRPr lang="en-US" dirty="0"/>
          </a:p>
          <a:p>
            <a:r>
              <a:rPr lang="en-US" dirty="0"/>
              <a:t>Lengths of vectors for suicide reflect their contributions to this 2D plot</a:t>
            </a:r>
          </a:p>
        </p:txBody>
      </p:sp>
    </p:spTree>
    <p:extLst>
      <p:ext uri="{BB962C8B-B14F-4D97-AF65-F5344CB8AC3E}">
        <p14:creationId xmlns:p14="http://schemas.microsoft.com/office/powerpoint/2010/main" val="330765665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11434-627C-4D39-9C8A-982B63902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FDBBEF-306C-4EA2-BA72-4559D22C9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0AA317-1AFE-4C42-9F71-310C9AF50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264920"/>
            <a:ext cx="8171428" cy="11238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2C71BB-5AAB-4D6E-9BB8-B362AA448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472848"/>
            <a:ext cx="8171428" cy="12190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26999D-1F20-4F81-A974-5CB965E95F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3865880"/>
            <a:ext cx="8171428" cy="160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26D19D-6E43-43AF-9AE7-E6EDD9892FDA}"/>
              </a:ext>
            </a:extLst>
          </p:cNvPr>
          <p:cNvSpPr txBox="1"/>
          <p:nvPr/>
        </p:nvSpPr>
        <p:spPr>
          <a:xfrm>
            <a:off x="533400" y="5562600"/>
            <a:ext cx="794282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Given a new 2-way table, my first thought is nearly always: </a:t>
            </a:r>
          </a:p>
          <a:p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ca(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mytable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)|&gt; plot()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9D493C-BA18-71EF-9F6A-49DA20467A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230" y="274638"/>
            <a:ext cx="725260" cy="7159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5B8019-7E92-E488-61E8-58D81B141D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1540" y="274638"/>
            <a:ext cx="725260" cy="71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506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8065</TotalTime>
  <Words>5620</Words>
  <Application>Microsoft Office PowerPoint</Application>
  <PresentationFormat>On-screen Show (4:3)</PresentationFormat>
  <Paragraphs>689</Paragraphs>
  <Slides>74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83" baseType="lpstr">
      <vt:lpstr>Dreaming Outloud Pro</vt:lpstr>
      <vt:lpstr>Wingdings</vt:lpstr>
      <vt:lpstr>Symbol</vt:lpstr>
      <vt:lpstr>Calibri</vt:lpstr>
      <vt:lpstr>Arial</vt:lpstr>
      <vt:lpstr>Britannic Bold</vt:lpstr>
      <vt:lpstr>Aptos Mono</vt:lpstr>
      <vt:lpstr>Courier New</vt:lpstr>
      <vt:lpstr>1_Office Theme</vt:lpstr>
      <vt:lpstr>Correspondence analysis</vt:lpstr>
      <vt:lpstr>Today’s topics</vt:lpstr>
      <vt:lpstr>PowerPoint Presentation</vt:lpstr>
      <vt:lpstr>Correspondence analysis: Basic ideas</vt:lpstr>
      <vt:lpstr>Correspondence analysis: History</vt:lpstr>
      <vt:lpstr>CA software for R</vt:lpstr>
      <vt:lpstr>Example: Hair color, eye color</vt:lpstr>
      <vt:lpstr>PowerPoint Presentation</vt:lpstr>
      <vt:lpstr>PowerPoint Presentation</vt:lpstr>
      <vt:lpstr>Row &amp; column profiles</vt:lpstr>
      <vt:lpstr>PowerPoint Presentation</vt:lpstr>
      <vt:lpstr>Plotting profiles</vt:lpstr>
      <vt:lpstr>Plotting profiles</vt:lpstr>
      <vt:lpstr>CA solution</vt:lpstr>
      <vt:lpstr>CA solution</vt:lpstr>
      <vt:lpstr>Profiles &amp; inertia</vt:lpstr>
      <vt:lpstr>Housetasks: Who does what?</vt:lpstr>
      <vt:lpstr>Housetasks: Semi-graphic tables</vt:lpstr>
      <vt:lpstr>CA with FactoMineR</vt:lpstr>
      <vt:lpstr>How many dimensions to consider?</vt:lpstr>
      <vt:lpstr>CA biplot</vt:lpstr>
      <vt:lpstr>PowerPoint Presentation</vt:lpstr>
      <vt:lpstr>Singular value decomposition</vt:lpstr>
      <vt:lpstr>Properties of the SVD</vt:lpstr>
      <vt:lpstr>SVD: Matrix approximation</vt:lpstr>
      <vt:lpstr>SVD song: It had to be U …</vt:lpstr>
      <vt:lpstr>CA notation &amp; terminology</vt:lpstr>
      <vt:lpstr>Principal &amp; standard coordinates</vt:lpstr>
      <vt:lpstr>Standard coordinates</vt:lpstr>
      <vt:lpstr>Geometric &amp; statistical properties</vt:lpstr>
      <vt:lpstr>The ca package in R</vt:lpstr>
      <vt:lpstr>ca plots</vt:lpstr>
      <vt:lpstr>PowerPoint Presentation</vt:lpstr>
      <vt:lpstr>Optimal category scores</vt:lpstr>
      <vt:lpstr>Optimal category scores</vt:lpstr>
      <vt:lpstr>Optimal category scores</vt:lpstr>
      <vt:lpstr>Permuting for a mosaic</vt:lpstr>
      <vt:lpstr>Permuting for a mosaic</vt:lpstr>
      <vt:lpstr>Simultaneous linear regression</vt:lpstr>
      <vt:lpstr>Simultaneous linear regressions</vt:lpstr>
      <vt:lpstr>Example: Mental impairment &amp; parent’ SES</vt:lpstr>
      <vt:lpstr>Mental data: CA solution</vt:lpstr>
      <vt:lpstr>Mental data: CA plot</vt:lpstr>
      <vt:lpstr>Looking ahead</vt:lpstr>
      <vt:lpstr>Multi-way tables</vt:lpstr>
      <vt:lpstr>Multi-way tables: Stacking</vt:lpstr>
      <vt:lpstr>Interactive coding in R</vt:lpstr>
      <vt:lpstr>Example: Suicide rates in Germany</vt:lpstr>
      <vt:lpstr>Suicide rates in Germany</vt:lpstr>
      <vt:lpstr>Suicide rates in Germany</vt:lpstr>
      <vt:lpstr>PowerPoint Presentation</vt:lpstr>
      <vt:lpstr>PowerPoint Presentation</vt:lpstr>
      <vt:lpstr>Marginal tables &amp; supplementary variables</vt:lpstr>
      <vt:lpstr>PowerPoint Presentation</vt:lpstr>
      <vt:lpstr>Supplementary variables</vt:lpstr>
      <vt:lpstr>PowerPoint Presentation</vt:lpstr>
      <vt:lpstr>Multiple correspondence analysis </vt:lpstr>
      <vt:lpstr>Example: Titanic data</vt:lpstr>
      <vt:lpstr>CA  MCA: Indicator &amp; Burt</vt:lpstr>
      <vt:lpstr>Indicator matrix: Hair Eye color</vt:lpstr>
      <vt:lpstr>PowerPoint Presentation</vt:lpstr>
      <vt:lpstr>PowerPoint Presentation</vt:lpstr>
      <vt:lpstr>The Burt matrix</vt:lpstr>
      <vt:lpstr>Multivariate MCA</vt:lpstr>
      <vt:lpstr>MCA properties</vt:lpstr>
      <vt:lpstr>MCA example: pre- and extramarital sex</vt:lpstr>
      <vt:lpstr>MCA example: pre- and extramarital sex</vt:lpstr>
      <vt:lpstr>Inertia in MCA</vt:lpstr>
      <vt:lpstr>Inertia in MCA: Details</vt:lpstr>
      <vt:lpstr>MCA example: Survival on the Titanic</vt:lpstr>
      <vt:lpstr>PowerPoint Presentation</vt:lpstr>
      <vt:lpstr>Biplots for contingency tables</vt:lpstr>
      <vt:lpstr>Example: Suicide rates</vt:lpstr>
      <vt:lpstr>Summary</vt:lpstr>
    </vt:vector>
  </TitlesOfParts>
  <Company>YORK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05-Corresp</dc:title>
  <dc:creator>Michael Friendly</dc:creator>
  <cp:lastModifiedBy>Michael L Friendly</cp:lastModifiedBy>
  <cp:revision>120</cp:revision>
  <dcterms:created xsi:type="dcterms:W3CDTF">2017-10-14T20:35:56Z</dcterms:created>
  <dcterms:modified xsi:type="dcterms:W3CDTF">2026-02-04T15:20:55Z</dcterms:modified>
</cp:coreProperties>
</file>