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handoutMasterIdLst>
    <p:handoutMasterId r:id="rId58"/>
  </p:handoutMasterIdLst>
  <p:sldIdLst>
    <p:sldId id="256" r:id="rId2"/>
    <p:sldId id="305" r:id="rId3"/>
    <p:sldId id="262" r:id="rId4"/>
    <p:sldId id="257" r:id="rId5"/>
    <p:sldId id="312" r:id="rId6"/>
    <p:sldId id="258" r:id="rId7"/>
    <p:sldId id="260" r:id="rId8"/>
    <p:sldId id="261" r:id="rId9"/>
    <p:sldId id="277" r:id="rId10"/>
    <p:sldId id="264" r:id="rId11"/>
    <p:sldId id="265" r:id="rId12"/>
    <p:sldId id="266" r:id="rId13"/>
    <p:sldId id="267" r:id="rId14"/>
    <p:sldId id="268" r:id="rId15"/>
    <p:sldId id="313" r:id="rId16"/>
    <p:sldId id="269" r:id="rId17"/>
    <p:sldId id="270" r:id="rId18"/>
    <p:sldId id="259" r:id="rId19"/>
    <p:sldId id="271" r:id="rId20"/>
    <p:sldId id="272" r:id="rId21"/>
    <p:sldId id="276" r:id="rId22"/>
    <p:sldId id="274" r:id="rId23"/>
    <p:sldId id="275" r:id="rId24"/>
    <p:sldId id="278" r:id="rId25"/>
    <p:sldId id="279" r:id="rId26"/>
    <p:sldId id="280" r:id="rId27"/>
    <p:sldId id="282" r:id="rId28"/>
    <p:sldId id="281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306" r:id="rId43"/>
    <p:sldId id="296" r:id="rId44"/>
    <p:sldId id="297" r:id="rId45"/>
    <p:sldId id="298" r:id="rId46"/>
    <p:sldId id="307" r:id="rId47"/>
    <p:sldId id="308" r:id="rId48"/>
    <p:sldId id="309" r:id="rId49"/>
    <p:sldId id="311" r:id="rId50"/>
    <p:sldId id="299" r:id="rId51"/>
    <p:sldId id="300" r:id="rId52"/>
    <p:sldId id="301" r:id="rId53"/>
    <p:sldId id="302" r:id="rId54"/>
    <p:sldId id="303" r:id="rId55"/>
    <p:sldId id="304" r:id="rId56"/>
    <p:sldId id="310" r:id="rId5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1841CCA-5991-41F1-97C0-822876F6B3C0}">
          <p14:sldIdLst>
            <p14:sldId id="256"/>
            <p14:sldId id="305"/>
            <p14:sldId id="262"/>
            <p14:sldId id="257"/>
            <p14:sldId id="312"/>
          </p14:sldIdLst>
        </p14:section>
        <p14:section name="2-way" id="{E38284BF-DE30-40BA-82CA-3B5920C20CD9}">
          <p14:sldIdLst>
            <p14:sldId id="258"/>
            <p14:sldId id="260"/>
            <p14:sldId id="261"/>
            <p14:sldId id="277"/>
            <p14:sldId id="264"/>
            <p14:sldId id="265"/>
            <p14:sldId id="266"/>
            <p14:sldId id="267"/>
            <p14:sldId id="268"/>
            <p14:sldId id="313"/>
          </p14:sldIdLst>
        </p14:section>
        <p14:section name="3-way" id="{9A0C7C62-EB06-433A-833C-AE13DF325E24}">
          <p14:sldIdLst>
            <p14:sldId id="269"/>
            <p14:sldId id="270"/>
            <p14:sldId id="259"/>
            <p14:sldId id="271"/>
            <p14:sldId id="272"/>
            <p14:sldId id="276"/>
            <p14:sldId id="274"/>
            <p14:sldId id="275"/>
            <p14:sldId id="278"/>
            <p14:sldId id="279"/>
            <p14:sldId id="280"/>
            <p14:sldId id="282"/>
            <p14:sldId id="281"/>
            <p14:sldId id="283"/>
            <p14:sldId id="284"/>
          </p14:sldIdLst>
        </p14:section>
        <p14:section name="generalized log odds ratios" id="{AF138016-3D47-4A4E-82C4-4FA7155488D4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Bivariate response" id="{A6CCE540-8780-4498-8C41-D0538E45F0FC}">
          <p14:sldIdLst>
            <p14:sldId id="295"/>
            <p14:sldId id="306"/>
            <p14:sldId id="296"/>
            <p14:sldId id="297"/>
            <p14:sldId id="298"/>
            <p14:sldId id="307"/>
            <p14:sldId id="308"/>
            <p14:sldId id="309"/>
            <p14:sldId id="311"/>
          </p14:sldIdLst>
        </p14:section>
        <p14:section name="corporal punishment" id="{189ED1AE-80D3-4A99-8B95-EE9DCD10ED99}">
          <p14:sldIdLst>
            <p14:sldId id="299"/>
            <p14:sldId id="300"/>
            <p14:sldId id="301"/>
            <p14:sldId id="302"/>
            <p14:sldId id="303"/>
            <p14:sldId id="304"/>
            <p14:sldId id="31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7" d="100"/>
          <a:sy n="97" d="100"/>
        </p:scale>
        <p:origin x="756" y="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0188"/>
    </p:cViewPr>
  </p:sorterViewPr>
  <p:notesViewPr>
    <p:cSldViewPr>
      <p:cViewPr varScale="1">
        <p:scale>
          <a:sx n="87" d="100"/>
          <a:sy n="87" d="100"/>
        </p:scale>
        <p:origin x="-2040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BD4FA9-F3CE-45B3-A980-C331C6F1EF65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CD5E95-8CAD-4274-BFFA-CD87442DEA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7690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solidFill>
            <a:srgbClr val="002060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D3657-2200-4D14-82C0-10C39B0F0F06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66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SzPct val="120000"/>
              <a:defRPr sz="2800"/>
            </a:lvl1pPr>
            <a:lvl2pPr>
              <a:defRPr sz="2400"/>
            </a:lvl2pPr>
            <a:lvl3pPr marL="1143000" indent="-228600">
              <a:buClr>
                <a:srgbClr val="00B0F0"/>
              </a:buClr>
              <a:buSzPct val="110000"/>
              <a:buFont typeface="Arial" panose="020B0604020202020204" pitchFamily="34" charset="0"/>
              <a:buChar char="•"/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1AD17-B813-4477-8AFE-B1860CC59113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557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75C0D-5C9E-48CC-8D31-F42D19FA8F7A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21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57551-0F2B-4F09-86FD-F7994CE83DC5}" type="datetime1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701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9D2B2-4200-46B9-96C3-02A55D5FAA00}" type="datetime1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76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F7722-74E8-497F-A072-89677A2C2373}" type="datetime1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363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6212E-B46B-426F-AE59-AA326827D9E0}" type="datetime1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94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B81E8-09EA-4684-A39F-38DE1E49D20C}" type="datetime1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109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C5CC5F-056C-4047-9A5C-9F5B4BED129B}" type="datetime1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37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BAF55-A85E-4993-914E-FC1E5AA7DF24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186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16E07-E1DB-44A4-A5E5-9F4B54E8C933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17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  <a:prstGeom prst="rect">
            <a:avLst/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3000"/>
            <a:ext cx="8229600" cy="5105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171053-07BD-4A17-AC24-0A22EAA36098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429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0070C0"/>
        </a:buClr>
        <a:buSzPct val="115000"/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FF0000"/>
        </a:buClr>
        <a:buSzPct val="110000"/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friendly.github.io/6136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www.datavis.ca/papers/CARME2015-2x2.pdf" TargetMode="Externa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80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3124200"/>
            <a:ext cx="77724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Models &amp; graphs for log odds and log odds ratios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648200"/>
            <a:ext cx="6400800" cy="1752600"/>
          </a:xfrm>
        </p:spPr>
        <p:txBody>
          <a:bodyPr/>
          <a:lstStyle/>
          <a:p>
            <a:r>
              <a:rPr lang="en-US" dirty="0"/>
              <a:t>Michael Friendly</a:t>
            </a:r>
          </a:p>
          <a:p>
            <a:r>
              <a:rPr lang="en-US" dirty="0"/>
              <a:t>Psych 6136</a:t>
            </a:r>
          </a:p>
          <a:p>
            <a:pPr lvl="0"/>
            <a:r>
              <a:rPr lang="en-US" sz="2200" dirty="0">
                <a:solidFill>
                  <a:prstClr val="black">
                    <a:tint val="75000"/>
                  </a:prstClr>
                </a:solidFill>
                <a:hlinkClick r:id="rId2"/>
              </a:rPr>
              <a:t>https://friendly.github.io/6136 </a:t>
            </a:r>
            <a:endParaRPr lang="en-US" sz="2200" dirty="0">
              <a:solidFill>
                <a:prstClr val="black">
                  <a:tint val="75000"/>
                </a:prstClr>
              </a:solidFill>
            </a:endParaRPr>
          </a:p>
          <a:p>
            <a:endParaRPr lang="en-US" dirty="0"/>
          </a:p>
        </p:txBody>
      </p:sp>
      <p:pic>
        <p:nvPicPr>
          <p:cNvPr id="4" name="Picture 3" descr="Shape&#10;&#10;Description automatically generated">
            <a:extLst>
              <a:ext uri="{FF2B5EF4-FFF2-40B4-BE49-F238E27FC236}">
                <a16:creationId xmlns:a16="http://schemas.microsoft.com/office/drawing/2014/main" id="{15D465FD-F1E7-4DD7-A16E-F94296DB38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4578350"/>
            <a:ext cx="1495928" cy="1730890"/>
          </a:xfrm>
          <a:prstGeom prst="rect">
            <a:avLst/>
          </a:prstGeom>
        </p:spPr>
      </p:pic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82E36437-FB1B-4935-AF18-CE18C68FBF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2272" y="4578350"/>
            <a:ext cx="1495928" cy="17308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E9B9E95-D0E9-37A8-F97B-E677744590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240" y="175117"/>
            <a:ext cx="2537433" cy="2556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DDC3C2-73EB-1033-EE03-4972C23555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6600" y="228601"/>
            <a:ext cx="2849879" cy="251459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F79192F-FAE2-A27B-BA0B-2E2644964B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6414" y="247651"/>
            <a:ext cx="2216493" cy="248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465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C2738-0FD2-062F-3104-0B45C05D5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Today’s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A1BDED-C87B-0EE3-2D65-6434F1A7C1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We’ve come a long way, but there is more…</a:t>
            </a:r>
          </a:p>
          <a:p>
            <a:r>
              <a:rPr lang="en-CA" dirty="0"/>
              <a:t>Logit models </a:t>
            </a:r>
            <a:r>
              <a:rPr lang="en-CA" dirty="0">
                <a:sym typeface="Symbol" panose="05050102010706020507" pitchFamily="18" charset="2"/>
              </a:rPr>
              <a:t> general models for </a:t>
            </a:r>
            <a:r>
              <a:rPr lang="en-CA" dirty="0">
                <a:solidFill>
                  <a:srgbClr val="0070C0"/>
                </a:solidFill>
                <a:sym typeface="Symbol" panose="05050102010706020507" pitchFamily="18" charset="2"/>
              </a:rPr>
              <a:t>log odds</a:t>
            </a:r>
          </a:p>
          <a:p>
            <a:pPr lvl="1"/>
            <a:r>
              <a:rPr lang="en-CA" dirty="0">
                <a:sym typeface="Symbol" panose="05050102010706020507" pitchFamily="18" charset="2"/>
              </a:rPr>
              <a:t>Two-way tables</a:t>
            </a:r>
          </a:p>
          <a:p>
            <a:pPr lvl="1"/>
            <a:r>
              <a:rPr lang="en-CA" dirty="0">
                <a:sym typeface="Symbol" panose="05050102010706020507" pitchFamily="18" charset="2"/>
              </a:rPr>
              <a:t>Three-way + tables</a:t>
            </a:r>
          </a:p>
          <a:p>
            <a:pPr lvl="1"/>
            <a:r>
              <a:rPr lang="en-CA" dirty="0">
                <a:sym typeface="Symbol" panose="05050102010706020507" pitchFamily="18" charset="2"/>
              </a:rPr>
              <a:t>Log odds plots</a:t>
            </a:r>
          </a:p>
          <a:p>
            <a:r>
              <a:rPr lang="en-CA" dirty="0">
                <a:sym typeface="Symbol" panose="05050102010706020507" pitchFamily="18" charset="2"/>
              </a:rPr>
              <a:t>Models for generalized </a:t>
            </a:r>
            <a:r>
              <a:rPr lang="en-CA" dirty="0">
                <a:solidFill>
                  <a:srgbClr val="0070C0"/>
                </a:solidFill>
                <a:sym typeface="Symbol" panose="05050102010706020507" pitchFamily="18" charset="2"/>
              </a:rPr>
              <a:t>odds ratios</a:t>
            </a:r>
          </a:p>
          <a:p>
            <a:pPr lvl="1"/>
            <a:r>
              <a:rPr lang="en-CA" dirty="0">
                <a:sym typeface="Symbol" panose="05050102010706020507" pitchFamily="18" charset="2"/>
              </a:rPr>
              <a:t>Log odds ratios</a:t>
            </a:r>
          </a:p>
          <a:p>
            <a:pPr lvl="1"/>
            <a:r>
              <a:rPr lang="en-CA" dirty="0">
                <a:sym typeface="Symbol" panose="05050102010706020507" pitchFamily="18" charset="2"/>
              </a:rPr>
              <a:t>Bivariate response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0EE964-1322-D553-9201-0B7434615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601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8811A-8D50-9415-F036-380ED53EB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Main ideas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FF28EE7-89E4-9090-1FD0-27BC779CE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CC5937-BA85-3659-B321-6097EDA3A9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47800"/>
            <a:ext cx="8180952" cy="140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161C515-213C-64A2-D083-73E38AF495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124" y="3124200"/>
            <a:ext cx="8171428" cy="138095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2D7A1F3-A855-C969-DC87-1A1FAD1B80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649" y="4705175"/>
            <a:ext cx="8171428" cy="118095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3FEBAA4-6962-5434-9A5A-F0A92C983646}"/>
              </a:ext>
            </a:extLst>
          </p:cNvPr>
          <p:cNvSpPr txBox="1"/>
          <p:nvPr/>
        </p:nvSpPr>
        <p:spPr>
          <a:xfrm>
            <a:off x="609600" y="6248400"/>
            <a:ext cx="7696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Based on my CARME (2015) presentation, </a:t>
            </a:r>
            <a:r>
              <a:rPr lang="en-CA" sz="1400" dirty="0">
                <a:hlinkClick r:id="rId5"/>
              </a:rPr>
              <a:t>https://www.datavis.ca/papers/CARME2015-2x2.pdf</a:t>
            </a:r>
            <a:r>
              <a:rPr lang="en-CA" sz="1400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966402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CB698-380F-D90F-B4A4-B66C6E2B3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Logit models </a:t>
            </a:r>
            <a:r>
              <a:rPr lang="en-CA" dirty="0">
                <a:sym typeface="Symbol" panose="05050102010706020507" pitchFamily="18" charset="2"/>
              </a:rPr>
              <a:t> Log odds models</a:t>
            </a:r>
            <a:endParaRPr lang="en-C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4027CC-8481-9237-8F26-2B2AD75D7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CA" sz="2400" dirty="0"/>
              <a:t>In an </a:t>
            </a:r>
            <a:r>
              <a:rPr lang="en-CA" sz="2400" i="1" dirty="0"/>
              <a:t>I</a:t>
            </a:r>
            <a:r>
              <a:rPr lang="en-CA" sz="2400" dirty="0"/>
              <a:t> × 2 table for  variables[A B], where B is a binary response, the logit model expresses the log odds that B=1 vs. B=2</a:t>
            </a:r>
          </a:p>
          <a:p>
            <a:pPr marL="0" indent="0">
              <a:buNone/>
            </a:pPr>
            <a:endParaRPr lang="en-CA" sz="2400" dirty="0"/>
          </a:p>
          <a:p>
            <a:pPr marL="457200" lvl="1" indent="0">
              <a:buNone/>
            </a:pPr>
            <a:endParaRPr lang="en-CA" sz="2000" dirty="0"/>
          </a:p>
          <a:p>
            <a:pPr lvl="1"/>
            <a:endParaRPr lang="en-CA" sz="2000" dirty="0"/>
          </a:p>
          <a:p>
            <a:pPr lvl="1"/>
            <a:r>
              <a:rPr lang="en-CA" sz="2000" dirty="0"/>
              <a:t>Models pertain to the </a:t>
            </a:r>
            <a:r>
              <a:rPr lang="en-CA" sz="2000" dirty="0">
                <a:solidFill>
                  <a:srgbClr val="0070C0"/>
                </a:solidFill>
              </a:rPr>
              <a:t>one-way</a:t>
            </a:r>
            <a:r>
              <a:rPr lang="en-CA" sz="2000" dirty="0"/>
              <a:t> log odds</a:t>
            </a:r>
          </a:p>
          <a:p>
            <a:endParaRPr lang="en-CA" sz="2400" dirty="0"/>
          </a:p>
          <a:p>
            <a:r>
              <a:rPr lang="en-CA" sz="2400" dirty="0"/>
              <a:t>This generalizes to </a:t>
            </a:r>
            <a:r>
              <a:rPr lang="en-CA" sz="2400" i="1" dirty="0"/>
              <a:t>I × J </a:t>
            </a:r>
            <a:r>
              <a:rPr lang="en-CA" sz="2400" dirty="0"/>
              <a:t>tables, where we consider (</a:t>
            </a:r>
            <a:r>
              <a:rPr lang="en-CA" sz="2400" i="1" dirty="0"/>
              <a:t>J</a:t>
            </a:r>
            <a:r>
              <a:rPr lang="en-CA" sz="2400" dirty="0"/>
              <a:t>-1) log odds for each level of A, e.g.,</a:t>
            </a:r>
          </a:p>
          <a:p>
            <a:pPr lvl="1"/>
            <a:r>
              <a:rPr lang="en-CA" sz="2000" dirty="0"/>
              <a:t>Adjacent categories</a:t>
            </a:r>
          </a:p>
          <a:p>
            <a:pPr lvl="1"/>
            <a:endParaRPr lang="en-CA" sz="2000" dirty="0"/>
          </a:p>
          <a:p>
            <a:pPr lvl="1"/>
            <a:endParaRPr lang="en-CA" sz="2000" dirty="0"/>
          </a:p>
          <a:p>
            <a:pPr lvl="1"/>
            <a:endParaRPr lang="en-CA" sz="2000" dirty="0"/>
          </a:p>
          <a:p>
            <a:pPr lvl="1"/>
            <a:r>
              <a:rPr lang="en-CA" sz="2000" dirty="0"/>
              <a:t>In general, </a:t>
            </a:r>
            <a:r>
              <a:rPr lang="en-CA" sz="2000" i="1" dirty="0"/>
              <a:t>I × J </a:t>
            </a:r>
            <a:r>
              <a:rPr lang="en-CA" sz="2000" dirty="0">
                <a:sym typeface="Symbol" panose="05050102010706020507" pitchFamily="18" charset="2"/>
              </a:rPr>
              <a:t> (</a:t>
            </a:r>
            <a:r>
              <a:rPr lang="en-CA" sz="2000" i="1" dirty="0">
                <a:sym typeface="Symbol" panose="05050102010706020507" pitchFamily="18" charset="2"/>
              </a:rPr>
              <a:t>J</a:t>
            </a:r>
            <a:r>
              <a:rPr lang="en-CA" sz="2000" dirty="0">
                <a:sym typeface="Symbol" panose="05050102010706020507" pitchFamily="18" charset="2"/>
              </a:rPr>
              <a:t>-1) log odds </a:t>
            </a:r>
            <a:r>
              <a:rPr lang="en-CA" sz="2000" dirty="0">
                <a:solidFill>
                  <a:srgbClr val="0070C0"/>
                </a:solidFill>
                <a:sym typeface="Symbol" panose="05050102010706020507" pitchFamily="18" charset="2"/>
              </a:rPr>
              <a:t>contrasts</a:t>
            </a:r>
            <a:r>
              <a:rPr lang="en-CA" sz="2000" dirty="0">
                <a:sym typeface="Symbol" panose="05050102010706020507" pitchFamily="18" charset="2"/>
              </a:rPr>
              <a:t> of the B categories for each level of A</a:t>
            </a:r>
            <a:r>
              <a:rPr lang="en-CA" sz="2000" dirty="0"/>
              <a:t> </a:t>
            </a:r>
          </a:p>
          <a:p>
            <a:pPr lvl="1"/>
            <a:r>
              <a:rPr lang="en-CA" sz="2000" dirty="0"/>
              <a:t>Similar to how </a:t>
            </a:r>
            <a:r>
              <a:rPr lang="en-CA" sz="2000" dirty="0">
                <a:solidFill>
                  <a:srgbClr val="0070C0"/>
                </a:solidFill>
              </a:rPr>
              <a:t>polytomous responses </a:t>
            </a:r>
            <a:r>
              <a:rPr lang="en-CA" sz="2000" dirty="0"/>
              <a:t>treated in logistic regression </a:t>
            </a:r>
          </a:p>
          <a:p>
            <a:pPr lvl="1"/>
            <a:r>
              <a:rPr lang="en-CA" sz="2000" dirty="0"/>
              <a:t>Can also use comparisons with a baseline category</a:t>
            </a:r>
          </a:p>
          <a:p>
            <a:pPr marL="0" indent="0">
              <a:buNone/>
            </a:pPr>
            <a:endParaRPr lang="en-CA" sz="2400" dirty="0"/>
          </a:p>
          <a:p>
            <a:pPr marL="0" indent="0">
              <a:buNone/>
            </a:pPr>
            <a:r>
              <a:rPr lang="en-CA" sz="2400" dirty="0"/>
              <a:t> 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73F2D89-D573-3281-5366-8DBA6FBB8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DC6939-5102-3987-4937-08051CD98F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6600" y="1752600"/>
            <a:ext cx="1543050" cy="7715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1511DF-963D-B488-70A8-47EC1C94FE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0165" y="3819525"/>
            <a:ext cx="3337063" cy="75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618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74330-976F-8DC9-88F3-2ECA368C5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J responses </a:t>
            </a:r>
            <a:r>
              <a:rPr lang="en-CA" dirty="0">
                <a:sym typeface="Symbol" panose="05050102010706020507" pitchFamily="18" charset="2"/>
              </a:rPr>
              <a:t></a:t>
            </a:r>
            <a:r>
              <a:rPr lang="en-CA" dirty="0"/>
              <a:t> J-1 contrasts/logits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AD15AC0-58F9-FD80-2471-9A9A39CA8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271D7C96-D951-CCED-35CA-179D50CA2D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0625514"/>
              </p:ext>
            </p:extLst>
          </p:nvPr>
        </p:nvGraphicFramePr>
        <p:xfrm>
          <a:off x="447675" y="1752600"/>
          <a:ext cx="3657600" cy="1478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135372021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139602388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32836268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345367560"/>
                    </a:ext>
                  </a:extLst>
                </a:gridCol>
              </a:tblGrid>
              <a:tr h="142240"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b3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b4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1321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A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86503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A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8527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C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431018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D0B3D6C-83BC-6EA2-3789-3AC119AD03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0501565"/>
              </p:ext>
            </p:extLst>
          </p:nvPr>
        </p:nvGraphicFramePr>
        <p:xfrm>
          <a:off x="447675" y="4038600"/>
          <a:ext cx="3657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135372021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139602388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32836268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3453675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b3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b4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1321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A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86503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A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8527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C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431018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CF31BD-4B09-1372-28A0-3D68E87BAECE}"/>
              </a:ext>
            </a:extLst>
          </p:cNvPr>
          <p:cNvSpPr txBox="1"/>
          <p:nvPr/>
        </p:nvSpPr>
        <p:spPr>
          <a:xfrm>
            <a:off x="457200" y="1219200"/>
            <a:ext cx="3657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Adjacent-category logits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42C86F-DAD6-F249-1AFB-DEE556828425}"/>
              </a:ext>
            </a:extLst>
          </p:cNvPr>
          <p:cNvSpPr txBox="1"/>
          <p:nvPr/>
        </p:nvSpPr>
        <p:spPr>
          <a:xfrm>
            <a:off x="457200" y="3505200"/>
            <a:ext cx="36480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Reference-level logits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720327F-7CD8-6441-5B55-6A3BEC093E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752600"/>
            <a:ext cx="4191000" cy="51157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55AED4A-E96A-F18A-1FA8-9DA397F5CA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038600"/>
            <a:ext cx="4030615" cy="5112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E47869A-38A7-F722-6785-80508BE26674}"/>
              </a:ext>
            </a:extLst>
          </p:cNvPr>
          <p:cNvSpPr txBox="1"/>
          <p:nvPr/>
        </p:nvSpPr>
        <p:spPr>
          <a:xfrm>
            <a:off x="4495800" y="4944070"/>
            <a:ext cx="4114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0070C0"/>
                </a:solidFill>
              </a:rPr>
              <a:t>Generalized</a:t>
            </a:r>
            <a:r>
              <a:rPr lang="en-CA" dirty="0"/>
              <a:t> logit models extend the advantages of the standard one to a </a:t>
            </a:r>
            <a:r>
              <a:rPr lang="en-CA" dirty="0">
                <a:solidFill>
                  <a:srgbClr val="0070C0"/>
                </a:solidFill>
              </a:rPr>
              <a:t>polytomous</a:t>
            </a:r>
            <a:r>
              <a:rPr lang="en-CA" dirty="0"/>
              <a:t> response</a:t>
            </a:r>
          </a:p>
          <a:p>
            <a:r>
              <a:rPr lang="en-CA" dirty="0">
                <a:solidFill>
                  <a:srgbClr val="00B0F0"/>
                </a:solidFill>
              </a:rPr>
              <a:t>Nested logits </a:t>
            </a:r>
            <a:r>
              <a:rPr lang="en-CA" dirty="0"/>
              <a:t>might also be useful</a:t>
            </a:r>
          </a:p>
        </p:txBody>
      </p:sp>
    </p:spTree>
    <p:extLst>
      <p:ext uri="{BB962C8B-B14F-4D97-AF65-F5344CB8AC3E}">
        <p14:creationId xmlns:p14="http://schemas.microsoft.com/office/powerpoint/2010/main" val="1427867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E85BC90-1951-EC3E-56FF-54D8BE897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2-way example: Hospital visits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F4AF0F-C8F1-42C8-C146-612A8408A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506E47-AC45-F7BA-8EDE-7824789CA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675" y="1219200"/>
            <a:ext cx="8123809" cy="266666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017014F-6F4E-D193-1929-67367C481481}"/>
              </a:ext>
            </a:extLst>
          </p:cNvPr>
          <p:cNvSpPr txBox="1"/>
          <p:nvPr/>
        </p:nvSpPr>
        <p:spPr>
          <a:xfrm>
            <a:off x="457200" y="4114800"/>
            <a:ext cx="811428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Length of stay is the response, and it is </a:t>
            </a:r>
            <a:r>
              <a:rPr lang="en-CA" sz="2000" dirty="0">
                <a:solidFill>
                  <a:srgbClr val="0070C0"/>
                </a:solidFill>
              </a:rPr>
              <a:t>ordered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Can model the </a:t>
            </a:r>
            <a:r>
              <a:rPr lang="en-CA" sz="2000" dirty="0">
                <a:solidFill>
                  <a:srgbClr val="0070C0"/>
                </a:solidFill>
              </a:rPr>
              <a:t>adjacent</a:t>
            </a:r>
            <a:r>
              <a:rPr lang="en-CA" sz="2000" dirty="0"/>
              <a:t> odds or log odds that stay is category j vs (j+1)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E.g., stay= 2-9 vs. 10-19;  stay= 10-19 vs. 20+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CA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In general, </a:t>
            </a:r>
            <a:r>
              <a:rPr lang="en-CA" sz="2000" i="1" dirty="0"/>
              <a:t>I x J </a:t>
            </a:r>
            <a:r>
              <a:rPr lang="en-CA" sz="2000" dirty="0">
                <a:sym typeface="Symbol" panose="05050102010706020507" pitchFamily="18" charset="2"/>
              </a:rPr>
              <a:t> </a:t>
            </a:r>
            <a:r>
              <a:rPr lang="en-CA" sz="2000" i="1" dirty="0">
                <a:sym typeface="Symbol" panose="05050102010706020507" pitchFamily="18" charset="2"/>
              </a:rPr>
              <a:t>I</a:t>
            </a:r>
            <a:r>
              <a:rPr lang="en-CA" sz="2000" dirty="0">
                <a:sym typeface="Symbol" panose="05050102010706020507" pitchFamily="18" charset="2"/>
              </a:rPr>
              <a:t> x (</a:t>
            </a:r>
            <a:r>
              <a:rPr lang="en-CA" sz="2000" i="1" dirty="0">
                <a:sym typeface="Symbol" panose="05050102010706020507" pitchFamily="18" charset="2"/>
              </a:rPr>
              <a:t>J</a:t>
            </a:r>
            <a:r>
              <a:rPr lang="en-CA" sz="2000" dirty="0">
                <a:sym typeface="Symbol" panose="05050102010706020507" pitchFamily="18" charset="2"/>
              </a:rPr>
              <a:t>-1) adjacent comparisons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>
                <a:sym typeface="Symbol" panose="05050102010706020507" pitchFamily="18" charset="2"/>
              </a:rPr>
              <a:t>visit is also </a:t>
            </a:r>
            <a:r>
              <a:rPr lang="en-CA" sz="2000" dirty="0">
                <a:solidFill>
                  <a:srgbClr val="0070C0"/>
                </a:solidFill>
                <a:sym typeface="Symbol" panose="05050102010706020507" pitchFamily="18" charset="2"/>
              </a:rPr>
              <a:t>ordered</a:t>
            </a:r>
            <a:r>
              <a:rPr lang="en-CA" sz="2000" dirty="0">
                <a:sym typeface="Symbol" panose="05050102010706020507" pitchFamily="18" charset="2"/>
              </a:rPr>
              <a:t>. Can consider simpler (e.g., linear) models for the log odds</a:t>
            </a:r>
            <a:endParaRPr lang="en-CA" sz="2000" dirty="0"/>
          </a:p>
        </p:txBody>
      </p:sp>
    </p:spTree>
    <p:extLst>
      <p:ext uri="{BB962C8B-B14F-4D97-AF65-F5344CB8AC3E}">
        <p14:creationId xmlns:p14="http://schemas.microsoft.com/office/powerpoint/2010/main" val="368226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8CC44-12C1-816D-7058-574DAD698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Exploratory plots: </a:t>
            </a:r>
            <a:r>
              <a:rPr lang="en-CA" dirty="0" err="1"/>
              <a:t>Doubledecker</a:t>
            </a:r>
            <a:endParaRPr lang="en-C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B95656E-0BEB-3404-0ED4-9DB7EED1B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4145D9-62C2-2735-F989-4DEDFF941A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47" y="1514714"/>
            <a:ext cx="8161905" cy="38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6274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8CC44-12C1-816D-7058-574DAD698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Exploratory plots: ca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B95656E-0BEB-3404-0ED4-9DB7EED1B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A16943-238D-D11D-3FB9-EB6AB9BBD9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809" y="1419476"/>
            <a:ext cx="8152381" cy="40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1793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F996D-13A3-D602-6F2D-1A633551D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Models for log odds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C8DF057-97B6-756C-4678-9798D1C64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0D19AE-C7DC-EDBA-0C1F-45A75840694A}"/>
              </a:ext>
            </a:extLst>
          </p:cNvPr>
          <p:cNvSpPr txBox="1"/>
          <p:nvPr/>
        </p:nvSpPr>
        <p:spPr>
          <a:xfrm>
            <a:off x="762000" y="4280118"/>
            <a:ext cx="79248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t(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lodds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HospVisits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response = "stay"))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log odds for stay by visit 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stay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visit        2-9:10-19 10-19:20+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Regular        0.989    1.6740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Infrequent    -0.606    0.0953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Never         -0.693    0.1178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F47D6E3-9AB5-2580-E211-B49A476D6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181" y="1152707"/>
            <a:ext cx="8247619" cy="291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3272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F996D-13A3-D602-6F2D-1A633551D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Models for log odds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C8DF057-97B6-756C-4678-9798D1C64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C663A3-CC1B-5B2D-51F9-C395B1C0DE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229000"/>
            <a:ext cx="8171428" cy="4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67584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F1BDF-84BB-803C-F646-D15DD4B9F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Fit some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2D2F43-3064-CD55-DCC5-793A6C018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2EB27D-E5BF-AA0D-EE5E-728775BE28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8123809" cy="461904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8F373E7-2972-986A-5A56-D44C1AD211F4}"/>
              </a:ext>
            </a:extLst>
          </p:cNvPr>
          <p:cNvSpPr txBox="1"/>
          <p:nvPr/>
        </p:nvSpPr>
        <p:spPr>
          <a:xfrm>
            <a:off x="457200" y="10668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I’m simply using </a:t>
            </a:r>
            <a:r>
              <a:rPr lang="en-CA" sz="2000" dirty="0" err="1"/>
              <a:t>lm</a:t>
            </a:r>
            <a:r>
              <a:rPr lang="en-CA" sz="2000" dirty="0"/>
              <a:t>() here. Should use WLS: weights = 1/ASE</a:t>
            </a:r>
            <a:r>
              <a:rPr lang="en-CA" sz="2000" baseline="300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1683971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B0A87-3836-6F15-47A5-9A8F442AF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Ordinal variables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059DDB-11F8-4B0A-62A7-77903C1C7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8B5C36-C7F4-3BA1-B858-DC75BAB53F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666" y="1271857"/>
            <a:ext cx="8066667" cy="431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7816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5EC6E-FCF1-8629-07CE-941834FEB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Visualizing log odds and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181CB4-9D0F-A9A3-03C3-2041F0D4C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C8E705-9804-102C-098D-A240940DA2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801" y="1828800"/>
            <a:ext cx="4000000" cy="43142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DA4B3D-4D34-99DA-999B-89DAF1241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843086"/>
            <a:ext cx="3971429" cy="42857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6E842BC-7168-FDC8-7848-7983A4D868BB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Plots of observed and fitted log odds: easy interpretation of data and models</a:t>
            </a:r>
          </a:p>
        </p:txBody>
      </p:sp>
    </p:spTree>
    <p:extLst>
      <p:ext uri="{BB962C8B-B14F-4D97-AF65-F5344CB8AC3E}">
        <p14:creationId xmlns:p14="http://schemas.microsoft.com/office/powerpoint/2010/main" val="11643938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39AB0-8C3C-038A-7B76-362865C11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Visualizing log odds and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28AD1-B971-2DEF-1FF4-68163EEB0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14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89A1F9-F5FE-535C-6C1E-E30DF209ADC6}"/>
              </a:ext>
            </a:extLst>
          </p:cNvPr>
          <p:cNvSpPr txBox="1"/>
          <p:nvPr/>
        </p:nvSpPr>
        <p:spPr>
          <a:xfrm>
            <a:off x="533400" y="1478340"/>
            <a:ext cx="8153400" cy="138499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gg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hosp.lodds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(x=visit, y=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logodds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group=stay, color=stay)) +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geom_point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(size=5) +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geom_line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(size=1.2,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linetype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="dotted")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ylab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("log odds of shorter stay\n") +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xlab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("Visit frequency") +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theme_bw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 + 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823640-9D78-B303-738B-D91BB99EFB05}"/>
              </a:ext>
            </a:extLst>
          </p:cNvPr>
          <p:cNvSpPr txBox="1"/>
          <p:nvPr/>
        </p:nvSpPr>
        <p:spPr>
          <a:xfrm>
            <a:off x="533400" y="3633787"/>
            <a:ext cx="8153400" cy="246221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grid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hosp.lodds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[,1:2]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gg_lines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function(grid, mod, size=1.2, color=NULL, ...) {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grid$logodds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stats::predict(mod, grid)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if(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is.null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(color))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geom_line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(data=grid, size=size, ...)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else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geom_line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(data=grid, size=size, color=color, ...)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}	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gg +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gg_lines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(grid,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mod.null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color="gray", size=1,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linetype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="dashed") +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gg_lines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(grid,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mod.const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color=gray(.5), size=1) +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gg_lines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(grid,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mod.unif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color="black", size=1) +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gg_lines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(grid,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mod.par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9AC911-A54B-E9EE-963B-6D38F8AEB15D}"/>
              </a:ext>
            </a:extLst>
          </p:cNvPr>
          <p:cNvSpPr txBox="1"/>
          <p:nvPr/>
        </p:nvSpPr>
        <p:spPr>
          <a:xfrm>
            <a:off x="457200" y="990600"/>
            <a:ext cx="2971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Basic plot: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05674E-55A6-94BA-DE0D-8025F7887772}"/>
              </a:ext>
            </a:extLst>
          </p:cNvPr>
          <p:cNvSpPr txBox="1"/>
          <p:nvPr/>
        </p:nvSpPr>
        <p:spPr>
          <a:xfrm>
            <a:off x="533400" y="3048000"/>
            <a:ext cx="6400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Add lines for predicted values from the models</a:t>
            </a:r>
          </a:p>
        </p:txBody>
      </p:sp>
    </p:spTree>
    <p:extLst>
      <p:ext uri="{BB962C8B-B14F-4D97-AF65-F5344CB8AC3E}">
        <p14:creationId xmlns:p14="http://schemas.microsoft.com/office/powerpoint/2010/main" val="1849631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A032E-3609-8B9F-E44A-7180CA414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Graph-craft: Error bars, direct labels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8B0F12-75F9-EFEC-A5D5-C3E018ADB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65A258-318D-84F5-DCA2-2ECD3EAFCB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276047"/>
            <a:ext cx="4924846" cy="41247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C2681D4-78EE-D94E-3A2A-B311C679C24C}"/>
              </a:ext>
            </a:extLst>
          </p:cNvPr>
          <p:cNvSpPr txBox="1"/>
          <p:nvPr/>
        </p:nvSpPr>
        <p:spPr>
          <a:xfrm>
            <a:off x="459658" y="1219200"/>
            <a:ext cx="822714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The initial graphs I showed could be improved by: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Adding error bars for observed log odds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Using direct labels rather than a legend</a:t>
            </a:r>
          </a:p>
        </p:txBody>
      </p:sp>
    </p:spTree>
    <p:extLst>
      <p:ext uri="{BB962C8B-B14F-4D97-AF65-F5344CB8AC3E}">
        <p14:creationId xmlns:p14="http://schemas.microsoft.com/office/powerpoint/2010/main" val="29310488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D96DF-5FD7-F7D2-1243-49CEA25E8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Three-way+ tables: Log odds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DB6E3E-7824-AF3E-E738-2F3EF2C13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1A4C00-36B8-DE53-ECAA-027F7E603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371600"/>
            <a:ext cx="8171428" cy="36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7754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D96DF-5FD7-F7D2-1243-49CEA25E8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Three-way+ tables: Log odds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DB6E3E-7824-AF3E-E738-2F3EF2C13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A88AD8-AA17-90CB-A924-B54F8BA6BC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219200"/>
            <a:ext cx="8171428" cy="20952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5FD1F02-530E-3EA0-EFC4-B3C6F076A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86" y="3505200"/>
            <a:ext cx="8171428" cy="26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6988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656B6-F450-DFE2-ACB7-95AD1FB2B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3-way example: Mice depletion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F38624-86AB-E4DC-7F45-8AA84B349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FE6EA8-4740-CE27-78F1-8DDC62F85C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8000000" cy="12761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ECDFB4-9CE2-E6B3-64E8-ABABF7698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416" y="2625856"/>
            <a:ext cx="8123809" cy="20952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269E09D-5098-C57D-9081-237B8B53E6CF}"/>
              </a:ext>
            </a:extLst>
          </p:cNvPr>
          <p:cNvSpPr txBox="1"/>
          <p:nvPr/>
        </p:nvSpPr>
        <p:spPr>
          <a:xfrm>
            <a:off x="534416" y="4953000"/>
            <a:ext cx="8123809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>
                <a:sym typeface="Symbol" panose="05050102010706020507" pitchFamily="18" charset="2"/>
              </a:rPr>
              <a:t> </a:t>
            </a:r>
            <a:r>
              <a:rPr lang="en-CA" sz="2000" dirty="0"/>
              <a:t>Adjacent categories: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2000" dirty="0"/>
              <a:t>Odds or log odds of 0 vs. 1 deaths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2000" dirty="0"/>
              <a:t>Odds or log odds of 1 vs. 2+ deaths</a:t>
            </a:r>
          </a:p>
          <a:p>
            <a:endParaRPr lang="en-CA" sz="2000" dirty="0"/>
          </a:p>
          <a:p>
            <a:r>
              <a:rPr lang="en-CA" sz="2000" dirty="0"/>
              <a:t>How do these differ with litter size &amp; treatment?</a:t>
            </a:r>
          </a:p>
        </p:txBody>
      </p:sp>
    </p:spTree>
    <p:extLst>
      <p:ext uri="{BB962C8B-B14F-4D97-AF65-F5344CB8AC3E}">
        <p14:creationId xmlns:p14="http://schemas.microsoft.com/office/powerpoint/2010/main" val="973313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AF3C4-C1C4-E26C-033C-B51BA2A6D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Mice data: mosaic plot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49360EC-2122-9147-3435-DED8741D3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BE0F80-CB88-CCA5-11AA-067230547A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362676"/>
            <a:ext cx="8171428" cy="48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8835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22720-9825-560A-4D86-3FD158DE0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Mice data: MCA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955FB6-F942-1C88-396C-BB4163C0A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5F84FE-F04C-6BC1-4223-31B0E60AAE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324524"/>
            <a:ext cx="8171428" cy="439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908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5C679-6719-B98A-60FE-EB00185ED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Calculating log odds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066BB1-8C4B-FFFC-EEB3-A53B1748C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8D674A-C2F9-06A1-A1A7-6EBE138B2F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295400"/>
            <a:ext cx="8171428" cy="3228571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976B2203-1A87-D3FE-5C59-C305E49F17E1}"/>
              </a:ext>
            </a:extLst>
          </p:cNvPr>
          <p:cNvGrpSpPr/>
          <p:nvPr/>
        </p:nvGrpSpPr>
        <p:grpSpPr>
          <a:xfrm>
            <a:off x="990600" y="4809317"/>
            <a:ext cx="2429121" cy="1279529"/>
            <a:chOff x="1447800" y="4809317"/>
            <a:chExt cx="2429121" cy="127952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03A5853-2638-0090-C3AF-53CF4ED8685F}"/>
                    </a:ext>
                  </a:extLst>
                </p:cNvPr>
                <p:cNvSpPr txBox="1"/>
                <p:nvPr/>
              </p:nvSpPr>
              <p:spPr>
                <a:xfrm>
                  <a:off x="1447800" y="4809317"/>
                  <a:ext cx="2429121" cy="82490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800" b="1" smtClean="0">
                            <a:latin typeface="Cambria Math" panose="02040503050406030204" pitchFamily="18" charset="0"/>
                          </a:rPr>
                          <m:t>𝐂</m:t>
                        </m:r>
                        <m:r>
                          <a:rPr lang="en-CA" sz="1800" b="0" i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CA" sz="1800" b="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plcHide m:val="on"/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CA" sz="1800" b="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CA" sz="1800" b="0" i="0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r>
                                    <a:rPr lang="en-CA" sz="1800" b="0" i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CA" sz="1800" b="0" i="1" smtClean="0"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r>
                                    <a:rPr lang="en-CA" sz="1800" b="0" i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CA" sz="1800" b="0" i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  <m:e>
                                  <m:r>
                                    <a:rPr lang="en-CA" sz="1800" b="0" i="0" smtClean="0"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CA" sz="1800" b="0" i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CA" sz="1800" b="0" i="0" smtClean="0"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r>
                                    <a:rPr lang="en-CA" sz="1800" b="0" i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CA" sz="1800" b="0" i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CA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03A5853-2638-0090-C3AF-53CF4ED868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47800" y="4809317"/>
                  <a:ext cx="2429121" cy="824906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ACF439B-9385-4ACD-AB71-C281ED3A41E7}"/>
                </a:ext>
              </a:extLst>
            </p:cNvPr>
            <p:cNvSpPr txBox="1"/>
            <p:nvPr/>
          </p:nvSpPr>
          <p:spPr>
            <a:xfrm>
              <a:off x="1962150" y="5750292"/>
              <a:ext cx="189572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1600" dirty="0"/>
                <a:t>Adjacent categories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226F9CB-7591-5A94-E9D9-492F39968B2E}"/>
              </a:ext>
            </a:extLst>
          </p:cNvPr>
          <p:cNvGrpSpPr/>
          <p:nvPr/>
        </p:nvGrpSpPr>
        <p:grpSpPr>
          <a:xfrm>
            <a:off x="3505200" y="4808509"/>
            <a:ext cx="2514600" cy="1278721"/>
            <a:chOff x="4000500" y="4808509"/>
            <a:chExt cx="2514600" cy="127872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056245D-F46E-2F4A-5BBE-24C6B7E47613}"/>
                    </a:ext>
                  </a:extLst>
                </p:cNvPr>
                <p:cNvSpPr txBox="1"/>
                <p:nvPr/>
              </p:nvSpPr>
              <p:spPr>
                <a:xfrm>
                  <a:off x="4000500" y="4808509"/>
                  <a:ext cx="2514600" cy="82490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800" b="1" smtClean="0">
                            <a:latin typeface="Cambria Math" panose="02040503050406030204" pitchFamily="18" charset="0"/>
                          </a:rPr>
                          <m:t>𝐂</m:t>
                        </m:r>
                        <m:r>
                          <a:rPr lang="en-CA" sz="1800" b="0" i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CA" sz="1800" b="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plcHide m:val="on"/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CA" sz="1800" b="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CA" sz="1800" b="0" i="0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r>
                                    <a:rPr lang="en-CA" sz="1800" b="0" i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CA" sz="18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CA" sz="1800" b="0" i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CA" sz="1800" b="0" i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  <m:e>
                                  <m:r>
                                    <a:rPr lang="en-CA" sz="1800" b="0" i="1" smtClean="0"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r>
                                    <a:rPr lang="en-CA" sz="1800" b="0" i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CA" sz="1800" b="0" i="1" smtClean="0"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CA" sz="1800" b="0" i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CA" sz="1800" b="0" i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CA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056245D-F46E-2F4A-5BBE-24C6B7E476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0500" y="4808509"/>
                  <a:ext cx="2514600" cy="82490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97AC0A6-0FE5-6C4D-3FC6-834A76ACF57C}"/>
                </a:ext>
              </a:extLst>
            </p:cNvPr>
            <p:cNvSpPr txBox="1"/>
            <p:nvPr/>
          </p:nvSpPr>
          <p:spPr>
            <a:xfrm>
              <a:off x="4572000" y="5748676"/>
              <a:ext cx="189572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1600" dirty="0"/>
                <a:t>Reference level = 0</a:t>
              </a: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0D336B7-7375-F648-CC31-64929F4BBC4E}"/>
              </a:ext>
            </a:extLst>
          </p:cNvPr>
          <p:cNvSpPr txBox="1"/>
          <p:nvPr/>
        </p:nvSpPr>
        <p:spPr>
          <a:xfrm>
            <a:off x="6477000" y="4876800"/>
            <a:ext cx="2057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In general, any set of K-1 {1, 0, -1} contrasts can be used</a:t>
            </a:r>
          </a:p>
        </p:txBody>
      </p:sp>
    </p:spTree>
    <p:extLst>
      <p:ext uri="{BB962C8B-B14F-4D97-AF65-F5344CB8AC3E}">
        <p14:creationId xmlns:p14="http://schemas.microsoft.com/office/powerpoint/2010/main" val="780770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7746-5E19-CED1-9F8C-2628846A0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Calculating log odds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9E6E17-163B-8869-067E-B8A843FF2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128881-B9CB-28BA-5E01-8E06F06D3B36}"/>
              </a:ext>
            </a:extLst>
          </p:cNvPr>
          <p:cNvSpPr txBox="1"/>
          <p:nvPr/>
        </p:nvSpPr>
        <p:spPr>
          <a:xfrm>
            <a:off x="457200" y="1295400"/>
            <a:ext cx="8229600" cy="203132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mice.tab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xtabs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(Freq ~ litter + treatment + deaths, data=Mice)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reshape table to matrix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T &lt;- matrix(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mice.tab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nrow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=prod(dim(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mice.tab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)[1:2]),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ncol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=dim(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mice.tab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)[3])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colnames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(T)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mice.tab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)[[3]]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rn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expand.grid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mice.tab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)[1:2])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rownames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(T) &lt;- apply(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rn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1, paste, collapse=":")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839BC0-EE14-8050-4C08-6A56D3BC3567}"/>
              </a:ext>
            </a:extLst>
          </p:cNvPr>
          <p:cNvSpPr txBox="1"/>
          <p:nvPr/>
        </p:nvSpPr>
        <p:spPr>
          <a:xfrm>
            <a:off x="457200" y="3581400"/>
            <a:ext cx="3962400" cy="95410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 &lt;- matrix(c(1, -1, 0,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0,  1, -1),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nrow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=3)</a:t>
            </a:r>
          </a:p>
          <a:p>
            <a:r>
              <a:rPr lang="fr-FR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lodds</a:t>
            </a:r>
            <a:r>
              <a:rPr lang="fr-FR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&lt;- log(T) %*% C</a:t>
            </a:r>
          </a:p>
          <a:p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colnames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lodds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&lt;- c("0:1", "1:2+")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118BCD-4823-C6E0-4C38-9A316D2C0959}"/>
              </a:ext>
            </a:extLst>
          </p:cNvPr>
          <p:cNvSpPr txBox="1"/>
          <p:nvPr/>
        </p:nvSpPr>
        <p:spPr>
          <a:xfrm>
            <a:off x="4800600" y="3657600"/>
            <a:ext cx="3886200" cy="2677656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lodds</a:t>
            </a:r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0:1   1:2+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7:A   1.663  0.788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8:A   1.253  0.336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9:A   0.606  0.182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10:A  0.143 -0.143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11:A -1.099 -0.348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7:B   1.373  0.999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8:B   1.227  0.754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9:B   0.716  0.788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10:B  0.573  0.201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11:B -1.099  0.629</a:t>
            </a:r>
          </a:p>
        </p:txBody>
      </p:sp>
    </p:spTree>
    <p:extLst>
      <p:ext uri="{BB962C8B-B14F-4D97-AF65-F5344CB8AC3E}">
        <p14:creationId xmlns:p14="http://schemas.microsoft.com/office/powerpoint/2010/main" val="13168246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C0A1B-5A4D-2774-D569-16A2A7A75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Calculating log odds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55AAB0F-2D0F-8B56-301D-95B79875D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FE89E8-5FBA-3253-8AE8-F0C6D0480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75" y="1433512"/>
            <a:ext cx="8172450" cy="399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896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EA8AD-59AF-2968-CEE9-D7A3DA695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Mice data: Log odds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68D33C-01B1-CBDD-7493-48FEF0814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24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CB9982-F387-1B58-661C-650AB0AF768C}"/>
              </a:ext>
            </a:extLst>
          </p:cNvPr>
          <p:cNvSpPr txBox="1"/>
          <p:nvPr/>
        </p:nvSpPr>
        <p:spPr>
          <a:xfrm>
            <a:off x="457200" y="1295400"/>
            <a:ext cx="82296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The </a:t>
            </a:r>
            <a:r>
              <a:rPr lang="en-CA" sz="2000" dirty="0" err="1"/>
              <a:t>vcd</a:t>
            </a:r>
            <a:r>
              <a:rPr lang="en-CA" sz="2000" dirty="0"/>
              <a:t> package contains a general implementation of these ideas:</a:t>
            </a:r>
          </a:p>
          <a:p>
            <a:pPr marL="342900" indent="-342900">
              <a:buClr>
                <a:schemeClr val="tx2">
                  <a:lumMod val="60000"/>
                  <a:lumOff val="40000"/>
                </a:schemeClr>
              </a:buClr>
              <a:buSzPct val="110000"/>
              <a:buFont typeface="Wingdings" panose="05000000000000000000" pitchFamily="2" charset="2"/>
              <a:buChar char="§"/>
            </a:pPr>
            <a:r>
              <a:rPr lang="en-CA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odds() </a:t>
            </a:r>
            <a:r>
              <a:rPr lang="en-CA" sz="2000" dirty="0"/>
              <a:t>and </a:t>
            </a:r>
            <a:r>
              <a:rPr lang="en-CA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lodds</a:t>
            </a:r>
            <a:r>
              <a:rPr lang="en-CA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(): </a:t>
            </a:r>
            <a:r>
              <a:rPr lang="en-CA" sz="2000" dirty="0"/>
              <a:t>calculate odds or log odds for 1 variable in an n-way table</a:t>
            </a:r>
          </a:p>
          <a:p>
            <a:pPr marL="342900" indent="-342900">
              <a:buClr>
                <a:schemeClr val="tx2">
                  <a:lumMod val="60000"/>
                  <a:lumOff val="40000"/>
                </a:schemeClr>
              </a:buClr>
              <a:buSzPct val="110000"/>
              <a:buFont typeface="Wingdings" panose="05000000000000000000" pitchFamily="2" charset="2"/>
              <a:buChar char="§"/>
            </a:pPr>
            <a:r>
              <a:rPr lang="en-CA" sz="2000" dirty="0"/>
              <a:t>Provides methods (</a:t>
            </a:r>
            <a:r>
              <a:rPr lang="en-CA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coef</a:t>
            </a:r>
            <a:r>
              <a:rPr lang="en-CA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en-CA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vcov</a:t>
            </a:r>
            <a:r>
              <a:rPr lang="en-CA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en-CA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confint</a:t>
            </a:r>
            <a:r>
              <a:rPr lang="en-CA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en-CA" sz="2000" dirty="0"/>
              <a:t>…) for “</a:t>
            </a:r>
            <a:r>
              <a:rPr lang="en-CA" sz="2000" dirty="0" err="1"/>
              <a:t>lodds</a:t>
            </a:r>
            <a:r>
              <a:rPr lang="en-CA" sz="2000" dirty="0"/>
              <a:t>” objects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D828FF-E0B0-4816-4478-07C3BBE74705}"/>
              </a:ext>
            </a:extLst>
          </p:cNvPr>
          <p:cNvSpPr txBox="1"/>
          <p:nvPr/>
        </p:nvSpPr>
        <p:spPr>
          <a:xfrm>
            <a:off x="533400" y="3276600"/>
            <a:ext cx="8153400" cy="2677656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mice.lodds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as.data.frame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lodds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mice.tab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response="deaths")))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deaths litter treatment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logodds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ASE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     0:1      7         A   1.663 0.329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    1:2+      7         A   0.788 0.539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3     0:1      8         A   1.253 0.303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4    1:2+      8         A   0.336 0.414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5     0:1      9         A   0.606 0.293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6    1:2+      9         A   0.182 0.350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7     0:1     10         A   0.143 0.379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8    1:2+     10         A  -0.143 0.379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9     0:1     11         A  -1.099 0.577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10   1:2+     11         A  -0.348 0.377</a:t>
            </a:r>
          </a:p>
        </p:txBody>
      </p:sp>
    </p:spTree>
    <p:extLst>
      <p:ext uri="{BB962C8B-B14F-4D97-AF65-F5344CB8AC3E}">
        <p14:creationId xmlns:p14="http://schemas.microsoft.com/office/powerpoint/2010/main" val="3782073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D894F-8E3F-DDB2-864E-802FC7619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Mice data: Fit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FABE87-1097-45FE-29C7-E1E3C13AE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6B5245-02C8-89E9-AAC0-2FC5A67A5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666" y="1229352"/>
            <a:ext cx="8266667" cy="50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52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B4D6A-899A-94F5-409B-7221D02C4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Visualize log odds &amp; models: Data plot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8BA2F-15DC-D82F-3726-91A64A599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EBDB8E-EE1C-BCC6-9180-6B4448FE2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267467"/>
            <a:ext cx="8171428" cy="51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5726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E7E6A4-B3A8-F05D-2065-189A2B768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0315C5-119B-C892-B813-E1B14D85D98E}"/>
              </a:ext>
            </a:extLst>
          </p:cNvPr>
          <p:cNvSpPr txBox="1"/>
          <p:nvPr/>
        </p:nvSpPr>
        <p:spPr>
          <a:xfrm>
            <a:off x="685800" y="762000"/>
            <a:ext cx="7848600" cy="2246769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gg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mice.lodds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(x=litter, y=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logodds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color=deaths, group=deaths)) +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geom_point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(size=4) + 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ylab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("log odds of fewer deaths") +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xlab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("Litter size") +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theme_bw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base_size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16) +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theme(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legend.position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c(.9, .85),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legend.background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element_rect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(colour = "black")) +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facet_grid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(. ~ treatment, labeller=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label_both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+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theme(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strip.text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element_text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(size =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rel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(1.2)))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0FAEF6-6349-C0E4-7F1C-6EC4D4828F80}"/>
              </a:ext>
            </a:extLst>
          </p:cNvPr>
          <p:cNvSpPr txBox="1"/>
          <p:nvPr/>
        </p:nvSpPr>
        <p:spPr>
          <a:xfrm>
            <a:off x="685800" y="3581400"/>
            <a:ext cx="4724400" cy="138499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bars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ymin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logodds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-ASE,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ymax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logodds+ASE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gg +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geom_line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(size=1.2) +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geom_errorbar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(bars,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width=0.25, size=1,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position=</a:t>
            </a:r>
            <a:r>
              <a:rPr lang="en-CA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position_dodge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(width=.2))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6EFD4C-D170-AABB-71B6-5CA227360D3F}"/>
              </a:ext>
            </a:extLst>
          </p:cNvPr>
          <p:cNvSpPr txBox="1"/>
          <p:nvPr/>
        </p:nvSpPr>
        <p:spPr>
          <a:xfrm>
            <a:off x="685800" y="228600"/>
            <a:ext cx="2971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Basic plot: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EDA169-05BA-8481-766A-03C2AF41C04F}"/>
              </a:ext>
            </a:extLst>
          </p:cNvPr>
          <p:cNvSpPr txBox="1"/>
          <p:nvPr/>
        </p:nvSpPr>
        <p:spPr>
          <a:xfrm>
            <a:off x="685800" y="3200400"/>
            <a:ext cx="42672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Add error bars, dodged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C11B55F-F4FA-8697-E610-8E4CC3E3C8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3413243"/>
            <a:ext cx="2976209" cy="23538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30B854A-E17E-C2B6-080C-99A3F527DB97}"/>
              </a:ext>
            </a:extLst>
          </p:cNvPr>
          <p:cNvSpPr txBox="1"/>
          <p:nvPr/>
        </p:nvSpPr>
        <p:spPr>
          <a:xfrm>
            <a:off x="685800" y="5257800"/>
            <a:ext cx="4648200" cy="92333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 err="1"/>
              <a:t>ggplot</a:t>
            </a:r>
            <a:r>
              <a:rPr lang="en-CA" dirty="0"/>
              <a:t> thinking: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gg is my basic plot of points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 can add other layers to it</a:t>
            </a:r>
          </a:p>
        </p:txBody>
      </p:sp>
    </p:spTree>
    <p:extLst>
      <p:ext uri="{BB962C8B-B14F-4D97-AF65-F5344CB8AC3E}">
        <p14:creationId xmlns:p14="http://schemas.microsoft.com/office/powerpoint/2010/main" val="32001147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B4D6A-899A-94F5-409B-7221D02C4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600" dirty="0"/>
              <a:t>Visualize log odds &amp; models: Smoothing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8BA2F-15DC-D82F-3726-91A64A599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804631-FE8D-A95E-A09C-CBFCC5332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229362"/>
            <a:ext cx="8171428" cy="50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308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B4D6A-899A-94F5-409B-7221D02C4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600" dirty="0"/>
              <a:t>Visualize log odds &amp; models: Data + Model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8BA2F-15DC-D82F-3726-91A64A599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0D4D8A-ED01-8931-9DD0-62D61915B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267419"/>
            <a:ext cx="8171428" cy="475238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D1AF639-3FAE-4966-E3E2-6B55678CDD6E}"/>
              </a:ext>
            </a:extLst>
          </p:cNvPr>
          <p:cNvSpPr txBox="1"/>
          <p:nvPr/>
        </p:nvSpPr>
        <p:spPr>
          <a:xfrm>
            <a:off x="7620000" y="4953000"/>
            <a:ext cx="10668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One unusual point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84F2008-3A01-38A8-A328-FC59EB619053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7086600" y="5322332"/>
            <a:ext cx="533400" cy="87868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0335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B4D6A-899A-94F5-409B-7221D02C4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600" dirty="0"/>
              <a:t>Visualize log odds &amp; models: Data + Model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8BA2F-15DC-D82F-3726-91A64A599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3868D82-115B-6271-2FA6-3DA37D1C74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171428" cy="50761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A9902BF-CA42-C7E8-930C-07D2676F18AD}"/>
              </a:ext>
            </a:extLst>
          </p:cNvPr>
          <p:cNvSpPr txBox="1"/>
          <p:nvPr/>
        </p:nvSpPr>
        <p:spPr>
          <a:xfrm>
            <a:off x="2438400" y="1600200"/>
            <a:ext cx="381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400" dirty="0"/>
              <a:t>~</a:t>
            </a:r>
          </a:p>
        </p:txBody>
      </p:sp>
    </p:spTree>
    <p:extLst>
      <p:ext uri="{BB962C8B-B14F-4D97-AF65-F5344CB8AC3E}">
        <p14:creationId xmlns:p14="http://schemas.microsoft.com/office/powerpoint/2010/main" val="1637496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823BF-2630-8AE8-C195-B5B9CE7CC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Generalized log odds ratios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1C6545-182D-BA3B-7BE7-F6D9D4242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2138BE-D2C7-D38C-9B41-E40F16AB8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8171428" cy="25523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AF8F78C-BB4F-E776-6F5E-A1ADD48AE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3918092"/>
            <a:ext cx="2419048" cy="24190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B30D951-D43E-0DB6-4BAF-248945D62F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200" y="3908727"/>
            <a:ext cx="2371429" cy="24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0597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823BF-2630-8AE8-C195-B5B9CE7CC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Generalized log odds ratios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1C6545-182D-BA3B-7BE7-F6D9D4242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28E586-1DAA-752A-9626-557A936134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295400"/>
            <a:ext cx="8171428" cy="166666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2521686-A929-6B4A-D168-135B80650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86" y="3191114"/>
            <a:ext cx="8171428" cy="191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656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2802F-0300-126B-865C-59D03CFF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600" dirty="0"/>
              <a:t>Models for log odds ratios: Computation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F35B0C7-35F0-465B-8E40-9CCCA07CD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B5C56D-79F5-3937-59AA-1A82A2CBD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295400"/>
            <a:ext cx="8171428" cy="29619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B0ECBE9-964C-9CE0-53F3-A2061A64B0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86" y="4383017"/>
            <a:ext cx="8171428" cy="923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173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12024-7F45-0132-7E84-497825DB7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600" dirty="0"/>
              <a:t>Models for log odds ratios: Computation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B770918-B935-708E-038A-60E6C524F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50C69D-84B8-48F5-D56B-9CB6D797B3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400791"/>
            <a:ext cx="8171428" cy="4923809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85C3F3FF-4538-0A14-E6ED-D2FA2E261C71}"/>
              </a:ext>
            </a:extLst>
          </p:cNvPr>
          <p:cNvGrpSpPr/>
          <p:nvPr/>
        </p:nvGrpSpPr>
        <p:grpSpPr>
          <a:xfrm>
            <a:off x="1524000" y="2362200"/>
            <a:ext cx="914400" cy="1143000"/>
            <a:chOff x="1524000" y="2362200"/>
            <a:chExt cx="914400" cy="1143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6185595-18D4-F27C-3BA8-FE9BE75F9433}"/>
                </a:ext>
              </a:extLst>
            </p:cNvPr>
            <p:cNvSpPr/>
            <p:nvPr/>
          </p:nvSpPr>
          <p:spPr>
            <a:xfrm>
              <a:off x="1524000" y="2362200"/>
              <a:ext cx="914400" cy="486000"/>
            </a:xfrm>
            <a:prstGeom prst="rect">
              <a:avLst/>
            </a:prstGeom>
            <a:noFill/>
            <a:ln w="2222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0B8863C-80EF-1A66-6CA0-FB71C9905E75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 flipH="1">
              <a:off x="1676400" y="2848200"/>
              <a:ext cx="304800" cy="657000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212228A-3A3D-CC66-F761-6274364267B8}"/>
              </a:ext>
            </a:extLst>
          </p:cNvPr>
          <p:cNvGrpSpPr/>
          <p:nvPr/>
        </p:nvGrpSpPr>
        <p:grpSpPr>
          <a:xfrm>
            <a:off x="1981200" y="2378075"/>
            <a:ext cx="914400" cy="1050925"/>
            <a:chOff x="1981200" y="2378075"/>
            <a:chExt cx="914400" cy="105092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3FA1CFD-20D8-1150-1681-D4FC06CE36BF}"/>
                </a:ext>
              </a:extLst>
            </p:cNvPr>
            <p:cNvSpPr/>
            <p:nvPr/>
          </p:nvSpPr>
          <p:spPr>
            <a:xfrm>
              <a:off x="1981200" y="2378075"/>
              <a:ext cx="914400" cy="486000"/>
            </a:xfrm>
            <a:prstGeom prst="rect">
              <a:avLst/>
            </a:prstGeom>
            <a:noFill/>
            <a:ln w="2222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A505C4C1-F96D-E965-FE22-3D318F29E3A5}"/>
                </a:ext>
              </a:extLst>
            </p:cNvPr>
            <p:cNvCxnSpPr/>
            <p:nvPr/>
          </p:nvCxnSpPr>
          <p:spPr>
            <a:xfrm>
              <a:off x="2438400" y="2848200"/>
              <a:ext cx="0" cy="580800"/>
            </a:xfrm>
            <a:prstGeom prst="straightConnector1">
              <a:avLst/>
            </a:prstGeom>
            <a:ln w="25400"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92498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EBE38-94AF-9F43-0E10-50D21F357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sz="4400" dirty="0"/>
              <a:t>Models for log odds ratios: Estimation</a:t>
            </a:r>
            <a:endParaRPr lang="en-C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71B198-2D69-9A61-6561-FB0A1AA74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CE756C-11DB-13F6-A7B9-2A6F8121FC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295400"/>
            <a:ext cx="8171428" cy="413333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F6DB90-D592-2483-539A-1E229265B8FE}"/>
              </a:ext>
            </a:extLst>
          </p:cNvPr>
          <p:cNvSpPr txBox="1"/>
          <p:nvPr/>
        </p:nvSpPr>
        <p:spPr>
          <a:xfrm>
            <a:off x="457200" y="5715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Technical note: for simplicity, I use </a:t>
            </a:r>
            <a:r>
              <a:rPr lang="en-CA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CA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CA" dirty="0"/>
              <a:t>for WLS, with S</a:t>
            </a:r>
            <a:r>
              <a:rPr lang="en-CA" baseline="30000" dirty="0"/>
              <a:t>-1</a:t>
            </a:r>
            <a:r>
              <a:rPr lang="en-CA" dirty="0"/>
              <a:t> = </a:t>
            </a:r>
            <a:r>
              <a:rPr lang="en-CA" dirty="0" err="1"/>
              <a:t>diag</a:t>
            </a:r>
            <a:r>
              <a:rPr lang="en-CA" dirty="0"/>
              <a:t>(1/ASE</a:t>
            </a:r>
            <a:r>
              <a:rPr lang="en-CA" baseline="30000" dirty="0"/>
              <a:t>2</a:t>
            </a:r>
            <a:r>
              <a:rPr lang="en-CA" dirty="0"/>
              <a:t>)</a:t>
            </a:r>
          </a:p>
          <a:p>
            <a:r>
              <a:rPr lang="en-CA" dirty="0"/>
              <a:t>Should probably use </a:t>
            </a:r>
            <a:r>
              <a:rPr lang="en-CA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nlme</a:t>
            </a:r>
            <a:r>
              <a:rPr lang="en-CA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CA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gls</a:t>
            </a:r>
            <a:r>
              <a:rPr lang="en-CA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CA" dirty="0"/>
              <a:t>instead</a:t>
            </a:r>
          </a:p>
        </p:txBody>
      </p:sp>
    </p:spTree>
    <p:extLst>
      <p:ext uri="{BB962C8B-B14F-4D97-AF65-F5344CB8AC3E}">
        <p14:creationId xmlns:p14="http://schemas.microsoft.com/office/powerpoint/2010/main" val="4143772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244B4-1230-9D03-74D4-8A533A31A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CA" sz="2800" dirty="0"/>
              <a:t>Example: Breathlessness &amp; wheeze in coal miners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72F31B-09EE-5C69-7C1C-7F861D1F4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AB9F2A-E455-BDC2-725D-4643B7FAE2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381" y="1552809"/>
            <a:ext cx="8295238" cy="37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51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244B4-1230-9D03-74D4-8A533A31A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CA" sz="2800" dirty="0"/>
              <a:t>Example: Breathlessness &amp; wheeze in coal miners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72F31B-09EE-5C69-7C1C-7F861D1F4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771399-F3B8-F5C8-1D66-3FB86FE68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353162"/>
            <a:ext cx="8171428" cy="48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3394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66373-2449-35B1-73AF-F6E56F73D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Coal miners: Log odds &amp;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AF8707-7726-84D8-3867-E04BFE74D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226C24-6DDC-90C2-5587-DE2920DC9A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362238"/>
            <a:ext cx="8171428" cy="13047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5638DD1-ED43-F38D-3011-077F5042C5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47" y="2971800"/>
            <a:ext cx="8161905" cy="13238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8597A6F-5B6D-80A5-CCDF-0276FF016B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811" y="4564160"/>
            <a:ext cx="8171428" cy="15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08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FABD1-E12D-DC2B-1427-055D5AF4B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Coal miners: LOR plot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BA3F91-3635-FE44-51C6-18C78C820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C36889-2947-22D2-3AD6-8C168BBB3E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229352"/>
            <a:ext cx="8171428" cy="50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67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FABD1-E12D-DC2B-1427-055D5AF4B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Coal miners: Model comparisons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BA3F91-3635-FE44-51C6-18C78C820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EB824F-7856-5D7A-2700-AE3723F9ED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371857"/>
            <a:ext cx="8171428" cy="411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2950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75282-4007-ABFB-EFFF-FEBF317B7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600" dirty="0"/>
              <a:t>Going further: Bivariate response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AAB3895-B6A8-0CC3-C852-5D9C9C0B7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1375FF-8E53-55F5-69D9-BD57FA46E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267419"/>
            <a:ext cx="8171428" cy="47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1473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9FA0C-F38F-576E-483D-FA47E1EBB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Calculating…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832CDFA-313D-A62E-0204-D5BA7FEA5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0E9332-31E1-7D1B-C75D-4049297B597D}"/>
              </a:ext>
            </a:extLst>
          </p:cNvPr>
          <p:cNvSpPr txBox="1"/>
          <p:nvPr/>
        </p:nvSpPr>
        <p:spPr>
          <a:xfrm>
            <a:off x="457200" y="1577876"/>
            <a:ext cx="82296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data(coalminers, package = "VGAM")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coalminers &lt;- transform(coalminers, Age = (age - 42) / 5)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logitsCM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blogits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(coalminers[, 1:4], add = 0.5)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colnames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logitsCM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)[1:2] &lt;- c("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logitW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logitsCM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cbind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logitsCM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coalminers[, c("age", "Age")])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logitsCM</a:t>
            </a:r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5225C8-CEBC-29A5-B961-9954BD763DBC}"/>
              </a:ext>
            </a:extLst>
          </p:cNvPr>
          <p:cNvSpPr txBox="1"/>
          <p:nvPr/>
        </p:nvSpPr>
        <p:spPr>
          <a:xfrm>
            <a:off x="457200" y="1143000"/>
            <a:ext cx="82296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Logits and log odds for a bivariate response can be calculated with </a:t>
            </a:r>
            <a:r>
              <a:rPr lang="en-CA" dirty="0" err="1"/>
              <a:t>vcdExtra</a:t>
            </a:r>
            <a:r>
              <a:rPr lang="en-CA" dirty="0"/>
              <a:t>::</a:t>
            </a:r>
            <a:r>
              <a:rPr lang="en-CA" dirty="0" err="1"/>
              <a:t>blogits</a:t>
            </a:r>
            <a:r>
              <a:rPr lang="en-CA" dirty="0"/>
              <a:t>()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6240DA-3D70-85C1-6C32-466F7ED30D61}"/>
              </a:ext>
            </a:extLst>
          </p:cNvPr>
          <p:cNvSpPr txBox="1"/>
          <p:nvPr/>
        </p:nvSpPr>
        <p:spPr>
          <a:xfrm>
            <a:off x="533400" y="3733800"/>
            <a:ext cx="8153400" cy="255454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logitB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logitW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logOR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age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endParaRPr lang="en-CA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1 -4.736 -2.868  3.20  22  -4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2 -3.977 -2.557  3.66  27  -3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3 -3.317 -2.094  3.38  32  -2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4 -2.733 -1.848  3.13  37  -1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5 -2.215 -1.420  3.01  42   0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6 -1.739 -1.109  2.78  47   1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7 -1.101 -0.797  2.92  52   2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8 -0.758 -0.572  2.44  57   3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9 -0.319 -0.226  2.63  62   4</a:t>
            </a:r>
          </a:p>
        </p:txBody>
      </p:sp>
    </p:spTree>
    <p:extLst>
      <p:ext uri="{BB962C8B-B14F-4D97-AF65-F5344CB8AC3E}">
        <p14:creationId xmlns:p14="http://schemas.microsoft.com/office/powerpoint/2010/main" val="3842136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72CF6-1A4E-1ACE-0A8F-90CD70F06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200" dirty="0"/>
              <a:t>Linear model for log odds and log odds ratios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3342D3D-5E22-FBB3-FC53-2E485B191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72F882-678B-F214-250C-5CFEABBEC2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562695"/>
            <a:ext cx="8171428" cy="47619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530166-87A4-1D76-5DD6-9E048BECFD15}"/>
              </a:ext>
            </a:extLst>
          </p:cNvPr>
          <p:cNvSpPr txBox="1"/>
          <p:nvPr/>
        </p:nvSpPr>
        <p:spPr>
          <a:xfrm>
            <a:off x="6019800" y="1676400"/>
            <a:ext cx="2438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Log odds &amp; LORs have similar scales, so it is not terrible to plot them together</a:t>
            </a:r>
          </a:p>
        </p:txBody>
      </p:sp>
    </p:spTree>
    <p:extLst>
      <p:ext uri="{BB962C8B-B14F-4D97-AF65-F5344CB8AC3E}">
        <p14:creationId xmlns:p14="http://schemas.microsoft.com/office/powerpoint/2010/main" val="12921108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72CF6-1A4E-1ACE-0A8F-90CD70F06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200" dirty="0"/>
              <a:t>Linear model for log odds and log odds ratios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3342D3D-5E22-FBB3-FC53-2E485B191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4F9389-5F9D-0EC3-5171-716F598B5F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2057400"/>
            <a:ext cx="8171428" cy="31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891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72CF6-1A4E-1ACE-0A8F-90CD70F06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200" dirty="0"/>
              <a:t>Quadratic model for log odds and log odds ratios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3342D3D-5E22-FBB3-FC53-2E485B191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64E18B-1A5C-A240-FEF5-B5C8FC164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629000"/>
            <a:ext cx="8171428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06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0C36E-8960-E9F8-DE10-C4D1C31CC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Plotting …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543528-9396-6D50-2AF8-CEC7EECD6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AAF648-EB82-FDB1-E45D-7FCF605C2E63}"/>
              </a:ext>
            </a:extLst>
          </p:cNvPr>
          <p:cNvSpPr txBox="1"/>
          <p:nvPr/>
        </p:nvSpPr>
        <p:spPr>
          <a:xfrm>
            <a:off x="533400" y="1586805"/>
            <a:ext cx="8153400" cy="138499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(age,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logitsCM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[, 1:3], type = "p",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col = col,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pch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pch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cex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1.2,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cex.lab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1.25,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xlab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"Age",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ylab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"Log Odds or Odds Ratio")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abline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logitsCM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[,1] ~ age), col = col[1],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lwd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2)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abline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logitsCM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[,2] ~ age), col = col[2],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lwd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2)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abline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logitsCM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[,3] ~ age), col = col[3],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lwd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DF71AC-4426-7E5F-2F8C-931BD2660B34}"/>
              </a:ext>
            </a:extLst>
          </p:cNvPr>
          <p:cNvSpPr txBox="1"/>
          <p:nvPr/>
        </p:nvSpPr>
        <p:spPr>
          <a:xfrm>
            <a:off x="457200" y="1066800"/>
            <a:ext cx="82296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With the data in this form, we can use </a:t>
            </a:r>
            <a:r>
              <a:rPr lang="en-CA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</a:t>
            </a:r>
            <a:r>
              <a:rPr lang="en-CA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CA" dirty="0"/>
              <a:t>to plot each column against 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E8CCAB3-8E36-E06E-CDCC-116F431CE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0343" y="3415103"/>
            <a:ext cx="3885714" cy="31238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91D8CC-AD49-8A26-E161-207FA9B2AF84}"/>
              </a:ext>
            </a:extLst>
          </p:cNvPr>
          <p:cNvSpPr txBox="1"/>
          <p:nvPr/>
        </p:nvSpPr>
        <p:spPr>
          <a:xfrm>
            <a:off x="533400" y="3581400"/>
            <a:ext cx="3885714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To plot the quadratic fit, simply use</a:t>
            </a:r>
          </a:p>
          <a:p>
            <a:endParaRPr lang="en-CA" dirty="0"/>
          </a:p>
          <a:p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logitsCM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[,1] ~ poly(age,2)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FF25F7-70F0-0360-62BC-C64E93AC0764}"/>
              </a:ext>
            </a:extLst>
          </p:cNvPr>
          <p:cNvSpPr txBox="1"/>
          <p:nvPr/>
        </p:nvSpPr>
        <p:spPr>
          <a:xfrm>
            <a:off x="533400" y="4953000"/>
            <a:ext cx="38857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But: this is NOT a model. It simply fits each set of odds separately</a:t>
            </a:r>
          </a:p>
        </p:txBody>
      </p:sp>
    </p:spTree>
    <p:extLst>
      <p:ext uri="{BB962C8B-B14F-4D97-AF65-F5344CB8AC3E}">
        <p14:creationId xmlns:p14="http://schemas.microsoft.com/office/powerpoint/2010/main" val="3070909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5BF59-30EF-F05D-E649-6BF3672F2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Fitting: VGAM::</a:t>
            </a:r>
            <a:r>
              <a:rPr lang="en-CA" dirty="0" err="1"/>
              <a:t>vglm</a:t>
            </a:r>
            <a:r>
              <a:rPr lang="en-CA" dirty="0"/>
              <a:t>()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113E28-46C8-2B0A-4A8E-0346D35A7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3748E0-EE67-9A03-F40E-7D518997FC77}"/>
              </a:ext>
            </a:extLst>
          </p:cNvPr>
          <p:cNvSpPr txBox="1"/>
          <p:nvPr/>
        </p:nvSpPr>
        <p:spPr>
          <a:xfrm>
            <a:off x="457200" y="1219200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VGAM::</a:t>
            </a:r>
            <a:r>
              <a:rPr lang="en-CA" dirty="0" err="1"/>
              <a:t>vglm</a:t>
            </a:r>
            <a:r>
              <a:rPr lang="en-CA" dirty="0"/>
              <a:t>() can fit a wide class of models for a vector of multivariate responses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The family 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binom2() </a:t>
            </a:r>
            <a:r>
              <a:rPr lang="en-CA" dirty="0"/>
              <a:t>is used for bivariate logistic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An argument 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zero= </a:t>
            </a:r>
            <a:r>
              <a:rPr lang="en-CA" dirty="0"/>
              <a:t>allows the logit or odds ratio </a:t>
            </a:r>
            <a:r>
              <a:rPr lang="en-CA" dirty="0" err="1"/>
              <a:t>submodels</a:t>
            </a:r>
            <a:r>
              <a:rPr lang="en-CA" dirty="0"/>
              <a:t> to be constrained to intercept-only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C1961E-F035-AF54-F03A-69F38AFB587C}"/>
              </a:ext>
            </a:extLst>
          </p:cNvPr>
          <p:cNvSpPr txBox="1"/>
          <p:nvPr/>
        </p:nvSpPr>
        <p:spPr>
          <a:xfrm>
            <a:off x="457200" y="2514600"/>
            <a:ext cx="8229600" cy="107721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cm.vglm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vglm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cbind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nBnW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nBW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BnW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BW) ~ Age,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binom2.or(zero = NULL), data = coalminers)</a:t>
            </a:r>
          </a:p>
          <a:p>
            <a:endParaRPr lang="en-CA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exp(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coef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cm.vglm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matrix = TRUE))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5E70EB-5250-85F1-4F91-E8A4B01118EB}"/>
              </a:ext>
            </a:extLst>
          </p:cNvPr>
          <p:cNvSpPr txBox="1"/>
          <p:nvPr/>
        </p:nvSpPr>
        <p:spPr>
          <a:xfrm>
            <a:off x="457200" y="3810000"/>
            <a:ext cx="8229600" cy="73866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logitlink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(mu1)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logitlink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(mu2)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loglink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oratio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(Intercept)          0.104          0.226          20.530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Age                  1.673          1.385           0.877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29077A-9B9C-92B7-C991-07B01163CE0A}"/>
              </a:ext>
            </a:extLst>
          </p:cNvPr>
          <p:cNvSpPr txBox="1"/>
          <p:nvPr/>
        </p:nvSpPr>
        <p:spPr>
          <a:xfrm>
            <a:off x="533400" y="4876800"/>
            <a:ext cx="8153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Each 5 years of age: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Multiplies odds of breathlessness by 1.67, a 67% increase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Multiplies odds of wheeze by 1.38, a 38% increase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Multiplies the OR for association by 0.88, a 12 % decrease</a:t>
            </a:r>
          </a:p>
        </p:txBody>
      </p:sp>
    </p:spTree>
    <p:extLst>
      <p:ext uri="{BB962C8B-B14F-4D97-AF65-F5344CB8AC3E}">
        <p14:creationId xmlns:p14="http://schemas.microsoft.com/office/powerpoint/2010/main" val="3876420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3218D51-51DD-E296-59D3-9D106B48F9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2857644"/>
            <a:ext cx="4422058" cy="37717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304E45-12DA-B363-3CB9-4DE1AE9BF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Plotting the model fit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A0EF58A-D89A-1D95-0C9C-2FCB2166C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45473C-187E-0F6F-B0B3-87CC619A0A96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VGAM::fitted() returns the </a:t>
            </a:r>
            <a:r>
              <a:rPr lang="en-CA" dirty="0">
                <a:solidFill>
                  <a:srgbClr val="0070C0"/>
                </a:solidFill>
              </a:rPr>
              <a:t>fitted</a:t>
            </a:r>
            <a:r>
              <a:rPr lang="en-CA" dirty="0"/>
              <a:t> values on the probability scale</a:t>
            </a:r>
          </a:p>
          <a:p>
            <a:r>
              <a:rPr lang="en-CA" dirty="0"/>
              <a:t>VGAM::</a:t>
            </a:r>
            <a:r>
              <a:rPr lang="en-CA" dirty="0" err="1"/>
              <a:t>depvar</a:t>
            </a:r>
            <a:r>
              <a:rPr lang="en-CA" dirty="0"/>
              <a:t>() returns the </a:t>
            </a:r>
            <a:r>
              <a:rPr lang="en-CA" dirty="0">
                <a:solidFill>
                  <a:srgbClr val="0070C0"/>
                </a:solidFill>
              </a:rPr>
              <a:t>observed</a:t>
            </a:r>
            <a:r>
              <a:rPr lang="en-CA" dirty="0"/>
              <a:t> values on the probability scale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F7BBA9-DB09-57D5-4481-657B1C51912A}"/>
              </a:ext>
            </a:extLst>
          </p:cNvPr>
          <p:cNvSpPr txBox="1"/>
          <p:nvPr/>
        </p:nvSpPr>
        <p:spPr>
          <a:xfrm>
            <a:off x="533400" y="2133600"/>
            <a:ext cx="3662905" cy="246221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P &lt;- fitted(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cm.vglm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colnames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(P) &lt;- c("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bw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bW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"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Bw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 "BW")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P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bw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bW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Bw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BW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1 0.94 0.049 0.0046 0.0085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2 0.91 0.064 0.0070 0.0148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3 0.88 0.080 0.0105 0.0254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4 0.84 0.097 0.0158 0.0428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5 0.79 0.114 0.0239 0.0704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…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88BC33-7199-5456-A5B6-DA4F48499ABE}"/>
              </a:ext>
            </a:extLst>
          </p:cNvPr>
          <p:cNvSpPr txBox="1"/>
          <p:nvPr/>
        </p:nvSpPr>
        <p:spPr>
          <a:xfrm>
            <a:off x="457200" y="4724400"/>
            <a:ext cx="4114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You can get these on the logit scale using the inverse logit function, </a:t>
            </a:r>
            <a:r>
              <a:rPr lang="en-CA" dirty="0" err="1"/>
              <a:t>qlogis</a:t>
            </a:r>
            <a:r>
              <a:rPr lang="en-CA" dirty="0"/>
              <a:t>()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CA3B73-F495-1076-CEDD-0E4642FF43FD}"/>
              </a:ext>
            </a:extLst>
          </p:cNvPr>
          <p:cNvSpPr txBox="1"/>
          <p:nvPr/>
        </p:nvSpPr>
        <p:spPr>
          <a:xfrm>
            <a:off x="533400" y="5638800"/>
            <a:ext cx="3662905" cy="58477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LP &lt;-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qlogis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(P)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LY &lt;-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qlogis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(Y)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20B6FA-E8E8-413A-6CD8-155EF8FBCFDA}"/>
              </a:ext>
            </a:extLst>
          </p:cNvPr>
          <p:cNvSpPr txBox="1"/>
          <p:nvPr/>
        </p:nvSpPr>
        <p:spPr>
          <a:xfrm>
            <a:off x="4572000" y="2123768"/>
            <a:ext cx="396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The plot is made using </a:t>
            </a:r>
            <a:r>
              <a:rPr lang="en-CA" dirty="0" err="1"/>
              <a:t>matplot</a:t>
            </a:r>
            <a:r>
              <a:rPr lang="en-CA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590267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8D1C3-5B64-D13C-6C2C-BBDC0FF9C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Other possibilities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584BBA-EA5E-CE0B-6CCE-E18A3BD4F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B14D2A-09D0-1E4D-35D8-79AE1D92E442}"/>
              </a:ext>
            </a:extLst>
          </p:cNvPr>
          <p:cNvSpPr txBox="1"/>
          <p:nvPr/>
        </p:nvSpPr>
        <p:spPr>
          <a:xfrm>
            <a:off x="457200" y="1752600"/>
            <a:ext cx="8229600" cy="64633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cm.vglm2 &lt;- </a:t>
            </a:r>
            <a:r>
              <a:rPr lang="en-CA" dirty="0" err="1"/>
              <a:t>vglm</a:t>
            </a:r>
            <a:r>
              <a:rPr lang="en-CA" dirty="0"/>
              <a:t>(</a:t>
            </a:r>
            <a:r>
              <a:rPr lang="en-CA" dirty="0" err="1"/>
              <a:t>cbind</a:t>
            </a:r>
            <a:r>
              <a:rPr lang="en-CA" dirty="0"/>
              <a:t>(</a:t>
            </a:r>
            <a:r>
              <a:rPr lang="en-CA" dirty="0" err="1"/>
              <a:t>nBnW</a:t>
            </a:r>
            <a:r>
              <a:rPr lang="en-CA" dirty="0"/>
              <a:t>, </a:t>
            </a:r>
            <a:r>
              <a:rPr lang="en-CA" dirty="0" err="1"/>
              <a:t>nBW</a:t>
            </a:r>
            <a:r>
              <a:rPr lang="en-CA" dirty="0"/>
              <a:t>, </a:t>
            </a:r>
            <a:r>
              <a:rPr lang="en-CA" dirty="0" err="1"/>
              <a:t>BnW</a:t>
            </a:r>
            <a:r>
              <a:rPr lang="en-CA" dirty="0"/>
              <a:t>, BW) ~ poly(Age,2),</a:t>
            </a:r>
          </a:p>
          <a:p>
            <a:r>
              <a:rPr lang="en-CA" dirty="0"/>
              <a:t>                binom2.or(zero = NULL), data = coalminers)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610618-20DC-04A6-D903-33FF80EF0FA8}"/>
              </a:ext>
            </a:extLst>
          </p:cNvPr>
          <p:cNvSpPr txBox="1"/>
          <p:nvPr/>
        </p:nvSpPr>
        <p:spPr>
          <a:xfrm>
            <a:off x="533400" y="3316069"/>
            <a:ext cx="8153400" cy="64633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 err="1"/>
              <a:t>cm.vgam</a:t>
            </a:r>
            <a:r>
              <a:rPr lang="en-CA" dirty="0"/>
              <a:t> &lt;- </a:t>
            </a:r>
            <a:r>
              <a:rPr lang="en-CA" dirty="0" err="1"/>
              <a:t>vgam</a:t>
            </a:r>
            <a:r>
              <a:rPr lang="en-CA" dirty="0"/>
              <a:t>(</a:t>
            </a:r>
            <a:r>
              <a:rPr lang="en-CA" dirty="0" err="1"/>
              <a:t>cbind</a:t>
            </a:r>
            <a:r>
              <a:rPr lang="en-CA" dirty="0"/>
              <a:t>(</a:t>
            </a:r>
            <a:r>
              <a:rPr lang="en-CA" dirty="0" err="1"/>
              <a:t>nBnW</a:t>
            </a:r>
            <a:r>
              <a:rPr lang="en-CA" dirty="0"/>
              <a:t>, </a:t>
            </a:r>
            <a:r>
              <a:rPr lang="en-CA" dirty="0" err="1"/>
              <a:t>nBW</a:t>
            </a:r>
            <a:r>
              <a:rPr lang="en-CA" dirty="0"/>
              <a:t>, </a:t>
            </a:r>
            <a:r>
              <a:rPr lang="en-CA" dirty="0" err="1"/>
              <a:t>BnW</a:t>
            </a:r>
            <a:r>
              <a:rPr lang="en-CA" dirty="0"/>
              <a:t>, BW) ~ s(Age, </a:t>
            </a:r>
            <a:r>
              <a:rPr lang="en-CA" dirty="0" err="1"/>
              <a:t>df</a:t>
            </a:r>
            <a:r>
              <a:rPr lang="en-CA" dirty="0"/>
              <a:t> = 2),</a:t>
            </a:r>
          </a:p>
          <a:p>
            <a:r>
              <a:rPr lang="en-CA" dirty="0"/>
              <a:t>                 binom2.or(zero = NULL), data = coalminers)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B4B82A-BA00-880D-6C39-A26D597B4EF1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We can also model the relations with age as a quadratic, cubic, 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F1C720-A2BB-3348-DBFD-F112102BB9BB}"/>
              </a:ext>
            </a:extLst>
          </p:cNvPr>
          <p:cNvSpPr txBox="1"/>
          <p:nvPr/>
        </p:nvSpPr>
        <p:spPr>
          <a:xfrm>
            <a:off x="533400" y="2743200"/>
            <a:ext cx="815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VGAM also implements vector </a:t>
            </a:r>
            <a:r>
              <a:rPr lang="en-CA" dirty="0">
                <a:solidFill>
                  <a:srgbClr val="0070C0"/>
                </a:solidFill>
              </a:rPr>
              <a:t>generalized additive </a:t>
            </a:r>
            <a:r>
              <a:rPr lang="en-CA" dirty="0"/>
              <a:t>models, fit using </a:t>
            </a:r>
            <a:r>
              <a:rPr lang="en-CA" dirty="0" err="1"/>
              <a:t>vgam</a:t>
            </a:r>
            <a:r>
              <a:rPr lang="en-CA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102492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73984-F841-7306-D766-AD2F20C0F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CA" sz="3200" dirty="0"/>
              <a:t>Example: Attitudes toward corporal punishment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C5B575E-999C-8FFE-2F30-AF33BE1BB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8DD070-4B0A-0D18-5CDE-87DC3A1DD6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14" y="1386143"/>
            <a:ext cx="8028571" cy="40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694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DDA7B-A5CB-D814-7CE4-BDF4E04DD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Attitudes: Questions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1E8907-EF0A-4493-14D7-05D41A8B3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D66CD9-BC8C-E30B-EC21-B7C60D64C5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371600"/>
            <a:ext cx="8171428" cy="20380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1E0DF96-C81A-1E30-E196-525D183D80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86" y="3733943"/>
            <a:ext cx="8171428" cy="114285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3DEFEB0-1B73-569F-7524-022F627FC082}"/>
              </a:ext>
            </a:extLst>
          </p:cNvPr>
          <p:cNvSpPr txBox="1"/>
          <p:nvPr/>
        </p:nvSpPr>
        <p:spPr>
          <a:xfrm>
            <a:off x="3048000" y="2888361"/>
            <a:ext cx="2757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~</a:t>
            </a:r>
          </a:p>
        </p:txBody>
      </p:sp>
    </p:spTree>
    <p:extLst>
      <p:ext uri="{BB962C8B-B14F-4D97-AF65-F5344CB8AC3E}">
        <p14:creationId xmlns:p14="http://schemas.microsoft.com/office/powerpoint/2010/main" val="2753830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31BB6-BE2A-7D4C-BB82-380EB29C9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Log odds model for attitude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953C22-9200-7696-F55D-FC3E28E4E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E8600E-A344-F356-0850-411B512258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238524"/>
            <a:ext cx="8171428" cy="43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49941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8D388-7C39-7F0B-B058-F5D2EF6BF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Attitude: Effect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C3AAB8C-7078-584E-1C68-9192E64BD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9A9485-8610-95B6-48E9-8803F8558E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429352"/>
            <a:ext cx="8171428" cy="48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7794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1FA44-07EF-77B0-4D14-58ABE65D0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CA" sz="2800" dirty="0"/>
              <a:t>Association of attitude with memory: Fourfold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E937CA-80DB-7068-B241-7DF1C23D4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FFB9EE-6EBD-A6BE-8DC3-2DCAB31DC7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92522"/>
            <a:ext cx="4257143" cy="47619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56A02A5-69AE-7CE7-4775-D13DF7D02D94}"/>
              </a:ext>
            </a:extLst>
          </p:cNvPr>
          <p:cNvSpPr txBox="1"/>
          <p:nvPr/>
        </p:nvSpPr>
        <p:spPr>
          <a:xfrm>
            <a:off x="5029200" y="1447800"/>
            <a:ext cx="3657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How does the association of attitude and memory vary with education and age?</a:t>
            </a:r>
          </a:p>
          <a:p>
            <a:endParaRPr lang="en-CA" dirty="0"/>
          </a:p>
          <a:p>
            <a:r>
              <a:rPr lang="en-CA" dirty="0"/>
              <a:t>Each fourfold plot visualizes the log odds ratio between them</a:t>
            </a:r>
          </a:p>
          <a:p>
            <a:endParaRPr lang="en-CA" dirty="0"/>
          </a:p>
          <a:p>
            <a:r>
              <a:rPr lang="en-CA" dirty="0"/>
              <a:t>What’s going on here?</a:t>
            </a:r>
          </a:p>
        </p:txBody>
      </p:sp>
    </p:spTree>
    <p:extLst>
      <p:ext uri="{BB962C8B-B14F-4D97-AF65-F5344CB8AC3E}">
        <p14:creationId xmlns:p14="http://schemas.microsoft.com/office/powerpoint/2010/main" val="42698661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7168C-629E-BEDE-D9CB-EA13EBC56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Log odds ratio plot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165D09-A529-0CC4-4CE3-57D3E3C67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46022A-D4A1-2D41-C0B0-EFA3B859A4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143000"/>
            <a:ext cx="8171428" cy="55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461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A4057-DE6B-D8B6-FA96-E87040696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A52713-832F-4B5E-6031-133763E8B8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Logit models for a binary response generalize readily to a polytomous response</a:t>
            </a:r>
          </a:p>
          <a:p>
            <a:pPr lvl="1"/>
            <a:r>
              <a:rPr lang="en-CA" dirty="0">
                <a:sym typeface="Symbol" panose="05050102010706020507" pitchFamily="18" charset="2"/>
              </a:rPr>
              <a:t></a:t>
            </a:r>
            <a:r>
              <a:rPr lang="en-CA" dirty="0"/>
              <a:t>Models for log odds, familiar interpretation</a:t>
            </a:r>
          </a:p>
          <a:p>
            <a:pPr lvl="1"/>
            <a:r>
              <a:rPr lang="en-CA" dirty="0"/>
              <a:t>Handles 3+ way table, ordinal variables</a:t>
            </a:r>
          </a:p>
          <a:p>
            <a:pPr lvl="1"/>
            <a:r>
              <a:rPr lang="en-CA" dirty="0"/>
              <a:t>Simple plots for interpretation</a:t>
            </a:r>
          </a:p>
          <a:p>
            <a:r>
              <a:rPr lang="en-CA" dirty="0"/>
              <a:t>Generalized odds ratios handle bivariate responses</a:t>
            </a:r>
          </a:p>
          <a:p>
            <a:pPr lvl="1"/>
            <a:r>
              <a:rPr lang="en-CA" dirty="0"/>
              <a:t>Simple linear models for LOR</a:t>
            </a:r>
          </a:p>
          <a:p>
            <a:pPr lvl="1"/>
            <a:r>
              <a:rPr lang="en-CA" dirty="0"/>
              <a:t>Easy to model log odds for each response and the LOR simultaneously</a:t>
            </a:r>
          </a:p>
          <a:p>
            <a:pPr lvl="1"/>
            <a:r>
              <a:rPr lang="en-CA" dirty="0"/>
              <a:t>Easy to visualize results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349F06-2252-2DCD-A157-50517888F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338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6661</TotalTime>
  <Words>2462</Words>
  <Application>Microsoft Office PowerPoint</Application>
  <PresentationFormat>On-screen Show (4:3)</PresentationFormat>
  <Paragraphs>357</Paragraphs>
  <Slides>56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3" baseType="lpstr">
      <vt:lpstr>Arial</vt:lpstr>
      <vt:lpstr>Calibri</vt:lpstr>
      <vt:lpstr>Cambria Math</vt:lpstr>
      <vt:lpstr>Courier New</vt:lpstr>
      <vt:lpstr>Symbol</vt:lpstr>
      <vt:lpstr>Wingdings</vt:lpstr>
      <vt:lpstr>1_Office Theme</vt:lpstr>
      <vt:lpstr>Models &amp; graphs for log odds and log odds ratios</vt:lpstr>
      <vt:lpstr>Today’s topics</vt:lpstr>
      <vt:lpstr>Main ideas</vt:lpstr>
      <vt:lpstr>Logit models  Log odds models</vt:lpstr>
      <vt:lpstr>J responses  J-1 contrasts/logits</vt:lpstr>
      <vt:lpstr>2-way example: Hospital visits</vt:lpstr>
      <vt:lpstr>Exploratory plots: Doubledecker</vt:lpstr>
      <vt:lpstr>Exploratory plots: ca</vt:lpstr>
      <vt:lpstr>Models for log odds</vt:lpstr>
      <vt:lpstr>Models for log odds</vt:lpstr>
      <vt:lpstr>Fit some models</vt:lpstr>
      <vt:lpstr>Ordinal variables</vt:lpstr>
      <vt:lpstr>Visualizing log odds and models</vt:lpstr>
      <vt:lpstr>Visualizing log odds and models</vt:lpstr>
      <vt:lpstr>Graph-craft: Error bars, direct labels</vt:lpstr>
      <vt:lpstr>Three-way+ tables: Log odds</vt:lpstr>
      <vt:lpstr>Three-way+ tables: Log odds</vt:lpstr>
      <vt:lpstr>3-way example: Mice depletion data</vt:lpstr>
      <vt:lpstr>Mice data: mosaic plot</vt:lpstr>
      <vt:lpstr>Mice data: MCA</vt:lpstr>
      <vt:lpstr>Calculating log odds</vt:lpstr>
      <vt:lpstr>Calculating log odds</vt:lpstr>
      <vt:lpstr>Calculating log odds</vt:lpstr>
      <vt:lpstr>Mice data: Log odds</vt:lpstr>
      <vt:lpstr>Mice data: Fit models</vt:lpstr>
      <vt:lpstr>Visualize log odds &amp; models: Data plot</vt:lpstr>
      <vt:lpstr>PowerPoint Presentation</vt:lpstr>
      <vt:lpstr>Visualize log odds &amp; models: Smoothing</vt:lpstr>
      <vt:lpstr>Visualize log odds &amp; models: Data + Model</vt:lpstr>
      <vt:lpstr>Visualize log odds &amp; models: Data + Model</vt:lpstr>
      <vt:lpstr>Generalized log odds ratios</vt:lpstr>
      <vt:lpstr>Generalized log odds ratios</vt:lpstr>
      <vt:lpstr>Models for log odds ratios: Computation</vt:lpstr>
      <vt:lpstr>Models for log odds ratios: Computation</vt:lpstr>
      <vt:lpstr>Models for log odds ratios: Estimation</vt:lpstr>
      <vt:lpstr>Example: Breathlessness &amp; wheeze in coal miners</vt:lpstr>
      <vt:lpstr>Example: Breathlessness &amp; wheeze in coal miners</vt:lpstr>
      <vt:lpstr>Coal miners: Log odds &amp; models</vt:lpstr>
      <vt:lpstr>Coal miners: LOR plot</vt:lpstr>
      <vt:lpstr>Coal miners: Model comparisons</vt:lpstr>
      <vt:lpstr>Going further: Bivariate response models</vt:lpstr>
      <vt:lpstr>Calculating…</vt:lpstr>
      <vt:lpstr>Linear model for log odds and log odds ratios</vt:lpstr>
      <vt:lpstr>Linear model for log odds and log odds ratios</vt:lpstr>
      <vt:lpstr>Quadratic model for log odds and log odds ratios</vt:lpstr>
      <vt:lpstr>Plotting …</vt:lpstr>
      <vt:lpstr>Fitting: VGAM::vglm()</vt:lpstr>
      <vt:lpstr>Plotting the model fit</vt:lpstr>
      <vt:lpstr>Other possibilities</vt:lpstr>
      <vt:lpstr>Example: Attitudes toward corporal punishment</vt:lpstr>
      <vt:lpstr>Attitudes: Questions</vt:lpstr>
      <vt:lpstr>Log odds model for attitude</vt:lpstr>
      <vt:lpstr>Attitude: Effect plots</vt:lpstr>
      <vt:lpstr>Association of attitude with memory: Fourfold plots</vt:lpstr>
      <vt:lpstr>Log odds ratio plot</vt:lpstr>
      <vt:lpstr>Summary</vt:lpstr>
    </vt:vector>
  </TitlesOfParts>
  <Company>YORK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Michael Friendly</dc:creator>
  <cp:lastModifiedBy>Michael L Friendly</cp:lastModifiedBy>
  <cp:revision>35</cp:revision>
  <dcterms:created xsi:type="dcterms:W3CDTF">2017-10-14T20:35:56Z</dcterms:created>
  <dcterms:modified xsi:type="dcterms:W3CDTF">2026-03-23T19:39:52Z</dcterms:modified>
</cp:coreProperties>
</file>