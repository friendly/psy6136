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60" r:id="rId1"/>
  </p:sldMasterIdLst>
  <p:notesMasterIdLst>
    <p:notesMasterId r:id="rId99"/>
  </p:notesMasterIdLst>
  <p:handoutMasterIdLst>
    <p:handoutMasterId r:id="rId100"/>
  </p:handoutMasterIdLst>
  <p:sldIdLst>
    <p:sldId id="256" r:id="rId2"/>
    <p:sldId id="257" r:id="rId3"/>
    <p:sldId id="261" r:id="rId4"/>
    <p:sldId id="258" r:id="rId5"/>
    <p:sldId id="259" r:id="rId6"/>
    <p:sldId id="260" r:id="rId7"/>
    <p:sldId id="262" r:id="rId8"/>
    <p:sldId id="263" r:id="rId9"/>
    <p:sldId id="351" r:id="rId10"/>
    <p:sldId id="346" r:id="rId11"/>
    <p:sldId id="349" r:id="rId12"/>
    <p:sldId id="348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350" r:id="rId26"/>
    <p:sldId id="276" r:id="rId27"/>
    <p:sldId id="278" r:id="rId28"/>
    <p:sldId id="277" r:id="rId29"/>
    <p:sldId id="279" r:id="rId30"/>
    <p:sldId id="280" r:id="rId31"/>
    <p:sldId id="281" r:id="rId32"/>
    <p:sldId id="282" r:id="rId33"/>
    <p:sldId id="283" r:id="rId34"/>
    <p:sldId id="352" r:id="rId35"/>
    <p:sldId id="284" r:id="rId36"/>
    <p:sldId id="285" r:id="rId37"/>
    <p:sldId id="291" r:id="rId38"/>
    <p:sldId id="292" r:id="rId39"/>
    <p:sldId id="294" r:id="rId40"/>
    <p:sldId id="293" r:id="rId41"/>
    <p:sldId id="286" r:id="rId42"/>
    <p:sldId id="287" r:id="rId43"/>
    <p:sldId id="288" r:id="rId44"/>
    <p:sldId id="289" r:id="rId45"/>
    <p:sldId id="344" r:id="rId46"/>
    <p:sldId id="343" r:id="rId47"/>
    <p:sldId id="290" r:id="rId48"/>
    <p:sldId id="295" r:id="rId49"/>
    <p:sldId id="345" r:id="rId50"/>
    <p:sldId id="296" r:id="rId51"/>
    <p:sldId id="297" r:id="rId52"/>
    <p:sldId id="298" r:id="rId53"/>
    <p:sldId id="299" r:id="rId54"/>
    <p:sldId id="300" r:id="rId55"/>
    <p:sldId id="301" r:id="rId56"/>
    <p:sldId id="302" r:id="rId57"/>
    <p:sldId id="303" r:id="rId58"/>
    <p:sldId id="304" r:id="rId59"/>
    <p:sldId id="306" r:id="rId60"/>
    <p:sldId id="305" r:id="rId61"/>
    <p:sldId id="307" r:id="rId62"/>
    <p:sldId id="308" r:id="rId63"/>
    <p:sldId id="309" r:id="rId64"/>
    <p:sldId id="323" r:id="rId65"/>
    <p:sldId id="310" r:id="rId66"/>
    <p:sldId id="311" r:id="rId67"/>
    <p:sldId id="312" r:id="rId68"/>
    <p:sldId id="313" r:id="rId69"/>
    <p:sldId id="314" r:id="rId70"/>
    <p:sldId id="315" r:id="rId71"/>
    <p:sldId id="316" r:id="rId72"/>
    <p:sldId id="317" r:id="rId73"/>
    <p:sldId id="318" r:id="rId74"/>
    <p:sldId id="319" r:id="rId75"/>
    <p:sldId id="320" r:id="rId76"/>
    <p:sldId id="342" r:id="rId77"/>
    <p:sldId id="353" r:id="rId78"/>
    <p:sldId id="321" r:id="rId79"/>
    <p:sldId id="322" r:id="rId80"/>
    <p:sldId id="324" r:id="rId81"/>
    <p:sldId id="325" r:id="rId82"/>
    <p:sldId id="326" r:id="rId83"/>
    <p:sldId id="327" r:id="rId84"/>
    <p:sldId id="328" r:id="rId85"/>
    <p:sldId id="329" r:id="rId86"/>
    <p:sldId id="354" r:id="rId87"/>
    <p:sldId id="330" r:id="rId88"/>
    <p:sldId id="331" r:id="rId89"/>
    <p:sldId id="334" r:id="rId90"/>
    <p:sldId id="335" r:id="rId91"/>
    <p:sldId id="332" r:id="rId92"/>
    <p:sldId id="336" r:id="rId93"/>
    <p:sldId id="337" r:id="rId94"/>
    <p:sldId id="338" r:id="rId95"/>
    <p:sldId id="339" r:id="rId96"/>
    <p:sldId id="340" r:id="rId97"/>
    <p:sldId id="341" r:id="rId98"/>
  </p:sldIdLst>
  <p:sldSz cx="9144000" cy="6858000" type="screen4x3"/>
  <p:notesSz cx="6858000" cy="9144000"/>
  <p:embeddedFontLst>
    <p:embeddedFont>
      <p:font typeface="Cambria Math" panose="02040503050406030204" pitchFamily="18" charset="0"/>
      <p:regular r:id="rId101"/>
    </p:embeddedFont>
    <p:embeddedFont>
      <p:font typeface="Consolas" panose="020B0609020204030204" pitchFamily="49" charset="0"/>
      <p:regular r:id="rId102"/>
      <p:bold r:id="rId103"/>
      <p:italic r:id="rId104"/>
      <p:boldItalic r:id="rId10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41B62C2F-CE0C-4633-A50C-9859C6718FAA}">
          <p14:sldIdLst>
            <p14:sldId id="256"/>
            <p14:sldId id="257"/>
            <p14:sldId id="261"/>
            <p14:sldId id="258"/>
            <p14:sldId id="259"/>
            <p14:sldId id="260"/>
            <p14:sldId id="262"/>
            <p14:sldId id="263"/>
          </p14:sldIdLst>
        </p14:section>
        <p14:section name="History" id="{D9BE3598-C524-42F5-A383-DC85BCE55698}">
          <p14:sldIdLst>
            <p14:sldId id="351"/>
            <p14:sldId id="346"/>
            <p14:sldId id="349"/>
            <p14:sldId id="348"/>
          </p14:sldIdLst>
        </p14:section>
        <p14:section name="Loglinear models" id="{4C98319F-11EA-44A8-BECF-DCB0D6026BF9}">
          <p14:sldIdLst>
            <p14:sldId id="264"/>
            <p14:sldId id="265"/>
            <p14:sldId id="266"/>
            <p14:sldId id="267"/>
          </p14:sldIdLst>
        </p14:section>
        <p14:section name="Two-way tables" id="{2FCE0859-EDEE-4925-9996-0A2B84BD79B6}">
          <p14:sldIdLst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350"/>
            <p14:sldId id="276"/>
            <p14:sldId id="278"/>
            <p14:sldId id="277"/>
            <p14:sldId id="279"/>
            <p14:sldId id="280"/>
            <p14:sldId id="281"/>
            <p14:sldId id="282"/>
            <p14:sldId id="283"/>
            <p14:sldId id="352"/>
            <p14:sldId id="284"/>
            <p14:sldId id="285"/>
            <p14:sldId id="291"/>
            <p14:sldId id="292"/>
            <p14:sldId id="294"/>
            <p14:sldId id="293"/>
          </p14:sldIdLst>
        </p14:section>
        <p14:section name="Three-way tables" id="{B87DFAA9-34FD-4260-95F1-FB484C037FC6}">
          <p14:sldIdLst>
            <p14:sldId id="286"/>
            <p14:sldId id="287"/>
            <p14:sldId id="288"/>
            <p14:sldId id="289"/>
            <p14:sldId id="344"/>
            <p14:sldId id="343"/>
            <p14:sldId id="290"/>
            <p14:sldId id="295"/>
            <p14:sldId id="345"/>
            <p14:sldId id="296"/>
            <p14:sldId id="297"/>
            <p14:sldId id="298"/>
            <p14:sldId id="299"/>
            <p14:sldId id="300"/>
            <p14:sldId id="301"/>
            <p14:sldId id="302"/>
            <p14:sldId id="303"/>
            <p14:sldId id="304"/>
          </p14:sldIdLst>
        </p14:section>
        <p14:section name="Visual fitting" id="{30187241-5456-438D-977D-B65C02FB634C}">
          <p14:sldIdLst>
            <p14:sldId id="306"/>
            <p14:sldId id="305"/>
            <p14:sldId id="307"/>
            <p14:sldId id="308"/>
            <p14:sldId id="309"/>
          </p14:sldIdLst>
        </p14:section>
        <p14:section name="Titanic" id="{76DC9C67-7C97-4F0A-87D7-8C2A73642802}">
          <p14:sldIdLst>
            <p14:sldId id="323"/>
            <p14:sldId id="310"/>
            <p14:sldId id="311"/>
            <p14:sldId id="312"/>
            <p14:sldId id="313"/>
            <p14:sldId id="314"/>
            <p14:sldId id="315"/>
            <p14:sldId id="316"/>
            <p14:sldId id="317"/>
            <p14:sldId id="318"/>
            <p14:sldId id="319"/>
            <p14:sldId id="320"/>
            <p14:sldId id="342"/>
          </p14:sldIdLst>
        </p14:section>
        <p14:section name="Sequential plots &amp; models" id="{6356486A-1998-4EE5-8915-CF1E1737FC6A}">
          <p14:sldIdLst>
            <p14:sldId id="353"/>
            <p14:sldId id="321"/>
            <p14:sldId id="322"/>
            <p14:sldId id="324"/>
            <p14:sldId id="325"/>
            <p14:sldId id="326"/>
            <p14:sldId id="327"/>
            <p14:sldId id="328"/>
            <p14:sldId id="329"/>
            <p14:sldId id="354"/>
            <p14:sldId id="330"/>
            <p14:sldId id="331"/>
            <p14:sldId id="334"/>
            <p14:sldId id="335"/>
            <p14:sldId id="332"/>
            <p14:sldId id="336"/>
            <p14:sldId id="337"/>
          </p14:sldIdLst>
        </p14:section>
        <p14:section name="Partial association" id="{63EA7E7A-EA5E-410D-AB06-52C6B5E3B40D}">
          <p14:sldIdLst>
            <p14:sldId id="338"/>
            <p14:sldId id="339"/>
            <p14:sldId id="340"/>
            <p14:sldId id="34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0" d="100"/>
          <a:sy n="100" d="100"/>
        </p:scale>
        <p:origin x="1242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3696"/>
    </p:cViewPr>
  </p:sorterViewPr>
  <p:notesViewPr>
    <p:cSldViewPr>
      <p:cViewPr varScale="1">
        <p:scale>
          <a:sx n="87" d="100"/>
          <a:sy n="87" d="100"/>
        </p:scale>
        <p:origin x="-2040" y="-72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07" Type="http://schemas.openxmlformats.org/officeDocument/2006/relationships/viewProps" Target="viewProps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font" Target="fonts/font2.fntdata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font" Target="fonts/font3.fntdata"/><Relationship Id="rId108" Type="http://schemas.openxmlformats.org/officeDocument/2006/relationships/theme" Target="theme/theme1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notesMaster" Target="notesMasters/notesMaster1.xml"/><Relationship Id="rId101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tableStyles" Target="tableStyles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font" Target="fonts/font4.fntdata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handoutMaster" Target="handoutMasters/handoutMaster1.xml"/><Relationship Id="rId105" Type="http://schemas.openxmlformats.org/officeDocument/2006/relationships/font" Target="fonts/font5.fntdata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BD4FA9-F3CE-45B3-A980-C331C6F1EF65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CD5E95-8CAD-4274-BFFA-CD87442DEA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076907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7BD832-B243-4C93-98C6-9AD3A5BA3797}" type="datetimeFigureOut">
              <a:rPr lang="en-CA" smtClean="0"/>
              <a:t>2026-01-29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8D13E3-B588-4B80-A9C1-76D80DBFD81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243031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8D13E3-B588-4B80-A9C1-76D80DBFD816}" type="slidenum">
              <a:rPr lang="en-CA" smtClean="0"/>
              <a:t>25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767405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8D13E3-B588-4B80-A9C1-76D80DBFD816}" type="slidenum">
              <a:rPr lang="en-CA" smtClean="0"/>
              <a:t>45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152713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solidFill>
            <a:srgbClr val="002060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D3657-2200-4D14-82C0-10C39B0F0F06}" type="datetime1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9663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SzPct val="120000"/>
              <a:defRPr sz="2800"/>
            </a:lvl1pPr>
            <a:lvl2pPr>
              <a:defRPr sz="2400"/>
            </a:lvl2pPr>
            <a:lvl3pPr marL="1143000" indent="-228600">
              <a:buClr>
                <a:srgbClr val="00B0F0"/>
              </a:buClr>
              <a:buSzPct val="110000"/>
              <a:buFont typeface="Arial" panose="020B0604020202020204" pitchFamily="34" charset="0"/>
              <a:buChar char="•"/>
              <a:defRPr sz="20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1AD17-B813-4477-8AFE-B1860CC59113}" type="datetime1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55579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975C0D-5C9E-48CC-8D31-F42D19FA8F7A}" type="datetime1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2219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143000"/>
            <a:ext cx="4038600" cy="5105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143000"/>
            <a:ext cx="4038600" cy="5105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657551-0F2B-4F09-86FD-F7994CE83DC5}" type="datetime1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7015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9D2B2-4200-46B9-96C3-02A55D5FAA00}" type="datetime1">
              <a:rPr lang="en-US" smtClean="0"/>
              <a:t>1/29/2026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68767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F7722-74E8-497F-A072-89677A2C2373}" type="datetime1">
              <a:rPr lang="en-US" smtClean="0"/>
              <a:t>1/29/2026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73631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6212E-B46B-426F-AE59-AA326827D9E0}" type="datetime1">
              <a:rPr lang="en-US" smtClean="0"/>
              <a:t>1/29/2026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6946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B81E8-09EA-4684-A39F-38DE1E49D20C}" type="datetime1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01098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5CC5F-056C-4047-9A5C-9F5B4BED129B}" type="datetime1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99378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BAF55-A85E-4993-914E-FC1E5AA7DF24}" type="datetime1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21866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816E07-E1DB-44A4-A5E5-9F4B54E8C933}" type="datetime1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1791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3000"/>
            <a:ext cx="8229600" cy="5105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171053-07BD-4A17-AC24-0A22EAA36098}" type="datetime1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1225AB-15B9-4C79-A121-04D1DC7E23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94294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rgbClr val="0070C0"/>
        </a:buClr>
        <a:buSzPct val="115000"/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Clr>
          <a:srgbClr val="FF0000"/>
        </a:buClr>
        <a:buSzPct val="110000"/>
        <a:buFont typeface="Wingdings" panose="05000000000000000000" pitchFamily="2" charset="2"/>
        <a:buChar char="§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friendly.github.io/psy6136/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://www.jstor.org/stable/2291215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://dx.doi.org/10.1198/106186002317375631" TargetMode="Externa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2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4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5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g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8.png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2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6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3.png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6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6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6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6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6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jpeg"/><Relationship Id="rId1" Type="http://schemas.openxmlformats.org/officeDocument/2006/relationships/slideLayout" Target="../slideLayouts/slideLayout3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6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6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6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6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78.png"/><Relationship Id="rId4" Type="http://schemas.openxmlformats.org/officeDocument/2006/relationships/image" Target="../media/image77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6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atavis.ca/papers/significance_Friendly_Titanic.pdf" TargetMode="External"/><Relationship Id="rId2" Type="http://schemas.openxmlformats.org/officeDocument/2006/relationships/image" Target="../media/image82.jpeg"/><Relationship Id="rId1" Type="http://schemas.openxmlformats.org/officeDocument/2006/relationships/slideLayout" Target="../slideLayouts/slideLayout6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atavis.ca/papers/jcgs-extending.pdf" TargetMode="External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6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6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6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6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6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6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6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7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7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7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7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7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7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6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3389389"/>
            <a:ext cx="7772400" cy="860425"/>
          </a:xfrm>
        </p:spPr>
        <p:txBody>
          <a:bodyPr>
            <a:normAutofit fontScale="90000"/>
          </a:bodyPr>
          <a:lstStyle/>
          <a:p>
            <a:r>
              <a:rPr lang="en-US" dirty="0"/>
              <a:t>Loglinear models &amp; mosaic displays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648200"/>
            <a:ext cx="6400800" cy="1752600"/>
          </a:xfrm>
        </p:spPr>
        <p:txBody>
          <a:bodyPr/>
          <a:lstStyle/>
          <a:p>
            <a:r>
              <a:rPr lang="en-US" dirty="0"/>
              <a:t>Michael Friendly</a:t>
            </a:r>
          </a:p>
          <a:p>
            <a:r>
              <a:rPr lang="en-US" dirty="0"/>
              <a:t>Psych 6136</a:t>
            </a:r>
          </a:p>
          <a:p>
            <a:pPr lvl="0"/>
            <a:r>
              <a:rPr lang="en-US" sz="2200" dirty="0">
                <a:solidFill>
                  <a:prstClr val="black">
                    <a:tint val="75000"/>
                  </a:prstClr>
                </a:solidFill>
                <a:hlinkClick r:id="rId2"/>
              </a:rPr>
              <a:t>https://friendly.github.io/psy6136 </a:t>
            </a:r>
            <a:endParaRPr lang="en-US" sz="2200" dirty="0">
              <a:solidFill>
                <a:prstClr val="black">
                  <a:tint val="75000"/>
                </a:prstClr>
              </a:solidFill>
            </a:endParaRPr>
          </a:p>
          <a:p>
            <a:endParaRPr lang="en-US" dirty="0"/>
          </a:p>
        </p:txBody>
      </p:sp>
      <p:pic>
        <p:nvPicPr>
          <p:cNvPr id="4" name="Picture 3" descr="Shape&#10;&#10;Description automatically generated">
            <a:extLst>
              <a:ext uri="{FF2B5EF4-FFF2-40B4-BE49-F238E27FC236}">
                <a16:creationId xmlns:a16="http://schemas.microsoft.com/office/drawing/2014/main" id="{15D465FD-F1E7-4DD7-A16E-F94296DB38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4578350"/>
            <a:ext cx="1495928" cy="1730890"/>
          </a:xfrm>
          <a:prstGeom prst="rect">
            <a:avLst/>
          </a:prstGeom>
        </p:spPr>
      </p:pic>
      <p:pic>
        <p:nvPicPr>
          <p:cNvPr id="5" name="Picture 4" descr="Shape&#10;&#10;Description automatically generated">
            <a:extLst>
              <a:ext uri="{FF2B5EF4-FFF2-40B4-BE49-F238E27FC236}">
                <a16:creationId xmlns:a16="http://schemas.microsoft.com/office/drawing/2014/main" id="{82E36437-FB1B-4935-AF18-CE18C68FBF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2272" y="4578350"/>
            <a:ext cx="1495928" cy="173089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5428FF8-2B86-5AFD-8B8A-62887D86F5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952" y="236890"/>
            <a:ext cx="8038095" cy="2819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04656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71DD02-C021-D484-0A52-4C365E3626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Today’s topics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EC576B-8849-6599-7BC9-DF9974A9C8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Mosaic displays: basic ideas</a:t>
            </a:r>
          </a:p>
          <a:p>
            <a:r>
              <a:rPr lang="en-CA" dirty="0"/>
              <a:t>Models for count data</a:t>
            </a:r>
          </a:p>
          <a:p>
            <a:pPr lvl="1"/>
            <a:r>
              <a:rPr lang="en-CA" dirty="0"/>
              <a:t>Fitting loglinear models</a:t>
            </a:r>
          </a:p>
          <a:p>
            <a:r>
              <a:rPr lang="en-CA" dirty="0"/>
              <a:t>Two-way tables</a:t>
            </a:r>
          </a:p>
          <a:p>
            <a:r>
              <a:rPr lang="en-CA" dirty="0"/>
              <a:t>Fitting &amp; graphing LLMs</a:t>
            </a:r>
          </a:p>
          <a:p>
            <a:r>
              <a:rPr lang="en-CA" dirty="0"/>
              <a:t>Three-way tables: different kinds of independence</a:t>
            </a:r>
          </a:p>
          <a:p>
            <a:r>
              <a:rPr lang="en-CA" dirty="0"/>
              <a:t>Sequential plots &amp; models</a:t>
            </a:r>
          </a:p>
          <a:p>
            <a:r>
              <a:rPr lang="en-CA" dirty="0"/>
              <a:t>Marginal &amp; partial displays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13E706-8ADB-D876-BDD3-D8FF0BD33B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2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C38482B-CD9E-0EC3-A2BE-78D2979686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295400"/>
            <a:ext cx="1687318" cy="168731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8EDE059-0D99-B5D3-9472-066851A5CA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5798" y="4229332"/>
            <a:ext cx="1394803" cy="1333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25267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08E2B6-1614-7C2E-3E62-6298B6A2FA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Mosaic displays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C6A316-B497-9462-15D7-EF0F583A7C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Similar to sieve plot, tile plot, using </a:t>
            </a:r>
            <a:r>
              <a:rPr lang="en-CA" dirty="0">
                <a:solidFill>
                  <a:srgbClr val="0070C0"/>
                </a:solidFill>
              </a:rPr>
              <a:t>area ~ frequency</a:t>
            </a:r>
          </a:p>
          <a:p>
            <a:r>
              <a:rPr lang="en-CA" dirty="0"/>
              <a:t>Mosaic plots generalize more readily to </a:t>
            </a:r>
            <a:r>
              <a:rPr lang="en-CA" i="1" dirty="0">
                <a:solidFill>
                  <a:srgbClr val="0070C0"/>
                </a:solidFill>
              </a:rPr>
              <a:t>n</a:t>
            </a:r>
            <a:r>
              <a:rPr lang="en-CA" dirty="0">
                <a:solidFill>
                  <a:srgbClr val="0070C0"/>
                </a:solidFill>
              </a:rPr>
              <a:t>-way tables </a:t>
            </a:r>
            <a:r>
              <a:rPr lang="en-CA" dirty="0"/>
              <a:t>(subject to resolution of the display)</a:t>
            </a:r>
          </a:p>
          <a:p>
            <a:r>
              <a:rPr lang="en-CA" dirty="0"/>
              <a:t>Intimately connected to loglinear &amp; generalized linear models</a:t>
            </a:r>
          </a:p>
          <a:p>
            <a:pPr lvl="1"/>
            <a:r>
              <a:rPr lang="en-CA" dirty="0"/>
              <a:t>Can fit </a:t>
            </a:r>
            <a:r>
              <a:rPr lang="en-CA" dirty="0">
                <a:solidFill>
                  <a:srgbClr val="0070C0"/>
                </a:solidFill>
              </a:rPr>
              <a:t>sequential</a:t>
            </a:r>
            <a:r>
              <a:rPr lang="en-CA" dirty="0"/>
              <a:t> models as variables are entered</a:t>
            </a:r>
          </a:p>
          <a:p>
            <a:pPr lvl="1"/>
            <a:r>
              <a:rPr lang="en-CA" dirty="0"/>
              <a:t>Show the </a:t>
            </a:r>
            <a:r>
              <a:rPr lang="en-CA" dirty="0">
                <a:solidFill>
                  <a:srgbClr val="0070C0"/>
                </a:solidFill>
              </a:rPr>
              <a:t>pattern</a:t>
            </a:r>
            <a:r>
              <a:rPr lang="en-CA" dirty="0"/>
              <a:t> of association not accounted for in a given model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A1ED50-6285-4C0A-94E2-F4004B155F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3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1AC2D8A-F3CA-7D82-2287-3D9E43486B62}"/>
              </a:ext>
            </a:extLst>
          </p:cNvPr>
          <p:cNvSpPr txBox="1"/>
          <p:nvPr/>
        </p:nvSpPr>
        <p:spPr>
          <a:xfrm>
            <a:off x="762000" y="6019800"/>
            <a:ext cx="7772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dirty="0"/>
              <a:t>Friendly, M. (1994). Mosaic Displays for Multi-way Contingency Tables. </a:t>
            </a:r>
            <a:r>
              <a:rPr lang="en-CA" sz="1400" i="1" dirty="0"/>
              <a:t>Journal of the American Statistical Association</a:t>
            </a:r>
            <a:r>
              <a:rPr lang="en-CA" sz="1400" dirty="0"/>
              <a:t>, </a:t>
            </a:r>
            <a:r>
              <a:rPr lang="en-CA" sz="1400" i="1" dirty="0"/>
              <a:t>89</a:t>
            </a:r>
            <a:r>
              <a:rPr lang="en-CA" sz="1400" dirty="0"/>
              <a:t>, 190–200. </a:t>
            </a:r>
            <a:r>
              <a:rPr lang="en-CA" sz="1400" dirty="0">
                <a:hlinkClick r:id="rId2"/>
              </a:rPr>
              <a:t>http://www.jstor.org/stable/2291215</a:t>
            </a:r>
            <a:r>
              <a:rPr lang="en-CA" sz="1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608006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788D6B-2E52-BC93-6E38-F43814457B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Mosaic displays: basic ideas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9F7A1F-7444-211D-A639-5ABFD6F14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4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F859D0A-B932-411A-68BD-3DEC338737DF}"/>
              </a:ext>
            </a:extLst>
          </p:cNvPr>
          <p:cNvSpPr txBox="1"/>
          <p:nvPr/>
        </p:nvSpPr>
        <p:spPr>
          <a:xfrm>
            <a:off x="4876800" y="1764268"/>
            <a:ext cx="37904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UCB Admissions: Gender frequencies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A9CC5AC-2778-E0F1-E9E7-74884341750E}"/>
              </a:ext>
            </a:extLst>
          </p:cNvPr>
          <p:cNvSpPr txBox="1"/>
          <p:nvPr/>
        </p:nvSpPr>
        <p:spPr>
          <a:xfrm>
            <a:off x="457200" y="1219200"/>
            <a:ext cx="8210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000" dirty="0"/>
              <a:t>Mosaic displays theory: Hartigan &amp; Kleiner (1981); Friendly (1994, 1999)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A367DD6-1FC6-472E-4A80-6FB8A8DDE5A3}"/>
              </a:ext>
            </a:extLst>
          </p:cNvPr>
          <p:cNvSpPr txBox="1"/>
          <p:nvPr/>
        </p:nvSpPr>
        <p:spPr>
          <a:xfrm>
            <a:off x="476762" y="2514552"/>
            <a:ext cx="4191000" cy="32008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000" dirty="0"/>
              <a:t>Area proportional display for an </a:t>
            </a:r>
            <a:r>
              <a:rPr lang="en-CA" sz="2000" i="1" dirty="0"/>
              <a:t>n</a:t>
            </a:r>
            <a:r>
              <a:rPr lang="en-CA" sz="2000" dirty="0"/>
              <a:t>-way table</a:t>
            </a:r>
          </a:p>
          <a:p>
            <a:endParaRPr lang="en-CA" dirty="0"/>
          </a:p>
          <a:p>
            <a:r>
              <a:rPr lang="en-CA" dirty="0"/>
              <a:t>Tiles: </a:t>
            </a:r>
            <a:r>
              <a:rPr lang="en-CA" dirty="0">
                <a:solidFill>
                  <a:srgbClr val="0070C0"/>
                </a:solidFill>
              </a:rPr>
              <a:t>recursive</a:t>
            </a:r>
            <a:r>
              <a:rPr lang="en-CA" dirty="0"/>
              <a:t> splits of a unit square, alternating H, V</a:t>
            </a:r>
          </a:p>
          <a:p>
            <a:endParaRPr lang="en-CA" dirty="0"/>
          </a:p>
          <a:p>
            <a:r>
              <a:rPr lang="en-CA" dirty="0"/>
              <a:t>V</a:t>
            </a:r>
            <a:r>
              <a:rPr lang="en-CA" baseline="-25000" dirty="0"/>
              <a:t>1</a:t>
            </a:r>
            <a:r>
              <a:rPr lang="en-CA" dirty="0"/>
              <a:t>: width ~ marginal frequencies, n </a:t>
            </a:r>
            <a:r>
              <a:rPr lang="en-CA" baseline="-25000" dirty="0" err="1"/>
              <a:t>i</a:t>
            </a:r>
            <a:r>
              <a:rPr lang="en-CA" baseline="-25000" dirty="0"/>
              <a:t>++</a:t>
            </a:r>
          </a:p>
          <a:p>
            <a:r>
              <a:rPr lang="en-CA" dirty="0">
                <a:solidFill>
                  <a:schemeClr val="bg1">
                    <a:lumMod val="65000"/>
                  </a:schemeClr>
                </a:solidFill>
              </a:rPr>
              <a:t>V</a:t>
            </a:r>
            <a:r>
              <a:rPr lang="en-CA" baseline="-25000" dirty="0">
                <a:solidFill>
                  <a:schemeClr val="bg1">
                    <a:lumMod val="65000"/>
                  </a:schemeClr>
                </a:solidFill>
              </a:rPr>
              <a:t>2</a:t>
            </a:r>
            <a:r>
              <a:rPr lang="en-CA" dirty="0">
                <a:solidFill>
                  <a:schemeClr val="bg1">
                    <a:lumMod val="65000"/>
                  </a:schemeClr>
                </a:solidFill>
              </a:rPr>
              <a:t>: height ~ </a:t>
            </a:r>
            <a:r>
              <a:rPr lang="en-CA" dirty="0" err="1">
                <a:solidFill>
                  <a:schemeClr val="bg1">
                    <a:lumMod val="65000"/>
                  </a:schemeClr>
                </a:solidFill>
              </a:rPr>
              <a:t>cond</a:t>
            </a:r>
            <a:r>
              <a:rPr lang="en-CA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CA" dirty="0" err="1">
                <a:solidFill>
                  <a:schemeClr val="bg1">
                    <a:lumMod val="65000"/>
                  </a:schemeClr>
                </a:solidFill>
              </a:rPr>
              <a:t>freq</a:t>
            </a:r>
            <a:r>
              <a:rPr lang="en-CA" dirty="0">
                <a:solidFill>
                  <a:schemeClr val="bg1">
                    <a:lumMod val="65000"/>
                  </a:schemeClr>
                </a:solidFill>
              </a:rPr>
              <a:t>:  V</a:t>
            </a:r>
            <a:r>
              <a:rPr lang="en-CA" baseline="-25000" dirty="0">
                <a:solidFill>
                  <a:schemeClr val="bg1">
                    <a:lumMod val="65000"/>
                  </a:schemeClr>
                </a:solidFill>
              </a:rPr>
              <a:t>2</a:t>
            </a:r>
            <a:r>
              <a:rPr lang="en-CA" dirty="0">
                <a:solidFill>
                  <a:schemeClr val="bg1">
                    <a:lumMod val="65000"/>
                  </a:schemeClr>
                </a:solidFill>
              </a:rPr>
              <a:t>| V</a:t>
            </a:r>
            <a:r>
              <a:rPr lang="en-CA" baseline="-25000" dirty="0">
                <a:solidFill>
                  <a:schemeClr val="bg1">
                    <a:lumMod val="65000"/>
                  </a:schemeClr>
                </a:solidFill>
              </a:rPr>
              <a:t>1 </a:t>
            </a:r>
            <a:r>
              <a:rPr lang="en-CA" dirty="0">
                <a:solidFill>
                  <a:schemeClr val="bg1">
                    <a:lumMod val="65000"/>
                  </a:schemeClr>
                </a:solidFill>
              </a:rPr>
              <a:t>= </a:t>
            </a:r>
            <a:r>
              <a:rPr lang="en-CA" dirty="0" err="1">
                <a:solidFill>
                  <a:schemeClr val="bg1">
                    <a:lumMod val="65000"/>
                  </a:schemeClr>
                </a:solidFill>
              </a:rPr>
              <a:t>n</a:t>
            </a:r>
            <a:r>
              <a:rPr lang="en-CA" baseline="-25000" dirty="0" err="1">
                <a:solidFill>
                  <a:schemeClr val="bg1">
                    <a:lumMod val="65000"/>
                  </a:schemeClr>
                </a:solidFill>
              </a:rPr>
              <a:t>ij</a:t>
            </a:r>
            <a:r>
              <a:rPr lang="en-CA" dirty="0">
                <a:solidFill>
                  <a:schemeClr val="bg1">
                    <a:lumMod val="65000"/>
                  </a:schemeClr>
                </a:solidFill>
              </a:rPr>
              <a:t> / </a:t>
            </a:r>
            <a:r>
              <a:rPr lang="en-CA" dirty="0" err="1">
                <a:solidFill>
                  <a:schemeClr val="bg1">
                    <a:lumMod val="65000"/>
                  </a:schemeClr>
                </a:solidFill>
              </a:rPr>
              <a:t>n</a:t>
            </a:r>
            <a:r>
              <a:rPr lang="en-CA" baseline="-25000" dirty="0" err="1">
                <a:solidFill>
                  <a:schemeClr val="bg1">
                    <a:lumMod val="65000"/>
                  </a:schemeClr>
                </a:solidFill>
              </a:rPr>
              <a:t>i</a:t>
            </a:r>
            <a:r>
              <a:rPr lang="en-CA" baseline="-25000" dirty="0">
                <a:solidFill>
                  <a:schemeClr val="bg1">
                    <a:lumMod val="65000"/>
                  </a:schemeClr>
                </a:solidFill>
              </a:rPr>
              <a:t>++</a:t>
            </a:r>
          </a:p>
          <a:p>
            <a:r>
              <a:rPr lang="en-CA" dirty="0">
                <a:solidFill>
                  <a:schemeClr val="bg1">
                    <a:lumMod val="65000"/>
                  </a:schemeClr>
                </a:solidFill>
              </a:rPr>
              <a:t>V</a:t>
            </a:r>
            <a:r>
              <a:rPr lang="en-CA" baseline="-25000" dirty="0">
                <a:solidFill>
                  <a:schemeClr val="bg1">
                    <a:lumMod val="65000"/>
                  </a:schemeClr>
                </a:solidFill>
              </a:rPr>
              <a:t>3</a:t>
            </a:r>
            <a:r>
              <a:rPr lang="en-CA" dirty="0">
                <a:solidFill>
                  <a:schemeClr val="bg1">
                    <a:lumMod val="65000"/>
                  </a:schemeClr>
                </a:solidFill>
              </a:rPr>
              <a:t>: width ~ </a:t>
            </a:r>
            <a:r>
              <a:rPr lang="en-CA" dirty="0" err="1">
                <a:solidFill>
                  <a:schemeClr val="bg1">
                    <a:lumMod val="65000"/>
                  </a:schemeClr>
                </a:solidFill>
              </a:rPr>
              <a:t>cond</a:t>
            </a:r>
            <a:r>
              <a:rPr lang="en-CA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CA" dirty="0" err="1">
                <a:solidFill>
                  <a:schemeClr val="bg1">
                    <a:lumMod val="65000"/>
                  </a:schemeClr>
                </a:solidFill>
              </a:rPr>
              <a:t>freq</a:t>
            </a:r>
            <a:r>
              <a:rPr lang="en-CA" dirty="0">
                <a:solidFill>
                  <a:schemeClr val="bg1">
                    <a:lumMod val="65000"/>
                  </a:schemeClr>
                </a:solidFill>
              </a:rPr>
              <a:t>: V</a:t>
            </a:r>
            <a:r>
              <a:rPr lang="en-CA" baseline="-25000" dirty="0">
                <a:solidFill>
                  <a:schemeClr val="bg1">
                    <a:lumMod val="65000"/>
                  </a:schemeClr>
                </a:solidFill>
              </a:rPr>
              <a:t>3</a:t>
            </a:r>
            <a:r>
              <a:rPr lang="en-CA" dirty="0">
                <a:solidFill>
                  <a:schemeClr val="bg1">
                    <a:lumMod val="65000"/>
                  </a:schemeClr>
                </a:solidFill>
              </a:rPr>
              <a:t> | V</a:t>
            </a:r>
            <a:r>
              <a:rPr lang="en-CA" baseline="-25000" dirty="0">
                <a:solidFill>
                  <a:schemeClr val="bg1">
                    <a:lumMod val="65000"/>
                  </a:schemeClr>
                </a:solidFill>
              </a:rPr>
              <a:t>1</a:t>
            </a:r>
            <a:r>
              <a:rPr lang="en-CA" dirty="0">
                <a:solidFill>
                  <a:schemeClr val="bg1">
                    <a:lumMod val="65000"/>
                  </a:schemeClr>
                </a:solidFill>
              </a:rPr>
              <a:t>, V</a:t>
            </a:r>
            <a:r>
              <a:rPr lang="en-CA" baseline="-25000" dirty="0">
                <a:solidFill>
                  <a:schemeClr val="bg1">
                    <a:lumMod val="65000"/>
                  </a:schemeClr>
                </a:solidFill>
              </a:rPr>
              <a:t>2</a:t>
            </a:r>
            <a:r>
              <a:rPr lang="en-CA" dirty="0">
                <a:solidFill>
                  <a:schemeClr val="bg1">
                    <a:lumMod val="65000"/>
                  </a:schemeClr>
                </a:solidFill>
              </a:rPr>
              <a:t> = </a:t>
            </a:r>
            <a:r>
              <a:rPr lang="en-CA" dirty="0" err="1">
                <a:solidFill>
                  <a:schemeClr val="bg1">
                    <a:lumMod val="65000"/>
                  </a:schemeClr>
                </a:solidFill>
              </a:rPr>
              <a:t>n</a:t>
            </a:r>
            <a:r>
              <a:rPr lang="en-CA" baseline="-25000" dirty="0" err="1">
                <a:solidFill>
                  <a:schemeClr val="bg1">
                    <a:lumMod val="65000"/>
                  </a:schemeClr>
                </a:solidFill>
              </a:rPr>
              <a:t>ikj</a:t>
            </a:r>
            <a:r>
              <a:rPr lang="en-CA" dirty="0">
                <a:solidFill>
                  <a:schemeClr val="bg1">
                    <a:lumMod val="65000"/>
                  </a:schemeClr>
                </a:solidFill>
              </a:rPr>
              <a:t> / </a:t>
            </a:r>
            <a:r>
              <a:rPr lang="en-CA" dirty="0" err="1">
                <a:solidFill>
                  <a:schemeClr val="bg1">
                    <a:lumMod val="65000"/>
                  </a:schemeClr>
                </a:solidFill>
              </a:rPr>
              <a:t>n</a:t>
            </a:r>
            <a:r>
              <a:rPr lang="en-CA" baseline="-25000" dirty="0" err="1">
                <a:solidFill>
                  <a:schemeClr val="bg1">
                    <a:lumMod val="65000"/>
                  </a:schemeClr>
                </a:solidFill>
              </a:rPr>
              <a:t>ij</a:t>
            </a:r>
            <a:r>
              <a:rPr lang="en-CA" baseline="-25000" dirty="0">
                <a:solidFill>
                  <a:schemeClr val="bg1">
                    <a:lumMod val="65000"/>
                  </a:schemeClr>
                </a:solidFill>
              </a:rPr>
              <a:t>+</a:t>
            </a:r>
          </a:p>
          <a:p>
            <a:endParaRPr lang="en-CA" dirty="0">
              <a:solidFill>
                <a:schemeClr val="bg1">
                  <a:lumMod val="65000"/>
                </a:schemeClr>
              </a:solidFill>
            </a:endParaRPr>
          </a:p>
          <a:p>
            <a:r>
              <a:rPr lang="en-CA" dirty="0">
                <a:solidFill>
                  <a:schemeClr val="bg1">
                    <a:lumMod val="65000"/>
                  </a:schemeClr>
                </a:solidFill>
                <a:sym typeface="Symbol" panose="05050102010706020507" pitchFamily="18" charset="2"/>
              </a:rPr>
              <a:t> Area ~ cell frequency, </a:t>
            </a:r>
            <a:r>
              <a:rPr lang="en-CA" dirty="0" err="1">
                <a:solidFill>
                  <a:schemeClr val="bg1">
                    <a:lumMod val="65000"/>
                  </a:schemeClr>
                </a:solidFill>
                <a:sym typeface="Symbol" panose="05050102010706020507" pitchFamily="18" charset="2"/>
              </a:rPr>
              <a:t>n</a:t>
            </a:r>
            <a:r>
              <a:rPr lang="en-CA" baseline="-25000" dirty="0" err="1">
                <a:solidFill>
                  <a:schemeClr val="bg1">
                    <a:lumMod val="65000"/>
                  </a:schemeClr>
                </a:solidFill>
                <a:sym typeface="Symbol" panose="05050102010706020507" pitchFamily="18" charset="2"/>
              </a:rPr>
              <a:t>ijk</a:t>
            </a:r>
            <a:endParaRPr lang="en-CA" baseline="-25000" dirty="0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492E8C6-50AC-3623-19E2-E12AD6356E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194560"/>
            <a:ext cx="4095238" cy="4095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30123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788D6B-2E52-BC93-6E38-F43814457B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Mosaic displays: basic ideas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9F7A1F-7444-211D-A639-5ABFD6F14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5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3E2C5F3-26A9-1746-B82A-38A27AD7D0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194560"/>
            <a:ext cx="4095238" cy="409523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08E38DB-B300-A9B3-3CCD-594A54284AEF}"/>
              </a:ext>
            </a:extLst>
          </p:cNvPr>
          <p:cNvSpPr txBox="1"/>
          <p:nvPr/>
        </p:nvSpPr>
        <p:spPr>
          <a:xfrm>
            <a:off x="4876800" y="1564192"/>
            <a:ext cx="37904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UCB Admissions: Gender x Admit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6FE21DB-94BB-92F4-C44A-5535FE373AC6}"/>
              </a:ext>
            </a:extLst>
          </p:cNvPr>
          <p:cNvSpPr txBox="1"/>
          <p:nvPr/>
        </p:nvSpPr>
        <p:spPr>
          <a:xfrm>
            <a:off x="476762" y="2514552"/>
            <a:ext cx="4191000" cy="32008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000" dirty="0"/>
              <a:t>Area proportional display for an </a:t>
            </a:r>
            <a:r>
              <a:rPr lang="en-CA" sz="2000" i="1" dirty="0"/>
              <a:t>n</a:t>
            </a:r>
            <a:r>
              <a:rPr lang="en-CA" sz="2000" dirty="0"/>
              <a:t>-way table</a:t>
            </a:r>
          </a:p>
          <a:p>
            <a:endParaRPr lang="en-CA" dirty="0"/>
          </a:p>
          <a:p>
            <a:r>
              <a:rPr lang="en-CA" dirty="0"/>
              <a:t>Tiles: recursive splits of a unit square, alternating H, V</a:t>
            </a:r>
          </a:p>
          <a:p>
            <a:endParaRPr lang="en-CA" dirty="0"/>
          </a:p>
          <a:p>
            <a:r>
              <a:rPr lang="en-CA" dirty="0"/>
              <a:t>V</a:t>
            </a:r>
            <a:r>
              <a:rPr lang="en-CA" baseline="-25000" dirty="0"/>
              <a:t>1</a:t>
            </a:r>
            <a:r>
              <a:rPr lang="en-CA" dirty="0"/>
              <a:t>: width ~ marginal frequencies, n </a:t>
            </a:r>
            <a:r>
              <a:rPr lang="en-CA" baseline="-25000" dirty="0" err="1"/>
              <a:t>i</a:t>
            </a:r>
            <a:r>
              <a:rPr lang="en-CA" baseline="-25000" dirty="0"/>
              <a:t>++</a:t>
            </a:r>
          </a:p>
          <a:p>
            <a:r>
              <a:rPr lang="en-CA" dirty="0"/>
              <a:t>V</a:t>
            </a:r>
            <a:r>
              <a:rPr lang="en-CA" baseline="-25000" dirty="0"/>
              <a:t>2</a:t>
            </a:r>
            <a:r>
              <a:rPr lang="en-CA" dirty="0"/>
              <a:t>: height ~ </a:t>
            </a:r>
            <a:r>
              <a:rPr lang="en-CA" dirty="0" err="1"/>
              <a:t>cond</a:t>
            </a:r>
            <a:r>
              <a:rPr lang="en-CA" dirty="0"/>
              <a:t> </a:t>
            </a:r>
            <a:r>
              <a:rPr lang="en-CA" dirty="0" err="1"/>
              <a:t>freq</a:t>
            </a:r>
            <a:r>
              <a:rPr lang="en-CA" dirty="0"/>
              <a:t>:  V</a:t>
            </a:r>
            <a:r>
              <a:rPr lang="en-CA" baseline="-25000" dirty="0"/>
              <a:t>2</a:t>
            </a:r>
            <a:r>
              <a:rPr lang="en-CA" dirty="0"/>
              <a:t>| V</a:t>
            </a:r>
            <a:r>
              <a:rPr lang="en-CA" baseline="-25000" dirty="0"/>
              <a:t>1 </a:t>
            </a:r>
            <a:r>
              <a:rPr lang="en-CA" dirty="0"/>
              <a:t>= </a:t>
            </a:r>
            <a:r>
              <a:rPr lang="en-CA" dirty="0" err="1"/>
              <a:t>n</a:t>
            </a:r>
            <a:r>
              <a:rPr lang="en-CA" baseline="-25000" dirty="0" err="1"/>
              <a:t>ij</a:t>
            </a:r>
            <a:r>
              <a:rPr lang="en-CA" dirty="0"/>
              <a:t> / </a:t>
            </a:r>
            <a:r>
              <a:rPr lang="en-CA" dirty="0" err="1"/>
              <a:t>n</a:t>
            </a:r>
            <a:r>
              <a:rPr lang="en-CA" baseline="-25000" dirty="0" err="1"/>
              <a:t>i</a:t>
            </a:r>
            <a:r>
              <a:rPr lang="en-CA" baseline="-25000" dirty="0"/>
              <a:t>++</a:t>
            </a:r>
          </a:p>
          <a:p>
            <a:r>
              <a:rPr lang="en-CA" dirty="0">
                <a:solidFill>
                  <a:schemeClr val="bg1">
                    <a:lumMod val="65000"/>
                  </a:schemeClr>
                </a:solidFill>
              </a:rPr>
              <a:t>V</a:t>
            </a:r>
            <a:r>
              <a:rPr lang="en-CA" baseline="-25000" dirty="0">
                <a:solidFill>
                  <a:schemeClr val="bg1">
                    <a:lumMod val="65000"/>
                  </a:schemeClr>
                </a:solidFill>
              </a:rPr>
              <a:t>3</a:t>
            </a:r>
            <a:r>
              <a:rPr lang="en-CA" dirty="0">
                <a:solidFill>
                  <a:schemeClr val="bg1">
                    <a:lumMod val="65000"/>
                  </a:schemeClr>
                </a:solidFill>
              </a:rPr>
              <a:t>: width ~ </a:t>
            </a:r>
            <a:r>
              <a:rPr lang="en-CA" dirty="0" err="1">
                <a:solidFill>
                  <a:schemeClr val="bg1">
                    <a:lumMod val="65000"/>
                  </a:schemeClr>
                </a:solidFill>
              </a:rPr>
              <a:t>cond</a:t>
            </a:r>
            <a:r>
              <a:rPr lang="en-CA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CA" dirty="0" err="1">
                <a:solidFill>
                  <a:schemeClr val="bg1">
                    <a:lumMod val="65000"/>
                  </a:schemeClr>
                </a:solidFill>
              </a:rPr>
              <a:t>freq</a:t>
            </a:r>
            <a:r>
              <a:rPr lang="en-CA" dirty="0">
                <a:solidFill>
                  <a:schemeClr val="bg1">
                    <a:lumMod val="65000"/>
                  </a:schemeClr>
                </a:solidFill>
              </a:rPr>
              <a:t>: V</a:t>
            </a:r>
            <a:r>
              <a:rPr lang="en-CA" baseline="-25000" dirty="0">
                <a:solidFill>
                  <a:schemeClr val="bg1">
                    <a:lumMod val="65000"/>
                  </a:schemeClr>
                </a:solidFill>
              </a:rPr>
              <a:t>3</a:t>
            </a:r>
            <a:r>
              <a:rPr lang="en-CA" dirty="0">
                <a:solidFill>
                  <a:schemeClr val="bg1">
                    <a:lumMod val="65000"/>
                  </a:schemeClr>
                </a:solidFill>
              </a:rPr>
              <a:t> | V</a:t>
            </a:r>
            <a:r>
              <a:rPr lang="en-CA" baseline="-25000" dirty="0">
                <a:solidFill>
                  <a:schemeClr val="bg1">
                    <a:lumMod val="65000"/>
                  </a:schemeClr>
                </a:solidFill>
              </a:rPr>
              <a:t>1</a:t>
            </a:r>
            <a:r>
              <a:rPr lang="en-CA" dirty="0">
                <a:solidFill>
                  <a:schemeClr val="bg1">
                    <a:lumMod val="65000"/>
                  </a:schemeClr>
                </a:solidFill>
              </a:rPr>
              <a:t>, V</a:t>
            </a:r>
            <a:r>
              <a:rPr lang="en-CA" baseline="-25000" dirty="0">
                <a:solidFill>
                  <a:schemeClr val="bg1">
                    <a:lumMod val="65000"/>
                  </a:schemeClr>
                </a:solidFill>
              </a:rPr>
              <a:t>2</a:t>
            </a:r>
            <a:r>
              <a:rPr lang="en-CA" dirty="0">
                <a:solidFill>
                  <a:schemeClr val="bg1">
                    <a:lumMod val="65000"/>
                  </a:schemeClr>
                </a:solidFill>
              </a:rPr>
              <a:t> = </a:t>
            </a:r>
            <a:r>
              <a:rPr lang="en-CA" dirty="0" err="1">
                <a:solidFill>
                  <a:schemeClr val="bg1">
                    <a:lumMod val="65000"/>
                  </a:schemeClr>
                </a:solidFill>
              </a:rPr>
              <a:t>n</a:t>
            </a:r>
            <a:r>
              <a:rPr lang="en-CA" baseline="-25000" dirty="0" err="1">
                <a:solidFill>
                  <a:schemeClr val="bg1">
                    <a:lumMod val="65000"/>
                  </a:schemeClr>
                </a:solidFill>
              </a:rPr>
              <a:t>ikj</a:t>
            </a:r>
            <a:r>
              <a:rPr lang="en-CA" dirty="0">
                <a:solidFill>
                  <a:schemeClr val="bg1">
                    <a:lumMod val="65000"/>
                  </a:schemeClr>
                </a:solidFill>
              </a:rPr>
              <a:t> / </a:t>
            </a:r>
            <a:r>
              <a:rPr lang="en-CA" dirty="0" err="1">
                <a:solidFill>
                  <a:schemeClr val="bg1">
                    <a:lumMod val="65000"/>
                  </a:schemeClr>
                </a:solidFill>
              </a:rPr>
              <a:t>n</a:t>
            </a:r>
            <a:r>
              <a:rPr lang="en-CA" baseline="-25000" dirty="0" err="1">
                <a:solidFill>
                  <a:schemeClr val="bg1">
                    <a:lumMod val="65000"/>
                  </a:schemeClr>
                </a:solidFill>
              </a:rPr>
              <a:t>ij</a:t>
            </a:r>
            <a:r>
              <a:rPr lang="en-CA" baseline="-25000" dirty="0">
                <a:solidFill>
                  <a:schemeClr val="bg1">
                    <a:lumMod val="65000"/>
                  </a:schemeClr>
                </a:solidFill>
              </a:rPr>
              <a:t>+</a:t>
            </a:r>
          </a:p>
          <a:p>
            <a:endParaRPr lang="en-CA" dirty="0">
              <a:solidFill>
                <a:schemeClr val="bg1">
                  <a:lumMod val="65000"/>
                </a:schemeClr>
              </a:solidFill>
            </a:endParaRPr>
          </a:p>
          <a:p>
            <a:r>
              <a:rPr lang="en-CA" dirty="0">
                <a:solidFill>
                  <a:schemeClr val="bg1">
                    <a:lumMod val="65000"/>
                  </a:schemeClr>
                </a:solidFill>
                <a:sym typeface="Symbol" panose="05050102010706020507" pitchFamily="18" charset="2"/>
              </a:rPr>
              <a:t> Area ~ cell frequency, </a:t>
            </a:r>
            <a:r>
              <a:rPr lang="en-CA" dirty="0" err="1">
                <a:solidFill>
                  <a:schemeClr val="bg1">
                    <a:lumMod val="65000"/>
                  </a:schemeClr>
                </a:solidFill>
                <a:sym typeface="Symbol" panose="05050102010706020507" pitchFamily="18" charset="2"/>
              </a:rPr>
              <a:t>n</a:t>
            </a:r>
            <a:r>
              <a:rPr lang="en-CA" baseline="-25000" dirty="0" err="1">
                <a:solidFill>
                  <a:schemeClr val="bg1">
                    <a:lumMod val="65000"/>
                  </a:schemeClr>
                </a:solidFill>
                <a:sym typeface="Symbol" panose="05050102010706020507" pitchFamily="18" charset="2"/>
              </a:rPr>
              <a:t>ijk</a:t>
            </a:r>
            <a:endParaRPr lang="en-CA" baseline="-25000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83013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788D6B-2E52-BC93-6E38-F43814457B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Mosaic displays: basic ideas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9F7A1F-7444-211D-A639-5ABFD6F14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6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25B5D10-180D-F8F7-24DB-3880F45D31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194560"/>
            <a:ext cx="4095238" cy="409523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C07EC0A-F265-BDBD-3647-8D53E19DE0EC}"/>
              </a:ext>
            </a:extLst>
          </p:cNvPr>
          <p:cNvSpPr txBox="1"/>
          <p:nvPr/>
        </p:nvSpPr>
        <p:spPr>
          <a:xfrm>
            <a:off x="4572000" y="1564192"/>
            <a:ext cx="40952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CA" sz="2000" dirty="0"/>
              <a:t>Gender  x Admit x Dept frequencies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DC8DF39-0884-A464-46A3-39C89A3E580C}"/>
              </a:ext>
            </a:extLst>
          </p:cNvPr>
          <p:cNvSpPr txBox="1"/>
          <p:nvPr/>
        </p:nvSpPr>
        <p:spPr>
          <a:xfrm>
            <a:off x="476762" y="2514552"/>
            <a:ext cx="4191000" cy="32008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000" dirty="0"/>
              <a:t>Area proportional display for an </a:t>
            </a:r>
            <a:r>
              <a:rPr lang="en-CA" sz="2000" i="1" dirty="0"/>
              <a:t>n</a:t>
            </a:r>
            <a:r>
              <a:rPr lang="en-CA" sz="2000" dirty="0"/>
              <a:t>-way table</a:t>
            </a:r>
          </a:p>
          <a:p>
            <a:endParaRPr lang="en-CA" dirty="0"/>
          </a:p>
          <a:p>
            <a:r>
              <a:rPr lang="en-CA" dirty="0"/>
              <a:t>Tiles: recursive splits of a unit square, alternating H, V</a:t>
            </a:r>
          </a:p>
          <a:p>
            <a:endParaRPr lang="en-CA" dirty="0"/>
          </a:p>
          <a:p>
            <a:r>
              <a:rPr lang="en-CA" dirty="0"/>
              <a:t>V</a:t>
            </a:r>
            <a:r>
              <a:rPr lang="en-CA" baseline="-25000" dirty="0"/>
              <a:t>1</a:t>
            </a:r>
            <a:r>
              <a:rPr lang="en-CA" dirty="0"/>
              <a:t>: width ~ marginal frequencies, n </a:t>
            </a:r>
            <a:r>
              <a:rPr lang="en-CA" baseline="-25000" dirty="0" err="1"/>
              <a:t>i</a:t>
            </a:r>
            <a:r>
              <a:rPr lang="en-CA" baseline="-25000" dirty="0"/>
              <a:t>++</a:t>
            </a:r>
          </a:p>
          <a:p>
            <a:r>
              <a:rPr lang="en-CA" dirty="0"/>
              <a:t>V</a:t>
            </a:r>
            <a:r>
              <a:rPr lang="en-CA" baseline="-25000" dirty="0"/>
              <a:t>2</a:t>
            </a:r>
            <a:r>
              <a:rPr lang="en-CA" dirty="0"/>
              <a:t>: height ~ </a:t>
            </a:r>
            <a:r>
              <a:rPr lang="en-CA" dirty="0" err="1"/>
              <a:t>cond</a:t>
            </a:r>
            <a:r>
              <a:rPr lang="en-CA" dirty="0"/>
              <a:t> </a:t>
            </a:r>
            <a:r>
              <a:rPr lang="en-CA" dirty="0" err="1"/>
              <a:t>freq</a:t>
            </a:r>
            <a:r>
              <a:rPr lang="en-CA" dirty="0"/>
              <a:t>:  V</a:t>
            </a:r>
            <a:r>
              <a:rPr lang="en-CA" baseline="-25000" dirty="0"/>
              <a:t>2</a:t>
            </a:r>
            <a:r>
              <a:rPr lang="en-CA" dirty="0"/>
              <a:t>| V</a:t>
            </a:r>
            <a:r>
              <a:rPr lang="en-CA" baseline="-25000" dirty="0"/>
              <a:t>1 </a:t>
            </a:r>
            <a:r>
              <a:rPr lang="en-CA" dirty="0"/>
              <a:t>= </a:t>
            </a:r>
            <a:r>
              <a:rPr lang="en-CA" dirty="0" err="1"/>
              <a:t>n</a:t>
            </a:r>
            <a:r>
              <a:rPr lang="en-CA" baseline="-25000" dirty="0" err="1"/>
              <a:t>ij</a:t>
            </a:r>
            <a:r>
              <a:rPr lang="en-CA" dirty="0"/>
              <a:t> / </a:t>
            </a:r>
            <a:r>
              <a:rPr lang="en-CA" dirty="0" err="1"/>
              <a:t>n</a:t>
            </a:r>
            <a:r>
              <a:rPr lang="en-CA" baseline="-25000" dirty="0" err="1"/>
              <a:t>i</a:t>
            </a:r>
            <a:r>
              <a:rPr lang="en-CA" baseline="-25000" dirty="0"/>
              <a:t>++</a:t>
            </a:r>
          </a:p>
          <a:p>
            <a:r>
              <a:rPr lang="en-CA" dirty="0"/>
              <a:t>V</a:t>
            </a:r>
            <a:r>
              <a:rPr lang="en-CA" baseline="-25000" dirty="0"/>
              <a:t>3</a:t>
            </a:r>
            <a:r>
              <a:rPr lang="en-CA" dirty="0"/>
              <a:t>: width ~ </a:t>
            </a:r>
            <a:r>
              <a:rPr lang="en-CA" dirty="0" err="1"/>
              <a:t>cond</a:t>
            </a:r>
            <a:r>
              <a:rPr lang="en-CA" dirty="0"/>
              <a:t> </a:t>
            </a:r>
            <a:r>
              <a:rPr lang="en-CA" dirty="0" err="1"/>
              <a:t>freq</a:t>
            </a:r>
            <a:r>
              <a:rPr lang="en-CA" dirty="0"/>
              <a:t>: V</a:t>
            </a:r>
            <a:r>
              <a:rPr lang="en-CA" baseline="-25000" dirty="0"/>
              <a:t>3</a:t>
            </a:r>
            <a:r>
              <a:rPr lang="en-CA" dirty="0"/>
              <a:t> | V</a:t>
            </a:r>
            <a:r>
              <a:rPr lang="en-CA" baseline="-25000" dirty="0"/>
              <a:t>1</a:t>
            </a:r>
            <a:r>
              <a:rPr lang="en-CA" dirty="0"/>
              <a:t>, V</a:t>
            </a:r>
            <a:r>
              <a:rPr lang="en-CA" baseline="-25000" dirty="0"/>
              <a:t>2</a:t>
            </a:r>
            <a:r>
              <a:rPr lang="en-CA" dirty="0"/>
              <a:t> = </a:t>
            </a:r>
            <a:r>
              <a:rPr lang="en-CA" dirty="0" err="1"/>
              <a:t>n</a:t>
            </a:r>
            <a:r>
              <a:rPr lang="en-CA" baseline="-25000" dirty="0" err="1"/>
              <a:t>ikj</a:t>
            </a:r>
            <a:r>
              <a:rPr lang="en-CA" dirty="0"/>
              <a:t> / </a:t>
            </a:r>
            <a:r>
              <a:rPr lang="en-CA" dirty="0" err="1"/>
              <a:t>n</a:t>
            </a:r>
            <a:r>
              <a:rPr lang="en-CA" baseline="-25000" dirty="0" err="1"/>
              <a:t>ij</a:t>
            </a:r>
            <a:r>
              <a:rPr lang="en-CA" baseline="-25000" dirty="0"/>
              <a:t>+</a:t>
            </a:r>
          </a:p>
          <a:p>
            <a:endParaRPr lang="en-CA" dirty="0"/>
          </a:p>
          <a:p>
            <a:r>
              <a:rPr lang="en-CA" dirty="0">
                <a:sym typeface="Symbol" panose="05050102010706020507" pitchFamily="18" charset="2"/>
              </a:rPr>
              <a:t> Area ~ cell frequency, </a:t>
            </a:r>
            <a:r>
              <a:rPr lang="en-CA" dirty="0" err="1">
                <a:sym typeface="Symbol" panose="05050102010706020507" pitchFamily="18" charset="2"/>
              </a:rPr>
              <a:t>n</a:t>
            </a:r>
            <a:r>
              <a:rPr lang="en-CA" baseline="-25000" dirty="0" err="1">
                <a:sym typeface="Symbol" panose="05050102010706020507" pitchFamily="18" charset="2"/>
              </a:rPr>
              <a:t>ijk</a:t>
            </a:r>
            <a:endParaRPr lang="en-CA" baseline="-25000" dirty="0"/>
          </a:p>
        </p:txBody>
      </p:sp>
    </p:spTree>
    <p:extLst>
      <p:ext uri="{BB962C8B-B14F-4D97-AF65-F5344CB8AC3E}">
        <p14:creationId xmlns:p14="http://schemas.microsoft.com/office/powerpoint/2010/main" val="40933364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F7AC69-58C5-2420-4C0F-7015982EED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Mosaic displays: Independence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074073F-5357-31F6-43C2-A9316F6D35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7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F6A5C27-6B65-DF33-2EEF-37B4F49CA3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194560"/>
            <a:ext cx="4191363" cy="419136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40DBBE8-EFC4-20A2-08E9-7A1945606999}"/>
              </a:ext>
            </a:extLst>
          </p:cNvPr>
          <p:cNvSpPr txBox="1"/>
          <p:nvPr/>
        </p:nvSpPr>
        <p:spPr>
          <a:xfrm>
            <a:off x="3581400" y="1494221"/>
            <a:ext cx="52124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CA" sz="2000" dirty="0"/>
              <a:t>Expected frequencies if Admit </a:t>
            </a:r>
            <a:r>
              <a:rPr lang="en-CA" sz="2000" dirty="0">
                <a:sym typeface="Symbol" panose="05050102010706020507" pitchFamily="18" charset="2"/>
              </a:rPr>
              <a:t> Gender</a:t>
            </a:r>
            <a:endParaRPr lang="en-CA" sz="2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8DD9D1D-DA6E-5905-5333-C987D015FDFB}"/>
              </a:ext>
            </a:extLst>
          </p:cNvPr>
          <p:cNvSpPr txBox="1"/>
          <p:nvPr/>
        </p:nvSpPr>
        <p:spPr>
          <a:xfrm>
            <a:off x="685800" y="2362200"/>
            <a:ext cx="3886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Expected frequencies under independence are products of the row / col margins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F833B28-B240-6403-8652-EC53C64E63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500155"/>
            <a:ext cx="3535986" cy="70872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A18F549-E293-BAB7-1515-3213E1D43CD1}"/>
              </a:ext>
            </a:extLst>
          </p:cNvPr>
          <p:cNvSpPr txBox="1"/>
          <p:nvPr/>
        </p:nvSpPr>
        <p:spPr>
          <a:xfrm>
            <a:off x="685800" y="4876800"/>
            <a:ext cx="3429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sym typeface="Symbol" panose="05050102010706020507" pitchFamily="18" charset="2"/>
              </a:rPr>
              <a:t> Row and col tiles align when variables are independent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8020200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E9DDEE-4A60-B6BD-98C5-51A71358F5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Mosaic displays: Residuals &amp; shading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B12F1E3-9D10-B91D-6AD2-6AE1DF683A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8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E1D07A4-0AB5-DE3D-8AAA-1FC766C314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481" y="1691232"/>
            <a:ext cx="8055038" cy="4709568"/>
          </a:xfrm>
          <a:prstGeom prst="rect">
            <a:avLst/>
          </a:prstGeom>
        </p:spPr>
      </p:pic>
      <p:pic>
        <p:nvPicPr>
          <p:cNvPr id="4" name="Picture 3" descr="A yellow light bulb with rays of light coming out of it&#10;&#10;AI-generated content may be incorrect.">
            <a:extLst>
              <a:ext uri="{FF2B5EF4-FFF2-40B4-BE49-F238E27FC236}">
                <a16:creationId xmlns:a16="http://schemas.microsoft.com/office/drawing/2014/main" id="{85B2E0CD-7E7A-44BB-434B-DFC6727A41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008434"/>
            <a:ext cx="550117" cy="55011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CC40D3A-8EEA-C65E-4906-C0724862F466}"/>
              </a:ext>
            </a:extLst>
          </p:cNvPr>
          <p:cNvSpPr txBox="1"/>
          <p:nvPr/>
        </p:nvSpPr>
        <p:spPr>
          <a:xfrm>
            <a:off x="1143000" y="1143000"/>
            <a:ext cx="7543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Idea: Color-encode the mosaic tiles to show the deviations from independence</a:t>
            </a:r>
          </a:p>
        </p:txBody>
      </p:sp>
    </p:spTree>
    <p:extLst>
      <p:ext uri="{BB962C8B-B14F-4D97-AF65-F5344CB8AC3E}">
        <p14:creationId xmlns:p14="http://schemas.microsoft.com/office/powerpoint/2010/main" val="41004673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8CCA8E-A63B-C5EA-AB31-A16C2B2C3E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7010400" cy="715962"/>
          </a:xfrm>
        </p:spPr>
        <p:txBody>
          <a:bodyPr>
            <a:normAutofit fontScale="90000"/>
          </a:bodyPr>
          <a:lstStyle/>
          <a:p>
            <a:r>
              <a:rPr lang="en-CA" dirty="0"/>
              <a:t>History corner: von Mayr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4F5571C-07B5-2B86-2D6B-E05BBC3696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9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616F4BA-55F5-EF66-3ACC-A269BD413B78}"/>
              </a:ext>
            </a:extLst>
          </p:cNvPr>
          <p:cNvSpPr txBox="1"/>
          <p:nvPr/>
        </p:nvSpPr>
        <p:spPr>
          <a:xfrm>
            <a:off x="457200" y="1143000"/>
            <a:ext cx="822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Georg von Mayr (1877) was the first to suggest an area-proportional display for two categorical variables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A146735-5A5D-411C-6318-238695982CA5}"/>
              </a:ext>
            </a:extLst>
          </p:cNvPr>
          <p:cNvSpPr txBox="1"/>
          <p:nvPr/>
        </p:nvSpPr>
        <p:spPr>
          <a:xfrm>
            <a:off x="5486400" y="2057400"/>
            <a:ext cx="32004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Total count = 1000</a:t>
            </a:r>
          </a:p>
          <a:p>
            <a:endParaRPr lang="en-CA" dirty="0"/>
          </a:p>
          <a:p>
            <a:r>
              <a:rPr lang="en-CA" dirty="0"/>
              <a:t>Divided into (cows, pigs, sheep?)</a:t>
            </a:r>
          </a:p>
          <a:p>
            <a:r>
              <a:rPr lang="en-CA" dirty="0">
                <a:solidFill>
                  <a:srgbClr val="FF0000"/>
                </a:solidFill>
              </a:rPr>
              <a:t>A</a:t>
            </a:r>
            <a:r>
              <a:rPr lang="en-CA" dirty="0"/>
              <a:t> = 600, B= 300, C= 100)</a:t>
            </a:r>
          </a:p>
          <a:p>
            <a:endParaRPr lang="en-CA" dirty="0"/>
          </a:p>
          <a:p>
            <a:r>
              <a:rPr lang="en-CA" dirty="0"/>
              <a:t>Each of these sub-divided by a  2</a:t>
            </a:r>
            <a:r>
              <a:rPr lang="en-CA" baseline="30000" dirty="0"/>
              <a:t>nd</a:t>
            </a:r>
            <a:r>
              <a:rPr lang="en-CA" dirty="0"/>
              <a:t> variable (region: </a:t>
            </a:r>
            <a:r>
              <a:rPr lang="en-CA" dirty="0">
                <a:solidFill>
                  <a:schemeClr val="tx2">
                    <a:lumMod val="60000"/>
                    <a:lumOff val="40000"/>
                  </a:schemeClr>
                </a:solidFill>
              </a:rPr>
              <a:t>a</a:t>
            </a:r>
            <a:r>
              <a:rPr lang="en-CA" dirty="0"/>
              <a:t>, b, c)</a:t>
            </a:r>
          </a:p>
          <a:p>
            <a:endParaRPr lang="en-CA" dirty="0"/>
          </a:p>
          <a:p>
            <a:r>
              <a:rPr lang="en-CA" dirty="0"/>
              <a:t>The name: “bottle diagram with double divisions” suggests further splits </a:t>
            </a:r>
          </a:p>
        </p:txBody>
      </p:sp>
      <p:pic>
        <p:nvPicPr>
          <p:cNvPr id="9" name="Picture 8" descr="A picture containing person, person, wall, wearing&#10;&#10;Description automatically generated">
            <a:extLst>
              <a:ext uri="{FF2B5EF4-FFF2-40B4-BE49-F238E27FC236}">
                <a16:creationId xmlns:a16="http://schemas.microsoft.com/office/drawing/2014/main" id="{1092CA73-5732-D1B0-47F4-2747D60BEA6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6200" y="204080"/>
            <a:ext cx="761847" cy="85707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DCDFFCF-CCCB-091D-881A-4415EBF339B1}"/>
              </a:ext>
            </a:extLst>
          </p:cNvPr>
          <p:cNvSpPr txBox="1"/>
          <p:nvPr/>
        </p:nvSpPr>
        <p:spPr>
          <a:xfrm>
            <a:off x="5486400" y="5715000"/>
            <a:ext cx="3200400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100" dirty="0"/>
              <a:t>See: Friendly (2002), “A Brief History of the Mosaic Display”, </a:t>
            </a:r>
            <a:r>
              <a:rPr lang="en-CA" sz="1100" i="1" dirty="0"/>
              <a:t>JCGS</a:t>
            </a:r>
            <a:r>
              <a:rPr lang="en-CA" sz="1100" dirty="0"/>
              <a:t>, 11:1,89-107, </a:t>
            </a:r>
            <a:r>
              <a:rPr lang="en-CA" sz="1100" dirty="0">
                <a:hlinkClick r:id="rId3"/>
              </a:rPr>
              <a:t>http://dx.doi.org/10.1198/106186002317375631</a:t>
            </a:r>
            <a:r>
              <a:rPr lang="en-CA" sz="1100" dirty="0"/>
              <a:t> </a:t>
            </a:r>
          </a:p>
        </p:txBody>
      </p:sp>
      <p:pic>
        <p:nvPicPr>
          <p:cNvPr id="8" name="Picture 7" descr="A picture containing letter&#10;&#10;Description automatically generated">
            <a:extLst>
              <a:ext uri="{FF2B5EF4-FFF2-40B4-BE49-F238E27FC236}">
                <a16:creationId xmlns:a16="http://schemas.microsoft.com/office/drawing/2014/main" id="{48A1F324-E776-4C8A-2126-A8F246A5F14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940" y="1828800"/>
            <a:ext cx="5011060" cy="484632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7A7390A3-3928-C42E-C509-4BCAEAE43898}"/>
              </a:ext>
            </a:extLst>
          </p:cNvPr>
          <p:cNvSpPr/>
          <p:nvPr/>
        </p:nvSpPr>
        <p:spPr>
          <a:xfrm>
            <a:off x="1295400" y="2362200"/>
            <a:ext cx="1828800" cy="3048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E06470C-2CA7-080D-E24E-FA07EECB9B0B}"/>
              </a:ext>
            </a:extLst>
          </p:cNvPr>
          <p:cNvSpPr/>
          <p:nvPr/>
        </p:nvSpPr>
        <p:spPr>
          <a:xfrm>
            <a:off x="1295400" y="3733800"/>
            <a:ext cx="1828800" cy="167640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945476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2DF97B-1E44-0A79-6409-D32F962DE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History corner: Minard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171FE7-50C2-C569-3316-5E770B6B5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10</a:t>
            </a:fld>
            <a:endParaRPr lang="en-US"/>
          </a:p>
        </p:txBody>
      </p:sp>
      <p:pic>
        <p:nvPicPr>
          <p:cNvPr id="5" name="Picture 4" descr="Timeline&#10;&#10;Description automatically generated">
            <a:extLst>
              <a:ext uri="{FF2B5EF4-FFF2-40B4-BE49-F238E27FC236}">
                <a16:creationId xmlns:a16="http://schemas.microsoft.com/office/drawing/2014/main" id="{4A5CC220-F02C-3A76-3DF1-0D79B9E0790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2600" y="2547053"/>
            <a:ext cx="5257800" cy="417442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DB61ABF-64A3-1187-3676-0644358F3B4C}"/>
              </a:ext>
            </a:extLst>
          </p:cNvPr>
          <p:cNvSpPr txBox="1"/>
          <p:nvPr/>
        </p:nvSpPr>
        <p:spPr>
          <a:xfrm>
            <a:off x="457200" y="1143000"/>
            <a:ext cx="8229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Charles Joseph Minard used an early form of an area-proportional plot to show the  value of transport of goods along the Canal du Centre, from Chalon to Dijon.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Width ~ distance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Height ~ amount of goods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C098AF2-9C93-4711-CF4F-728082DD2B99}"/>
              </a:ext>
            </a:extLst>
          </p:cNvPr>
          <p:cNvSpPr txBox="1"/>
          <p:nvPr/>
        </p:nvSpPr>
        <p:spPr>
          <a:xfrm>
            <a:off x="4114800" y="1816541"/>
            <a:ext cx="3200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sym typeface="Symbol" panose="05050102010706020507" pitchFamily="18" charset="2"/>
              </a:rPr>
              <a:t> </a:t>
            </a:r>
            <a:r>
              <a:rPr lang="en-CA" dirty="0"/>
              <a:t>Value = distance × amount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4CEB63-9C20-C24B-B3D9-2FDD5772B896}"/>
              </a:ext>
            </a:extLst>
          </p:cNvPr>
          <p:cNvSpPr/>
          <p:nvPr/>
        </p:nvSpPr>
        <p:spPr>
          <a:xfrm>
            <a:off x="4114800" y="1816541"/>
            <a:ext cx="3048000" cy="469459"/>
          </a:xfrm>
          <a:custGeom>
            <a:avLst/>
            <a:gdLst>
              <a:gd name="csX0" fmla="*/ 0 w 3048000"/>
              <a:gd name="csY0" fmla="*/ 0 h 469459"/>
              <a:gd name="csX1" fmla="*/ 477520 w 3048000"/>
              <a:gd name="csY1" fmla="*/ 0 h 469459"/>
              <a:gd name="csX2" fmla="*/ 894080 w 3048000"/>
              <a:gd name="csY2" fmla="*/ 0 h 469459"/>
              <a:gd name="csX3" fmla="*/ 1463040 w 3048000"/>
              <a:gd name="csY3" fmla="*/ 0 h 469459"/>
              <a:gd name="csX4" fmla="*/ 1940560 w 3048000"/>
              <a:gd name="csY4" fmla="*/ 0 h 469459"/>
              <a:gd name="csX5" fmla="*/ 2418080 w 3048000"/>
              <a:gd name="csY5" fmla="*/ 0 h 469459"/>
              <a:gd name="csX6" fmla="*/ 3048000 w 3048000"/>
              <a:gd name="csY6" fmla="*/ 0 h 469459"/>
              <a:gd name="csX7" fmla="*/ 3048000 w 3048000"/>
              <a:gd name="csY7" fmla="*/ 469459 h 469459"/>
              <a:gd name="csX8" fmla="*/ 2540000 w 3048000"/>
              <a:gd name="csY8" fmla="*/ 469459 h 469459"/>
              <a:gd name="csX9" fmla="*/ 2123440 w 3048000"/>
              <a:gd name="csY9" fmla="*/ 469459 h 469459"/>
              <a:gd name="csX10" fmla="*/ 1615440 w 3048000"/>
              <a:gd name="csY10" fmla="*/ 469459 h 469459"/>
              <a:gd name="csX11" fmla="*/ 1107440 w 3048000"/>
              <a:gd name="csY11" fmla="*/ 469459 h 469459"/>
              <a:gd name="csX12" fmla="*/ 629920 w 3048000"/>
              <a:gd name="csY12" fmla="*/ 469459 h 469459"/>
              <a:gd name="csX13" fmla="*/ 0 w 3048000"/>
              <a:gd name="csY13" fmla="*/ 469459 h 469459"/>
              <a:gd name="csX14" fmla="*/ 0 w 3048000"/>
              <a:gd name="csY14" fmla="*/ 0 h 46945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3048000" h="469459" extrusionOk="0">
                <a:moveTo>
                  <a:pt x="0" y="0"/>
                </a:moveTo>
                <a:cubicBezTo>
                  <a:pt x="218936" y="-48455"/>
                  <a:pt x="353700" y="19811"/>
                  <a:pt x="477520" y="0"/>
                </a:cubicBezTo>
                <a:cubicBezTo>
                  <a:pt x="601340" y="-19811"/>
                  <a:pt x="718346" y="9190"/>
                  <a:pt x="894080" y="0"/>
                </a:cubicBezTo>
                <a:cubicBezTo>
                  <a:pt x="1069814" y="-9190"/>
                  <a:pt x="1325697" y="44376"/>
                  <a:pt x="1463040" y="0"/>
                </a:cubicBezTo>
                <a:cubicBezTo>
                  <a:pt x="1600383" y="-44376"/>
                  <a:pt x="1806404" y="31567"/>
                  <a:pt x="1940560" y="0"/>
                </a:cubicBezTo>
                <a:cubicBezTo>
                  <a:pt x="2074716" y="-31567"/>
                  <a:pt x="2277687" y="38295"/>
                  <a:pt x="2418080" y="0"/>
                </a:cubicBezTo>
                <a:cubicBezTo>
                  <a:pt x="2558473" y="-38295"/>
                  <a:pt x="2885065" y="14589"/>
                  <a:pt x="3048000" y="0"/>
                </a:cubicBezTo>
                <a:cubicBezTo>
                  <a:pt x="3096722" y="112362"/>
                  <a:pt x="3002976" y="247353"/>
                  <a:pt x="3048000" y="469459"/>
                </a:cubicBezTo>
                <a:cubicBezTo>
                  <a:pt x="2847941" y="501674"/>
                  <a:pt x="2745989" y="464920"/>
                  <a:pt x="2540000" y="469459"/>
                </a:cubicBezTo>
                <a:cubicBezTo>
                  <a:pt x="2334011" y="473998"/>
                  <a:pt x="2301016" y="452360"/>
                  <a:pt x="2123440" y="469459"/>
                </a:cubicBezTo>
                <a:cubicBezTo>
                  <a:pt x="1945864" y="486558"/>
                  <a:pt x="1844645" y="410981"/>
                  <a:pt x="1615440" y="469459"/>
                </a:cubicBezTo>
                <a:cubicBezTo>
                  <a:pt x="1386235" y="527937"/>
                  <a:pt x="1259384" y="421505"/>
                  <a:pt x="1107440" y="469459"/>
                </a:cubicBezTo>
                <a:cubicBezTo>
                  <a:pt x="955496" y="517413"/>
                  <a:pt x="842762" y="433564"/>
                  <a:pt x="629920" y="469459"/>
                </a:cubicBezTo>
                <a:cubicBezTo>
                  <a:pt x="417078" y="505354"/>
                  <a:pt x="159257" y="463353"/>
                  <a:pt x="0" y="469459"/>
                </a:cubicBezTo>
                <a:cubicBezTo>
                  <a:pt x="-16522" y="246214"/>
                  <a:pt x="26224" y="171345"/>
                  <a:pt x="0" y="0"/>
                </a:cubicBezTo>
                <a:close/>
              </a:path>
            </a:pathLst>
          </a:custGeom>
          <a:noFill/>
          <a:ln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781481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7C0C8C-C29E-B33C-5341-3F717069A1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History corner: Francis Walker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E3DEFEE-2D1E-0CB0-0A9A-DB5EC9B826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11</a:t>
            </a:fld>
            <a:endParaRPr lang="en-US"/>
          </a:p>
        </p:txBody>
      </p:sp>
      <p:pic>
        <p:nvPicPr>
          <p:cNvPr id="5" name="Picture 4" descr="A picture containing text, toiletry, cosmetic&#10;&#10;Description automatically generated">
            <a:extLst>
              <a:ext uri="{FF2B5EF4-FFF2-40B4-BE49-F238E27FC236}">
                <a16:creationId xmlns:a16="http://schemas.microsoft.com/office/drawing/2014/main" id="{6CD00E7E-D703-48FC-C4BF-002D591430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2324509"/>
            <a:ext cx="5486400" cy="418582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509086D-4284-4C28-7F7F-E05E5DE1F8DE}"/>
              </a:ext>
            </a:extLst>
          </p:cNvPr>
          <p:cNvSpPr txBox="1"/>
          <p:nvPr/>
        </p:nvSpPr>
        <p:spPr>
          <a:xfrm>
            <a:off x="457200" y="1143000"/>
            <a:ext cx="8229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In the 1870 </a:t>
            </a:r>
            <a:r>
              <a:rPr lang="en-CA" i="1" dirty="0"/>
              <a:t>Statistical Album of the US Census</a:t>
            </a:r>
            <a:r>
              <a:rPr lang="en-CA" dirty="0"/>
              <a:t>, Francis Walker wanted to show the populations of the states as comprised of {foreign,  native colored, native white}</a:t>
            </a:r>
          </a:p>
          <a:p>
            <a:r>
              <a:rPr lang="en-CA" dirty="0"/>
              <a:t>and born {within, outside} their state of residence.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372ED8-52F5-1808-2C27-596558766605}"/>
              </a:ext>
            </a:extLst>
          </p:cNvPr>
          <p:cNvSpPr txBox="1"/>
          <p:nvPr/>
        </p:nvSpPr>
        <p:spPr>
          <a:xfrm>
            <a:off x="4800600" y="5743575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NY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73B6365-572D-6921-E7B4-CC9DD67A3667}"/>
              </a:ext>
            </a:extLst>
          </p:cNvPr>
          <p:cNvSpPr txBox="1"/>
          <p:nvPr/>
        </p:nvSpPr>
        <p:spPr>
          <a:xfrm>
            <a:off x="3352800" y="5743575"/>
            <a:ext cx="68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Penn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587C285-EFCB-A8B1-A239-59469211AA9B}"/>
              </a:ext>
            </a:extLst>
          </p:cNvPr>
          <p:cNvSpPr txBox="1"/>
          <p:nvPr/>
        </p:nvSpPr>
        <p:spPr>
          <a:xfrm>
            <a:off x="1905000" y="5743575"/>
            <a:ext cx="83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Ohio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3D7613A-D0DB-3B83-28C9-BB3F811474A1}"/>
              </a:ext>
            </a:extLst>
          </p:cNvPr>
          <p:cNvSpPr txBox="1"/>
          <p:nvPr/>
        </p:nvSpPr>
        <p:spPr>
          <a:xfrm>
            <a:off x="914400" y="5743575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Ill.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287965C-576A-E515-D202-895751469B80}"/>
              </a:ext>
            </a:extLst>
          </p:cNvPr>
          <p:cNvSpPr txBox="1"/>
          <p:nvPr/>
        </p:nvSpPr>
        <p:spPr>
          <a:xfrm>
            <a:off x="5029200" y="4800600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VA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B45762B-ADFA-4640-C350-BC9753634B6C}"/>
              </a:ext>
            </a:extLst>
          </p:cNvPr>
          <p:cNvSpPr txBox="1"/>
          <p:nvPr/>
        </p:nvSpPr>
        <p:spPr>
          <a:xfrm>
            <a:off x="4148137" y="4796988"/>
            <a:ext cx="8477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dirty="0" err="1"/>
              <a:t>Tenn</a:t>
            </a:r>
            <a:endParaRPr lang="en-CA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3AF9E1F-A8E9-76A9-3CC1-DA08607B7231}"/>
              </a:ext>
            </a:extLst>
          </p:cNvPr>
          <p:cNvSpPr txBox="1"/>
          <p:nvPr/>
        </p:nvSpPr>
        <p:spPr>
          <a:xfrm>
            <a:off x="5257800" y="3595522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CT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AA33F9D-784C-70AD-F0C2-F1A4147ECB7A}"/>
              </a:ext>
            </a:extLst>
          </p:cNvPr>
          <p:cNvSpPr txBox="1"/>
          <p:nvPr/>
        </p:nvSpPr>
        <p:spPr>
          <a:xfrm>
            <a:off x="5257800" y="3097359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Ark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7773EC9-34D7-40C0-D379-34A018502C8F}"/>
              </a:ext>
            </a:extLst>
          </p:cNvPr>
          <p:cNvSpPr txBox="1"/>
          <p:nvPr/>
        </p:nvSpPr>
        <p:spPr>
          <a:xfrm>
            <a:off x="4648200" y="3568846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CA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3C531BD-C4E3-C363-024F-36919F93D23F}"/>
              </a:ext>
            </a:extLst>
          </p:cNvPr>
          <p:cNvSpPr txBox="1"/>
          <p:nvPr/>
        </p:nvSpPr>
        <p:spPr>
          <a:xfrm>
            <a:off x="762000" y="3657342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Miss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53ECE35-D721-0DB0-7D1E-4A147F938C87}"/>
              </a:ext>
            </a:extLst>
          </p:cNvPr>
          <p:cNvSpPr txBox="1"/>
          <p:nvPr/>
        </p:nvSpPr>
        <p:spPr>
          <a:xfrm>
            <a:off x="762000" y="4225000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NJ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1B68A89-33D9-9194-7B9E-B05E09A172DC}"/>
              </a:ext>
            </a:extLst>
          </p:cNvPr>
          <p:cNvSpPr txBox="1"/>
          <p:nvPr/>
        </p:nvSpPr>
        <p:spPr>
          <a:xfrm>
            <a:off x="6172200" y="2438400"/>
            <a:ext cx="25146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States are ordered by total pop, shown by area</a:t>
            </a:r>
          </a:p>
          <a:p>
            <a:endParaRPr lang="en-CA" dirty="0"/>
          </a:p>
          <a:p>
            <a:r>
              <a:rPr lang="en-CA" dirty="0"/>
              <a:t>For each state, a small mosaic, supplemented by a marginal one (w/in, outside)</a:t>
            </a:r>
          </a:p>
        </p:txBody>
      </p:sp>
    </p:spTree>
    <p:extLst>
      <p:ext uri="{BB962C8B-B14F-4D97-AF65-F5344CB8AC3E}">
        <p14:creationId xmlns:p14="http://schemas.microsoft.com/office/powerpoint/2010/main" val="11967763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659A83-F5A1-4BD7-B3F7-FDDB530FAD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Mosaic cartograms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47E2B65-E158-40E1-A5DC-3F6DFA9F2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12</a:t>
            </a:fld>
            <a:endParaRPr lang="en-US"/>
          </a:p>
        </p:txBody>
      </p:sp>
      <p:pic>
        <p:nvPicPr>
          <p:cNvPr id="5" name="Picture 4" descr="Chart, treemap chart&#10;&#10;Description automatically generated">
            <a:extLst>
              <a:ext uri="{FF2B5EF4-FFF2-40B4-BE49-F238E27FC236}">
                <a16:creationId xmlns:a16="http://schemas.microsoft.com/office/drawing/2014/main" id="{432BF1AB-75F9-4EB1-AFAC-957098350E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5600" y="1151649"/>
            <a:ext cx="5894070" cy="528732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683CAEC-DA81-414F-A385-F92B0F5D9296}"/>
              </a:ext>
            </a:extLst>
          </p:cNvPr>
          <p:cNvSpPr txBox="1"/>
          <p:nvPr/>
        </p:nvSpPr>
        <p:spPr>
          <a:xfrm>
            <a:off x="457200" y="1295400"/>
            <a:ext cx="22098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US map provides a spatial framework for showing the distribution of categorical data</a:t>
            </a:r>
          </a:p>
          <a:p>
            <a:endParaRPr lang="en-US" dirty="0"/>
          </a:p>
          <a:p>
            <a:r>
              <a:rPr lang="en-US" dirty="0"/>
              <a:t>Each mosaic is positioned as in a schematic US map</a:t>
            </a:r>
          </a:p>
        </p:txBody>
      </p:sp>
    </p:spTree>
    <p:extLst>
      <p:ext uri="{BB962C8B-B14F-4D97-AF65-F5344CB8AC3E}">
        <p14:creationId xmlns:p14="http://schemas.microsoft.com/office/powerpoint/2010/main" val="33419537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A6D37EE4-EA1B-46EE-A54B-5233C63C96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288638-6B8B-0CBF-BDFF-BE08273EF1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369" y="238539"/>
            <a:ext cx="8285260" cy="1434415"/>
          </a:xfrm>
        </p:spPr>
        <p:txBody>
          <a:bodyPr anchor="b">
            <a:normAutofit/>
          </a:bodyPr>
          <a:lstStyle/>
          <a:p>
            <a:r>
              <a:rPr lang="en-CA" sz="4700"/>
              <a:t>Loglinear models: Perspectives</a:t>
            </a:r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927D5270-6648-4CC1-8F78-48BE299CAC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9369" y="1767709"/>
            <a:ext cx="8229600" cy="18288"/>
          </a:xfrm>
          <a:custGeom>
            <a:avLst/>
            <a:gdLst>
              <a:gd name="csX0" fmla="*/ 0 w 8229600"/>
              <a:gd name="csY0" fmla="*/ 0 h 18288"/>
              <a:gd name="csX1" fmla="*/ 521208 w 8229600"/>
              <a:gd name="csY1" fmla="*/ 0 h 18288"/>
              <a:gd name="csX2" fmla="*/ 1371600 w 8229600"/>
              <a:gd name="csY2" fmla="*/ 0 h 18288"/>
              <a:gd name="csX3" fmla="*/ 2221992 w 8229600"/>
              <a:gd name="csY3" fmla="*/ 0 h 18288"/>
              <a:gd name="csX4" fmla="*/ 3072384 w 8229600"/>
              <a:gd name="csY4" fmla="*/ 0 h 18288"/>
              <a:gd name="csX5" fmla="*/ 3511296 w 8229600"/>
              <a:gd name="csY5" fmla="*/ 0 h 18288"/>
              <a:gd name="csX6" fmla="*/ 4114800 w 8229600"/>
              <a:gd name="csY6" fmla="*/ 0 h 18288"/>
              <a:gd name="csX7" fmla="*/ 4553712 w 8229600"/>
              <a:gd name="csY7" fmla="*/ 0 h 18288"/>
              <a:gd name="csX8" fmla="*/ 5239512 w 8229600"/>
              <a:gd name="csY8" fmla="*/ 0 h 18288"/>
              <a:gd name="csX9" fmla="*/ 5843016 w 8229600"/>
              <a:gd name="csY9" fmla="*/ 0 h 18288"/>
              <a:gd name="csX10" fmla="*/ 6611112 w 8229600"/>
              <a:gd name="csY10" fmla="*/ 0 h 18288"/>
              <a:gd name="csX11" fmla="*/ 7461504 w 8229600"/>
              <a:gd name="csY11" fmla="*/ 0 h 18288"/>
              <a:gd name="csX12" fmla="*/ 8229600 w 8229600"/>
              <a:gd name="csY12" fmla="*/ 0 h 18288"/>
              <a:gd name="csX13" fmla="*/ 8229600 w 8229600"/>
              <a:gd name="csY13" fmla="*/ 18288 h 18288"/>
              <a:gd name="csX14" fmla="*/ 7461504 w 8229600"/>
              <a:gd name="csY14" fmla="*/ 18288 h 18288"/>
              <a:gd name="csX15" fmla="*/ 6940296 w 8229600"/>
              <a:gd name="csY15" fmla="*/ 18288 h 18288"/>
              <a:gd name="csX16" fmla="*/ 6419088 w 8229600"/>
              <a:gd name="csY16" fmla="*/ 18288 h 18288"/>
              <a:gd name="csX17" fmla="*/ 5650992 w 8229600"/>
              <a:gd name="csY17" fmla="*/ 18288 h 18288"/>
              <a:gd name="csX18" fmla="*/ 5129784 w 8229600"/>
              <a:gd name="csY18" fmla="*/ 18288 h 18288"/>
              <a:gd name="csX19" fmla="*/ 4690872 w 8229600"/>
              <a:gd name="csY19" fmla="*/ 18288 h 18288"/>
              <a:gd name="csX20" fmla="*/ 4087368 w 8229600"/>
              <a:gd name="csY20" fmla="*/ 18288 h 18288"/>
              <a:gd name="csX21" fmla="*/ 3401568 w 8229600"/>
              <a:gd name="csY21" fmla="*/ 18288 h 18288"/>
              <a:gd name="csX22" fmla="*/ 2798064 w 8229600"/>
              <a:gd name="csY22" fmla="*/ 18288 h 18288"/>
              <a:gd name="csX23" fmla="*/ 2276856 w 8229600"/>
              <a:gd name="csY23" fmla="*/ 18288 h 18288"/>
              <a:gd name="csX24" fmla="*/ 1426464 w 8229600"/>
              <a:gd name="csY24" fmla="*/ 18288 h 18288"/>
              <a:gd name="csX25" fmla="*/ 740664 w 8229600"/>
              <a:gd name="csY25" fmla="*/ 18288 h 18288"/>
              <a:gd name="csX26" fmla="*/ 0 w 8229600"/>
              <a:gd name="csY26" fmla="*/ 18288 h 18288"/>
              <a:gd name="csX27" fmla="*/ 0 w 8229600"/>
              <a:gd name="csY27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</a:cxnLst>
            <a:rect l="l" t="t" r="r" b="b"/>
            <a:pathLst>
              <a:path w="8229600" h="18288" fill="none" extrusionOk="0">
                <a:moveTo>
                  <a:pt x="0" y="0"/>
                </a:moveTo>
                <a:cubicBezTo>
                  <a:pt x="227594" y="-4267"/>
                  <a:pt x="329693" y="13251"/>
                  <a:pt x="521208" y="0"/>
                </a:cubicBezTo>
                <a:cubicBezTo>
                  <a:pt x="712723" y="-13251"/>
                  <a:pt x="1137373" y="-13618"/>
                  <a:pt x="1371600" y="0"/>
                </a:cubicBezTo>
                <a:cubicBezTo>
                  <a:pt x="1605827" y="13618"/>
                  <a:pt x="1975382" y="-27374"/>
                  <a:pt x="2221992" y="0"/>
                </a:cubicBezTo>
                <a:cubicBezTo>
                  <a:pt x="2468602" y="27374"/>
                  <a:pt x="2863316" y="-20517"/>
                  <a:pt x="3072384" y="0"/>
                </a:cubicBezTo>
                <a:cubicBezTo>
                  <a:pt x="3281452" y="20517"/>
                  <a:pt x="3331438" y="10793"/>
                  <a:pt x="3511296" y="0"/>
                </a:cubicBezTo>
                <a:cubicBezTo>
                  <a:pt x="3691154" y="-10793"/>
                  <a:pt x="3906405" y="-29737"/>
                  <a:pt x="4114800" y="0"/>
                </a:cubicBezTo>
                <a:cubicBezTo>
                  <a:pt x="4323195" y="29737"/>
                  <a:pt x="4428852" y="-2234"/>
                  <a:pt x="4553712" y="0"/>
                </a:cubicBezTo>
                <a:cubicBezTo>
                  <a:pt x="4678572" y="2234"/>
                  <a:pt x="5065629" y="29368"/>
                  <a:pt x="5239512" y="0"/>
                </a:cubicBezTo>
                <a:cubicBezTo>
                  <a:pt x="5413395" y="-29368"/>
                  <a:pt x="5703888" y="11839"/>
                  <a:pt x="5843016" y="0"/>
                </a:cubicBezTo>
                <a:cubicBezTo>
                  <a:pt x="5982144" y="-11839"/>
                  <a:pt x="6260765" y="24719"/>
                  <a:pt x="6611112" y="0"/>
                </a:cubicBezTo>
                <a:cubicBezTo>
                  <a:pt x="6961459" y="-24719"/>
                  <a:pt x="7228293" y="32959"/>
                  <a:pt x="7461504" y="0"/>
                </a:cubicBezTo>
                <a:cubicBezTo>
                  <a:pt x="7694715" y="-32959"/>
                  <a:pt x="7990029" y="-3422"/>
                  <a:pt x="8229600" y="0"/>
                </a:cubicBezTo>
                <a:cubicBezTo>
                  <a:pt x="8228940" y="5812"/>
                  <a:pt x="8229447" y="9773"/>
                  <a:pt x="8229600" y="18288"/>
                </a:cubicBezTo>
                <a:cubicBezTo>
                  <a:pt x="7940706" y="-9293"/>
                  <a:pt x="7792584" y="-16009"/>
                  <a:pt x="7461504" y="18288"/>
                </a:cubicBezTo>
                <a:cubicBezTo>
                  <a:pt x="7130424" y="52585"/>
                  <a:pt x="7080072" y="43845"/>
                  <a:pt x="6940296" y="18288"/>
                </a:cubicBezTo>
                <a:cubicBezTo>
                  <a:pt x="6800520" y="-7269"/>
                  <a:pt x="6672872" y="26671"/>
                  <a:pt x="6419088" y="18288"/>
                </a:cubicBezTo>
                <a:cubicBezTo>
                  <a:pt x="6165304" y="9905"/>
                  <a:pt x="5869721" y="4987"/>
                  <a:pt x="5650992" y="18288"/>
                </a:cubicBezTo>
                <a:cubicBezTo>
                  <a:pt x="5432263" y="31589"/>
                  <a:pt x="5308310" y="3023"/>
                  <a:pt x="5129784" y="18288"/>
                </a:cubicBezTo>
                <a:cubicBezTo>
                  <a:pt x="4951258" y="33553"/>
                  <a:pt x="4799696" y="15357"/>
                  <a:pt x="4690872" y="18288"/>
                </a:cubicBezTo>
                <a:cubicBezTo>
                  <a:pt x="4582048" y="21219"/>
                  <a:pt x="4311124" y="-7836"/>
                  <a:pt x="4087368" y="18288"/>
                </a:cubicBezTo>
                <a:cubicBezTo>
                  <a:pt x="3863612" y="44412"/>
                  <a:pt x="3730288" y="13374"/>
                  <a:pt x="3401568" y="18288"/>
                </a:cubicBezTo>
                <a:cubicBezTo>
                  <a:pt x="3072848" y="23202"/>
                  <a:pt x="3020684" y="32425"/>
                  <a:pt x="2798064" y="18288"/>
                </a:cubicBezTo>
                <a:cubicBezTo>
                  <a:pt x="2575444" y="4151"/>
                  <a:pt x="2440915" y="-7352"/>
                  <a:pt x="2276856" y="18288"/>
                </a:cubicBezTo>
                <a:cubicBezTo>
                  <a:pt x="2112797" y="43928"/>
                  <a:pt x="1726502" y="-9560"/>
                  <a:pt x="1426464" y="18288"/>
                </a:cubicBezTo>
                <a:cubicBezTo>
                  <a:pt x="1126426" y="46136"/>
                  <a:pt x="992925" y="21016"/>
                  <a:pt x="740664" y="18288"/>
                </a:cubicBezTo>
                <a:cubicBezTo>
                  <a:pt x="488403" y="15560"/>
                  <a:pt x="195650" y="-16061"/>
                  <a:pt x="0" y="18288"/>
                </a:cubicBezTo>
                <a:cubicBezTo>
                  <a:pt x="348" y="9455"/>
                  <a:pt x="654" y="3983"/>
                  <a:pt x="0" y="0"/>
                </a:cubicBezTo>
                <a:close/>
              </a:path>
              <a:path w="8229600" h="18288" stroke="0" extrusionOk="0">
                <a:moveTo>
                  <a:pt x="0" y="0"/>
                </a:moveTo>
                <a:cubicBezTo>
                  <a:pt x="259263" y="-9445"/>
                  <a:pt x="404731" y="4427"/>
                  <a:pt x="521208" y="0"/>
                </a:cubicBezTo>
                <a:cubicBezTo>
                  <a:pt x="637685" y="-4427"/>
                  <a:pt x="839187" y="564"/>
                  <a:pt x="960120" y="0"/>
                </a:cubicBezTo>
                <a:cubicBezTo>
                  <a:pt x="1081053" y="-564"/>
                  <a:pt x="1313469" y="-16481"/>
                  <a:pt x="1481328" y="0"/>
                </a:cubicBezTo>
                <a:cubicBezTo>
                  <a:pt x="1649187" y="16481"/>
                  <a:pt x="1885247" y="26161"/>
                  <a:pt x="2167128" y="0"/>
                </a:cubicBezTo>
                <a:cubicBezTo>
                  <a:pt x="2449009" y="-26161"/>
                  <a:pt x="2761875" y="-22202"/>
                  <a:pt x="2935224" y="0"/>
                </a:cubicBezTo>
                <a:cubicBezTo>
                  <a:pt x="3108573" y="22202"/>
                  <a:pt x="3540687" y="-2863"/>
                  <a:pt x="3785616" y="0"/>
                </a:cubicBezTo>
                <a:cubicBezTo>
                  <a:pt x="4030545" y="2863"/>
                  <a:pt x="4280774" y="-12442"/>
                  <a:pt x="4636008" y="0"/>
                </a:cubicBezTo>
                <a:cubicBezTo>
                  <a:pt x="4991242" y="12442"/>
                  <a:pt x="5025483" y="16914"/>
                  <a:pt x="5239512" y="0"/>
                </a:cubicBezTo>
                <a:cubicBezTo>
                  <a:pt x="5453541" y="-16914"/>
                  <a:pt x="5754008" y="16592"/>
                  <a:pt x="6007608" y="0"/>
                </a:cubicBezTo>
                <a:cubicBezTo>
                  <a:pt x="6261208" y="-16592"/>
                  <a:pt x="6407957" y="-11909"/>
                  <a:pt x="6693408" y="0"/>
                </a:cubicBezTo>
                <a:cubicBezTo>
                  <a:pt x="6978859" y="11909"/>
                  <a:pt x="7015437" y="-20890"/>
                  <a:pt x="7296912" y="0"/>
                </a:cubicBezTo>
                <a:cubicBezTo>
                  <a:pt x="7578387" y="20890"/>
                  <a:pt x="7859622" y="46406"/>
                  <a:pt x="8229600" y="0"/>
                </a:cubicBezTo>
                <a:cubicBezTo>
                  <a:pt x="8230508" y="6337"/>
                  <a:pt x="8228722" y="11778"/>
                  <a:pt x="8229600" y="18288"/>
                </a:cubicBezTo>
                <a:cubicBezTo>
                  <a:pt x="8075287" y="35054"/>
                  <a:pt x="7821366" y="21850"/>
                  <a:pt x="7626096" y="18288"/>
                </a:cubicBezTo>
                <a:cubicBezTo>
                  <a:pt x="7430826" y="14726"/>
                  <a:pt x="7320004" y="-9669"/>
                  <a:pt x="7022592" y="18288"/>
                </a:cubicBezTo>
                <a:cubicBezTo>
                  <a:pt x="6725180" y="46245"/>
                  <a:pt x="6348804" y="-14025"/>
                  <a:pt x="6172200" y="18288"/>
                </a:cubicBezTo>
                <a:cubicBezTo>
                  <a:pt x="5995596" y="50601"/>
                  <a:pt x="5788102" y="22890"/>
                  <a:pt x="5650992" y="18288"/>
                </a:cubicBezTo>
                <a:cubicBezTo>
                  <a:pt x="5513882" y="13686"/>
                  <a:pt x="5198399" y="29121"/>
                  <a:pt x="4882896" y="18288"/>
                </a:cubicBezTo>
                <a:cubicBezTo>
                  <a:pt x="4567393" y="7455"/>
                  <a:pt x="4557008" y="26965"/>
                  <a:pt x="4443984" y="18288"/>
                </a:cubicBezTo>
                <a:cubicBezTo>
                  <a:pt x="4330960" y="9611"/>
                  <a:pt x="4061674" y="28891"/>
                  <a:pt x="3758184" y="18288"/>
                </a:cubicBezTo>
                <a:cubicBezTo>
                  <a:pt x="3454694" y="7685"/>
                  <a:pt x="3380392" y="19119"/>
                  <a:pt x="3236976" y="18288"/>
                </a:cubicBezTo>
                <a:cubicBezTo>
                  <a:pt x="3093560" y="17457"/>
                  <a:pt x="2632116" y="37607"/>
                  <a:pt x="2386584" y="18288"/>
                </a:cubicBezTo>
                <a:cubicBezTo>
                  <a:pt x="2141052" y="-1031"/>
                  <a:pt x="2110884" y="28777"/>
                  <a:pt x="1947672" y="18288"/>
                </a:cubicBezTo>
                <a:cubicBezTo>
                  <a:pt x="1784460" y="7799"/>
                  <a:pt x="1535467" y="461"/>
                  <a:pt x="1261872" y="18288"/>
                </a:cubicBezTo>
                <a:cubicBezTo>
                  <a:pt x="988277" y="36115"/>
                  <a:pt x="1021096" y="10375"/>
                  <a:pt x="822960" y="18288"/>
                </a:cubicBezTo>
                <a:cubicBezTo>
                  <a:pt x="624824" y="26201"/>
                  <a:pt x="298309" y="1283"/>
                  <a:pt x="0" y="18288"/>
                </a:cubicBezTo>
                <a:cubicBezTo>
                  <a:pt x="-633" y="12278"/>
                  <a:pt x="-757" y="5867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6CAE946-E494-9B83-F4E0-A88CD283A83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723" r="12480" b="-1"/>
          <a:stretch>
            <a:fillRect/>
          </a:stretch>
        </p:blipFill>
        <p:spPr>
          <a:xfrm>
            <a:off x="429369" y="2002056"/>
            <a:ext cx="2957886" cy="4184060"/>
          </a:xfrm>
          <a:custGeom>
            <a:avLst/>
            <a:gdLst/>
            <a:ahLst/>
            <a:cxnLst/>
            <a:rect l="l" t="t" r="r" b="b"/>
            <a:pathLst>
              <a:path w="3807743" h="6307845">
                <a:moveTo>
                  <a:pt x="723201" y="386"/>
                </a:moveTo>
                <a:cubicBezTo>
                  <a:pt x="853884" y="-4204"/>
                  <a:pt x="1013493" y="33912"/>
                  <a:pt x="1176100" y="22622"/>
                </a:cubicBezTo>
                <a:cubicBezTo>
                  <a:pt x="1230302" y="18859"/>
                  <a:pt x="1281736" y="20622"/>
                  <a:pt x="1331852" y="24473"/>
                </a:cubicBezTo>
                <a:lnTo>
                  <a:pt x="1439547" y="34944"/>
                </a:lnTo>
                <a:lnTo>
                  <a:pt x="1484197" y="36226"/>
                </a:lnTo>
                <a:cubicBezTo>
                  <a:pt x="1535166" y="35421"/>
                  <a:pt x="1586369" y="31625"/>
                  <a:pt x="1636625" y="22622"/>
                </a:cubicBezTo>
                <a:cubicBezTo>
                  <a:pt x="1686882" y="13619"/>
                  <a:pt x="1729837" y="10653"/>
                  <a:pt x="1768740" y="10885"/>
                </a:cubicBezTo>
                <a:lnTo>
                  <a:pt x="1829538" y="15086"/>
                </a:lnTo>
                <a:lnTo>
                  <a:pt x="1869968" y="7996"/>
                </a:lnTo>
                <a:cubicBezTo>
                  <a:pt x="1953577" y="-31"/>
                  <a:pt x="2036989" y="9808"/>
                  <a:pt x="2112925" y="20118"/>
                </a:cubicBezTo>
                <a:lnTo>
                  <a:pt x="2119331" y="20977"/>
                </a:lnTo>
                <a:lnTo>
                  <a:pt x="2221855" y="13374"/>
                </a:lnTo>
                <a:cubicBezTo>
                  <a:pt x="2261207" y="12845"/>
                  <a:pt x="2298379" y="14359"/>
                  <a:pt x="2333484" y="16393"/>
                </a:cubicBezTo>
                <a:lnTo>
                  <a:pt x="2372613" y="18812"/>
                </a:lnTo>
                <a:lnTo>
                  <a:pt x="2404945" y="9387"/>
                </a:lnTo>
                <a:cubicBezTo>
                  <a:pt x="2452532" y="1754"/>
                  <a:pt x="2506192" y="9333"/>
                  <a:pt x="2561622" y="17814"/>
                </a:cubicBezTo>
                <a:lnTo>
                  <a:pt x="2583950" y="20591"/>
                </a:lnTo>
                <a:lnTo>
                  <a:pt x="2643527" y="20319"/>
                </a:lnTo>
                <a:cubicBezTo>
                  <a:pt x="2669677" y="20426"/>
                  <a:pt x="2697963" y="20717"/>
                  <a:pt x="2727392" y="21103"/>
                </a:cubicBezTo>
                <a:lnTo>
                  <a:pt x="2786908" y="21989"/>
                </a:lnTo>
                <a:lnTo>
                  <a:pt x="2846459" y="13267"/>
                </a:lnTo>
                <a:cubicBezTo>
                  <a:pt x="2896401" y="10176"/>
                  <a:pt x="2960607" y="12733"/>
                  <a:pt x="3036361" y="17072"/>
                </a:cubicBezTo>
                <a:lnTo>
                  <a:pt x="3129100" y="22671"/>
                </a:lnTo>
                <a:lnTo>
                  <a:pt x="3130653" y="22622"/>
                </a:lnTo>
                <a:cubicBezTo>
                  <a:pt x="3178874" y="19804"/>
                  <a:pt x="3260845" y="26231"/>
                  <a:pt x="3352422" y="32691"/>
                </a:cubicBezTo>
                <a:lnTo>
                  <a:pt x="3362608" y="33356"/>
                </a:lnTo>
                <a:lnTo>
                  <a:pt x="3446036" y="35579"/>
                </a:lnTo>
                <a:cubicBezTo>
                  <a:pt x="3550323" y="36566"/>
                  <a:pt x="3662083" y="33535"/>
                  <a:pt x="3778601" y="22622"/>
                </a:cubicBezTo>
                <a:cubicBezTo>
                  <a:pt x="3793981" y="243672"/>
                  <a:pt x="3764152" y="318695"/>
                  <a:pt x="3778601" y="467157"/>
                </a:cubicBezTo>
                <a:cubicBezTo>
                  <a:pt x="3790077" y="557563"/>
                  <a:pt x="3783697" y="684218"/>
                  <a:pt x="3777639" y="811856"/>
                </a:cubicBezTo>
                <a:lnTo>
                  <a:pt x="3773760" y="922625"/>
                </a:lnTo>
                <a:lnTo>
                  <a:pt x="3778601" y="974384"/>
                </a:lnTo>
                <a:cubicBezTo>
                  <a:pt x="3785784" y="1003717"/>
                  <a:pt x="3785160" y="1041120"/>
                  <a:pt x="3781239" y="1085904"/>
                </a:cubicBezTo>
                <a:lnTo>
                  <a:pt x="3776107" y="1132519"/>
                </a:lnTo>
                <a:lnTo>
                  <a:pt x="3778601" y="1162456"/>
                </a:lnTo>
                <a:cubicBezTo>
                  <a:pt x="3791360" y="1256797"/>
                  <a:pt x="3774958" y="1367020"/>
                  <a:pt x="3763568" y="1469787"/>
                </a:cubicBezTo>
                <a:lnTo>
                  <a:pt x="3758806" y="1520515"/>
                </a:lnTo>
                <a:lnTo>
                  <a:pt x="3760417" y="1549437"/>
                </a:lnTo>
                <a:cubicBezTo>
                  <a:pt x="3764298" y="1588133"/>
                  <a:pt x="3770171" y="1628243"/>
                  <a:pt x="3778601" y="1669683"/>
                </a:cubicBezTo>
                <a:cubicBezTo>
                  <a:pt x="3846039" y="2001203"/>
                  <a:pt x="3774784" y="2142285"/>
                  <a:pt x="3778601" y="2364982"/>
                </a:cubicBezTo>
                <a:lnTo>
                  <a:pt x="3776565" y="2406088"/>
                </a:lnTo>
                <a:lnTo>
                  <a:pt x="3778601" y="2427673"/>
                </a:lnTo>
                <a:cubicBezTo>
                  <a:pt x="3821357" y="2695960"/>
                  <a:pt x="3735684" y="2699438"/>
                  <a:pt x="3778601" y="2809517"/>
                </a:cubicBezTo>
                <a:cubicBezTo>
                  <a:pt x="3789330" y="2837037"/>
                  <a:pt x="3791666" y="2872927"/>
                  <a:pt x="3789892" y="2914654"/>
                </a:cubicBezTo>
                <a:lnTo>
                  <a:pt x="3784971" y="2966248"/>
                </a:lnTo>
                <a:lnTo>
                  <a:pt x="3796722" y="3024078"/>
                </a:lnTo>
                <a:cubicBezTo>
                  <a:pt x="3809238" y="3115139"/>
                  <a:pt x="3806232" y="3210898"/>
                  <a:pt x="3799338" y="3302850"/>
                </a:cubicBezTo>
                <a:lnTo>
                  <a:pt x="3787405" y="3438354"/>
                </a:lnTo>
                <a:lnTo>
                  <a:pt x="3790719" y="3460532"/>
                </a:lnTo>
                <a:cubicBezTo>
                  <a:pt x="3797323" y="3541872"/>
                  <a:pt x="3789007" y="3624193"/>
                  <a:pt x="3780361" y="3709762"/>
                </a:cubicBezTo>
                <a:lnTo>
                  <a:pt x="3780169" y="3712283"/>
                </a:lnTo>
                <a:lnTo>
                  <a:pt x="3781239" y="3768266"/>
                </a:lnTo>
                <a:cubicBezTo>
                  <a:pt x="3780994" y="3815588"/>
                  <a:pt x="3779902" y="3863939"/>
                  <a:pt x="3778794" y="3912511"/>
                </a:cubicBezTo>
                <a:lnTo>
                  <a:pt x="3776324" y="4054010"/>
                </a:lnTo>
                <a:lnTo>
                  <a:pt x="3778601" y="4074733"/>
                </a:lnTo>
                <a:cubicBezTo>
                  <a:pt x="3822365" y="4336760"/>
                  <a:pt x="3765189" y="4482586"/>
                  <a:pt x="3778601" y="4644650"/>
                </a:cubicBezTo>
                <a:cubicBezTo>
                  <a:pt x="3781954" y="4685166"/>
                  <a:pt x="3782850" y="4718916"/>
                  <a:pt x="3782504" y="4749344"/>
                </a:cubicBezTo>
                <a:lnTo>
                  <a:pt x="3780512" y="4796832"/>
                </a:lnTo>
                <a:lnTo>
                  <a:pt x="3786260" y="4877451"/>
                </a:lnTo>
                <a:cubicBezTo>
                  <a:pt x="3786165" y="4918212"/>
                  <a:pt x="3784020" y="4964155"/>
                  <a:pt x="3781623" y="5015963"/>
                </a:cubicBezTo>
                <a:lnTo>
                  <a:pt x="3779076" y="5087925"/>
                </a:lnTo>
                <a:lnTo>
                  <a:pt x="3779599" y="5155456"/>
                </a:lnTo>
                <a:lnTo>
                  <a:pt x="3775907" y="5219073"/>
                </a:lnTo>
                <a:lnTo>
                  <a:pt x="3778601" y="5402640"/>
                </a:lnTo>
                <a:cubicBezTo>
                  <a:pt x="3780494" y="5441637"/>
                  <a:pt x="3781680" y="5475146"/>
                  <a:pt x="3782335" y="5504141"/>
                </a:cubicBezTo>
                <a:lnTo>
                  <a:pt x="3782798" y="5566951"/>
                </a:lnTo>
                <a:lnTo>
                  <a:pt x="3786885" y="5599303"/>
                </a:lnTo>
                <a:cubicBezTo>
                  <a:pt x="3799534" y="5776838"/>
                  <a:pt x="3769350" y="6111156"/>
                  <a:pt x="3778601" y="6291711"/>
                </a:cubicBezTo>
                <a:cubicBezTo>
                  <a:pt x="3687392" y="6306733"/>
                  <a:pt x="3632350" y="6304889"/>
                  <a:pt x="3574752" y="6300212"/>
                </a:cubicBezTo>
                <a:lnTo>
                  <a:pt x="3545837" y="6297718"/>
                </a:lnTo>
                <a:lnTo>
                  <a:pt x="3527963" y="6296834"/>
                </a:lnTo>
                <a:cubicBezTo>
                  <a:pt x="3482151" y="6294419"/>
                  <a:pt x="3430025" y="6291672"/>
                  <a:pt x="3355561" y="6291711"/>
                </a:cubicBezTo>
                <a:cubicBezTo>
                  <a:pt x="3304843" y="6293555"/>
                  <a:pt x="3262749" y="6292377"/>
                  <a:pt x="3225711" y="6290098"/>
                </a:cubicBezTo>
                <a:lnTo>
                  <a:pt x="3218247" y="6289525"/>
                </a:lnTo>
                <a:lnTo>
                  <a:pt x="3198550" y="6289212"/>
                </a:lnTo>
                <a:cubicBezTo>
                  <a:pt x="3144315" y="6287803"/>
                  <a:pt x="3088976" y="6286105"/>
                  <a:pt x="3034921" y="6284968"/>
                </a:cubicBezTo>
                <a:lnTo>
                  <a:pt x="2973802" y="6284626"/>
                </a:lnTo>
                <a:lnTo>
                  <a:pt x="2932520" y="6291711"/>
                </a:lnTo>
                <a:cubicBezTo>
                  <a:pt x="2893699" y="6300111"/>
                  <a:pt x="2847670" y="6301992"/>
                  <a:pt x="2797581" y="6300669"/>
                </a:cubicBezTo>
                <a:lnTo>
                  <a:pt x="2672392" y="6292599"/>
                </a:lnTo>
                <a:lnTo>
                  <a:pt x="2629726" y="6293120"/>
                </a:lnTo>
                <a:lnTo>
                  <a:pt x="2540544" y="6284698"/>
                </a:lnTo>
                <a:lnTo>
                  <a:pt x="2473475" y="6280786"/>
                </a:lnTo>
                <a:cubicBezTo>
                  <a:pt x="2419724" y="6279900"/>
                  <a:pt x="2368202" y="6282437"/>
                  <a:pt x="2322057" y="6291711"/>
                </a:cubicBezTo>
                <a:cubicBezTo>
                  <a:pt x="2275912" y="6300985"/>
                  <a:pt x="2236301" y="6305003"/>
                  <a:pt x="2199195" y="6305968"/>
                </a:cubicBezTo>
                <a:lnTo>
                  <a:pt x="2094190" y="6302012"/>
                </a:lnTo>
                <a:lnTo>
                  <a:pt x="2029724" y="6307766"/>
                </a:lnTo>
                <a:cubicBezTo>
                  <a:pt x="1971866" y="6308389"/>
                  <a:pt x="1916420" y="6305265"/>
                  <a:pt x="1864312" y="6301339"/>
                </a:cubicBezTo>
                <a:lnTo>
                  <a:pt x="1761307" y="6293375"/>
                </a:lnTo>
                <a:lnTo>
                  <a:pt x="1745972" y="6293782"/>
                </a:lnTo>
                <a:cubicBezTo>
                  <a:pt x="1699734" y="6294177"/>
                  <a:pt x="1664143" y="6292827"/>
                  <a:pt x="1633352" y="6291083"/>
                </a:cubicBezTo>
                <a:lnTo>
                  <a:pt x="1621369" y="6290324"/>
                </a:lnTo>
                <a:lnTo>
                  <a:pt x="1599140" y="6291711"/>
                </a:lnTo>
                <a:cubicBezTo>
                  <a:pt x="1564093" y="6296354"/>
                  <a:pt x="1527169" y="6296254"/>
                  <a:pt x="1488567" y="6294097"/>
                </a:cubicBezTo>
                <a:lnTo>
                  <a:pt x="1429716" y="6289243"/>
                </a:lnTo>
                <a:lnTo>
                  <a:pt x="1401008" y="6291711"/>
                </a:lnTo>
                <a:cubicBezTo>
                  <a:pt x="1314301" y="6301163"/>
                  <a:pt x="1222976" y="6299856"/>
                  <a:pt x="1127367" y="6296839"/>
                </a:cubicBezTo>
                <a:lnTo>
                  <a:pt x="1062601" y="6295730"/>
                </a:lnTo>
                <a:lnTo>
                  <a:pt x="964991" y="6305909"/>
                </a:lnTo>
                <a:cubicBezTo>
                  <a:pt x="833250" y="6307778"/>
                  <a:pt x="714190" y="6280255"/>
                  <a:pt x="603122" y="6291711"/>
                </a:cubicBezTo>
                <a:cubicBezTo>
                  <a:pt x="455032" y="6306986"/>
                  <a:pt x="261206" y="6260346"/>
                  <a:pt x="30143" y="6291711"/>
                </a:cubicBezTo>
                <a:cubicBezTo>
                  <a:pt x="-1198" y="6167281"/>
                  <a:pt x="7291" y="6044138"/>
                  <a:pt x="19371" y="5934598"/>
                </a:cubicBezTo>
                <a:lnTo>
                  <a:pt x="33559" y="5801663"/>
                </a:lnTo>
                <a:lnTo>
                  <a:pt x="30143" y="5784485"/>
                </a:lnTo>
                <a:cubicBezTo>
                  <a:pt x="7257" y="5691455"/>
                  <a:pt x="7506" y="5585492"/>
                  <a:pt x="13352" y="5476692"/>
                </a:cubicBezTo>
                <a:lnTo>
                  <a:pt x="21882" y="5346809"/>
                </a:lnTo>
                <a:lnTo>
                  <a:pt x="22064" y="5339439"/>
                </a:lnTo>
                <a:lnTo>
                  <a:pt x="29601" y="5166357"/>
                </a:lnTo>
                <a:lnTo>
                  <a:pt x="30143" y="5151877"/>
                </a:lnTo>
                <a:cubicBezTo>
                  <a:pt x="30018" y="5125783"/>
                  <a:pt x="30111" y="5102484"/>
                  <a:pt x="30346" y="5081409"/>
                </a:cubicBezTo>
                <a:lnTo>
                  <a:pt x="30433" y="5076663"/>
                </a:lnTo>
                <a:lnTo>
                  <a:pt x="30143" y="4963804"/>
                </a:lnTo>
                <a:cubicBezTo>
                  <a:pt x="27040" y="4910138"/>
                  <a:pt x="27067" y="4856021"/>
                  <a:pt x="28459" y="4800989"/>
                </a:cubicBezTo>
                <a:lnTo>
                  <a:pt x="30399" y="4750796"/>
                </a:lnTo>
                <a:lnTo>
                  <a:pt x="31514" y="4666872"/>
                </a:lnTo>
                <a:lnTo>
                  <a:pt x="34697" y="4639551"/>
                </a:lnTo>
                <a:lnTo>
                  <a:pt x="34963" y="4632686"/>
                </a:lnTo>
                <a:cubicBezTo>
                  <a:pt x="37318" y="4575362"/>
                  <a:pt x="39271" y="4516661"/>
                  <a:pt x="39056" y="4456118"/>
                </a:cubicBezTo>
                <a:lnTo>
                  <a:pt x="36996" y="4412759"/>
                </a:lnTo>
                <a:lnTo>
                  <a:pt x="30143" y="4388188"/>
                </a:lnTo>
                <a:cubicBezTo>
                  <a:pt x="7389" y="4328002"/>
                  <a:pt x="11492" y="4256950"/>
                  <a:pt x="19232" y="4188739"/>
                </a:cubicBezTo>
                <a:lnTo>
                  <a:pt x="23985" y="4147809"/>
                </a:lnTo>
                <a:lnTo>
                  <a:pt x="23690" y="4087290"/>
                </a:lnTo>
                <a:lnTo>
                  <a:pt x="29097" y="3984687"/>
                </a:lnTo>
                <a:lnTo>
                  <a:pt x="28035" y="3962690"/>
                </a:lnTo>
                <a:cubicBezTo>
                  <a:pt x="28525" y="3945828"/>
                  <a:pt x="30052" y="3926691"/>
                  <a:pt x="32148" y="3905387"/>
                </a:cubicBezTo>
                <a:lnTo>
                  <a:pt x="34754" y="3881032"/>
                </a:lnTo>
                <a:lnTo>
                  <a:pt x="39206" y="3802233"/>
                </a:lnTo>
                <a:cubicBezTo>
                  <a:pt x="39778" y="3763353"/>
                  <a:pt x="37619" y="3728800"/>
                  <a:pt x="30143" y="3698588"/>
                </a:cubicBezTo>
                <a:cubicBezTo>
                  <a:pt x="7714" y="3607954"/>
                  <a:pt x="33117" y="3482508"/>
                  <a:pt x="36579" y="3365983"/>
                </a:cubicBezTo>
                <a:lnTo>
                  <a:pt x="36510" y="3356621"/>
                </a:lnTo>
                <a:lnTo>
                  <a:pt x="30143" y="3311044"/>
                </a:lnTo>
                <a:cubicBezTo>
                  <a:pt x="14271" y="3224157"/>
                  <a:pt x="11445" y="3149243"/>
                  <a:pt x="14856" y="3082749"/>
                </a:cubicBezTo>
                <a:lnTo>
                  <a:pt x="22229" y="3005366"/>
                </a:lnTo>
                <a:lnTo>
                  <a:pt x="27244" y="2895198"/>
                </a:lnTo>
                <a:cubicBezTo>
                  <a:pt x="29143" y="2848776"/>
                  <a:pt x="30527" y="2799531"/>
                  <a:pt x="30143" y="2746826"/>
                </a:cubicBezTo>
                <a:lnTo>
                  <a:pt x="36784" y="2638240"/>
                </a:lnTo>
                <a:lnTo>
                  <a:pt x="30143" y="2615745"/>
                </a:lnTo>
                <a:cubicBezTo>
                  <a:pt x="-20952" y="2495890"/>
                  <a:pt x="17898" y="2340273"/>
                  <a:pt x="37923" y="2201958"/>
                </a:cubicBezTo>
                <a:lnTo>
                  <a:pt x="42734" y="2158379"/>
                </a:lnTo>
                <a:lnTo>
                  <a:pt x="30143" y="2114218"/>
                </a:lnTo>
                <a:cubicBezTo>
                  <a:pt x="2269" y="2040950"/>
                  <a:pt x="-2735" y="1972014"/>
                  <a:pt x="1162" y="1906697"/>
                </a:cubicBezTo>
                <a:lnTo>
                  <a:pt x="6289" y="1854885"/>
                </a:lnTo>
                <a:lnTo>
                  <a:pt x="8053" y="1809168"/>
                </a:lnTo>
                <a:cubicBezTo>
                  <a:pt x="9832" y="1790244"/>
                  <a:pt x="12470" y="1771472"/>
                  <a:pt x="15415" y="1752867"/>
                </a:cubicBezTo>
                <a:lnTo>
                  <a:pt x="30925" y="1652561"/>
                </a:lnTo>
                <a:lnTo>
                  <a:pt x="30143" y="1606992"/>
                </a:lnTo>
                <a:cubicBezTo>
                  <a:pt x="28397" y="1588584"/>
                  <a:pt x="27931" y="1568665"/>
                  <a:pt x="28348" y="1547550"/>
                </a:cubicBezTo>
                <a:lnTo>
                  <a:pt x="29206" y="1531212"/>
                </a:lnTo>
                <a:lnTo>
                  <a:pt x="23637" y="1487282"/>
                </a:lnTo>
                <a:cubicBezTo>
                  <a:pt x="16479" y="1367166"/>
                  <a:pt x="59638" y="1246041"/>
                  <a:pt x="30143" y="1156757"/>
                </a:cubicBezTo>
                <a:cubicBezTo>
                  <a:pt x="21716" y="1131248"/>
                  <a:pt x="18318" y="1090735"/>
                  <a:pt x="17757" y="1041370"/>
                </a:cubicBezTo>
                <a:lnTo>
                  <a:pt x="18463" y="985697"/>
                </a:lnTo>
                <a:lnTo>
                  <a:pt x="16239" y="975915"/>
                </a:lnTo>
                <a:cubicBezTo>
                  <a:pt x="13541" y="957312"/>
                  <a:pt x="12597" y="940330"/>
                  <a:pt x="12862" y="924477"/>
                </a:cubicBezTo>
                <a:lnTo>
                  <a:pt x="23640" y="845857"/>
                </a:lnTo>
                <a:lnTo>
                  <a:pt x="30907" y="688163"/>
                </a:lnTo>
                <a:lnTo>
                  <a:pt x="31375" y="662715"/>
                </a:lnTo>
                <a:lnTo>
                  <a:pt x="30143" y="655230"/>
                </a:lnTo>
                <a:cubicBezTo>
                  <a:pt x="20345" y="615334"/>
                  <a:pt x="17924" y="569960"/>
                  <a:pt x="19185" y="520814"/>
                </a:cubicBezTo>
                <a:lnTo>
                  <a:pt x="26662" y="415314"/>
                </a:lnTo>
                <a:lnTo>
                  <a:pt x="25635" y="383217"/>
                </a:lnTo>
                <a:cubicBezTo>
                  <a:pt x="25461" y="243905"/>
                  <a:pt x="35455" y="113017"/>
                  <a:pt x="30143" y="22622"/>
                </a:cubicBezTo>
                <a:cubicBezTo>
                  <a:pt x="90096" y="13526"/>
                  <a:pt x="146841" y="12585"/>
                  <a:pt x="200495" y="15390"/>
                </a:cubicBezTo>
                <a:lnTo>
                  <a:pt x="324102" y="27794"/>
                </a:lnTo>
                <a:lnTo>
                  <a:pt x="329634" y="27979"/>
                </a:lnTo>
                <a:cubicBezTo>
                  <a:pt x="398332" y="30204"/>
                  <a:pt x="468106" y="31425"/>
                  <a:pt x="551798" y="27886"/>
                </a:cubicBezTo>
                <a:lnTo>
                  <a:pt x="592464" y="25476"/>
                </a:lnTo>
                <a:lnTo>
                  <a:pt x="603122" y="22622"/>
                </a:lnTo>
                <a:cubicBezTo>
                  <a:pt x="639294" y="8191"/>
                  <a:pt x="679641" y="1916"/>
                  <a:pt x="723201" y="386"/>
                </a:cubicBezTo>
                <a:close/>
              </a:path>
            </a:pathLst>
          </a:cu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33076C-5A7C-D52D-F8C0-4E91FA00F5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79466" y="2071316"/>
            <a:ext cx="5035164" cy="4114800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CA" sz="2000" dirty="0"/>
              <a:t>Loglinear models grew up and developed from three different ideas and </a:t>
            </a:r>
            <a:r>
              <a:rPr lang="en-CA" sz="2000" b="1" dirty="0">
                <a:solidFill>
                  <a:schemeClr val="accent2"/>
                </a:solidFill>
              </a:rPr>
              <a:t>ways of thinking </a:t>
            </a:r>
            <a:r>
              <a:rPr lang="en-CA" sz="2000" dirty="0"/>
              <a:t>about notions of independence in frequency data</a:t>
            </a:r>
          </a:p>
          <a:p>
            <a:r>
              <a:rPr lang="en-CA" sz="1900" b="1" dirty="0"/>
              <a:t>Loglinear approach</a:t>
            </a:r>
            <a:r>
              <a:rPr lang="en-CA" sz="1900" dirty="0"/>
              <a:t>: analog of ANOVA; associations are ~ interactions</a:t>
            </a:r>
          </a:p>
          <a:p>
            <a:r>
              <a:rPr lang="en-CA" sz="1900" b="1" dirty="0" err="1"/>
              <a:t>glm</a:t>
            </a:r>
            <a:r>
              <a:rPr lang="en-CA" sz="1900" b="1" dirty="0"/>
              <a:t>() approach</a:t>
            </a:r>
            <a:r>
              <a:rPr lang="en-CA" sz="1900" dirty="0"/>
              <a:t>: analog of general regression model, for log(Freq), with Poisson </a:t>
            </a:r>
            <a:r>
              <a:rPr lang="en-CA" sz="1900" dirty="0" err="1"/>
              <a:t>dist</a:t>
            </a:r>
            <a:r>
              <a:rPr lang="en-CA" sz="1900" baseline="30000" dirty="0" err="1"/>
              <a:t>n</a:t>
            </a:r>
            <a:r>
              <a:rPr lang="en-CA" sz="1900" dirty="0"/>
              <a:t> of errors</a:t>
            </a:r>
          </a:p>
          <a:p>
            <a:r>
              <a:rPr lang="en-CA" sz="1900" b="1" dirty="0"/>
              <a:t>Logit models</a:t>
            </a:r>
            <a:r>
              <a:rPr lang="en-CA" sz="1900" dirty="0"/>
              <a:t>: Loglinear, simplified for a binary response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4E2ED2A-7633-2402-8289-DE5D5601F7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621225AB-15B9-4C79-A121-04D1DC7E2307}" type="slidenum">
              <a:rPr lang="en-US" smtClean="0"/>
              <a:pPr>
                <a:spcAft>
                  <a:spcPts val="600"/>
                </a:spcAft>
              </a:pPr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67950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EFCE86-FDE0-4F79-B559-9401F7A4E1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Loglinear 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4FFE63-5ECF-1D87-3E48-9A3BE125EF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038600"/>
          </a:xfrm>
        </p:spPr>
        <p:txBody>
          <a:bodyPr/>
          <a:lstStyle/>
          <a:p>
            <a:pPr marL="0" indent="0">
              <a:buNone/>
            </a:pPr>
            <a:r>
              <a:rPr lang="en-CA" sz="2200" dirty="0"/>
              <a:t>First developed as analog of classical ANOVA models, where multiplicative relations are re-expressed in additive form as models for log(Freq)</a:t>
            </a:r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endParaRPr lang="en-CA" dirty="0"/>
          </a:p>
          <a:p>
            <a:r>
              <a:rPr lang="en-CA" sz="2000" dirty="0"/>
              <a:t>This expresses the </a:t>
            </a:r>
            <a:r>
              <a:rPr lang="en-CA" sz="2000" dirty="0">
                <a:solidFill>
                  <a:srgbClr val="00B0F0"/>
                </a:solidFill>
              </a:rPr>
              <a:t>independence</a:t>
            </a:r>
            <a:r>
              <a:rPr lang="en-CA" sz="2000" dirty="0"/>
              <a:t> model for a 2-way table as </a:t>
            </a:r>
            <a:r>
              <a:rPr lang="en-CA" sz="2000" b="1" dirty="0"/>
              <a:t>no A*B </a:t>
            </a:r>
            <a:r>
              <a:rPr lang="en-CA" sz="2000" dirty="0"/>
              <a:t>association</a:t>
            </a:r>
          </a:p>
          <a:p>
            <a:r>
              <a:rPr lang="en-CA" sz="2000" dirty="0"/>
              <a:t>Short-hand notations: [A][B] = A </a:t>
            </a:r>
            <a:r>
              <a:rPr lang="en-CA" sz="2000" dirty="0">
                <a:sym typeface="Symbol" panose="05050102010706020507" pitchFamily="18" charset="2"/>
              </a:rPr>
              <a:t> B = ~ A + B</a:t>
            </a:r>
          </a:p>
          <a:p>
            <a:r>
              <a:rPr lang="en-CA" sz="2000" dirty="0">
                <a:sym typeface="Symbol" panose="05050102010706020507" pitchFamily="18" charset="2"/>
              </a:rPr>
              <a:t>Fit by simple </a:t>
            </a:r>
            <a:r>
              <a:rPr lang="en-CA" sz="2000" dirty="0">
                <a:solidFill>
                  <a:srgbClr val="0070C0"/>
                </a:solidFill>
                <a:sym typeface="Symbol" panose="05050102010706020507" pitchFamily="18" charset="2"/>
              </a:rPr>
              <a:t>iterative proportional scaling</a:t>
            </a:r>
            <a:r>
              <a:rPr lang="en-CA" sz="2000" dirty="0">
                <a:sym typeface="Symbol" panose="05050102010706020507" pitchFamily="18" charset="2"/>
              </a:rPr>
              <a:t>: </a:t>
            </a:r>
            <a:r>
              <a:rPr lang="en-CA" sz="20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Symbol" panose="05050102010706020507" pitchFamily="18" charset="2"/>
              </a:rPr>
              <a:t>MASS::</a:t>
            </a:r>
            <a:r>
              <a:rPr lang="en-CA" sz="2000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Symbol" panose="05050102010706020507" pitchFamily="18" charset="2"/>
              </a:rPr>
              <a:t>loglm</a:t>
            </a:r>
            <a:r>
              <a:rPr lang="en-CA" sz="20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Symbol" panose="05050102010706020507" pitchFamily="18" charset="2"/>
              </a:rPr>
              <a:t>()</a:t>
            </a:r>
          </a:p>
          <a:p>
            <a:pPr lvl="1"/>
            <a:r>
              <a:rPr lang="en-CA" sz="1600" dirty="0">
                <a:cs typeface="Courier New" panose="02070309020205020404" pitchFamily="49" charset="0"/>
                <a:sym typeface="Symbol" panose="05050102010706020507" pitchFamily="18" charset="2"/>
              </a:rPr>
              <a:t>Parameters aren’t estimated; only fitted frequencies.</a:t>
            </a:r>
          </a:p>
          <a:p>
            <a:pPr marL="0" indent="0">
              <a:buNone/>
            </a:pPr>
            <a:endParaRPr lang="en-CA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BB9663-3E45-0BFA-BDA8-C5170D2E4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14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4C01E23-87ED-DD44-4AC9-F522939CB8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2293568"/>
            <a:ext cx="4404742" cy="60203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1A3FB3C-1B53-D4FD-73EA-71081ECE8F38}"/>
              </a:ext>
            </a:extLst>
          </p:cNvPr>
          <p:cNvSpPr txBox="1"/>
          <p:nvPr/>
        </p:nvSpPr>
        <p:spPr>
          <a:xfrm>
            <a:off x="909320" y="5341203"/>
            <a:ext cx="6705600" cy="830997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loglm</a:t>
            </a:r>
            <a:r>
              <a:rPr lang="en-CA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(Freq ~ A + B + C)       </a:t>
            </a:r>
            <a:r>
              <a:rPr lang="en-CA" sz="16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[A][B][C</a:t>
            </a:r>
            <a:r>
              <a:rPr lang="en-CA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</a:p>
          <a:p>
            <a:r>
              <a:rPr lang="en-CA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loglm</a:t>
            </a:r>
            <a:r>
              <a:rPr lang="en-CA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(Freq ~ A * B + C )      </a:t>
            </a:r>
            <a:r>
              <a:rPr lang="en-CA" sz="16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[A B][C]</a:t>
            </a:r>
          </a:p>
          <a:p>
            <a:r>
              <a:rPr lang="en-CA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loglm</a:t>
            </a:r>
            <a:r>
              <a:rPr lang="en-CA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(Freq ~ A * B * C)       </a:t>
            </a:r>
            <a:r>
              <a:rPr lang="en-CA" sz="16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[A B C]</a:t>
            </a:r>
          </a:p>
        </p:txBody>
      </p:sp>
    </p:spTree>
    <p:extLst>
      <p:ext uri="{BB962C8B-B14F-4D97-AF65-F5344CB8AC3E}">
        <p14:creationId xmlns:p14="http://schemas.microsoft.com/office/powerpoint/2010/main" val="26143735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F2F3D8-45B2-4695-AF79-118D6A58C5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glm</a:t>
            </a:r>
            <a:r>
              <a:rPr lang="en-US" dirty="0"/>
              <a:t>() approach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3A6B8B6-4FC0-4047-8228-31F0178BFC2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1143000"/>
                <a:ext cx="8229600" cy="3886200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en-US" sz="2400" dirty="0"/>
                  <a:t>Extension of classical linear models recognized loglinear models as a model for log(Freq), with Poisson </a:t>
                </a:r>
                <a:r>
                  <a:rPr lang="en-US" sz="2400" dirty="0" err="1"/>
                  <a:t>dist</a:t>
                </a:r>
                <a:r>
                  <a:rPr lang="en-US" sz="2400" baseline="30000" dirty="0" err="1"/>
                  <a:t>n</a:t>
                </a:r>
                <a:r>
                  <a:rPr lang="en-US" sz="2400" dirty="0"/>
                  <a:t> for cell counts</a:t>
                </a:r>
              </a:p>
              <a:p>
                <a:pPr marL="0" indent="0">
                  <a:buNone/>
                </a:pPr>
                <a:r>
                  <a:rPr lang="en-US" sz="2400" dirty="0"/>
                  <a:t>                                             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𝒎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=  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𝑿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</m:func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sz="2400" dirty="0"/>
              </a:p>
              <a:p>
                <a:r>
                  <a:rPr lang="en-US" sz="2400" dirty="0"/>
                  <a:t>Looks like std ANOVA/regression model, but for log(Freq)</a:t>
                </a:r>
              </a:p>
              <a:p>
                <a:r>
                  <a:rPr lang="en-US" sz="2400" dirty="0"/>
                  <a:t>This (</a:t>
                </a:r>
                <a:r>
                  <a:rPr lang="en-US" sz="2400" b="1" i="1" dirty="0"/>
                  <a:t>X</a:t>
                </a:r>
                <a:r>
                  <a:rPr lang="en-US" sz="2400" dirty="0"/>
                  <a:t>) allows </a:t>
                </a:r>
                <a:r>
                  <a:rPr lang="en-US" sz="2400" dirty="0">
                    <a:solidFill>
                      <a:srgbClr val="0070C0"/>
                    </a:solidFill>
                  </a:rPr>
                  <a:t>quantitative</a:t>
                </a:r>
                <a:r>
                  <a:rPr lang="en-US" sz="2400" dirty="0"/>
                  <a:t> predictors and special ways to treat </a:t>
                </a:r>
                <a:r>
                  <a:rPr lang="en-US" sz="2400" dirty="0">
                    <a:solidFill>
                      <a:srgbClr val="0070C0"/>
                    </a:solidFill>
                  </a:rPr>
                  <a:t>ordinal</a:t>
                </a:r>
                <a:r>
                  <a:rPr lang="en-US" sz="2400" dirty="0"/>
                  <a:t> factors</a:t>
                </a:r>
              </a:p>
              <a:p>
                <a:r>
                  <a:rPr lang="en-US" sz="2400" dirty="0"/>
                  <a:t>Fit by </a:t>
                </a:r>
                <a:r>
                  <a:rPr lang="en-US" sz="2400" dirty="0">
                    <a:solidFill>
                      <a:srgbClr val="0070C0"/>
                    </a:solidFill>
                  </a:rPr>
                  <a:t>maximum likelihood </a:t>
                </a:r>
                <a:r>
                  <a:rPr lang="en-US" sz="2400" dirty="0"/>
                  <a:t>using </a:t>
                </a:r>
                <a:r>
                  <a:rPr lang="en-US" sz="2400" dirty="0" err="1"/>
                  <a:t>glm</a:t>
                </a:r>
                <a:r>
                  <a:rPr lang="en-US" sz="2400" dirty="0"/>
                  <a:t>(…, family=</a:t>
                </a:r>
                <a:r>
                  <a:rPr lang="en-US" sz="2400" dirty="0" err="1"/>
                  <a:t>poisson</a:t>
                </a:r>
                <a:r>
                  <a:rPr lang="en-US" sz="2400" dirty="0"/>
                  <a:t>)</a:t>
                </a:r>
              </a:p>
              <a:p>
                <a:pPr lvl="1"/>
                <a:r>
                  <a:rPr lang="en-US" sz="2000" dirty="0"/>
                  <a:t>Can estimate parameters; do structured tests</a:t>
                </a:r>
              </a:p>
              <a:p>
                <a:r>
                  <a:rPr lang="en-US" sz="2400" dirty="0"/>
                  <a:t>Standard diagnostic methods available (residuals, influence plots)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3A6B8B6-4FC0-4047-8228-31F0178BFC2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143000"/>
                <a:ext cx="8229600" cy="3886200"/>
              </a:xfrm>
              <a:blipFill>
                <a:blip r:embed="rId2"/>
                <a:stretch>
                  <a:fillRect l="-1185" t="-2041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0E64B0-3F2D-4B28-B940-B4FE5301E7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15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D87F0A3-35A9-4517-9A51-3349E263B0FA}"/>
              </a:ext>
            </a:extLst>
          </p:cNvPr>
          <p:cNvSpPr txBox="1"/>
          <p:nvPr/>
        </p:nvSpPr>
        <p:spPr>
          <a:xfrm>
            <a:off x="914400" y="5181600"/>
            <a:ext cx="7315200" cy="830997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glm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 Freq ~ A + B + C, family =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poisson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16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[A] [B] [C]</a:t>
            </a:r>
          </a:p>
          <a:p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glm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 Freq ~ A * B + C, family =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poisson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     </a:t>
            </a:r>
            <a:r>
              <a:rPr lang="en-US" sz="16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[A B] [C]</a:t>
            </a:r>
          </a:p>
          <a:p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glm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 Freq ~ A * (B+C), family =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poisson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16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[A B] [A C]</a:t>
            </a:r>
          </a:p>
        </p:txBody>
      </p:sp>
    </p:spTree>
    <p:extLst>
      <p:ext uri="{BB962C8B-B14F-4D97-AF65-F5344CB8AC3E}">
        <p14:creationId xmlns:p14="http://schemas.microsoft.com/office/powerpoint/2010/main" val="21836178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5F9AE1-C84D-4A25-9AE8-6E05460155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Logit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79DFB4-4C26-4C77-87CC-883DF77BA6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572000"/>
          </a:xfrm>
        </p:spPr>
        <p:txBody>
          <a:bodyPr/>
          <a:lstStyle/>
          <a:p>
            <a:pPr marL="0" indent="0">
              <a:buNone/>
            </a:pPr>
            <a:r>
              <a:rPr lang="en-US" sz="2400" dirty="0"/>
              <a:t>When one variable is a </a:t>
            </a:r>
            <a:r>
              <a:rPr lang="en-US" sz="2400" dirty="0">
                <a:solidFill>
                  <a:srgbClr val="0070C0"/>
                </a:solidFill>
              </a:rPr>
              <a:t>binary</a:t>
            </a:r>
            <a:r>
              <a:rPr lang="en-US" sz="2400" dirty="0"/>
              <a:t> response, a logit model is a simpler way to specify a loglinear model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sz="2400" dirty="0"/>
              <a:t>log(m</a:t>
            </a:r>
            <a:r>
              <a:rPr lang="en-US" sz="2400" baseline="-25000" dirty="0"/>
              <a:t>1jk</a:t>
            </a:r>
            <a:r>
              <a:rPr lang="en-US" sz="2400" dirty="0"/>
              <a:t>/m</a:t>
            </a:r>
            <a:r>
              <a:rPr lang="en-US" sz="2400" baseline="-25000" dirty="0"/>
              <a:t>2jk</a:t>
            </a:r>
            <a:r>
              <a:rPr lang="en-US" sz="2400" dirty="0"/>
              <a:t>) is the </a:t>
            </a:r>
            <a:r>
              <a:rPr lang="en-US" sz="2400" b="1" dirty="0"/>
              <a:t>log odds </a:t>
            </a:r>
            <a:r>
              <a:rPr lang="en-US" sz="2400" dirty="0"/>
              <a:t>of response A</a:t>
            </a:r>
            <a:r>
              <a:rPr lang="en-US" sz="2400" baseline="-25000" dirty="0"/>
              <a:t>1</a:t>
            </a:r>
            <a:r>
              <a:rPr lang="en-US" sz="2400" dirty="0"/>
              <a:t> vs A</a:t>
            </a:r>
            <a:r>
              <a:rPr lang="en-US" sz="2400" baseline="-25000" dirty="0"/>
              <a:t>2</a:t>
            </a:r>
          </a:p>
          <a:p>
            <a:r>
              <a:rPr lang="en-US" sz="2400" dirty="0"/>
              <a:t>The model only includes terms for the effect of A on B &amp; C</a:t>
            </a:r>
          </a:p>
          <a:p>
            <a:r>
              <a:rPr lang="en-US" sz="2400" dirty="0"/>
              <a:t>Equivalent loglinear model: [AB][AC] 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</a:rPr>
              <a:t>[BC]</a:t>
            </a:r>
          </a:p>
          <a:p>
            <a:r>
              <a:rPr lang="en-US" sz="2400" dirty="0"/>
              <a:t>The logit models </a:t>
            </a:r>
            <a:r>
              <a:rPr lang="en-US" sz="2400" dirty="0">
                <a:solidFill>
                  <a:srgbClr val="0070C0"/>
                </a:solidFill>
              </a:rPr>
              <a:t>assumes</a:t>
            </a:r>
            <a:r>
              <a:rPr lang="en-US" sz="2400" dirty="0"/>
              <a:t> the [BC] association; </a:t>
            </a:r>
          </a:p>
          <a:p>
            <a:pPr marL="0" indent="0">
              <a:buNone/>
            </a:pPr>
            <a:r>
              <a:rPr lang="en-US" sz="2400" dirty="0"/>
              <a:t>                                    [AB] </a:t>
            </a:r>
            <a:r>
              <a:rPr lang="en-US" sz="2400" dirty="0">
                <a:sym typeface="Symbol" panose="05050102010706020507" pitchFamily="18" charset="2"/>
              </a:rPr>
              <a:t> </a:t>
            </a:r>
            <a:r>
              <a:rPr lang="en-US" sz="2400" baseline="-25000" dirty="0" err="1">
                <a:sym typeface="Symbol" panose="05050102010706020507" pitchFamily="18" charset="2"/>
              </a:rPr>
              <a:t>j</a:t>
            </a:r>
            <a:r>
              <a:rPr lang="en-US" sz="2400" baseline="30000" dirty="0" err="1">
                <a:sym typeface="Symbol" panose="05050102010706020507" pitchFamily="18" charset="2"/>
              </a:rPr>
              <a:t>B</a:t>
            </a:r>
            <a:r>
              <a:rPr lang="en-US" sz="2400" dirty="0">
                <a:sym typeface="Symbol" panose="05050102010706020507" pitchFamily="18" charset="2"/>
              </a:rPr>
              <a:t>    [AC]  </a:t>
            </a:r>
            <a:r>
              <a:rPr lang="en-US" sz="2400" baseline="-25000" dirty="0" err="1">
                <a:sym typeface="Symbol" panose="05050102010706020507" pitchFamily="18" charset="2"/>
              </a:rPr>
              <a:t>k</a:t>
            </a:r>
            <a:r>
              <a:rPr lang="en-US" sz="2400" baseline="30000" dirty="0" err="1">
                <a:sym typeface="Symbol" panose="05050102010706020507" pitchFamily="18" charset="2"/>
              </a:rPr>
              <a:t>C</a:t>
            </a:r>
            <a:endParaRPr lang="en-US" sz="2400" baseline="30000" dirty="0"/>
          </a:p>
          <a:p>
            <a:r>
              <a:rPr lang="en-US" sz="2400" dirty="0"/>
              <a:t>Fit using </a:t>
            </a:r>
            <a:r>
              <a:rPr lang="en-US" sz="2400" dirty="0">
                <a:solidFill>
                  <a:srgbClr val="0070C0"/>
                </a:solidFill>
              </a:rPr>
              <a:t>family=binomial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68C384-8FA3-46F9-B1DC-03EB15FE2A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16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FD1E8A3-6157-40A6-B7A3-F359CDEC8F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00" y="2133600"/>
            <a:ext cx="4971429" cy="56190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AA1AED7-35AB-4FD8-839B-5BF655B80485}"/>
              </a:ext>
            </a:extLst>
          </p:cNvPr>
          <p:cNvSpPr txBox="1"/>
          <p:nvPr/>
        </p:nvSpPr>
        <p:spPr>
          <a:xfrm>
            <a:off x="914400" y="5840829"/>
            <a:ext cx="7315200" cy="369332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glm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(outcome==“survived” ~ B + C,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family = binomial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D59615E-2155-B3A3-383B-3C48E3CB8235}"/>
              </a:ext>
            </a:extLst>
          </p:cNvPr>
          <p:cNvSpPr txBox="1"/>
          <p:nvPr/>
        </p:nvSpPr>
        <p:spPr>
          <a:xfrm>
            <a:off x="7124700" y="1583323"/>
            <a:ext cx="1143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600" dirty="0"/>
              <a:t>assumed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6E310C9-E946-E00F-479A-CC26F0FFAAB7}"/>
              </a:ext>
            </a:extLst>
          </p:cNvPr>
          <p:cNvCxnSpPr>
            <a:cxnSpLocks/>
          </p:cNvCxnSpPr>
          <p:nvPr/>
        </p:nvCxnSpPr>
        <p:spPr>
          <a:xfrm flipH="1">
            <a:off x="6590679" y="1817271"/>
            <a:ext cx="571500" cy="381000"/>
          </a:xfrm>
          <a:prstGeom prst="straightConnector1">
            <a:avLst/>
          </a:prstGeom>
          <a:ln w="25400">
            <a:solidFill>
              <a:srgbClr val="FF0000"/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94435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4F279E-E041-41D5-9815-D5BC3E7AFD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Two-way tables: loglinear approach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51ADD6-6451-480A-98FB-CA5E7E7799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17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743051E-9AD5-4EE8-9F37-5F65C6DC46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54480"/>
            <a:ext cx="8161905" cy="445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75500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4F279E-E041-41D5-9815-D5BC3E7AFD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Two-way tables: loglinear approach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51ADD6-6451-480A-98FB-CA5E7E7799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18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AAD6C4B-CB73-4048-8413-549A76F11A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54480"/>
            <a:ext cx="8171428" cy="309523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FB1AC44-163C-07FD-7FA9-FF84A122DFFF}"/>
              </a:ext>
            </a:extLst>
          </p:cNvPr>
          <p:cNvSpPr txBox="1"/>
          <p:nvPr/>
        </p:nvSpPr>
        <p:spPr>
          <a:xfrm>
            <a:off x="5988998" y="2457856"/>
            <a:ext cx="1752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≡ [</a:t>
            </a:r>
            <a:r>
              <a:rPr lang="en-CA" i="1" dirty="0"/>
              <a:t>A</a:t>
            </a:r>
            <a:r>
              <a:rPr lang="en-CA" dirty="0"/>
              <a:t>][</a:t>
            </a:r>
            <a:r>
              <a:rPr lang="en-CA" i="1" dirty="0"/>
              <a:t>B</a:t>
            </a:r>
            <a:r>
              <a:rPr lang="en-CA" dirty="0"/>
              <a:t>] ≡ ~A + B</a:t>
            </a:r>
          </a:p>
        </p:txBody>
      </p:sp>
    </p:spTree>
    <p:extLst>
      <p:ext uri="{BB962C8B-B14F-4D97-AF65-F5344CB8AC3E}">
        <p14:creationId xmlns:p14="http://schemas.microsoft.com/office/powerpoint/2010/main" val="30150980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4F279E-E041-41D5-9815-D5BC3E7AFD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Two-way tables: loglinear approach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51ADD6-6451-480A-98FB-CA5E7E7799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19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40BC256-C87B-433F-A278-4AAABA12E3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24238"/>
            <a:ext cx="8171428" cy="190476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1B05AB9-7160-4499-A532-DBA70708E2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491209"/>
            <a:ext cx="8171428" cy="94285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C1C8F0D-ED4D-4EE4-97AE-BBBA07667B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496275"/>
            <a:ext cx="8171428" cy="923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15860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15932-225E-44C4-9FD2-7B1C3E6D83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Example: Independence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D6F277D-E90E-4D6E-83E4-8D72BD2AF8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20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1571E52-3BF9-47DD-BD83-AC5648FBEBD9}"/>
              </a:ext>
            </a:extLst>
          </p:cNvPr>
          <p:cNvSpPr txBox="1"/>
          <p:nvPr/>
        </p:nvSpPr>
        <p:spPr>
          <a:xfrm>
            <a:off x="457200" y="1628775"/>
            <a:ext cx="8229600" cy="2677656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educ &lt;- c(50, 100, 50)                       </a:t>
            </a:r>
            <a:r>
              <a:rPr lang="en-CA" sz="1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marginal frequencies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names(educ) &lt;- c("Low", "Med", "High")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party &lt;- c(20, 50, 30)                       </a:t>
            </a:r>
            <a:r>
              <a:rPr lang="en-CA" sz="1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marginal frequencies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names(party) &lt;- c("NDP", "Liberal", "Cons")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table &lt;- </a:t>
            </a:r>
            <a:r>
              <a:rPr lang="en-CA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outer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(educ, party) / sum(party)     </a:t>
            </a:r>
            <a:r>
              <a:rPr lang="en-CA" sz="1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cell = row * col / n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names(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dimnames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(table)) &lt;- c("Education", "Party")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table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Party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Education NDP Liberal Cons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Low   10      25   15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Med   20      50   30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High  10      25   15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D7FE486-9626-4E59-8AE7-C14CD5DF6130}"/>
              </a:ext>
            </a:extLst>
          </p:cNvPr>
          <p:cNvSpPr txBox="1"/>
          <p:nvPr/>
        </p:nvSpPr>
        <p:spPr>
          <a:xfrm>
            <a:off x="457200" y="1143000"/>
            <a:ext cx="822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Generate a table of Education by Party preference, </a:t>
            </a:r>
            <a:r>
              <a:rPr lang="en-US" b="1" dirty="0"/>
              <a:t>strictly independent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D74C15A-E845-472D-BB51-3607B22D26D9}"/>
              </a:ext>
            </a:extLst>
          </p:cNvPr>
          <p:cNvSpPr txBox="1"/>
          <p:nvPr/>
        </p:nvSpPr>
        <p:spPr>
          <a:xfrm>
            <a:off x="457200" y="4815899"/>
            <a:ext cx="8229600" cy="1815882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MASS::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loglm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(~ Education + Party, data=table)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Call: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MASS::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loglm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(formula = ~Education + Party, data = table)</a:t>
            </a:r>
          </a:p>
          <a:p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Statistics: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X^2 df P(&gt; X^2)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Likelihood Ratio   0  4        1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Pearson            0  4        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0FF3BB4-468C-432B-8F20-1C62F1028121}"/>
              </a:ext>
            </a:extLst>
          </p:cNvPr>
          <p:cNvSpPr txBox="1"/>
          <p:nvPr/>
        </p:nvSpPr>
        <p:spPr>
          <a:xfrm>
            <a:off x="457200" y="4422874"/>
            <a:ext cx="3200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Perfect fit: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7EC2C20-92CE-B39A-32E2-BF41179CD123}"/>
              </a:ext>
            </a:extLst>
          </p:cNvPr>
          <p:cNvSpPr txBox="1"/>
          <p:nvPr/>
        </p:nvSpPr>
        <p:spPr>
          <a:xfrm>
            <a:off x="4191000" y="6075605"/>
            <a:ext cx="76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400" dirty="0">
                <a:solidFill>
                  <a:srgbClr val="00B050"/>
                </a:solidFill>
                <a:sym typeface="Wingdings" panose="05000000000000000000" pitchFamily="2" charset="2"/>
              </a:rPr>
              <a:t></a:t>
            </a:r>
            <a:endParaRPr lang="en-CA" sz="2400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74606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742FF13-6A4F-4C40-9AEC-99B7621502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21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C48C403-CF99-415C-9E2A-CC7FC80C8A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4802" y="2271078"/>
            <a:ext cx="4080027" cy="402336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F96AF19-B5BF-482A-8D4D-B9BDA707D4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171" y="2271078"/>
            <a:ext cx="4080028" cy="402336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0E0AF21-6C55-47E8-BB39-DAE314BBFD3C}"/>
              </a:ext>
            </a:extLst>
          </p:cNvPr>
          <p:cNvSpPr txBox="1"/>
          <p:nvPr/>
        </p:nvSpPr>
        <p:spPr>
          <a:xfrm>
            <a:off x="654685" y="1618694"/>
            <a:ext cx="3429000" cy="338554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&gt; sieve(table, shade=TRUE)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C3CCC87-EE7E-4498-97F4-7BB38987DB95}"/>
              </a:ext>
            </a:extLst>
          </p:cNvPr>
          <p:cNvSpPr txBox="1"/>
          <p:nvPr/>
        </p:nvSpPr>
        <p:spPr>
          <a:xfrm>
            <a:off x="4845533" y="1618694"/>
            <a:ext cx="3765067" cy="338554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&gt; mosaic(table, shade=TRUE)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9688B18-99CC-422F-8D5B-9FC1CFB7E9F9}"/>
              </a:ext>
            </a:extLst>
          </p:cNvPr>
          <p:cNvSpPr txBox="1"/>
          <p:nvPr/>
        </p:nvSpPr>
        <p:spPr>
          <a:xfrm>
            <a:off x="533400" y="609600"/>
            <a:ext cx="807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Both sieve diagrams and mosaic plots show what independence “looks like”</a:t>
            </a:r>
          </a:p>
        </p:txBody>
      </p:sp>
    </p:spTree>
    <p:extLst>
      <p:ext uri="{BB962C8B-B14F-4D97-AF65-F5344CB8AC3E}">
        <p14:creationId xmlns:p14="http://schemas.microsoft.com/office/powerpoint/2010/main" val="23641916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57C524D-6F5C-4E73-B456-83977C59FB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Two-way tables: </a:t>
            </a:r>
            <a:r>
              <a:rPr lang="en-US" dirty="0" err="1"/>
              <a:t>glm</a:t>
            </a:r>
            <a:r>
              <a:rPr lang="en-US" dirty="0"/>
              <a:t> approach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C30CE49-D9B0-4FA5-95A6-21D3F46F3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22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DB376B8-D704-4D3A-AAFE-50C75096B5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56617"/>
            <a:ext cx="8171428" cy="205714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2BC7CED-8947-4ED7-8AC2-AF8E005BF0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581400"/>
            <a:ext cx="8171428" cy="1161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90090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CB1776B-6565-4CD9-8E8A-6F55AFD7C3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23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7E5E9E5-4CE5-4FE1-AC4B-3E9125552C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372" y="762000"/>
            <a:ext cx="8171428" cy="371428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942F81B-0265-43EC-9863-712B2842B5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372" y="4648200"/>
            <a:ext cx="8171428" cy="88571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1352A72-BB06-4982-B9CB-BF6BD787016F}"/>
              </a:ext>
            </a:extLst>
          </p:cNvPr>
          <p:cNvSpPr txBox="1"/>
          <p:nvPr/>
        </p:nvSpPr>
        <p:spPr>
          <a:xfrm>
            <a:off x="7315200" y="1905000"/>
            <a:ext cx="1447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total n</a:t>
            </a:r>
          </a:p>
          <a:p>
            <a:r>
              <a:rPr lang="en-US" dirty="0"/>
              <a:t>margin A</a:t>
            </a:r>
          </a:p>
          <a:p>
            <a:r>
              <a:rPr lang="en-US" dirty="0"/>
              <a:t>margin B</a:t>
            </a:r>
          </a:p>
          <a:p>
            <a:r>
              <a:rPr lang="en-US" dirty="0"/>
              <a:t>association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C36C8C9-4A4D-093C-5BF9-12CF8E73CAF8}"/>
              </a:ext>
            </a:extLst>
          </p:cNvPr>
          <p:cNvSpPr txBox="1"/>
          <p:nvPr/>
        </p:nvSpPr>
        <p:spPr>
          <a:xfrm>
            <a:off x="4714568" y="1447800"/>
            <a:ext cx="457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3200" i="1" dirty="0"/>
              <a:t>X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B05214-60C6-15FC-19FB-F60EE57C4B94}"/>
              </a:ext>
            </a:extLst>
          </p:cNvPr>
          <p:cNvSpPr txBox="1"/>
          <p:nvPr/>
        </p:nvSpPr>
        <p:spPr>
          <a:xfrm>
            <a:off x="6324600" y="1433052"/>
            <a:ext cx="457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sz="3200" dirty="0"/>
              <a:t>β</a:t>
            </a:r>
            <a:endParaRPr lang="en-CA" sz="3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7E99B26-0A6B-2941-2EAB-72B3C0202BE3}"/>
              </a:ext>
            </a:extLst>
          </p:cNvPr>
          <p:cNvSpPr txBox="1"/>
          <p:nvPr/>
        </p:nvSpPr>
        <p:spPr>
          <a:xfrm>
            <a:off x="2971800" y="5715000"/>
            <a:ext cx="5486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i.e., Var(</a:t>
            </a:r>
            <a:r>
              <a:rPr lang="en-CA" dirty="0" err="1"/>
              <a:t>m</a:t>
            </a:r>
            <a:r>
              <a:rPr lang="en-CA" baseline="-25000" dirty="0" err="1"/>
              <a:t>ij</a:t>
            </a:r>
            <a:r>
              <a:rPr lang="en-CA" dirty="0"/>
              <a:t>) &gt; </a:t>
            </a:r>
            <a:r>
              <a:rPr lang="en-CA" dirty="0" err="1"/>
              <a:t>m</a:t>
            </a:r>
            <a:r>
              <a:rPr lang="en-CA" baseline="-25000" dirty="0" err="1"/>
              <a:t>ij</a:t>
            </a:r>
            <a:r>
              <a:rPr lang="en-CA" dirty="0"/>
              <a:t>    then can use </a:t>
            </a:r>
            <a:r>
              <a:rPr lang="en-CA" dirty="0" err="1"/>
              <a:t>NegBin</a:t>
            </a:r>
            <a:r>
              <a:rPr lang="en-CA" dirty="0"/>
              <a:t>, MASS::</a:t>
            </a:r>
            <a:r>
              <a:rPr lang="en-CA" dirty="0" err="1"/>
              <a:t>glm.nb</a:t>
            </a:r>
            <a:r>
              <a:rPr lang="en-CA" dirty="0"/>
              <a:t>()</a:t>
            </a:r>
            <a:endParaRPr lang="en-CA" baseline="-25000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CFA25CB-B2E9-0778-549D-347DABD0CF5D}"/>
              </a:ext>
            </a:extLst>
          </p:cNvPr>
          <p:cNvCxnSpPr/>
          <p:nvPr/>
        </p:nvCxnSpPr>
        <p:spPr>
          <a:xfrm flipH="1" flipV="1">
            <a:off x="2743200" y="5334000"/>
            <a:ext cx="228600" cy="381000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3656506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D8FE58F-C405-4F84-8B4B-BAAAB1EE6D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Assessing goodness of fit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C6432F8-CF87-488B-BA06-86A762F2CE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24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2B823C9-AAAA-4397-A175-F4CEC5CB74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143000"/>
            <a:ext cx="8171428" cy="277142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F5F4963-D461-4E84-917F-051687A75F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920" y="4191000"/>
            <a:ext cx="8171428" cy="1990476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FEE62B9F-364F-4CAE-9CC8-24DD711C6713}"/>
              </a:ext>
            </a:extLst>
          </p:cNvPr>
          <p:cNvSpPr/>
          <p:nvPr/>
        </p:nvSpPr>
        <p:spPr>
          <a:xfrm>
            <a:off x="2971800" y="3513496"/>
            <a:ext cx="3886200" cy="496666"/>
          </a:xfrm>
          <a:prstGeom prst="rect">
            <a:avLst/>
          </a:prstGeom>
          <a:solidFill>
            <a:schemeClr val="accent4">
              <a:lumMod val="20000"/>
              <a:lumOff val="80000"/>
              <a:alpha val="30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665027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613A1A-0C10-16A0-C97D-2781353062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Degrees of freedom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6A59C92-8597-5912-4EEC-BBC24C1374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25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E05530E-C99E-DF3D-4BB8-AD8D2CB800B3}"/>
              </a:ext>
            </a:extLst>
          </p:cNvPr>
          <p:cNvSpPr txBox="1"/>
          <p:nvPr/>
        </p:nvSpPr>
        <p:spPr>
          <a:xfrm>
            <a:off x="609600" y="2624078"/>
            <a:ext cx="8077200" cy="2862322"/>
          </a:xfrm>
          <a:prstGeom prst="rect">
            <a:avLst/>
          </a:prstGeom>
          <a:noFill/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CA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addmargins</a:t>
            </a: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(HE) |&gt; </a:t>
            </a:r>
            <a:r>
              <a:rPr lang="en-CA" dirty="0" err="1">
                <a:latin typeface="Courier New" panose="02070309020205020404" pitchFamily="49" charset="0"/>
                <a:cs typeface="Courier New" panose="02070309020205020404" pitchFamily="49" charset="0"/>
              </a:rPr>
              <a:t>knitr</a:t>
            </a: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-CA" dirty="0" err="1">
                <a:latin typeface="Courier New" panose="02070309020205020404" pitchFamily="49" charset="0"/>
                <a:cs typeface="Courier New" panose="02070309020205020404" pitchFamily="49" charset="0"/>
              </a:rPr>
              <a:t>kable</a:t>
            </a: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endParaRPr lang="en-CA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|      | Black| Brown| Red| Blond|</a:t>
            </a:r>
            <a:r>
              <a:rPr lang="en-CA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CA" b="1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Sum</a:t>
            </a: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|</a:t>
            </a:r>
          </a:p>
          <a:p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|:-----|-----:|-----:|---:|-----:|---:|</a:t>
            </a:r>
          </a:p>
          <a:p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|Brown |    68|   119|  26|     7| </a:t>
            </a:r>
            <a:r>
              <a:rPr lang="en-CA" b="1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220</a:t>
            </a: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|</a:t>
            </a:r>
          </a:p>
          <a:p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|Blue  |    20|    84|  17|    94| </a:t>
            </a:r>
            <a:r>
              <a:rPr lang="en-CA" b="1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215</a:t>
            </a: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|</a:t>
            </a:r>
          </a:p>
          <a:p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|Hazel |    15|    54|  14|    10|  </a:t>
            </a:r>
            <a:r>
              <a:rPr lang="en-CA" b="1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93</a:t>
            </a: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|</a:t>
            </a:r>
          </a:p>
          <a:p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|Green |     5|    29|  14|    16|  </a:t>
            </a:r>
            <a:r>
              <a:rPr lang="en-CA" b="1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|</a:t>
            </a:r>
          </a:p>
          <a:p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|:-----|-----:|-----:|---:|-----:|---:|</a:t>
            </a:r>
          </a:p>
          <a:p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|</a:t>
            </a:r>
            <a:r>
              <a:rPr lang="en-CA" b="1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Sum </a:t>
            </a: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  |   </a:t>
            </a:r>
            <a:r>
              <a:rPr lang="en-CA" b="1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108</a:t>
            </a: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|   </a:t>
            </a:r>
            <a:r>
              <a:rPr lang="en-CA" b="1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286</a:t>
            </a: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|  </a:t>
            </a:r>
            <a:r>
              <a:rPr lang="en-CA" b="1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71</a:t>
            </a: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|   </a:t>
            </a:r>
            <a:r>
              <a:rPr lang="en-CA" b="1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127</a:t>
            </a: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| </a:t>
            </a:r>
            <a:r>
              <a:rPr lang="en-CA" b="1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592</a:t>
            </a: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|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B01DD19-0EE6-9EFC-EAC8-527E4B6AE71B}"/>
              </a:ext>
            </a:extLst>
          </p:cNvPr>
          <p:cNvSpPr txBox="1"/>
          <p:nvPr/>
        </p:nvSpPr>
        <p:spPr>
          <a:xfrm>
            <a:off x="457200" y="1143000"/>
            <a:ext cx="8229600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Q: </a:t>
            </a:r>
            <a:r>
              <a:rPr lang="en-CA" sz="2000" dirty="0"/>
              <a:t>Why do degrees of freedom for an</a:t>
            </a:r>
            <a:r>
              <a:rPr lang="en-CA" sz="2000" i="1" dirty="0"/>
              <a:t> r </a:t>
            </a:r>
            <a:r>
              <a:rPr lang="en-CA" sz="2000" dirty="0"/>
              <a:t>× </a:t>
            </a:r>
            <a:r>
              <a:rPr lang="en-CA" sz="2000" i="1" dirty="0"/>
              <a:t>c</a:t>
            </a:r>
            <a:r>
              <a:rPr lang="en-CA" sz="2000" dirty="0"/>
              <a:t> table = (</a:t>
            </a:r>
            <a:r>
              <a:rPr lang="en-CA" sz="2000" i="1" dirty="0"/>
              <a:t>r</a:t>
            </a:r>
            <a:r>
              <a:rPr lang="en-CA" sz="2000" dirty="0"/>
              <a:t>-1) * (</a:t>
            </a:r>
            <a:r>
              <a:rPr lang="en-CA" sz="2000" i="1" dirty="0"/>
              <a:t>c</a:t>
            </a:r>
            <a:r>
              <a:rPr lang="en-CA" sz="2000" dirty="0"/>
              <a:t>-1)?</a:t>
            </a:r>
          </a:p>
          <a:p>
            <a:r>
              <a:rPr lang="en-CA" dirty="0"/>
              <a:t>A: Because the row &amp; column </a:t>
            </a:r>
            <a:r>
              <a:rPr lang="en-CA" b="1" dirty="0"/>
              <a:t>totals</a:t>
            </a:r>
            <a:r>
              <a:rPr lang="en-CA" dirty="0"/>
              <a:t> are used to calculate expected frequencies</a:t>
            </a:r>
          </a:p>
          <a:p>
            <a:pPr marL="285750" indent="-285750">
              <a:buFont typeface="Symbol" panose="05050102010706020507" pitchFamily="18" charset="2"/>
              <a:buChar char="®"/>
            </a:pPr>
            <a:r>
              <a:rPr lang="en-CA" dirty="0">
                <a:sym typeface="Symbol" panose="05050102010706020507" pitchFamily="18" charset="2"/>
              </a:rPr>
              <a:t>Only (r-1) independent parameters for each column</a:t>
            </a:r>
          </a:p>
          <a:p>
            <a:r>
              <a:rPr lang="en-CA" dirty="0">
                <a:sym typeface="Symbol" panose="05050102010706020507" pitchFamily="18" charset="2"/>
              </a:rPr>
              <a:t> Only (c-1) independent parameters for each row</a:t>
            </a:r>
            <a:endParaRPr lang="en-CA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87ECB0EC-E62D-9F46-20C4-6DC3B6146352}"/>
              </a:ext>
            </a:extLst>
          </p:cNvPr>
          <p:cNvGrpSpPr/>
          <p:nvPr/>
        </p:nvGrpSpPr>
        <p:grpSpPr>
          <a:xfrm>
            <a:off x="743564" y="3200400"/>
            <a:ext cx="5195120" cy="2209800"/>
            <a:chOff x="743564" y="3200400"/>
            <a:chExt cx="5195120" cy="220980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1F33A50F-6ABE-9532-CDDA-30D5789235EC}"/>
                </a:ext>
              </a:extLst>
            </p:cNvPr>
            <p:cNvSpPr/>
            <p:nvPr/>
          </p:nvSpPr>
          <p:spPr>
            <a:xfrm>
              <a:off x="2086896" y="3657600"/>
              <a:ext cx="2209800" cy="914400"/>
            </a:xfrm>
            <a:prstGeom prst="rect">
              <a:avLst/>
            </a:prstGeom>
            <a:solidFill>
              <a:schemeClr val="accent3">
                <a:lumMod val="60000"/>
                <a:lumOff val="40000"/>
                <a:alpha val="20000"/>
              </a:schemeClr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4E0E1A2-1BD3-1C39-1982-49258C694540}"/>
                </a:ext>
              </a:extLst>
            </p:cNvPr>
            <p:cNvSpPr/>
            <p:nvPr/>
          </p:nvSpPr>
          <p:spPr>
            <a:xfrm>
              <a:off x="5334000" y="3200400"/>
              <a:ext cx="604684" cy="2209800"/>
            </a:xfrm>
            <a:prstGeom prst="rect">
              <a:avLst/>
            </a:prstGeom>
            <a:solidFill>
              <a:schemeClr val="accent6">
                <a:lumMod val="60000"/>
                <a:lumOff val="40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CBA219E-94D9-EFE6-FC2E-4975E12C2C09}"/>
                </a:ext>
              </a:extLst>
            </p:cNvPr>
            <p:cNvSpPr/>
            <p:nvPr/>
          </p:nvSpPr>
          <p:spPr>
            <a:xfrm>
              <a:off x="743564" y="5045074"/>
              <a:ext cx="4461388" cy="365126"/>
            </a:xfrm>
            <a:prstGeom prst="rect">
              <a:avLst/>
            </a:prstGeom>
            <a:solidFill>
              <a:schemeClr val="accent6">
                <a:lumMod val="60000"/>
                <a:lumOff val="40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</p:grpSp>
    </p:spTree>
    <p:extLst>
      <p:ext uri="{BB962C8B-B14F-4D97-AF65-F5344CB8AC3E}">
        <p14:creationId xmlns:p14="http://schemas.microsoft.com/office/powerpoint/2010/main" val="140040803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5C411D-D4BA-4E27-8C2B-10E3A86DD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 functions for loglinear models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3AD305-5BA8-4DBB-A7F5-0B05C66D84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vcd</a:t>
            </a:r>
            <a:r>
              <a:rPr lang="en-US" sz="20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-US" sz="2000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assocstats</a:t>
            </a:r>
            <a:r>
              <a:rPr lang="en-US" sz="20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US" sz="2400" dirty="0"/>
              <a:t>– only </a:t>
            </a:r>
            <a:r>
              <a:rPr lang="el-GR" sz="2400" dirty="0"/>
              <a:t>χ</a:t>
            </a:r>
            <a:r>
              <a:rPr lang="en-US" sz="2400" baseline="30000" dirty="0"/>
              <a:t>2</a:t>
            </a:r>
            <a:r>
              <a:rPr lang="en-US" sz="2400" dirty="0"/>
              <a:t> tests for two-way tables; not a model (no parameters; no residuals)</a:t>
            </a:r>
          </a:p>
          <a:p>
            <a:r>
              <a:rPr lang="en-US" sz="20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MASS::</a:t>
            </a:r>
            <a:r>
              <a:rPr lang="en-US" sz="2000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loglm</a:t>
            </a:r>
            <a:r>
              <a:rPr lang="en-US" sz="20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US" sz="2400" dirty="0"/>
              <a:t>– general loglinear models for </a:t>
            </a:r>
            <a:r>
              <a:rPr lang="en-US" sz="2400" i="1" dirty="0"/>
              <a:t>n</a:t>
            </a:r>
            <a:r>
              <a:rPr lang="en-US" sz="2400" dirty="0"/>
              <a:t>-way tables</a:t>
            </a:r>
          </a:p>
          <a:p>
            <a:pPr marL="0" indent="0">
              <a:buNone/>
            </a:pPr>
            <a:r>
              <a:rPr lang="en-US" sz="2400" dirty="0"/>
              <a:t>            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loglm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(formula, data, subset, 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na.action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…)</a:t>
            </a:r>
          </a:p>
          <a:p>
            <a:r>
              <a:rPr lang="en-US" sz="2000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glm</a:t>
            </a:r>
            <a:r>
              <a:rPr lang="en-US" sz="20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US" sz="2400" dirty="0"/>
              <a:t>– all generalized linear models; loglinear with 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family = </a:t>
            </a:r>
            <a:r>
              <a:rPr lang="en-US" sz="2400" dirty="0" err="1">
                <a:solidFill>
                  <a:schemeClr val="accent1">
                    <a:lumMod val="75000"/>
                  </a:schemeClr>
                </a:solidFill>
              </a:rPr>
              <a:t>poisson</a:t>
            </a:r>
            <a:endParaRPr lang="en-US" sz="2400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US" sz="2400" dirty="0"/>
              <a:t>             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glm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(formula, data, weights, subset, …)</a:t>
            </a:r>
          </a:p>
          <a:p>
            <a:r>
              <a:rPr lang="en-US" sz="2400" dirty="0"/>
              <a:t>Model formulas have the form: </a:t>
            </a:r>
          </a:p>
          <a:p>
            <a:pPr lvl="1"/>
            <a:r>
              <a:rPr lang="en-US" sz="2000" dirty="0">
                <a:solidFill>
                  <a:schemeClr val="accent1">
                    <a:lumMod val="75000"/>
                  </a:schemeClr>
                </a:solidFill>
              </a:rPr>
              <a:t>table</a:t>
            </a:r>
            <a:r>
              <a:rPr lang="en-US" sz="2000" dirty="0"/>
              <a:t> form: ~ A + B + … (independence); </a:t>
            </a:r>
          </a:p>
          <a:p>
            <a:pPr lvl="1"/>
            <a:r>
              <a:rPr lang="en-US" sz="2000" dirty="0"/>
              <a:t>                     ~ A * B + C  (allow A*B association)</a:t>
            </a:r>
          </a:p>
          <a:p>
            <a:pPr lvl="1"/>
            <a:r>
              <a:rPr lang="en-US" sz="2000" dirty="0">
                <a:solidFill>
                  <a:schemeClr val="accent1">
                    <a:lumMod val="75000"/>
                  </a:schemeClr>
                </a:solidFill>
              </a:rPr>
              <a:t>frequency</a:t>
            </a:r>
            <a:r>
              <a:rPr lang="en-US" sz="2000" dirty="0"/>
              <a:t> data frame: Freq ~ A * B + C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89D3453-4DC6-48BC-B4C0-3865954BED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34570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1AEE4E-9807-485E-9AC3-F872450024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Model-based methods: Fitting &amp; graphing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85F789-ADCA-436F-B44A-623ECF394C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27</a:t>
            </a:fld>
            <a:endParaRPr lang="en-US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2769D152-0736-EC74-9342-D80C61BDFDFC}"/>
              </a:ext>
            </a:extLst>
          </p:cNvPr>
          <p:cNvGrpSpPr/>
          <p:nvPr/>
        </p:nvGrpSpPr>
        <p:grpSpPr>
          <a:xfrm>
            <a:off x="457200" y="2816291"/>
            <a:ext cx="3016911" cy="876791"/>
            <a:chOff x="457200" y="2816291"/>
            <a:chExt cx="3016911" cy="876791"/>
          </a:xfrm>
        </p:grpSpPr>
        <p:grpSp>
          <p:nvGrpSpPr>
            <p:cNvPr id="6" name="Group 18">
              <a:extLst>
                <a:ext uri="{FF2B5EF4-FFF2-40B4-BE49-F238E27FC236}">
                  <a16:creationId xmlns:a16="http://schemas.microsoft.com/office/drawing/2014/main" id="{AAE3DFA2-F5D0-43A2-9D02-0C25F969B2B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7200" y="2816291"/>
              <a:ext cx="1357610" cy="850078"/>
              <a:chOff x="4788" y="1122"/>
              <a:chExt cx="702" cy="541"/>
            </a:xfrm>
          </p:grpSpPr>
          <p:sp>
            <p:nvSpPr>
              <p:cNvPr id="21" name="AutoShape 19">
                <a:extLst>
                  <a:ext uri="{FF2B5EF4-FFF2-40B4-BE49-F238E27FC236}">
                    <a16:creationId xmlns:a16="http://schemas.microsoft.com/office/drawing/2014/main" id="{3457B9A5-1797-46F0-BBEE-CBF2351609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88" y="1122"/>
                <a:ext cx="702" cy="540"/>
              </a:xfrm>
              <a:prstGeom prst="flowChartInternalStorage">
                <a:avLst/>
              </a:prstGeom>
              <a:solidFill>
                <a:srgbClr val="FF0000">
                  <a:alpha val="20000"/>
                </a:srgbClr>
              </a:solidFill>
              <a:ln w="15875">
                <a:solidFill>
                  <a:srgbClr val="FF33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22" name="Text Box 20">
                <a:extLst>
                  <a:ext uri="{FF2B5EF4-FFF2-40B4-BE49-F238E27FC236}">
                    <a16:creationId xmlns:a16="http://schemas.microsoft.com/office/drawing/2014/main" id="{EE3235BC-98A7-4E0F-99EA-7BD9D8E6020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36" y="1212"/>
                <a:ext cx="612" cy="45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en-US" sz="1600" dirty="0"/>
                  <a:t>input </a:t>
                </a:r>
              </a:p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en-US" sz="1600" dirty="0"/>
                  <a:t>data</a:t>
                </a:r>
              </a:p>
            </p:txBody>
          </p:sp>
        </p:grpSp>
        <p:grpSp>
          <p:nvGrpSpPr>
            <p:cNvPr id="7" name="Group 24">
              <a:extLst>
                <a:ext uri="{FF2B5EF4-FFF2-40B4-BE49-F238E27FC236}">
                  <a16:creationId xmlns:a16="http://schemas.microsoft.com/office/drawing/2014/main" id="{B1F29717-F8F0-4A79-90C5-38557319C41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91924" y="2816292"/>
              <a:ext cx="1282187" cy="876790"/>
              <a:chOff x="2494" y="2160"/>
              <a:chExt cx="1044" cy="558"/>
            </a:xfrm>
          </p:grpSpPr>
          <p:sp>
            <p:nvSpPr>
              <p:cNvPr id="19" name="AutoShape 22">
                <a:extLst>
                  <a:ext uri="{FF2B5EF4-FFF2-40B4-BE49-F238E27FC236}">
                    <a16:creationId xmlns:a16="http://schemas.microsoft.com/office/drawing/2014/main" id="{B813779F-FBF0-4CF7-80DB-1C6CE015D99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94" y="2190"/>
                <a:ext cx="1044" cy="528"/>
              </a:xfrm>
              <a:prstGeom prst="flowChartAlternateProcess">
                <a:avLst/>
              </a:prstGeom>
              <a:solidFill>
                <a:schemeClr val="accent1">
                  <a:alpha val="39999"/>
                </a:schemeClr>
              </a:solidFill>
              <a:ln w="19050" algn="ctr">
                <a:solidFill>
                  <a:srgbClr val="0000FF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20" name="Text Box 23">
                <a:extLst>
                  <a:ext uri="{FF2B5EF4-FFF2-40B4-BE49-F238E27FC236}">
                    <a16:creationId xmlns:a16="http://schemas.microsoft.com/office/drawing/2014/main" id="{1D5B694D-98E3-4E94-8808-B573BE7E71B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544" y="2160"/>
                <a:ext cx="936" cy="5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/>
                <a:r>
                  <a:rPr lang="en-US" altLang="en-US" sz="1600" dirty="0" err="1"/>
                  <a:t>glm</a:t>
                </a:r>
                <a:r>
                  <a:rPr lang="en-US" altLang="en-US" sz="1600" dirty="0"/>
                  <a:t>()</a:t>
                </a:r>
              </a:p>
              <a:p>
                <a:pPr algn="ctr" eaLnBrk="1" hangingPunct="1"/>
                <a:r>
                  <a:rPr lang="en-US" altLang="en-US" sz="1600" dirty="0"/>
                  <a:t> </a:t>
                </a:r>
                <a:r>
                  <a:rPr lang="en-US" altLang="en-US" sz="1600" dirty="0" err="1"/>
                  <a:t>polr</a:t>
                </a:r>
                <a:r>
                  <a:rPr lang="en-US" altLang="en-US" sz="1600" dirty="0"/>
                  <a:t>()</a:t>
                </a:r>
              </a:p>
              <a:p>
                <a:pPr algn="ctr" eaLnBrk="1" hangingPunct="1"/>
                <a:r>
                  <a:rPr lang="en-US" altLang="en-US" sz="1600" dirty="0" err="1"/>
                  <a:t>multinom</a:t>
                </a:r>
                <a:r>
                  <a:rPr lang="en-US" altLang="en-US" sz="1600" dirty="0"/>
                  <a:t>()</a:t>
                </a:r>
              </a:p>
            </p:txBody>
          </p:sp>
        </p:grpSp>
        <p:sp>
          <p:nvSpPr>
            <p:cNvPr id="11" name="Line 51">
              <a:extLst>
                <a:ext uri="{FF2B5EF4-FFF2-40B4-BE49-F238E27FC236}">
                  <a16:creationId xmlns:a16="http://schemas.microsoft.com/office/drawing/2014/main" id="{55FF224B-3450-41C2-80C7-723AAF180F7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39387" y="3268829"/>
              <a:ext cx="527960" cy="0"/>
            </a:xfrm>
            <a:prstGeom prst="line">
              <a:avLst/>
            </a:prstGeom>
            <a:noFill/>
            <a:ln w="22225">
              <a:solidFill>
                <a:srgbClr val="000080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ABFBACAC-735D-E532-9DBB-26E787E25AC1}"/>
              </a:ext>
            </a:extLst>
          </p:cNvPr>
          <p:cNvGrpSpPr/>
          <p:nvPr/>
        </p:nvGrpSpPr>
        <p:grpSpPr>
          <a:xfrm>
            <a:off x="3398689" y="2816292"/>
            <a:ext cx="1810147" cy="980497"/>
            <a:chOff x="3398689" y="2816292"/>
            <a:chExt cx="1810147" cy="980497"/>
          </a:xfrm>
        </p:grpSpPr>
        <p:grpSp>
          <p:nvGrpSpPr>
            <p:cNvPr id="8" name="Group 28">
              <a:extLst>
                <a:ext uri="{FF2B5EF4-FFF2-40B4-BE49-F238E27FC236}">
                  <a16:creationId xmlns:a16="http://schemas.microsoft.com/office/drawing/2014/main" id="{9B1F2440-70C1-4365-A0BE-52FA77C85B3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51226" y="2816292"/>
              <a:ext cx="1357610" cy="980497"/>
              <a:chOff x="2064" y="2736"/>
              <a:chExt cx="1104" cy="768"/>
            </a:xfrm>
          </p:grpSpPr>
          <p:sp>
            <p:nvSpPr>
              <p:cNvPr id="17" name="AutoShape 26">
                <a:extLst>
                  <a:ext uri="{FF2B5EF4-FFF2-40B4-BE49-F238E27FC236}">
                    <a16:creationId xmlns:a16="http://schemas.microsoft.com/office/drawing/2014/main" id="{92D6FB39-6C77-4879-B290-8B8BE4A059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64" y="2736"/>
                <a:ext cx="1104" cy="768"/>
              </a:xfrm>
              <a:prstGeom prst="flowChartMultidocument">
                <a:avLst/>
              </a:prstGeom>
              <a:solidFill>
                <a:srgbClr val="FFFF99">
                  <a:alpha val="50195"/>
                </a:srgb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18" name="Text Box 27">
                <a:extLst>
                  <a:ext uri="{FF2B5EF4-FFF2-40B4-BE49-F238E27FC236}">
                    <a16:creationId xmlns:a16="http://schemas.microsoft.com/office/drawing/2014/main" id="{1EE460A9-0991-42E2-B6C5-7A9246875AE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08" y="2928"/>
                <a:ext cx="673" cy="49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en-US" dirty="0"/>
                  <a:t>model object</a:t>
                </a:r>
              </a:p>
            </p:txBody>
          </p:sp>
        </p:grpSp>
        <p:sp>
          <p:nvSpPr>
            <p:cNvPr id="12" name="Line 52">
              <a:extLst>
                <a:ext uri="{FF2B5EF4-FFF2-40B4-BE49-F238E27FC236}">
                  <a16:creationId xmlns:a16="http://schemas.microsoft.com/office/drawing/2014/main" id="{B4E4B5F4-3600-4B9F-B656-6FB9E667BD2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98689" y="3268829"/>
              <a:ext cx="527960" cy="0"/>
            </a:xfrm>
            <a:prstGeom prst="line">
              <a:avLst/>
            </a:prstGeom>
            <a:noFill/>
            <a:ln w="22225">
              <a:solidFill>
                <a:srgbClr val="000080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C435BD85-C30A-87A5-7E32-6DB07B833D72}"/>
              </a:ext>
            </a:extLst>
          </p:cNvPr>
          <p:cNvGrpSpPr/>
          <p:nvPr/>
        </p:nvGrpSpPr>
        <p:grpSpPr>
          <a:xfrm>
            <a:off x="5133413" y="2816292"/>
            <a:ext cx="1885570" cy="829651"/>
            <a:chOff x="5133413" y="2816292"/>
            <a:chExt cx="1885570" cy="829651"/>
          </a:xfrm>
        </p:grpSpPr>
        <p:grpSp>
          <p:nvGrpSpPr>
            <p:cNvPr id="9" name="Group 29">
              <a:extLst>
                <a:ext uri="{FF2B5EF4-FFF2-40B4-BE49-F238E27FC236}">
                  <a16:creationId xmlns:a16="http://schemas.microsoft.com/office/drawing/2014/main" id="{6E91E9A5-24AA-4616-B394-7510C1AA7DC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585950" y="2816292"/>
              <a:ext cx="1433033" cy="829651"/>
              <a:chOff x="1614" y="1062"/>
              <a:chExt cx="756" cy="528"/>
            </a:xfrm>
          </p:grpSpPr>
          <p:sp>
            <p:nvSpPr>
              <p:cNvPr id="15" name="AutoShape 30">
                <a:extLst>
                  <a:ext uri="{FF2B5EF4-FFF2-40B4-BE49-F238E27FC236}">
                    <a16:creationId xmlns:a16="http://schemas.microsoft.com/office/drawing/2014/main" id="{8B0EBB8B-ED1E-43A2-BE93-248C61D396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14" y="1062"/>
                <a:ext cx="756" cy="528"/>
              </a:xfrm>
              <a:prstGeom prst="flowChartAlternateProcess">
                <a:avLst/>
              </a:prstGeom>
              <a:solidFill>
                <a:schemeClr val="accent1">
                  <a:alpha val="39999"/>
                </a:schemeClr>
              </a:solidFill>
              <a:ln w="19050" algn="ctr">
                <a:solidFill>
                  <a:srgbClr val="0000FF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16" name="Text Box 31">
                <a:extLst>
                  <a:ext uri="{FF2B5EF4-FFF2-40B4-BE49-F238E27FC236}">
                    <a16:creationId xmlns:a16="http://schemas.microsoft.com/office/drawing/2014/main" id="{40DF6206-28A1-40E4-B7B8-726CE23243A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50" y="1128"/>
                <a:ext cx="678" cy="36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/>
                <a:r>
                  <a:rPr lang="en-US" altLang="en-US" sz="1600"/>
                  <a:t>plot(mod)</a:t>
                </a:r>
              </a:p>
              <a:p>
                <a:pPr algn="ctr" eaLnBrk="1" hangingPunct="1"/>
                <a:r>
                  <a:rPr lang="en-US" altLang="en-US" sz="1600"/>
                  <a:t>plot(f(mod))</a:t>
                </a:r>
              </a:p>
            </p:txBody>
          </p:sp>
        </p:grpSp>
        <p:sp>
          <p:nvSpPr>
            <p:cNvPr id="13" name="Line 53">
              <a:extLst>
                <a:ext uri="{FF2B5EF4-FFF2-40B4-BE49-F238E27FC236}">
                  <a16:creationId xmlns:a16="http://schemas.microsoft.com/office/drawing/2014/main" id="{10A5BCE7-6566-4620-9F10-2792B3CF47B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33413" y="3268829"/>
              <a:ext cx="527960" cy="0"/>
            </a:xfrm>
            <a:prstGeom prst="line">
              <a:avLst/>
            </a:prstGeom>
            <a:noFill/>
            <a:ln w="22225">
              <a:solidFill>
                <a:srgbClr val="000080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3B534C12-6743-08DB-90C3-35889B2CEBA8}"/>
              </a:ext>
            </a:extLst>
          </p:cNvPr>
          <p:cNvGrpSpPr/>
          <p:nvPr/>
        </p:nvGrpSpPr>
        <p:grpSpPr>
          <a:xfrm>
            <a:off x="6943560" y="2514601"/>
            <a:ext cx="2017560" cy="1420463"/>
            <a:chOff x="6943560" y="2514601"/>
            <a:chExt cx="2017560" cy="1420463"/>
          </a:xfrm>
        </p:grpSpPr>
        <p:pic>
          <p:nvPicPr>
            <p:cNvPr id="10" name="Picture 32">
              <a:extLst>
                <a:ext uri="{FF2B5EF4-FFF2-40B4-BE49-F238E27FC236}">
                  <a16:creationId xmlns:a16="http://schemas.microsoft.com/office/drawing/2014/main" id="{ECE5310C-FC87-4D3A-955B-E820BDF19C9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396097" y="2514601"/>
              <a:ext cx="1565023" cy="14204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4" name="Line 54">
              <a:extLst>
                <a:ext uri="{FF2B5EF4-FFF2-40B4-BE49-F238E27FC236}">
                  <a16:creationId xmlns:a16="http://schemas.microsoft.com/office/drawing/2014/main" id="{AC89C141-18D0-4CB6-A10A-93C3A711F81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943560" y="3268829"/>
              <a:ext cx="527960" cy="0"/>
            </a:xfrm>
            <a:prstGeom prst="line">
              <a:avLst/>
            </a:prstGeom>
            <a:noFill/>
            <a:ln w="22225">
              <a:solidFill>
                <a:srgbClr val="000080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318B1C31-6296-B34F-93C0-F678A452C391}"/>
              </a:ext>
            </a:extLst>
          </p:cNvPr>
          <p:cNvGrpSpPr/>
          <p:nvPr/>
        </p:nvGrpSpPr>
        <p:grpSpPr>
          <a:xfrm>
            <a:off x="4855907" y="1383317"/>
            <a:ext cx="2305333" cy="1432974"/>
            <a:chOff x="4855907" y="1383317"/>
            <a:chExt cx="2305333" cy="1432974"/>
          </a:xfrm>
        </p:grpSpPr>
        <p:sp>
          <p:nvSpPr>
            <p:cNvPr id="26" name="AutoShape 30">
              <a:extLst>
                <a:ext uri="{FF2B5EF4-FFF2-40B4-BE49-F238E27FC236}">
                  <a16:creationId xmlns:a16="http://schemas.microsoft.com/office/drawing/2014/main" id="{D656E6EA-C33E-4311-AD81-392BAB0DA6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75183" y="1383317"/>
              <a:ext cx="1433033" cy="829651"/>
            </a:xfrm>
            <a:prstGeom prst="flowChartAlternateProcess">
              <a:avLst/>
            </a:prstGeom>
            <a:solidFill>
              <a:schemeClr val="bg2">
                <a:lumMod val="50000"/>
                <a:alpha val="39999"/>
              </a:schemeClr>
            </a:solidFill>
            <a:ln w="19050" algn="ctr">
              <a:solidFill>
                <a:schemeClr val="accent3">
                  <a:lumMod val="50000"/>
                </a:schemeClr>
              </a:solidFill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66F43EF6-BA24-40AF-A3E4-F0DE78171964}"/>
                </a:ext>
              </a:extLst>
            </p:cNvPr>
            <p:cNvSpPr txBox="1"/>
            <p:nvPr/>
          </p:nvSpPr>
          <p:spPr>
            <a:xfrm>
              <a:off x="5535539" y="1588461"/>
              <a:ext cx="162570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residuals(mod)</a:t>
              </a:r>
            </a:p>
          </p:txBody>
        </p:sp>
        <p:sp>
          <p:nvSpPr>
            <p:cNvPr id="31" name="Line 51">
              <a:extLst>
                <a:ext uri="{FF2B5EF4-FFF2-40B4-BE49-F238E27FC236}">
                  <a16:creationId xmlns:a16="http://schemas.microsoft.com/office/drawing/2014/main" id="{A65C74B2-8908-4902-AFF8-1425D6DB008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855907" y="1785290"/>
              <a:ext cx="616909" cy="1031001"/>
            </a:xfrm>
            <a:prstGeom prst="line">
              <a:avLst/>
            </a:prstGeom>
            <a:noFill/>
            <a:ln w="22225">
              <a:solidFill>
                <a:srgbClr val="000080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A33F0335-DD32-2615-A242-57D1105F1663}"/>
              </a:ext>
            </a:extLst>
          </p:cNvPr>
          <p:cNvGrpSpPr/>
          <p:nvPr/>
        </p:nvGrpSpPr>
        <p:grpSpPr>
          <a:xfrm>
            <a:off x="6939370" y="4092109"/>
            <a:ext cx="1732671" cy="986867"/>
            <a:chOff x="6939370" y="4092109"/>
            <a:chExt cx="1732671" cy="986867"/>
          </a:xfrm>
        </p:grpSpPr>
        <p:pic>
          <p:nvPicPr>
            <p:cNvPr id="29" name="Picture 28" descr="Icon&#10;&#10;Description automatically generated">
              <a:extLst>
                <a:ext uri="{FF2B5EF4-FFF2-40B4-BE49-F238E27FC236}">
                  <a16:creationId xmlns:a16="http://schemas.microsoft.com/office/drawing/2014/main" id="{8EE8BCA8-AA3B-4D45-8B6B-58269B5142B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85174" y="4092109"/>
              <a:ext cx="986867" cy="986867"/>
            </a:xfrm>
            <a:prstGeom prst="rect">
              <a:avLst/>
            </a:prstGeom>
          </p:spPr>
        </p:pic>
        <p:sp>
          <p:nvSpPr>
            <p:cNvPr id="32" name="Line 51">
              <a:extLst>
                <a:ext uri="{FF2B5EF4-FFF2-40B4-BE49-F238E27FC236}">
                  <a16:creationId xmlns:a16="http://schemas.microsoft.com/office/drawing/2014/main" id="{085342A2-85B9-4EE0-8D9C-06F8724B9B5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939370" y="4651298"/>
              <a:ext cx="527960" cy="0"/>
            </a:xfrm>
            <a:prstGeom prst="line">
              <a:avLst/>
            </a:prstGeom>
            <a:noFill/>
            <a:ln w="22225">
              <a:solidFill>
                <a:srgbClr val="000080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23AE1BA3-615A-6AA5-8916-96598445AE3A}"/>
              </a:ext>
            </a:extLst>
          </p:cNvPr>
          <p:cNvGrpSpPr/>
          <p:nvPr/>
        </p:nvGrpSpPr>
        <p:grpSpPr>
          <a:xfrm>
            <a:off x="7018983" y="1571561"/>
            <a:ext cx="1706608" cy="400785"/>
            <a:chOff x="7018983" y="1571561"/>
            <a:chExt cx="1706608" cy="400785"/>
          </a:xfrm>
        </p:grpSpPr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0B8AB6A0-39BE-468D-BE15-EE0E91E32B3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471520" y="1571561"/>
              <a:ext cx="1254071" cy="400785"/>
            </a:xfrm>
            <a:prstGeom prst="rect">
              <a:avLst/>
            </a:prstGeom>
          </p:spPr>
        </p:pic>
        <p:sp>
          <p:nvSpPr>
            <p:cNvPr id="33" name="Line 51">
              <a:extLst>
                <a:ext uri="{FF2B5EF4-FFF2-40B4-BE49-F238E27FC236}">
                  <a16:creationId xmlns:a16="http://schemas.microsoft.com/office/drawing/2014/main" id="{CD6F3D80-C9E8-42C4-838D-CB645A76ABE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018983" y="1785291"/>
              <a:ext cx="377115" cy="0"/>
            </a:xfrm>
            <a:prstGeom prst="line">
              <a:avLst/>
            </a:prstGeom>
            <a:noFill/>
            <a:ln w="22225">
              <a:solidFill>
                <a:srgbClr val="000080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28F58FC7-540A-6A8F-F83E-269826670E4B}"/>
              </a:ext>
            </a:extLst>
          </p:cNvPr>
          <p:cNvGrpSpPr/>
          <p:nvPr/>
        </p:nvGrpSpPr>
        <p:grpSpPr>
          <a:xfrm>
            <a:off x="4752775" y="3769174"/>
            <a:ext cx="2260521" cy="1309802"/>
            <a:chOff x="4752775" y="3769174"/>
            <a:chExt cx="2260521" cy="1309802"/>
          </a:xfrm>
        </p:grpSpPr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4481675F-C191-D1BB-A76F-D9C7C19AC268}"/>
                </a:ext>
              </a:extLst>
            </p:cNvPr>
            <p:cNvGrpSpPr/>
            <p:nvPr/>
          </p:nvGrpSpPr>
          <p:grpSpPr>
            <a:xfrm>
              <a:off x="5580263" y="4249325"/>
              <a:ext cx="1433033" cy="829651"/>
              <a:chOff x="5580263" y="4249325"/>
              <a:chExt cx="1433033" cy="829651"/>
            </a:xfrm>
          </p:grpSpPr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FACE3452-E979-4E88-BFF9-72B54B8656AE}"/>
                  </a:ext>
                </a:extLst>
              </p:cNvPr>
              <p:cNvSpPr txBox="1"/>
              <p:nvPr/>
            </p:nvSpPr>
            <p:spPr>
              <a:xfrm>
                <a:off x="5625075" y="4371762"/>
                <a:ext cx="1343407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coef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(mod)</a:t>
                </a:r>
              </a:p>
              <a:p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confint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(mod</a:t>
                </a:r>
                <a:r>
                  <a:rPr lang="en-US" sz="1600" dirty="0"/>
                  <a:t>)</a:t>
                </a:r>
              </a:p>
            </p:txBody>
          </p:sp>
          <p:sp>
            <p:nvSpPr>
              <p:cNvPr id="23" name="AutoShape 30">
                <a:extLst>
                  <a:ext uri="{FF2B5EF4-FFF2-40B4-BE49-F238E27FC236}">
                    <a16:creationId xmlns:a16="http://schemas.microsoft.com/office/drawing/2014/main" id="{99BD8B93-D9BF-4BF0-BC53-7224397BD1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80263" y="4249325"/>
                <a:ext cx="1433033" cy="829651"/>
              </a:xfrm>
              <a:prstGeom prst="flowChartAlternateProcess">
                <a:avLst/>
              </a:prstGeom>
              <a:solidFill>
                <a:schemeClr val="accent3">
                  <a:lumMod val="60000"/>
                  <a:lumOff val="40000"/>
                  <a:alpha val="39999"/>
                </a:schemeClr>
              </a:solidFill>
              <a:ln w="19050" algn="ctr">
                <a:solidFill>
                  <a:schemeClr val="accent3">
                    <a:lumMod val="50000"/>
                  </a:schemeClr>
                </a:solidFill>
                <a:miter lim="800000"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 dirty="0"/>
              </a:p>
            </p:txBody>
          </p:sp>
        </p:grpSp>
        <p:sp>
          <p:nvSpPr>
            <p:cNvPr id="34" name="Line 51">
              <a:extLst>
                <a:ext uri="{FF2B5EF4-FFF2-40B4-BE49-F238E27FC236}">
                  <a16:creationId xmlns:a16="http://schemas.microsoft.com/office/drawing/2014/main" id="{368BC483-DACD-4537-B725-2609220411F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52775" y="3769174"/>
              <a:ext cx="718566" cy="953573"/>
            </a:xfrm>
            <a:prstGeom prst="line">
              <a:avLst/>
            </a:prstGeom>
            <a:noFill/>
            <a:ln w="22225">
              <a:solidFill>
                <a:srgbClr val="000080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EBB7DF0E-1601-43C8-97CC-5FB27082F56C}"/>
              </a:ext>
            </a:extLst>
          </p:cNvPr>
          <p:cNvSpPr txBox="1"/>
          <p:nvPr/>
        </p:nvSpPr>
        <p:spPr>
          <a:xfrm>
            <a:off x="550028" y="5670221"/>
            <a:ext cx="13576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data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1D931EE-7450-4ADC-A594-595C4D9809F1}"/>
              </a:ext>
            </a:extLst>
          </p:cNvPr>
          <p:cNvSpPr txBox="1"/>
          <p:nvPr/>
        </p:nvSpPr>
        <p:spPr>
          <a:xfrm>
            <a:off x="1907638" y="5454778"/>
            <a:ext cx="179188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model function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04F56C0-AB6C-4AD8-85E3-07F1EF8C5037}"/>
              </a:ext>
            </a:extLst>
          </p:cNvPr>
          <p:cNvSpPr txBox="1"/>
          <p:nvPr/>
        </p:nvSpPr>
        <p:spPr>
          <a:xfrm>
            <a:off x="5705021" y="5670221"/>
            <a:ext cx="13576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method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076F707-51DF-4D1F-AC8B-AE1C62A9870F}"/>
              </a:ext>
            </a:extLst>
          </p:cNvPr>
          <p:cNvSpPr txBox="1"/>
          <p:nvPr/>
        </p:nvSpPr>
        <p:spPr>
          <a:xfrm>
            <a:off x="7499802" y="5670221"/>
            <a:ext cx="13576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output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B6ED1B0-A004-4529-BEA0-C3B64BB015EF}"/>
              </a:ext>
            </a:extLst>
          </p:cNvPr>
          <p:cNvSpPr txBox="1"/>
          <p:nvPr/>
        </p:nvSpPr>
        <p:spPr>
          <a:xfrm>
            <a:off x="3699519" y="5670221"/>
            <a:ext cx="13576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object</a:t>
            </a:r>
          </a:p>
        </p:txBody>
      </p:sp>
    </p:spTree>
    <p:extLst>
      <p:ext uri="{BB962C8B-B14F-4D97-AF65-F5344CB8AC3E}">
        <p14:creationId xmlns:p14="http://schemas.microsoft.com/office/powerpoint/2010/main" val="22502594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  <p:bldP spid="38" grpId="0"/>
      <p:bldP spid="39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2717D-B669-4688-918E-C125B1B32B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 functions &amp;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482847-79B5-4BA9-A9C4-84E79FF2C6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724400"/>
          </a:xfrm>
        </p:spPr>
        <p:txBody>
          <a:bodyPr>
            <a:normAutofit/>
          </a:bodyPr>
          <a:lstStyle/>
          <a:p>
            <a:r>
              <a:rPr lang="en-US" sz="2000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loglm</a:t>
            </a:r>
            <a:r>
              <a:rPr lang="en-US" sz="20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US" sz="2400" dirty="0"/>
              <a:t>and </a:t>
            </a:r>
            <a:r>
              <a:rPr lang="en-US" sz="2000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glm</a:t>
            </a:r>
            <a:r>
              <a:rPr lang="en-US" sz="20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US" sz="2400" dirty="0"/>
              <a:t>return an R object with named components and with a </a:t>
            </a: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class()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– here “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loglm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”</a:t>
            </a:r>
            <a:endParaRPr lang="en-US" sz="2000" b="1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sz="2400" dirty="0"/>
          </a:p>
          <a:p>
            <a:r>
              <a:rPr lang="en-US" sz="2400" dirty="0"/>
              <a:t>Objects have </a:t>
            </a:r>
            <a:r>
              <a:rPr lang="en-US" sz="2400" dirty="0">
                <a:solidFill>
                  <a:srgbClr val="0070C0"/>
                </a:solidFill>
              </a:rPr>
              <a:t>methods</a:t>
            </a:r>
            <a:r>
              <a:rPr lang="en-US" sz="2400" dirty="0"/>
              <a:t>: </a:t>
            </a:r>
            <a:r>
              <a:rPr lang="en-US" sz="1800" b="1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print(), summary(), </a:t>
            </a:r>
            <a:r>
              <a:rPr lang="en-US" sz="1800" b="1" dirty="0" err="1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coef</a:t>
            </a:r>
            <a:r>
              <a:rPr lang="en-US" sz="1800" b="1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(), residuals()</a:t>
            </a:r>
            <a:r>
              <a:rPr lang="en-US" sz="1800" b="1" dirty="0">
                <a:solidFill>
                  <a:schemeClr val="accent2">
                    <a:lumMod val="75000"/>
                  </a:schemeClr>
                </a:solidFill>
              </a:rPr>
              <a:t>, </a:t>
            </a:r>
            <a:r>
              <a:rPr lang="en-US" sz="1800" b="1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plot() </a:t>
            </a:r>
            <a:r>
              <a:rPr lang="en-US" sz="2400" dirty="0"/>
              <a:t>and other methods</a:t>
            </a:r>
          </a:p>
          <a:p>
            <a:pPr lvl="1"/>
            <a:r>
              <a:rPr lang="en-US" sz="2000" dirty="0"/>
              <a:t>Methods are specific to the class of the object</a:t>
            </a:r>
          </a:p>
          <a:p>
            <a:pPr lvl="2"/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print(arth.mod) </a:t>
            </a:r>
            <a:r>
              <a:rPr lang="en-US" sz="1600" dirty="0">
                <a:sym typeface="Symbol" panose="05050102010706020507" pitchFamily="18" charset="2"/>
              </a:rPr>
              <a:t>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  <a:sym typeface="Symbol" panose="05050102010706020507" pitchFamily="18" charset="2"/>
              </a:rPr>
              <a:t>print.loglm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  <a:sym typeface="Symbol" panose="05050102010706020507" pitchFamily="18" charset="2"/>
              </a:rPr>
              <a:t>(arth.mod)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2"/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residuals(arth.mod) </a:t>
            </a:r>
            <a:r>
              <a:rPr lang="en-US" sz="1600" dirty="0">
                <a:sym typeface="Symbol" panose="05050102010706020507" pitchFamily="18" charset="2"/>
              </a:rPr>
              <a:t>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  <a:sym typeface="Symbol" panose="05050102010706020507" pitchFamily="18" charset="2"/>
              </a:rPr>
              <a:t>residuals.loglm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  <a:sym typeface="Symbol" panose="05050102010706020507" pitchFamily="18" charset="2"/>
              </a:rPr>
              <a:t>(arth.mod)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B346A5-444D-499E-B1D4-4979F4105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28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03C4064-CD06-4544-A088-B76D332E3BD4}"/>
              </a:ext>
            </a:extLst>
          </p:cNvPr>
          <p:cNvSpPr txBox="1"/>
          <p:nvPr/>
        </p:nvSpPr>
        <p:spPr>
          <a:xfrm>
            <a:off x="641931" y="2121068"/>
            <a:ext cx="7860138" cy="1569660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Consolas" panose="020B0609020204030204" pitchFamily="49" charset="0"/>
                <a:cs typeface="Courier New" panose="02070309020205020404" pitchFamily="49" charset="0"/>
              </a:rPr>
              <a:t>&gt; arth.mod &lt;- </a:t>
            </a:r>
            <a:r>
              <a:rPr lang="en-US" sz="1200" dirty="0" err="1">
                <a:latin typeface="Consolas" panose="020B0609020204030204" pitchFamily="49" charset="0"/>
                <a:cs typeface="Courier New" panose="02070309020205020404" pitchFamily="49" charset="0"/>
              </a:rPr>
              <a:t>loglm</a:t>
            </a:r>
            <a:r>
              <a:rPr lang="en-US" sz="1200" dirty="0">
                <a:latin typeface="Consolas" panose="020B0609020204030204" pitchFamily="49" charset="0"/>
                <a:cs typeface="Courier New" panose="02070309020205020404" pitchFamily="49" charset="0"/>
              </a:rPr>
              <a:t>(~</a:t>
            </a:r>
            <a:r>
              <a:rPr lang="en-US" sz="1200" dirty="0" err="1">
                <a:latin typeface="Consolas" panose="020B0609020204030204" pitchFamily="49" charset="0"/>
                <a:cs typeface="Courier New" panose="02070309020205020404" pitchFamily="49" charset="0"/>
              </a:rPr>
              <a:t>Treatment+Improved</a:t>
            </a:r>
            <a:r>
              <a:rPr lang="en-US" sz="1200" dirty="0">
                <a:latin typeface="Consolas" panose="020B0609020204030204" pitchFamily="49" charset="0"/>
                <a:cs typeface="Courier New" panose="02070309020205020404" pitchFamily="49" charset="0"/>
              </a:rPr>
              <a:t>, data=</a:t>
            </a:r>
            <a:r>
              <a:rPr lang="en-US" sz="1200" dirty="0" err="1">
                <a:latin typeface="Consolas" panose="020B0609020204030204" pitchFamily="49" charset="0"/>
                <a:cs typeface="Courier New" panose="02070309020205020404" pitchFamily="49" charset="0"/>
              </a:rPr>
              <a:t>arth.tab</a:t>
            </a:r>
            <a:r>
              <a:rPr lang="en-US" sz="1200" dirty="0">
                <a:latin typeface="Consolas" panose="020B0609020204030204" pitchFamily="49" charset="0"/>
                <a:cs typeface="Courier New" panose="02070309020205020404" pitchFamily="49" charset="0"/>
              </a:rPr>
              <a:t>, fitted=TRUE)</a:t>
            </a:r>
          </a:p>
          <a:p>
            <a:endParaRPr lang="en-US" sz="1200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nsolas" panose="020B0609020204030204" pitchFamily="49" charset="0"/>
                <a:cs typeface="Courier New" panose="02070309020205020404" pitchFamily="49" charset="0"/>
              </a:rPr>
              <a:t>&gt; names(arth.mod)</a:t>
            </a:r>
          </a:p>
          <a:p>
            <a:r>
              <a:rPr lang="en-US" sz="1200" dirty="0">
                <a:latin typeface="Consolas" panose="020B0609020204030204" pitchFamily="49" charset="0"/>
                <a:cs typeface="Courier New" panose="02070309020205020404" pitchFamily="49" charset="0"/>
              </a:rPr>
              <a:t> [1] "</a:t>
            </a:r>
            <a:r>
              <a:rPr lang="en-US" sz="1200" dirty="0" err="1">
                <a:latin typeface="Consolas" panose="020B0609020204030204" pitchFamily="49" charset="0"/>
                <a:cs typeface="Courier New" panose="02070309020205020404" pitchFamily="49" charset="0"/>
              </a:rPr>
              <a:t>lrt</a:t>
            </a:r>
            <a:r>
              <a:rPr lang="en-US" sz="1200" dirty="0">
                <a:latin typeface="Consolas" panose="020B0609020204030204" pitchFamily="49" charset="0"/>
                <a:cs typeface="Courier New" panose="02070309020205020404" pitchFamily="49" charset="0"/>
              </a:rPr>
              <a:t>"         "</a:t>
            </a:r>
            <a:r>
              <a:rPr lang="en-US" sz="1200" dirty="0" err="1">
                <a:latin typeface="Consolas" panose="020B0609020204030204" pitchFamily="49" charset="0"/>
                <a:cs typeface="Courier New" panose="02070309020205020404" pitchFamily="49" charset="0"/>
              </a:rPr>
              <a:t>pearson</a:t>
            </a:r>
            <a:r>
              <a:rPr lang="en-US" sz="1200" dirty="0">
                <a:latin typeface="Consolas" panose="020B0609020204030204" pitchFamily="49" charset="0"/>
                <a:cs typeface="Courier New" panose="02070309020205020404" pitchFamily="49" charset="0"/>
              </a:rPr>
              <a:t>"     "df"          "margin"      "fitted"      "param"      </a:t>
            </a:r>
          </a:p>
          <a:p>
            <a:r>
              <a:rPr lang="en-US" sz="1200" dirty="0">
                <a:latin typeface="Consolas" panose="020B0609020204030204" pitchFamily="49" charset="0"/>
                <a:cs typeface="Courier New" panose="02070309020205020404" pitchFamily="49" charset="0"/>
              </a:rPr>
              <a:t> [7] "call"        "formula"     "frequencies" "deviance"    "nobs"        "terms“</a:t>
            </a:r>
          </a:p>
          <a:p>
            <a:endParaRPr lang="en-US" sz="1200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nsolas" panose="020B0609020204030204" pitchFamily="49" charset="0"/>
                <a:cs typeface="Courier New" panose="02070309020205020404" pitchFamily="49" charset="0"/>
              </a:rPr>
              <a:t>class(arth.mod)</a:t>
            </a:r>
          </a:p>
          <a:p>
            <a:r>
              <a:rPr lang="en-US" sz="1200" dirty="0">
                <a:latin typeface="Consolas" panose="020B0609020204030204" pitchFamily="49" charset="0"/>
                <a:cs typeface="Courier New" panose="02070309020205020404" pitchFamily="49" charset="0"/>
              </a:rPr>
              <a:t> [1] "</a:t>
            </a:r>
            <a:r>
              <a:rPr lang="en-US" sz="1200" dirty="0" err="1">
                <a:latin typeface="Consolas" panose="020B0609020204030204" pitchFamily="49" charset="0"/>
                <a:cs typeface="Courier New" panose="02070309020205020404" pitchFamily="49" charset="0"/>
              </a:rPr>
              <a:t>loglm</a:t>
            </a:r>
            <a:r>
              <a:rPr lang="en-US" sz="1200" dirty="0">
                <a:latin typeface="Consolas" panose="020B0609020204030204" pitchFamily="49" charset="0"/>
                <a:cs typeface="Courier New" panose="02070309020205020404" pitchFamily="49" charset="0"/>
              </a:rPr>
              <a:t>" </a:t>
            </a:r>
          </a:p>
        </p:txBody>
      </p:sp>
    </p:spTree>
    <p:extLst>
      <p:ext uri="{BB962C8B-B14F-4D97-AF65-F5344CB8AC3E}">
        <p14:creationId xmlns:p14="http://schemas.microsoft.com/office/powerpoint/2010/main" val="29225591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6722C0-A5B7-4794-841D-1CB980368E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Example: Arthritis treatment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AD0C248-F112-43D4-AD2F-6CAA8E261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29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2487EEC-A125-4B6E-AA6E-AACE99428648}"/>
              </a:ext>
            </a:extLst>
          </p:cNvPr>
          <p:cNvSpPr txBox="1"/>
          <p:nvPr/>
        </p:nvSpPr>
        <p:spPr>
          <a:xfrm>
            <a:off x="457200" y="1219200"/>
            <a:ext cx="8229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Data on effects of treatment for rheumatoid arthritis (in </a:t>
            </a:r>
            <a:r>
              <a:rPr lang="en-US" sz="20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case form</a:t>
            </a:r>
            <a:r>
              <a:rPr lang="en-US" sz="2000" dirty="0"/>
              <a:t>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F21402-1695-45B5-985D-BF0F195DDE13}"/>
              </a:ext>
            </a:extLst>
          </p:cNvPr>
          <p:cNvSpPr txBox="1"/>
          <p:nvPr/>
        </p:nvSpPr>
        <p:spPr>
          <a:xfrm>
            <a:off x="457200" y="1817132"/>
            <a:ext cx="8229600" cy="1569660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&gt; data(Arthritis, package="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vcd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")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&gt; str(Arthritis)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data.frame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':	84 obs. of  5 variables: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$ ID       : int  57 46 77 17 36 23 75 39 33 55 ...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$ Treatment: Factor w/ 2 levels "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Placebo","Treated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": 2 2 2 2 2 2 2 2 2 2 ...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$ Sex      : Factor w/ 2 levels "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Female","Male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": 2 2 2 2 2 2 2 2 2 2 ...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$ Age      : int  27 29 30 32 46 58 59 59 63 63 ...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$ Improved :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Ord.factor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w/ 3 levels "None"&lt;"Some"&lt;..: 2 1 1 3 3 3 1 3 1 1 ...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260FA47-598F-4996-AF88-FF913F7DE354}"/>
              </a:ext>
            </a:extLst>
          </p:cNvPr>
          <p:cNvSpPr txBox="1"/>
          <p:nvPr/>
        </p:nvSpPr>
        <p:spPr>
          <a:xfrm>
            <a:off x="533400" y="3657600"/>
            <a:ext cx="807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For now, ignore Age; consider the 2 x 3 table of Treatment x Improved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5DCC82-C7BD-4A8F-AEB9-B66503269AA1}"/>
              </a:ext>
            </a:extLst>
          </p:cNvPr>
          <p:cNvSpPr txBox="1"/>
          <p:nvPr/>
        </p:nvSpPr>
        <p:spPr>
          <a:xfrm>
            <a:off x="533400" y="4297740"/>
            <a:ext cx="8153400" cy="1569660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arth.tab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&lt;- 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with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(Arthritis, 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table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(Treatment, Improved))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arth.tab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Improved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Treatment None Some Marked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Placebo   29    7      7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Treated   13    7     21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3C77024-8D3A-62ED-6340-469632EC0A58}"/>
              </a:ext>
            </a:extLst>
          </p:cNvPr>
          <p:cNvSpPr txBox="1"/>
          <p:nvPr/>
        </p:nvSpPr>
        <p:spPr>
          <a:xfrm>
            <a:off x="5638800" y="5181600"/>
            <a:ext cx="2504440" cy="523220"/>
          </a:xfrm>
          <a:custGeom>
            <a:avLst/>
            <a:gdLst>
              <a:gd name="csX0" fmla="*/ 0 w 2504440"/>
              <a:gd name="csY0" fmla="*/ 0 h 523220"/>
              <a:gd name="csX1" fmla="*/ 475844 w 2504440"/>
              <a:gd name="csY1" fmla="*/ 0 h 523220"/>
              <a:gd name="csX2" fmla="*/ 976732 w 2504440"/>
              <a:gd name="csY2" fmla="*/ 0 h 523220"/>
              <a:gd name="csX3" fmla="*/ 1502664 w 2504440"/>
              <a:gd name="csY3" fmla="*/ 0 h 523220"/>
              <a:gd name="csX4" fmla="*/ 2028596 w 2504440"/>
              <a:gd name="csY4" fmla="*/ 0 h 523220"/>
              <a:gd name="csX5" fmla="*/ 2504440 w 2504440"/>
              <a:gd name="csY5" fmla="*/ 0 h 523220"/>
              <a:gd name="csX6" fmla="*/ 2504440 w 2504440"/>
              <a:gd name="csY6" fmla="*/ 523220 h 523220"/>
              <a:gd name="csX7" fmla="*/ 1953463 w 2504440"/>
              <a:gd name="csY7" fmla="*/ 523220 h 523220"/>
              <a:gd name="csX8" fmla="*/ 1402486 w 2504440"/>
              <a:gd name="csY8" fmla="*/ 523220 h 523220"/>
              <a:gd name="csX9" fmla="*/ 901598 w 2504440"/>
              <a:gd name="csY9" fmla="*/ 523220 h 523220"/>
              <a:gd name="csX10" fmla="*/ 0 w 2504440"/>
              <a:gd name="csY10" fmla="*/ 523220 h 523220"/>
              <a:gd name="csX11" fmla="*/ 0 w 2504440"/>
              <a:gd name="csY11" fmla="*/ 0 h 52322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2504440" h="523220" fill="none" extrusionOk="0">
                <a:moveTo>
                  <a:pt x="0" y="0"/>
                </a:moveTo>
                <a:cubicBezTo>
                  <a:pt x="117316" y="-47852"/>
                  <a:pt x="297237" y="29354"/>
                  <a:pt x="475844" y="0"/>
                </a:cubicBezTo>
                <a:cubicBezTo>
                  <a:pt x="654451" y="-29354"/>
                  <a:pt x="838575" y="40004"/>
                  <a:pt x="976732" y="0"/>
                </a:cubicBezTo>
                <a:cubicBezTo>
                  <a:pt x="1114889" y="-40004"/>
                  <a:pt x="1322609" y="57615"/>
                  <a:pt x="1502664" y="0"/>
                </a:cubicBezTo>
                <a:cubicBezTo>
                  <a:pt x="1682719" y="-57615"/>
                  <a:pt x="1798044" y="32961"/>
                  <a:pt x="2028596" y="0"/>
                </a:cubicBezTo>
                <a:cubicBezTo>
                  <a:pt x="2259148" y="-32961"/>
                  <a:pt x="2340721" y="30405"/>
                  <a:pt x="2504440" y="0"/>
                </a:cubicBezTo>
                <a:cubicBezTo>
                  <a:pt x="2550663" y="112562"/>
                  <a:pt x="2453915" y="314588"/>
                  <a:pt x="2504440" y="523220"/>
                </a:cubicBezTo>
                <a:cubicBezTo>
                  <a:pt x="2346019" y="585591"/>
                  <a:pt x="2180460" y="520074"/>
                  <a:pt x="1953463" y="523220"/>
                </a:cubicBezTo>
                <a:cubicBezTo>
                  <a:pt x="1726466" y="526366"/>
                  <a:pt x="1555162" y="483965"/>
                  <a:pt x="1402486" y="523220"/>
                </a:cubicBezTo>
                <a:cubicBezTo>
                  <a:pt x="1249810" y="562475"/>
                  <a:pt x="1012124" y="515214"/>
                  <a:pt x="901598" y="523220"/>
                </a:cubicBezTo>
                <a:cubicBezTo>
                  <a:pt x="791072" y="531226"/>
                  <a:pt x="181301" y="497329"/>
                  <a:pt x="0" y="523220"/>
                </a:cubicBezTo>
                <a:cubicBezTo>
                  <a:pt x="-14919" y="381548"/>
                  <a:pt x="36509" y="207727"/>
                  <a:pt x="0" y="0"/>
                </a:cubicBezTo>
                <a:close/>
              </a:path>
              <a:path w="2504440" h="523220" stroke="0" extrusionOk="0">
                <a:moveTo>
                  <a:pt x="0" y="0"/>
                </a:moveTo>
                <a:cubicBezTo>
                  <a:pt x="172106" y="-53965"/>
                  <a:pt x="322323" y="15326"/>
                  <a:pt x="475844" y="0"/>
                </a:cubicBezTo>
                <a:cubicBezTo>
                  <a:pt x="629365" y="-15326"/>
                  <a:pt x="708632" y="38547"/>
                  <a:pt x="901598" y="0"/>
                </a:cubicBezTo>
                <a:cubicBezTo>
                  <a:pt x="1094564" y="-38547"/>
                  <a:pt x="1269121" y="38499"/>
                  <a:pt x="1452575" y="0"/>
                </a:cubicBezTo>
                <a:cubicBezTo>
                  <a:pt x="1636029" y="-38499"/>
                  <a:pt x="1694509" y="11874"/>
                  <a:pt x="1928419" y="0"/>
                </a:cubicBezTo>
                <a:cubicBezTo>
                  <a:pt x="2162329" y="-11874"/>
                  <a:pt x="2302807" y="59576"/>
                  <a:pt x="2504440" y="0"/>
                </a:cubicBezTo>
                <a:cubicBezTo>
                  <a:pt x="2553508" y="196768"/>
                  <a:pt x="2448649" y="382671"/>
                  <a:pt x="2504440" y="523220"/>
                </a:cubicBezTo>
                <a:cubicBezTo>
                  <a:pt x="2387865" y="532594"/>
                  <a:pt x="2242080" y="504810"/>
                  <a:pt x="2003552" y="523220"/>
                </a:cubicBezTo>
                <a:cubicBezTo>
                  <a:pt x="1765024" y="541630"/>
                  <a:pt x="1574468" y="516095"/>
                  <a:pt x="1452575" y="523220"/>
                </a:cubicBezTo>
                <a:cubicBezTo>
                  <a:pt x="1330682" y="530345"/>
                  <a:pt x="1189672" y="514483"/>
                  <a:pt x="1026820" y="523220"/>
                </a:cubicBezTo>
                <a:cubicBezTo>
                  <a:pt x="863969" y="531957"/>
                  <a:pt x="646506" y="511437"/>
                  <a:pt x="525932" y="523220"/>
                </a:cubicBezTo>
                <a:cubicBezTo>
                  <a:pt x="405358" y="535003"/>
                  <a:pt x="174315" y="516933"/>
                  <a:pt x="0" y="523220"/>
                </a:cubicBezTo>
                <a:cubicBezTo>
                  <a:pt x="-23839" y="301885"/>
                  <a:pt x="37804" y="228535"/>
                  <a:pt x="0" y="0"/>
                </a:cubicBezTo>
                <a:close/>
              </a:path>
            </a:pathLst>
          </a:custGeom>
          <a:solidFill>
            <a:schemeClr val="bg1">
              <a:alpha val="50000"/>
            </a:schemeClr>
          </a:solidFill>
          <a:ln w="25400">
            <a:solidFill>
              <a:schemeClr val="accent1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r>
              <a:rPr lang="en-CA" sz="1400" dirty="0" err="1"/>
              <a:t>arth.tab</a:t>
            </a:r>
            <a:r>
              <a:rPr lang="en-CA" sz="1400" dirty="0"/>
              <a:t>  is a “table” object </a:t>
            </a:r>
            <a:r>
              <a:rPr lang="en-CA" sz="1400" dirty="0" err="1"/>
              <a:t>print.table</a:t>
            </a:r>
            <a:r>
              <a:rPr lang="en-CA" sz="1400" dirty="0"/>
              <a:t>() gives this output</a:t>
            </a:r>
          </a:p>
        </p:txBody>
      </p:sp>
    </p:spTree>
    <p:extLst>
      <p:ext uri="{BB962C8B-B14F-4D97-AF65-F5344CB8AC3E}">
        <p14:creationId xmlns:p14="http://schemas.microsoft.com/office/powerpoint/2010/main" val="168244171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9D6DD-396A-47CE-863B-F5D8DB87A6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Arthritis treatment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A3E7FE7-0B15-4D60-8EAF-1918C21C0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30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2DCF13-2F3E-4BBF-B1AD-5C99FF746D22}"/>
              </a:ext>
            </a:extLst>
          </p:cNvPr>
          <p:cNvSpPr txBox="1"/>
          <p:nvPr/>
        </p:nvSpPr>
        <p:spPr>
          <a:xfrm>
            <a:off x="457200" y="1143000"/>
            <a:ext cx="8229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Fit the independence model, 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~ Treatment + Improved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1DE256-2B8B-4213-8184-384AEF942A7B}"/>
              </a:ext>
            </a:extLst>
          </p:cNvPr>
          <p:cNvSpPr txBox="1"/>
          <p:nvPr/>
        </p:nvSpPr>
        <p:spPr>
          <a:xfrm>
            <a:off x="457200" y="1731962"/>
            <a:ext cx="8229600" cy="1815882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arth.mod &lt;- </a:t>
            </a:r>
            <a:r>
              <a:rPr lang="en-US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loglm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(~Treatment + Improved, data =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arth.tab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fitted=TRUE)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Call:</a:t>
            </a:r>
          </a:p>
          <a:p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loglm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(formula = ~Treatment + Improved, data =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arth.tab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fitted = TRUE)</a:t>
            </a:r>
          </a:p>
          <a:p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Statistics: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X^2 df P(&gt; X^2)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Likelihood Ratio 13.53  2 0.001154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Pearson          13.06  2 0.001463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BE91233-2972-4DA0-B06A-4A594093BC5E}"/>
              </a:ext>
            </a:extLst>
          </p:cNvPr>
          <p:cNvSpPr txBox="1"/>
          <p:nvPr/>
        </p:nvSpPr>
        <p:spPr>
          <a:xfrm>
            <a:off x="457200" y="4189114"/>
            <a:ext cx="3962400" cy="2031325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round(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residuals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(arth.mod), 3)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Improved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Treatment   None   Some Marked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Placebo  1.535 -0.063 -2.152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Treated -1.777  0.064  1.837</a:t>
            </a:r>
          </a:p>
          <a:p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fr-FR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Likelihood</a:t>
            </a:r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ratio </a:t>
            </a:r>
            <a:r>
              <a:rPr lang="fr-FR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chisquare</a:t>
            </a:r>
            <a:endParaRPr lang="fr-FR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fr-FR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deviance</a:t>
            </a:r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(arth.mod)</a:t>
            </a:r>
          </a:p>
          <a:p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[1] 13.53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5595FD5-D993-40AF-B481-E92055F60A6F}"/>
              </a:ext>
            </a:extLst>
          </p:cNvPr>
          <p:cNvSpPr txBox="1"/>
          <p:nvPr/>
        </p:nvSpPr>
        <p:spPr>
          <a:xfrm>
            <a:off x="4561840" y="4189114"/>
            <a:ext cx="3733800" cy="2462213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US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coef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(arth.mod)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$`(Intercept)`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[1] 2.543</a:t>
            </a:r>
          </a:p>
          <a:p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$Treatment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Placebo  Treated 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0.0238  -0.0238 </a:t>
            </a:r>
          </a:p>
          <a:p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$Improved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None     Some   Marked 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0.5014  -0.5972   0.0959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0EF17CE-A713-40AB-8E2F-41DC6C157038}"/>
              </a:ext>
            </a:extLst>
          </p:cNvPr>
          <p:cNvSpPr txBox="1"/>
          <p:nvPr/>
        </p:nvSpPr>
        <p:spPr>
          <a:xfrm>
            <a:off x="457200" y="3683000"/>
            <a:ext cx="5562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Some methods: residuals(), deviance(), </a:t>
            </a:r>
            <a:r>
              <a:rPr lang="en-US" dirty="0" err="1"/>
              <a:t>coef</a:t>
            </a:r>
            <a:r>
              <a:rPr lang="en-US" dirty="0"/>
              <a:t>(), …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FB61299-2812-F9E4-7B30-FC2E45494DAE}"/>
              </a:ext>
            </a:extLst>
          </p:cNvPr>
          <p:cNvSpPr txBox="1"/>
          <p:nvPr/>
        </p:nvSpPr>
        <p:spPr>
          <a:xfrm>
            <a:off x="5791200" y="2819400"/>
            <a:ext cx="2504440" cy="523220"/>
          </a:xfrm>
          <a:custGeom>
            <a:avLst/>
            <a:gdLst>
              <a:gd name="csX0" fmla="*/ 0 w 2504440"/>
              <a:gd name="csY0" fmla="*/ 0 h 523220"/>
              <a:gd name="csX1" fmla="*/ 475844 w 2504440"/>
              <a:gd name="csY1" fmla="*/ 0 h 523220"/>
              <a:gd name="csX2" fmla="*/ 976732 w 2504440"/>
              <a:gd name="csY2" fmla="*/ 0 h 523220"/>
              <a:gd name="csX3" fmla="*/ 1502664 w 2504440"/>
              <a:gd name="csY3" fmla="*/ 0 h 523220"/>
              <a:gd name="csX4" fmla="*/ 2028596 w 2504440"/>
              <a:gd name="csY4" fmla="*/ 0 h 523220"/>
              <a:gd name="csX5" fmla="*/ 2504440 w 2504440"/>
              <a:gd name="csY5" fmla="*/ 0 h 523220"/>
              <a:gd name="csX6" fmla="*/ 2504440 w 2504440"/>
              <a:gd name="csY6" fmla="*/ 523220 h 523220"/>
              <a:gd name="csX7" fmla="*/ 1953463 w 2504440"/>
              <a:gd name="csY7" fmla="*/ 523220 h 523220"/>
              <a:gd name="csX8" fmla="*/ 1402486 w 2504440"/>
              <a:gd name="csY8" fmla="*/ 523220 h 523220"/>
              <a:gd name="csX9" fmla="*/ 901598 w 2504440"/>
              <a:gd name="csY9" fmla="*/ 523220 h 523220"/>
              <a:gd name="csX10" fmla="*/ 0 w 2504440"/>
              <a:gd name="csY10" fmla="*/ 523220 h 523220"/>
              <a:gd name="csX11" fmla="*/ 0 w 2504440"/>
              <a:gd name="csY11" fmla="*/ 0 h 52322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2504440" h="523220" fill="none" extrusionOk="0">
                <a:moveTo>
                  <a:pt x="0" y="0"/>
                </a:moveTo>
                <a:cubicBezTo>
                  <a:pt x="117316" y="-47852"/>
                  <a:pt x="297237" y="29354"/>
                  <a:pt x="475844" y="0"/>
                </a:cubicBezTo>
                <a:cubicBezTo>
                  <a:pt x="654451" y="-29354"/>
                  <a:pt x="838575" y="40004"/>
                  <a:pt x="976732" y="0"/>
                </a:cubicBezTo>
                <a:cubicBezTo>
                  <a:pt x="1114889" y="-40004"/>
                  <a:pt x="1322609" y="57615"/>
                  <a:pt x="1502664" y="0"/>
                </a:cubicBezTo>
                <a:cubicBezTo>
                  <a:pt x="1682719" y="-57615"/>
                  <a:pt x="1798044" y="32961"/>
                  <a:pt x="2028596" y="0"/>
                </a:cubicBezTo>
                <a:cubicBezTo>
                  <a:pt x="2259148" y="-32961"/>
                  <a:pt x="2340721" y="30405"/>
                  <a:pt x="2504440" y="0"/>
                </a:cubicBezTo>
                <a:cubicBezTo>
                  <a:pt x="2550663" y="112562"/>
                  <a:pt x="2453915" y="314588"/>
                  <a:pt x="2504440" y="523220"/>
                </a:cubicBezTo>
                <a:cubicBezTo>
                  <a:pt x="2346019" y="585591"/>
                  <a:pt x="2180460" y="520074"/>
                  <a:pt x="1953463" y="523220"/>
                </a:cubicBezTo>
                <a:cubicBezTo>
                  <a:pt x="1726466" y="526366"/>
                  <a:pt x="1555162" y="483965"/>
                  <a:pt x="1402486" y="523220"/>
                </a:cubicBezTo>
                <a:cubicBezTo>
                  <a:pt x="1249810" y="562475"/>
                  <a:pt x="1012124" y="515214"/>
                  <a:pt x="901598" y="523220"/>
                </a:cubicBezTo>
                <a:cubicBezTo>
                  <a:pt x="791072" y="531226"/>
                  <a:pt x="181301" y="497329"/>
                  <a:pt x="0" y="523220"/>
                </a:cubicBezTo>
                <a:cubicBezTo>
                  <a:pt x="-14919" y="381548"/>
                  <a:pt x="36509" y="207727"/>
                  <a:pt x="0" y="0"/>
                </a:cubicBezTo>
                <a:close/>
              </a:path>
              <a:path w="2504440" h="523220" stroke="0" extrusionOk="0">
                <a:moveTo>
                  <a:pt x="0" y="0"/>
                </a:moveTo>
                <a:cubicBezTo>
                  <a:pt x="172106" y="-53965"/>
                  <a:pt x="322323" y="15326"/>
                  <a:pt x="475844" y="0"/>
                </a:cubicBezTo>
                <a:cubicBezTo>
                  <a:pt x="629365" y="-15326"/>
                  <a:pt x="708632" y="38547"/>
                  <a:pt x="901598" y="0"/>
                </a:cubicBezTo>
                <a:cubicBezTo>
                  <a:pt x="1094564" y="-38547"/>
                  <a:pt x="1269121" y="38499"/>
                  <a:pt x="1452575" y="0"/>
                </a:cubicBezTo>
                <a:cubicBezTo>
                  <a:pt x="1636029" y="-38499"/>
                  <a:pt x="1694509" y="11874"/>
                  <a:pt x="1928419" y="0"/>
                </a:cubicBezTo>
                <a:cubicBezTo>
                  <a:pt x="2162329" y="-11874"/>
                  <a:pt x="2302807" y="59576"/>
                  <a:pt x="2504440" y="0"/>
                </a:cubicBezTo>
                <a:cubicBezTo>
                  <a:pt x="2553508" y="196768"/>
                  <a:pt x="2448649" y="382671"/>
                  <a:pt x="2504440" y="523220"/>
                </a:cubicBezTo>
                <a:cubicBezTo>
                  <a:pt x="2387865" y="532594"/>
                  <a:pt x="2242080" y="504810"/>
                  <a:pt x="2003552" y="523220"/>
                </a:cubicBezTo>
                <a:cubicBezTo>
                  <a:pt x="1765024" y="541630"/>
                  <a:pt x="1574468" y="516095"/>
                  <a:pt x="1452575" y="523220"/>
                </a:cubicBezTo>
                <a:cubicBezTo>
                  <a:pt x="1330682" y="530345"/>
                  <a:pt x="1189672" y="514483"/>
                  <a:pt x="1026820" y="523220"/>
                </a:cubicBezTo>
                <a:cubicBezTo>
                  <a:pt x="863969" y="531957"/>
                  <a:pt x="646506" y="511437"/>
                  <a:pt x="525932" y="523220"/>
                </a:cubicBezTo>
                <a:cubicBezTo>
                  <a:pt x="405358" y="535003"/>
                  <a:pt x="174315" y="516933"/>
                  <a:pt x="0" y="523220"/>
                </a:cubicBezTo>
                <a:cubicBezTo>
                  <a:pt x="-23839" y="301885"/>
                  <a:pt x="37804" y="228535"/>
                  <a:pt x="0" y="0"/>
                </a:cubicBezTo>
                <a:close/>
              </a:path>
            </a:pathLst>
          </a:custGeom>
          <a:solidFill>
            <a:schemeClr val="bg1">
              <a:alpha val="50000"/>
            </a:schemeClr>
          </a:solidFill>
          <a:ln w="25400">
            <a:solidFill>
              <a:schemeClr val="accent1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r>
              <a:rPr lang="en-CA" sz="1400" dirty="0"/>
              <a:t>The method </a:t>
            </a:r>
            <a:r>
              <a:rPr lang="en-CA" sz="1400" dirty="0" err="1"/>
              <a:t>print.loglm</a:t>
            </a:r>
            <a:r>
              <a:rPr lang="en-CA" sz="1400" dirty="0"/>
              <a:t>() gives this output</a:t>
            </a:r>
          </a:p>
        </p:txBody>
      </p:sp>
    </p:spTree>
    <p:extLst>
      <p:ext uri="{BB962C8B-B14F-4D97-AF65-F5344CB8AC3E}">
        <p14:creationId xmlns:p14="http://schemas.microsoft.com/office/powerpoint/2010/main" val="2591054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BC3BA5-FBB0-4BA7-A88B-ED84AE85DB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Arthritis treatment: Plots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1D79603-4A3D-4EF1-BD9E-71415E9B2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31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EF0AB00-BDFC-4D95-9787-46D293A477C5}"/>
              </a:ext>
            </a:extLst>
          </p:cNvPr>
          <p:cNvSpPr txBox="1"/>
          <p:nvPr/>
        </p:nvSpPr>
        <p:spPr>
          <a:xfrm>
            <a:off x="457200" y="1183640"/>
            <a:ext cx="822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Visualization: </a:t>
            </a:r>
            <a:r>
              <a:rPr lang="en-US" sz="16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mosaic() </a:t>
            </a:r>
            <a:r>
              <a:rPr lang="en-US" dirty="0"/>
              <a:t>or </a:t>
            </a:r>
            <a:r>
              <a:rPr lang="en-US" sz="16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plot() </a:t>
            </a:r>
            <a:r>
              <a:rPr lang="en-US" dirty="0"/>
              <a:t>the model </a:t>
            </a:r>
            <a:r>
              <a:rPr lang="en-US" i="1" dirty="0"/>
              <a:t>or</a:t>
            </a:r>
            <a:r>
              <a:rPr lang="en-US" dirty="0"/>
              <a:t> table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E32E07D-482A-4FBF-AE06-8C95F1B12812}"/>
              </a:ext>
            </a:extLst>
          </p:cNvPr>
          <p:cNvSpPr txBox="1"/>
          <p:nvPr/>
        </p:nvSpPr>
        <p:spPr>
          <a:xfrm>
            <a:off x="457200" y="1655762"/>
            <a:ext cx="8229600" cy="584775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&gt; mosaic(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arth.mod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shade=TRUE,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gp_args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=list(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interpolate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=1:4),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labeling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labeling_values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FEE1D74-6CAF-48BA-955F-1999F5AE06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608506"/>
            <a:ext cx="5114286" cy="387619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EF00F5F-98CC-4770-985E-656F261ACC14}"/>
              </a:ext>
            </a:extLst>
          </p:cNvPr>
          <p:cNvSpPr txBox="1"/>
          <p:nvPr/>
        </p:nvSpPr>
        <p:spPr>
          <a:xfrm>
            <a:off x="6172200" y="3124200"/>
            <a:ext cx="25908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Splits by the response, 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Treatment</a:t>
            </a:r>
            <a:r>
              <a:rPr lang="en-US" dirty="0"/>
              <a:t> first</a:t>
            </a:r>
          </a:p>
          <a:p>
            <a:endParaRPr lang="en-US" dirty="0"/>
          </a:p>
          <a:p>
            <a:r>
              <a:rPr lang="en-US" dirty="0"/>
              <a:t>Custom scheme for shading levels; normally</a:t>
            </a:r>
          </a:p>
          <a:p>
            <a:r>
              <a:rPr lang="en-US" dirty="0"/>
              <a:t>c(2, 4) for |residual|</a:t>
            </a:r>
          </a:p>
          <a:p>
            <a:endParaRPr lang="en-US" dirty="0"/>
          </a:p>
          <a:p>
            <a:r>
              <a:rPr lang="en-US" dirty="0"/>
              <a:t>Cells can be labeled by </a:t>
            </a:r>
            <a:r>
              <a:rPr lang="en-US" dirty="0" err="1"/>
              <a:t>freq</a:t>
            </a:r>
            <a:r>
              <a:rPr lang="en-US" dirty="0"/>
              <a:t>, residual, … 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F3CE108-7169-0168-4E90-8850D5AB3A62}"/>
              </a:ext>
            </a:extLst>
          </p:cNvPr>
          <p:cNvCxnSpPr/>
          <p:nvPr/>
        </p:nvCxnSpPr>
        <p:spPr>
          <a:xfrm flipH="1" flipV="1">
            <a:off x="7010400" y="2057400"/>
            <a:ext cx="762000" cy="2057400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C3677F0-9CF3-90E9-A8D3-A5391C31DA18}"/>
              </a:ext>
            </a:extLst>
          </p:cNvPr>
          <p:cNvCxnSpPr/>
          <p:nvPr/>
        </p:nvCxnSpPr>
        <p:spPr>
          <a:xfrm flipH="1" flipV="1">
            <a:off x="5181600" y="2286000"/>
            <a:ext cx="1066800" cy="2819400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876632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061F2C-3A4C-4052-BF6F-8DE9D753F7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Arthritis treatment: </a:t>
            </a:r>
            <a:r>
              <a:rPr lang="en-US" dirty="0" err="1"/>
              <a:t>glm</a:t>
            </a:r>
            <a:r>
              <a:rPr lang="en-US" dirty="0"/>
              <a:t>()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29557D0-BFC0-46BA-932E-7E5B9CD7D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32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E04F235-99A3-4EF4-8793-33EA404035A8}"/>
              </a:ext>
            </a:extLst>
          </p:cNvPr>
          <p:cNvSpPr txBox="1"/>
          <p:nvPr/>
        </p:nvSpPr>
        <p:spPr>
          <a:xfrm>
            <a:off x="457200" y="1219200"/>
            <a:ext cx="8229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/>
              <a:t>glm</a:t>
            </a:r>
            <a:r>
              <a:rPr lang="en-US" sz="2000" dirty="0"/>
              <a:t>() for loglinear models easiest w/ the data as a </a:t>
            </a:r>
            <a:r>
              <a:rPr lang="en-US" sz="2000" dirty="0" err="1"/>
              <a:t>data.frame</a:t>
            </a:r>
            <a:r>
              <a:rPr lang="en-US" sz="2000" dirty="0"/>
              <a:t> in </a:t>
            </a:r>
            <a:r>
              <a:rPr lang="en-US" sz="2000" dirty="0">
                <a:solidFill>
                  <a:srgbClr val="0070C0"/>
                </a:solidFill>
              </a:rPr>
              <a:t>frequency</a:t>
            </a:r>
            <a:r>
              <a:rPr lang="en-US" sz="2000" dirty="0"/>
              <a:t> form, </a:t>
            </a:r>
            <a:r>
              <a:rPr lang="en-US" sz="2000" dirty="0">
                <a:solidFill>
                  <a:srgbClr val="0070C0"/>
                </a:solidFill>
              </a:rPr>
              <a:t>family=</a:t>
            </a:r>
            <a:r>
              <a:rPr lang="en-US" sz="2000" dirty="0" err="1">
                <a:solidFill>
                  <a:srgbClr val="0070C0"/>
                </a:solidFill>
              </a:rPr>
              <a:t>poisson</a:t>
            </a:r>
            <a:endParaRPr lang="en-US" sz="2000" dirty="0">
              <a:solidFill>
                <a:srgbClr val="0070C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B60F4C0-761C-4D26-BD8F-F15009D11EEB}"/>
              </a:ext>
            </a:extLst>
          </p:cNvPr>
          <p:cNvSpPr txBox="1"/>
          <p:nvPr/>
        </p:nvSpPr>
        <p:spPr>
          <a:xfrm>
            <a:off x="457200" y="2009497"/>
            <a:ext cx="8305800" cy="2246769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arth.df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&lt;- </a:t>
            </a:r>
            <a:r>
              <a:rPr lang="en-US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as.data.frame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xtabs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(~ Treatment + Improved,  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       data=Arthritis))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arth.df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Treatment Improved Freq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1   Placebo     None   29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2   Treated     None   13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3   Placebo     Some    7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4   Treated     Some    7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5   Placebo   Marked    7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6   Treated   Marked   21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FBDF89A-B4E8-4EB4-A00A-33B47B7B6308}"/>
              </a:ext>
            </a:extLst>
          </p:cNvPr>
          <p:cNvSpPr txBox="1"/>
          <p:nvPr/>
        </p:nvSpPr>
        <p:spPr>
          <a:xfrm>
            <a:off x="457200" y="4953000"/>
            <a:ext cx="8305800" cy="584775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arth.glm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&lt;-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glm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(Freq ~ Treatment + Improved, data =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arth.df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family =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poisson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A748AF6-95EF-48A7-BD34-4D119EF0A66B}"/>
              </a:ext>
            </a:extLst>
          </p:cNvPr>
          <p:cNvSpPr txBox="1"/>
          <p:nvPr/>
        </p:nvSpPr>
        <p:spPr>
          <a:xfrm>
            <a:off x="457200" y="5791200"/>
            <a:ext cx="7696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More on </a:t>
            </a:r>
            <a:r>
              <a:rPr lang="en-US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glm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US" dirty="0"/>
              <a:t>models later</a:t>
            </a:r>
          </a:p>
        </p:txBody>
      </p:sp>
    </p:spTree>
    <p:extLst>
      <p:ext uri="{BB962C8B-B14F-4D97-AF65-F5344CB8AC3E}">
        <p14:creationId xmlns:p14="http://schemas.microsoft.com/office/powerpoint/2010/main" val="385500171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73D6C0-43AD-4F4B-8DCE-039300FF04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Example: Hair color &amp; Eye color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B333840-5DBA-49C4-991F-1ADA8C0BC9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33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423F9FC-0BCA-4381-91EF-4B177DC1E46C}"/>
              </a:ext>
            </a:extLst>
          </p:cNvPr>
          <p:cNvSpPr txBox="1"/>
          <p:nvPr/>
        </p:nvSpPr>
        <p:spPr>
          <a:xfrm>
            <a:off x="457200" y="1295400"/>
            <a:ext cx="8229600" cy="4524315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haireye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&lt;-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margin.table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HairEyeColor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1:2)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&gt; (HE.mod &lt;-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loglm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(~ Hair + Eye, data=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haireye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))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Call:</a:t>
            </a:r>
          </a:p>
          <a:p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loglm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(formula = ~Hair + Eye, data =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haireye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Statistics: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X^2 df P(&gt; X^2)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Likelihood Ratio 146.4  9        0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Pearson          138.3  9        0</a:t>
            </a:r>
          </a:p>
          <a:p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&gt; round(residuals(HE.mod), 2)</a:t>
            </a:r>
          </a:p>
          <a:p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Re-fitting to get frequencies and fitted values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Eye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Hair    Brown  Blue Hazel Green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Black  4.00 -3.39 -0.49 -2.21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Brown  1.21 -2.02  1.31 -0.35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Red   -0.08 -1.85  0.82  2.04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Blond -7.33  6.17 -2.47  0.60</a:t>
            </a:r>
          </a:p>
        </p:txBody>
      </p:sp>
    </p:spTree>
    <p:extLst>
      <p:ext uri="{BB962C8B-B14F-4D97-AF65-F5344CB8AC3E}">
        <p14:creationId xmlns:p14="http://schemas.microsoft.com/office/powerpoint/2010/main" val="28786675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E6D438-BFF4-F358-E654-76A7419B3C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New in </a:t>
            </a:r>
            <a:r>
              <a:rPr lang="en-CA" dirty="0" err="1"/>
              <a:t>vcdExtra</a:t>
            </a:r>
            <a:r>
              <a:rPr lang="en-CA" dirty="0"/>
              <a:t>: </a:t>
            </a:r>
            <a:r>
              <a:rPr lang="en-CA" dirty="0" err="1"/>
              <a:t>color_table</a:t>
            </a:r>
            <a:r>
              <a:rPr lang="en-CA" dirty="0"/>
              <a:t>()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143EF66-AC54-E722-0835-08DAF69859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34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072EE2C-CF96-F895-27D7-826A67F00F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124200"/>
            <a:ext cx="3588432" cy="3060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D886CA5-8165-D29B-67ED-43ACE34A2360}"/>
              </a:ext>
            </a:extLst>
          </p:cNvPr>
          <p:cNvSpPr txBox="1"/>
          <p:nvPr/>
        </p:nvSpPr>
        <p:spPr>
          <a:xfrm>
            <a:off x="990600" y="1143000"/>
            <a:ext cx="7696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Idea: Semi-graphic “heatmap” display of a frequency table or residuals, shading background ~ residuals (remaining association, not fit by a model)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27877EA-A30F-D299-BCB4-8BB6D749C952}"/>
              </a:ext>
            </a:extLst>
          </p:cNvPr>
          <p:cNvSpPr txBox="1"/>
          <p:nvPr/>
        </p:nvSpPr>
        <p:spPr>
          <a:xfrm>
            <a:off x="533400" y="2362200"/>
            <a:ext cx="3886200" cy="369332"/>
          </a:xfrm>
          <a:prstGeom prst="rect">
            <a:avLst/>
          </a:prstGeom>
          <a:solidFill>
            <a:schemeClr val="accent6">
              <a:lumMod val="20000"/>
              <a:lumOff val="80000"/>
              <a:alpha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dirty="0" err="1"/>
              <a:t>color_table</a:t>
            </a:r>
            <a:r>
              <a:rPr lang="en-CA" dirty="0"/>
              <a:t>(</a:t>
            </a:r>
            <a:r>
              <a:rPr lang="en-CA" dirty="0" err="1"/>
              <a:t>haireye</a:t>
            </a:r>
            <a:r>
              <a:rPr lang="en-CA" dirty="0"/>
              <a:t>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3487D52-F116-599F-3F12-CAE2A01406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6800" y="3124199"/>
            <a:ext cx="3393815" cy="3060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7A9182B-4414-4B1C-ED80-0FF63319B6C1}"/>
              </a:ext>
            </a:extLst>
          </p:cNvPr>
          <p:cNvSpPr txBox="1"/>
          <p:nvPr/>
        </p:nvSpPr>
        <p:spPr>
          <a:xfrm>
            <a:off x="4800600" y="2362200"/>
            <a:ext cx="3810000" cy="646331"/>
          </a:xfrm>
          <a:prstGeom prst="rect">
            <a:avLst/>
          </a:prstGeom>
          <a:solidFill>
            <a:schemeClr val="accent6">
              <a:lumMod val="20000"/>
              <a:lumOff val="80000"/>
              <a:alpha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dirty="0" err="1"/>
              <a:t>color_table</a:t>
            </a:r>
            <a:r>
              <a:rPr lang="en-CA" dirty="0"/>
              <a:t>(</a:t>
            </a:r>
            <a:r>
              <a:rPr lang="en-CA" dirty="0" err="1"/>
              <a:t>haireye</a:t>
            </a:r>
            <a:r>
              <a:rPr lang="en-CA" dirty="0"/>
              <a:t>, </a:t>
            </a:r>
          </a:p>
          <a:p>
            <a:r>
              <a:rPr lang="en-CA" dirty="0"/>
              <a:t>          values = "residuals")</a:t>
            </a:r>
          </a:p>
        </p:txBody>
      </p:sp>
      <p:pic>
        <p:nvPicPr>
          <p:cNvPr id="12" name="Picture 11" descr="A yellow light bulb with rays of light coming out of it&#10;&#10;AI-generated content may be incorrect.">
            <a:extLst>
              <a:ext uri="{FF2B5EF4-FFF2-40B4-BE49-F238E27FC236}">
                <a16:creationId xmlns:a16="http://schemas.microsoft.com/office/drawing/2014/main" id="{98FD7F76-8309-FF76-623A-E2BA0E3C846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269" y="1122986"/>
            <a:ext cx="646331" cy="646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666892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D12825-1C41-4018-8468-15FE40D82D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7010400" cy="715962"/>
          </a:xfrm>
        </p:spPr>
        <p:txBody>
          <a:bodyPr>
            <a:normAutofit fontScale="90000"/>
          </a:bodyPr>
          <a:lstStyle/>
          <a:p>
            <a:r>
              <a:rPr lang="en-US" dirty="0"/>
              <a:t>Mosaic displays: Seeing patterns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10094A-B700-4031-BF63-899E0546B0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2743200"/>
          </a:xfrm>
        </p:spPr>
        <p:txBody>
          <a:bodyPr/>
          <a:lstStyle/>
          <a:p>
            <a:r>
              <a:rPr lang="en-US" sz="2400" dirty="0"/>
              <a:t>In two-way models, residuals contain the info on lack of independence 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⟶ </a:t>
            </a:r>
            <a:r>
              <a:rPr lang="en-US" sz="2400" dirty="0">
                <a:ea typeface="Cambria Math" panose="02040503050406030204" pitchFamily="18" charset="0"/>
              </a:rPr>
              <a:t>where the action is!!</a:t>
            </a:r>
            <a:endParaRPr lang="en-US" sz="2400" dirty="0"/>
          </a:p>
          <a:p>
            <a:pPr lvl="1"/>
            <a:r>
              <a:rPr lang="en-US" sz="2000" dirty="0"/>
              <a:t>Equivalently: help to understand the </a:t>
            </a:r>
            <a:r>
              <a:rPr lang="en-US" sz="20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pattern</a:t>
            </a:r>
            <a:r>
              <a:rPr lang="en-US" sz="2000" dirty="0"/>
              <a:t> of association</a:t>
            </a:r>
          </a:p>
          <a:p>
            <a:pPr lvl="1"/>
            <a:r>
              <a:rPr lang="en-US" sz="2000" b="1" dirty="0"/>
              <a:t>Effect ordering</a:t>
            </a:r>
            <a:r>
              <a:rPr lang="en-US" sz="2000" dirty="0"/>
              <a:t>: permuting the rows / cols often makes the pattern more apparent</a:t>
            </a:r>
          </a:p>
          <a:p>
            <a:r>
              <a:rPr lang="en-US" sz="2400" dirty="0"/>
              <a:t>Correspondence analysis: </a:t>
            </a:r>
            <a:r>
              <a:rPr lang="en-US" sz="2400" dirty="0">
                <a:sym typeface="Symbol" panose="05050102010706020507" pitchFamily="18" charset="2"/>
              </a:rPr>
              <a:t> </a:t>
            </a:r>
            <a:r>
              <a:rPr lang="en-US" sz="2400" dirty="0"/>
              <a:t>reorder by scores on Dim 1</a:t>
            </a:r>
          </a:p>
          <a:p>
            <a:pPr lvl="1"/>
            <a:r>
              <a:rPr lang="en-US" sz="2000" dirty="0"/>
              <a:t>seriation::permute(order=“CA”) does this for two-way tables</a:t>
            </a:r>
          </a:p>
          <a:p>
            <a:pPr lvl="1"/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96D7A47-2BB4-4642-A8E8-EEAAE24C0D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35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FEA7BBF-A22D-44E8-B5E4-3B2837DCB631}"/>
              </a:ext>
            </a:extLst>
          </p:cNvPr>
          <p:cNvSpPr txBox="1"/>
          <p:nvPr/>
        </p:nvSpPr>
        <p:spPr>
          <a:xfrm>
            <a:off x="457200" y="4343400"/>
            <a:ext cx="3733800" cy="1600438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haireye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Eye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Hair    Brown Blue Hazel Green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Black    68   20    15     5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Brown   119   84    54    29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Red      26   17    14    14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Blond     7   94    10    16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D34071C-CA46-408D-A909-2918C0CB9AEA}"/>
              </a:ext>
            </a:extLst>
          </p:cNvPr>
          <p:cNvSpPr txBox="1"/>
          <p:nvPr/>
        </p:nvSpPr>
        <p:spPr>
          <a:xfrm>
            <a:off x="4686300" y="4294247"/>
            <a:ext cx="3733800" cy="1815882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library(seriation)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permute(</a:t>
            </a:r>
            <a:r>
              <a:rPr lang="en-US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haireye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"CA")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Eye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Hair    Brown Hazel Green Blue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Black    68    15     5   20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Brown   119    54    29   84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Red      26    14    14   17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Blond     7    10    16   94</a:t>
            </a:r>
          </a:p>
        </p:txBody>
      </p:sp>
      <p:pic>
        <p:nvPicPr>
          <p:cNvPr id="8" name="Picture 7" descr="A blue eye with black center&#10;&#10;AI-generated content may be incorrect.">
            <a:extLst>
              <a:ext uri="{FF2B5EF4-FFF2-40B4-BE49-F238E27FC236}">
                <a16:creationId xmlns:a16="http://schemas.microsoft.com/office/drawing/2014/main" id="{8D6B0F94-59B1-733B-1F5A-2A82DDC977B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0" y="274638"/>
            <a:ext cx="809625" cy="762000"/>
          </a:xfrm>
          <a:prstGeom prst="rect">
            <a:avLst/>
          </a:prstGeom>
        </p:spPr>
      </p:pic>
      <p:sp>
        <p:nvSpPr>
          <p:cNvPr id="7" name="Right Brace 6">
            <a:extLst>
              <a:ext uri="{FF2B5EF4-FFF2-40B4-BE49-F238E27FC236}">
                <a16:creationId xmlns:a16="http://schemas.microsoft.com/office/drawing/2014/main" id="{072FC808-1E65-867C-6D65-9873AC089DF5}"/>
              </a:ext>
            </a:extLst>
          </p:cNvPr>
          <p:cNvSpPr/>
          <p:nvPr/>
        </p:nvSpPr>
        <p:spPr>
          <a:xfrm rot="5400000">
            <a:off x="7056437" y="5606892"/>
            <a:ext cx="365126" cy="1371600"/>
          </a:xfrm>
          <a:prstGeom prst="rightBrace">
            <a:avLst>
              <a:gd name="adj1" fmla="val 8333"/>
              <a:gd name="adj2" fmla="val 50982"/>
            </a:avLst>
          </a:prstGeom>
          <a:ln w="25400">
            <a:solidFill>
              <a:srgbClr val="FF0000"/>
            </a:solidFill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2021519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8E1C5-EB67-938A-0B79-465FEA602C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Mosaic displays: Seeing patterns</a:t>
            </a:r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D6AACF-54C8-481C-A8A4-7C5C9CD64F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36</a:t>
            </a:fld>
            <a:endParaRPr lang="en-US"/>
          </a:p>
        </p:txBody>
      </p:sp>
      <p:pic>
        <p:nvPicPr>
          <p:cNvPr id="7" name="Picture 6" descr="Chart, bar chart&#10;&#10;Description automatically generated">
            <a:extLst>
              <a:ext uri="{FF2B5EF4-FFF2-40B4-BE49-F238E27FC236}">
                <a16:creationId xmlns:a16="http://schemas.microsoft.com/office/drawing/2014/main" id="{028D57CA-46E4-4260-843D-908402B98D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955" y="2468562"/>
            <a:ext cx="4114800" cy="4114800"/>
          </a:xfrm>
          <a:prstGeom prst="rect">
            <a:avLst/>
          </a:prstGeom>
        </p:spPr>
      </p:pic>
      <p:pic>
        <p:nvPicPr>
          <p:cNvPr id="9" name="Picture 8" descr="Chart, bar chart&#10;&#10;Description automatically generated">
            <a:extLst>
              <a:ext uri="{FF2B5EF4-FFF2-40B4-BE49-F238E27FC236}">
                <a16:creationId xmlns:a16="http://schemas.microsoft.com/office/drawing/2014/main" id="{CFABA239-BF98-46EC-8D24-46B42FCA681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2468562"/>
            <a:ext cx="4114800" cy="41148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9564D3F-A86A-409B-8FFF-BB01C116C279}"/>
              </a:ext>
            </a:extLst>
          </p:cNvPr>
          <p:cNvSpPr txBox="1"/>
          <p:nvPr/>
        </p:nvSpPr>
        <p:spPr>
          <a:xfrm>
            <a:off x="457200" y="1273906"/>
            <a:ext cx="8191845" cy="523220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mosaic(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haireye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               shade=TRUE, labeling=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labeling_residuals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mosaic(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permute(</a:t>
            </a:r>
            <a:r>
              <a:rPr lang="en-US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haireye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"CA")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shade=TRUE, labeling=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labeling_residuals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4B53FE3-084A-4751-F8D3-97B0DEBBE1C9}"/>
              </a:ext>
            </a:extLst>
          </p:cNvPr>
          <p:cNvSpPr txBox="1"/>
          <p:nvPr/>
        </p:nvSpPr>
        <p:spPr>
          <a:xfrm>
            <a:off x="4800600" y="2130008"/>
            <a:ext cx="3276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600" dirty="0"/>
              <a:t>Look for: opposite corner pattern</a:t>
            </a:r>
          </a:p>
        </p:txBody>
      </p:sp>
    </p:spTree>
    <p:extLst>
      <p:ext uri="{BB962C8B-B14F-4D97-AF65-F5344CB8AC3E}">
        <p14:creationId xmlns:p14="http://schemas.microsoft.com/office/powerpoint/2010/main" val="17607824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588D78C-84A5-7A81-5BF7-122A84B8B1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Bee abundance data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30923C8-7500-2040-2FDF-D397DBC930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37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0A3D352-8C59-9DC7-1ABF-556B77B0D98A}"/>
              </a:ext>
            </a:extLst>
          </p:cNvPr>
          <p:cNvSpPr txBox="1"/>
          <p:nvPr/>
        </p:nvSpPr>
        <p:spPr>
          <a:xfrm>
            <a:off x="381000" y="1219200"/>
            <a:ext cx="34290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A study by Taylor Kerekes examined the abundance of bee species in Ontario over three periods of time.  </a:t>
            </a:r>
          </a:p>
          <a:p>
            <a:endParaRPr lang="en-CA" dirty="0"/>
          </a:p>
          <a:p>
            <a:r>
              <a:rPr lang="en-CA" dirty="0"/>
              <a:t>Q: Does relative abundance of species differ over years?</a:t>
            </a:r>
          </a:p>
          <a:p>
            <a:endParaRPr lang="en-CA" dirty="0"/>
          </a:p>
          <a:p>
            <a:r>
              <a:rPr lang="en-CA" dirty="0"/>
              <a:t>A: Do a chi-square test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F1D26D-65B2-27A7-B4A4-674448532196}"/>
              </a:ext>
            </a:extLst>
          </p:cNvPr>
          <p:cNvSpPr txBox="1"/>
          <p:nvPr/>
        </p:nvSpPr>
        <p:spPr>
          <a:xfrm>
            <a:off x="4387640" y="1295400"/>
            <a:ext cx="4419600" cy="3754874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# A 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tibble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: 14 x 4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species       `2002` `2005` `2021`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&lt;chr&gt;          &lt;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dbl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 &lt;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dbl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 &lt;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dbl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1 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Affinis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508      0      0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2 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Bimaculatus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362    345    137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3 Borealis          30      6     11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4 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Fervidus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634     19     10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5 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Griseocollis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35     21     21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6 Impatiens        638    564    616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7 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Pensylvanicus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112      0      0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8 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Perplexus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160     57      9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9 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Rufocinctus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51     46     17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10 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Ternarius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9     16      9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11 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Terricola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119      1      4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12 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Vagans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713     82     39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13 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Ashtoni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(M)       27      0      0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14 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Citrinus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(M)     234     38      5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D4D6C82-DA52-272E-B427-311B22BABEDF}"/>
              </a:ext>
            </a:extLst>
          </p:cNvPr>
          <p:cNvSpPr txBox="1"/>
          <p:nvPr/>
        </p:nvSpPr>
        <p:spPr>
          <a:xfrm>
            <a:off x="381000" y="4034611"/>
            <a:ext cx="3962400" cy="1015663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chisq.test</a:t>
            </a:r>
            <a:r>
              <a:rPr lang="fr-F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fr-FR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bees</a:t>
            </a:r>
            <a:r>
              <a:rPr lang="fr-F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[,-1])</a:t>
            </a:r>
          </a:p>
          <a:p>
            <a:r>
              <a:rPr lang="en-CA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Pearson's Chi-squared test</a:t>
            </a:r>
          </a:p>
          <a:p>
            <a:endParaRPr lang="en-CA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CA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data:  bees[, -1]</a:t>
            </a:r>
          </a:p>
          <a:p>
            <a:r>
              <a:rPr lang="en-CA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X-squared = 1981, </a:t>
            </a:r>
            <a:r>
              <a:rPr lang="en-CA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CA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= 26, p-value &lt;2e-16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B08AD28-AB02-CB53-A1BC-3FB4ADC31065}"/>
              </a:ext>
            </a:extLst>
          </p:cNvPr>
          <p:cNvSpPr txBox="1"/>
          <p:nvPr/>
        </p:nvSpPr>
        <p:spPr>
          <a:xfrm>
            <a:off x="381000" y="5486400"/>
            <a:ext cx="571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How to understand the pattern of association?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4F869D5-7FD7-BF4A-DFF8-DB55C035E712}"/>
              </a:ext>
            </a:extLst>
          </p:cNvPr>
          <p:cNvSpPr txBox="1"/>
          <p:nvPr/>
        </p:nvSpPr>
        <p:spPr>
          <a:xfrm>
            <a:off x="3581400" y="4419600"/>
            <a:ext cx="76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400" dirty="0">
                <a:solidFill>
                  <a:srgbClr val="00B050"/>
                </a:solidFill>
                <a:sym typeface="Wingdings" panose="05000000000000000000" pitchFamily="2" charset="2"/>
              </a:rPr>
              <a:t></a:t>
            </a:r>
            <a:endParaRPr lang="en-CA" sz="2400" dirty="0">
              <a:solidFill>
                <a:srgbClr val="00B050"/>
              </a:solidFill>
            </a:endParaRPr>
          </a:p>
        </p:txBody>
      </p:sp>
      <p:pic>
        <p:nvPicPr>
          <p:cNvPr id="10" name="Picture 9" descr="A yellow and black bee&#10;&#10;AI-generated content may be incorrect.">
            <a:extLst>
              <a:ext uri="{FF2B5EF4-FFF2-40B4-BE49-F238E27FC236}">
                <a16:creationId xmlns:a16="http://schemas.microsoft.com/office/drawing/2014/main" id="{BE9F60AD-101A-A37C-8121-F88871A08B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336" y="274638"/>
            <a:ext cx="774411" cy="774411"/>
          </a:xfrm>
          <a:prstGeom prst="rect">
            <a:avLst/>
          </a:prstGeom>
        </p:spPr>
      </p:pic>
      <p:pic>
        <p:nvPicPr>
          <p:cNvPr id="11" name="Picture 10" descr="A yellow and black bee&#10;&#10;AI-generated content may be incorrect.">
            <a:extLst>
              <a:ext uri="{FF2B5EF4-FFF2-40B4-BE49-F238E27FC236}">
                <a16:creationId xmlns:a16="http://schemas.microsoft.com/office/drawing/2014/main" id="{059E2CF1-8BF2-9709-CC18-6B0FB95A582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2829" y="245413"/>
            <a:ext cx="774411" cy="774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343291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F914C03-19CB-3195-3A2C-234FCE58B7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38</a:t>
            </a:fld>
            <a:endParaRPr lang="en-US" dirty="0"/>
          </a:p>
        </p:txBody>
      </p:sp>
      <p:pic>
        <p:nvPicPr>
          <p:cNvPr id="5" name="Picture 4" descr="Chart, bar chart&#10;&#10;Description automatically generated">
            <a:extLst>
              <a:ext uri="{FF2B5EF4-FFF2-40B4-BE49-F238E27FC236}">
                <a16:creationId xmlns:a16="http://schemas.microsoft.com/office/drawing/2014/main" id="{4E263396-7398-4A26-E8A9-3452E6602D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520" y="1005840"/>
            <a:ext cx="5760720" cy="576072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D54AC0C-F1F1-8BD7-177C-8DE014B307F6}"/>
              </a:ext>
            </a:extLst>
          </p:cNvPr>
          <p:cNvSpPr txBox="1"/>
          <p:nvPr/>
        </p:nvSpPr>
        <p:spPr>
          <a:xfrm>
            <a:off x="6248400" y="1752600"/>
            <a:ext cx="2438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Alphabetic order of species:</a:t>
            </a:r>
          </a:p>
          <a:p>
            <a:r>
              <a:rPr lang="en-CA" dirty="0"/>
              <a:t>No clear pattern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B37A562-A160-1480-4DE1-A938BC041A2D}"/>
              </a:ext>
            </a:extLst>
          </p:cNvPr>
          <p:cNvSpPr txBox="1"/>
          <p:nvPr/>
        </p:nvSpPr>
        <p:spPr>
          <a:xfrm>
            <a:off x="685800" y="457200"/>
            <a:ext cx="5181600" cy="381000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dirty="0"/>
              <a:t>mosaic(</a:t>
            </a:r>
            <a:r>
              <a:rPr lang="en-CA" dirty="0" err="1"/>
              <a:t>bees.mat</a:t>
            </a:r>
            <a:r>
              <a:rPr lang="en-CA" dirty="0"/>
              <a:t>, shade=TRUE, …) </a:t>
            </a:r>
          </a:p>
        </p:txBody>
      </p:sp>
    </p:spTree>
    <p:extLst>
      <p:ext uri="{BB962C8B-B14F-4D97-AF65-F5344CB8AC3E}">
        <p14:creationId xmlns:p14="http://schemas.microsoft.com/office/powerpoint/2010/main" val="17029300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B0B5517-E9E5-F39F-F863-E1E3B04E22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39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7D11B83-7821-B04E-AD7F-758754A332D2}"/>
              </a:ext>
            </a:extLst>
          </p:cNvPr>
          <p:cNvSpPr txBox="1"/>
          <p:nvPr/>
        </p:nvSpPr>
        <p:spPr>
          <a:xfrm>
            <a:off x="685800" y="1371600"/>
            <a:ext cx="7391400" cy="1169551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Library(ca)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bees.ca &lt;- ca(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bees.mat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plot(bees.ca, 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lines=c(FALSE,TRUE),    </a:t>
            </a:r>
            <a:r>
              <a:rPr lang="en-CA" sz="1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join years with lines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mass = c(TRUE, TRUE))   </a:t>
            </a:r>
            <a:r>
              <a:rPr lang="en-CA" sz="1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symbol size ~ marginal frequency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2BAC2E6-9859-0CE1-81A3-7D1277B37B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062" y="2763822"/>
            <a:ext cx="6266667" cy="378095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B68CC0C-83D2-F8DE-0557-9BC7FB958604}"/>
              </a:ext>
            </a:extLst>
          </p:cNvPr>
          <p:cNvSpPr txBox="1"/>
          <p:nvPr/>
        </p:nvSpPr>
        <p:spPr>
          <a:xfrm>
            <a:off x="685800" y="533400"/>
            <a:ext cx="7467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000" dirty="0">
                <a:solidFill>
                  <a:srgbClr val="0070C0"/>
                </a:solidFill>
              </a:rPr>
              <a:t>Correspondence analysis </a:t>
            </a:r>
            <a:r>
              <a:rPr lang="en-CA" sz="2000" dirty="0"/>
              <a:t>finds scores for the row &amp; col categories to account for maximum </a:t>
            </a:r>
            <a:r>
              <a:rPr lang="en-CA" sz="2000" dirty="0">
                <a:sym typeface="Symbol" panose="05050102010706020507" pitchFamily="18" charset="2"/>
              </a:rPr>
              <a:t></a:t>
            </a:r>
            <a:r>
              <a:rPr lang="en-CA" sz="2000" baseline="30000" dirty="0">
                <a:sym typeface="Symbol" panose="05050102010706020507" pitchFamily="18" charset="2"/>
              </a:rPr>
              <a:t>2</a:t>
            </a:r>
            <a:endParaRPr lang="en-CA" sz="2000" baseline="30000" dirty="0"/>
          </a:p>
        </p:txBody>
      </p:sp>
    </p:spTree>
    <p:extLst>
      <p:ext uri="{BB962C8B-B14F-4D97-AF65-F5344CB8AC3E}">
        <p14:creationId xmlns:p14="http://schemas.microsoft.com/office/powerpoint/2010/main" val="205338494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F914C03-19CB-3195-3A2C-234FCE58B7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40</a:t>
            </a:fld>
            <a:endParaRPr lang="en-US"/>
          </a:p>
        </p:txBody>
      </p:sp>
      <p:pic>
        <p:nvPicPr>
          <p:cNvPr id="4" name="Picture 3" descr="Chart, bar chart&#10;&#10;Description automatically generated">
            <a:extLst>
              <a:ext uri="{FF2B5EF4-FFF2-40B4-BE49-F238E27FC236}">
                <a16:creationId xmlns:a16="http://schemas.microsoft.com/office/drawing/2014/main" id="{776AD2EC-BB46-C382-07A0-491B3BAA4F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520" y="1005840"/>
            <a:ext cx="5760720" cy="576072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1BA69CA-36F4-B9D8-B313-0A768F9061BF}"/>
              </a:ext>
            </a:extLst>
          </p:cNvPr>
          <p:cNvSpPr txBox="1"/>
          <p:nvPr/>
        </p:nvSpPr>
        <p:spPr>
          <a:xfrm>
            <a:off x="685800" y="457200"/>
            <a:ext cx="5181600" cy="381000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dirty="0"/>
              <a:t>mosaic(permute(</a:t>
            </a:r>
            <a:r>
              <a:rPr lang="en-CA" dirty="0" err="1"/>
              <a:t>bees.mat</a:t>
            </a:r>
            <a:r>
              <a:rPr lang="en-CA" dirty="0"/>
              <a:t>, “CA”), shade=TRUE, …)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80233FA-E504-47D7-BDAE-732DA01BDBE3}"/>
              </a:ext>
            </a:extLst>
          </p:cNvPr>
          <p:cNvSpPr txBox="1"/>
          <p:nvPr/>
        </p:nvSpPr>
        <p:spPr>
          <a:xfrm>
            <a:off x="6248400" y="1981200"/>
            <a:ext cx="2438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One main cluster was very prevalent in 2002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D1386D-8E70-4FD1-8CB8-7A894F1D55D9}"/>
              </a:ext>
            </a:extLst>
          </p:cNvPr>
          <p:cNvSpPr txBox="1"/>
          <p:nvPr/>
        </p:nvSpPr>
        <p:spPr>
          <a:xfrm>
            <a:off x="6248400" y="4343400"/>
            <a:ext cx="21640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few species became prominent in later years</a:t>
            </a:r>
          </a:p>
        </p:txBody>
      </p:sp>
      <p:sp>
        <p:nvSpPr>
          <p:cNvPr id="7" name="Right Brace 6">
            <a:extLst>
              <a:ext uri="{FF2B5EF4-FFF2-40B4-BE49-F238E27FC236}">
                <a16:creationId xmlns:a16="http://schemas.microsoft.com/office/drawing/2014/main" id="{6F023E0D-FE56-8D53-DBEE-18FDC286CB70}"/>
              </a:ext>
            </a:extLst>
          </p:cNvPr>
          <p:cNvSpPr/>
          <p:nvPr/>
        </p:nvSpPr>
        <p:spPr>
          <a:xfrm>
            <a:off x="5943600" y="1828800"/>
            <a:ext cx="304800" cy="1981200"/>
          </a:xfrm>
          <a:prstGeom prst="rightBrace">
            <a:avLst/>
          </a:prstGeom>
          <a:ln w="25400">
            <a:solidFill>
              <a:srgbClr val="FF0000"/>
            </a:solidFill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" name="Right Brace 7">
            <a:extLst>
              <a:ext uri="{FF2B5EF4-FFF2-40B4-BE49-F238E27FC236}">
                <a16:creationId xmlns:a16="http://schemas.microsoft.com/office/drawing/2014/main" id="{05A433CD-C55E-0E12-1CF3-10BE1D870159}"/>
              </a:ext>
            </a:extLst>
          </p:cNvPr>
          <p:cNvSpPr/>
          <p:nvPr/>
        </p:nvSpPr>
        <p:spPr>
          <a:xfrm>
            <a:off x="5966298" y="4276130"/>
            <a:ext cx="304800" cy="1981200"/>
          </a:xfrm>
          <a:prstGeom prst="rightBrace">
            <a:avLst/>
          </a:prstGeom>
          <a:ln w="25400">
            <a:solidFill>
              <a:srgbClr val="FF0000"/>
            </a:solidFill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2272694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1D9D289-4489-4659-98EA-262BE7A9A3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Three-way tables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FB25BD1-56D7-4C65-A5D4-E83332FC8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41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80DEBD8-9933-479B-864D-3078F97C66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92523"/>
            <a:ext cx="8171428" cy="238095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BC903D4-7F65-4183-9B00-B095A7FBFC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960" y="3752043"/>
            <a:ext cx="8171428" cy="117142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6C01B35-9FE2-4139-9016-F6ED35A8CA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960" y="5041164"/>
            <a:ext cx="8171428" cy="1152381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6732EDC6-3815-49E7-88AE-7B621A61D32B}"/>
              </a:ext>
            </a:extLst>
          </p:cNvPr>
          <p:cNvSpPr/>
          <p:nvPr/>
        </p:nvSpPr>
        <p:spPr>
          <a:xfrm>
            <a:off x="3886200" y="2743200"/>
            <a:ext cx="1600200" cy="38981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C613902-84D0-4D15-83B8-0C3772D595E2}"/>
              </a:ext>
            </a:extLst>
          </p:cNvPr>
          <p:cNvSpPr/>
          <p:nvPr/>
        </p:nvSpPr>
        <p:spPr>
          <a:xfrm>
            <a:off x="3962400" y="3151650"/>
            <a:ext cx="1781686" cy="4974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C1C1359-419A-40DB-B261-88C05CB2A96D}"/>
              </a:ext>
            </a:extLst>
          </p:cNvPr>
          <p:cNvSpPr/>
          <p:nvPr/>
        </p:nvSpPr>
        <p:spPr>
          <a:xfrm>
            <a:off x="5918200" y="3125615"/>
            <a:ext cx="604520" cy="52006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FF10E7A-C1DB-ED54-7DCA-CDC1AE086CE2}"/>
              </a:ext>
            </a:extLst>
          </p:cNvPr>
          <p:cNvCxnSpPr/>
          <p:nvPr/>
        </p:nvCxnSpPr>
        <p:spPr>
          <a:xfrm flipH="1" flipV="1">
            <a:off x="5257800" y="3505200"/>
            <a:ext cx="381000" cy="838200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063294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130859-01F7-4A93-83F9-BDA6CFEDD6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Reduced models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E495C6-809E-418A-9493-7E6CE8AB2B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Goal: fit the </a:t>
            </a:r>
            <a:r>
              <a:rPr lang="en-US" sz="2400" dirty="0">
                <a:solidFill>
                  <a:srgbClr val="0070C0"/>
                </a:solidFill>
              </a:rPr>
              <a:t>smallest</a:t>
            </a:r>
            <a:r>
              <a:rPr lang="en-US" sz="2400" dirty="0"/>
              <a:t> model sufficient to explain/describe the observed frequencies</a:t>
            </a:r>
          </a:p>
          <a:p>
            <a:pPr lvl="1"/>
            <a:r>
              <a:rPr lang="en-US" sz="2000" dirty="0"/>
              <a:t>Similar to </a:t>
            </a:r>
            <a:r>
              <a:rPr lang="en-US" sz="2000" dirty="0" err="1"/>
              <a:t>Anova</a:t>
            </a:r>
            <a:r>
              <a:rPr lang="en-US" sz="2000" dirty="0"/>
              <a:t> models, e.g., ~(A + B + C)</a:t>
            </a:r>
            <a:r>
              <a:rPr lang="en-US" sz="2000" baseline="30000" dirty="0"/>
              <a:t>3</a:t>
            </a:r>
            <a:r>
              <a:rPr lang="en-US" sz="2000" dirty="0"/>
              <a:t> with all interactions</a:t>
            </a:r>
          </a:p>
          <a:p>
            <a:pPr lvl="1"/>
            <a:r>
              <a:rPr lang="en-US" sz="2000" dirty="0"/>
              <a:t>Do we need all those interaction terms?</a:t>
            </a:r>
          </a:p>
          <a:p>
            <a:r>
              <a:rPr lang="en-US" sz="2400" dirty="0">
                <a:solidFill>
                  <a:srgbClr val="0070C0"/>
                </a:solidFill>
              </a:rPr>
              <a:t>Hierarchical</a:t>
            </a:r>
            <a:r>
              <a:rPr lang="en-US" sz="2400" dirty="0"/>
              <a:t> models</a:t>
            </a:r>
          </a:p>
          <a:p>
            <a:pPr lvl="1"/>
            <a:r>
              <a:rPr lang="en-US" sz="2000" dirty="0"/>
              <a:t>Most loglinear models are taken to be hierarchical:</a:t>
            </a:r>
          </a:p>
          <a:p>
            <a:pPr lvl="1"/>
            <a:r>
              <a:rPr lang="en-US" sz="2000" dirty="0"/>
              <a:t>A high-order term, like </a:t>
            </a:r>
            <a:r>
              <a:rPr lang="en-US" sz="2000" dirty="0">
                <a:sym typeface="Symbol" panose="05050102010706020507" pitchFamily="18" charset="2"/>
              </a:rPr>
              <a:t></a:t>
            </a:r>
            <a:r>
              <a:rPr lang="en-US" sz="2000" baseline="-25000" dirty="0" err="1">
                <a:sym typeface="Symbol" panose="05050102010706020507" pitchFamily="18" charset="2"/>
              </a:rPr>
              <a:t>ijk</a:t>
            </a:r>
            <a:r>
              <a:rPr lang="en-US" sz="2000" dirty="0">
                <a:sym typeface="Symbol" panose="05050102010706020507" pitchFamily="18" charset="2"/>
              </a:rPr>
              <a:t> </a:t>
            </a:r>
            <a:r>
              <a:rPr lang="en-US" sz="2000" baseline="30000" dirty="0">
                <a:sym typeface="Symbol" panose="05050102010706020507" pitchFamily="18" charset="2"/>
              </a:rPr>
              <a:t>ABC</a:t>
            </a:r>
            <a:r>
              <a:rPr lang="en-US" sz="2000" dirty="0">
                <a:sym typeface="Symbol" panose="05050102010706020507" pitchFamily="18" charset="2"/>
              </a:rPr>
              <a:t>  all </a:t>
            </a:r>
            <a:r>
              <a:rPr lang="en-US" sz="2000" dirty="0">
                <a:solidFill>
                  <a:srgbClr val="0070C0"/>
                </a:solidFill>
                <a:sym typeface="Symbol" panose="05050102010706020507" pitchFamily="18" charset="2"/>
              </a:rPr>
              <a:t>lower order terms </a:t>
            </a:r>
            <a:r>
              <a:rPr lang="en-US" sz="2000" dirty="0">
                <a:sym typeface="Symbol" panose="05050102010706020507" pitchFamily="18" charset="2"/>
              </a:rPr>
              <a:t>included</a:t>
            </a:r>
          </a:p>
          <a:p>
            <a:pPr lvl="2"/>
            <a:r>
              <a:rPr lang="en-CA" sz="1600" dirty="0">
                <a:sym typeface="Symbol" panose="05050102010706020507" pitchFamily="18" charset="2"/>
              </a:rPr>
              <a:t>Why: principle of </a:t>
            </a:r>
            <a:r>
              <a:rPr lang="en-CA" sz="1600" dirty="0">
                <a:solidFill>
                  <a:srgbClr val="0070C0"/>
                </a:solidFill>
                <a:sym typeface="Symbol" panose="05050102010706020507" pitchFamily="18" charset="2"/>
              </a:rPr>
              <a:t>marginality</a:t>
            </a:r>
            <a:r>
              <a:rPr lang="en-CA" sz="1600" dirty="0">
                <a:sym typeface="Symbol" panose="05050102010706020507" pitchFamily="18" charset="2"/>
              </a:rPr>
              <a:t>– hard to interpret w/o low order relatives</a:t>
            </a:r>
            <a:endParaRPr lang="en-US" sz="1600" dirty="0">
              <a:sym typeface="Symbol" panose="05050102010706020507" pitchFamily="18" charset="2"/>
            </a:endParaRPr>
          </a:p>
          <a:p>
            <a:r>
              <a:rPr lang="en-US" sz="2400" dirty="0"/>
              <a:t>Thus, a shorthand notation for a loglinear model lists only the </a:t>
            </a:r>
            <a:r>
              <a:rPr lang="en-US" sz="2400" dirty="0">
                <a:solidFill>
                  <a:srgbClr val="0070C0"/>
                </a:solidFill>
              </a:rPr>
              <a:t>high-order</a:t>
            </a:r>
            <a:r>
              <a:rPr lang="en-US" sz="2400" dirty="0"/>
              <a:t> terms. For example:</a:t>
            </a:r>
          </a:p>
          <a:p>
            <a:pPr lvl="1"/>
            <a:r>
              <a:rPr lang="en-US" sz="2400" dirty="0">
                <a:sym typeface="Symbol" panose="05050102010706020507" pitchFamily="18" charset="2"/>
              </a:rPr>
              <a:t>[ABC]  </a:t>
            </a:r>
            <a:r>
              <a:rPr lang="en-US" sz="2400" dirty="0">
                <a:solidFill>
                  <a:schemeClr val="bg2">
                    <a:lumMod val="50000"/>
                  </a:schemeClr>
                </a:solidFill>
                <a:sym typeface="Symbol" panose="05050102010706020507" pitchFamily="18" charset="2"/>
              </a:rPr>
              <a:t>A + B + C + AB + AC + BC </a:t>
            </a:r>
            <a:r>
              <a:rPr lang="en-US" sz="2400" dirty="0">
                <a:sym typeface="Symbol" panose="05050102010706020507" pitchFamily="18" charset="2"/>
              </a:rPr>
              <a:t>+ ABC</a:t>
            </a:r>
          </a:p>
          <a:p>
            <a:pPr lvl="1"/>
            <a:r>
              <a:rPr lang="en-US" sz="2400" dirty="0">
                <a:sym typeface="Symbol" panose="05050102010706020507" pitchFamily="18" charset="2"/>
              </a:rPr>
              <a:t>[AB][AC]  </a:t>
            </a:r>
            <a:r>
              <a:rPr lang="en-US" sz="2400" dirty="0">
                <a:solidFill>
                  <a:schemeClr val="bg2">
                    <a:lumMod val="50000"/>
                  </a:schemeClr>
                </a:solidFill>
                <a:sym typeface="Symbol" panose="05050102010706020507" pitchFamily="18" charset="2"/>
              </a:rPr>
              <a:t>A + B + C </a:t>
            </a:r>
            <a:r>
              <a:rPr lang="en-US" sz="2400" dirty="0">
                <a:sym typeface="Symbol" panose="05050102010706020507" pitchFamily="18" charset="2"/>
              </a:rPr>
              <a:t>+ AB + AC</a:t>
            </a:r>
            <a:endParaRPr lang="en-US" sz="2400" dirty="0"/>
          </a:p>
          <a:p>
            <a:endParaRPr lang="en-US" sz="24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FFAB251-1BD4-421E-B2FD-E6BB198E4D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091354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B4AC53-1443-4399-A30D-4F084401D6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Reduced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F76516-59E5-466C-9E1E-D361A61443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2133600"/>
          </a:xfrm>
        </p:spPr>
        <p:txBody>
          <a:bodyPr>
            <a:normAutofit/>
          </a:bodyPr>
          <a:lstStyle/>
          <a:p>
            <a:r>
              <a:rPr lang="en-US" sz="2000" dirty="0"/>
              <a:t>For a three-way table there is a range of models between mutual independence, [A][B][C], and the saturated model, [ABC]</a:t>
            </a:r>
          </a:p>
          <a:p>
            <a:r>
              <a:rPr lang="en-US" sz="2000" dirty="0"/>
              <a:t>Each model has an independence interpretation: </a:t>
            </a:r>
          </a:p>
          <a:p>
            <a:pPr marL="0" indent="0">
              <a:buNone/>
            </a:pPr>
            <a:r>
              <a:rPr lang="en-US" sz="2400" dirty="0"/>
              <a:t>                [A][B]   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≡</a:t>
            </a:r>
            <a:r>
              <a:rPr lang="en-US" sz="2400" dirty="0"/>
              <a:t>   A </a:t>
            </a:r>
            <a:r>
              <a:rPr lang="en-US" sz="2400" dirty="0">
                <a:sym typeface="Symbol" panose="05050102010706020507" pitchFamily="18" charset="2"/>
              </a:rPr>
              <a:t> B   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≡</a:t>
            </a:r>
            <a:r>
              <a:rPr lang="en-US" sz="2400" dirty="0">
                <a:sym typeface="Symbol" panose="05050102010706020507" pitchFamily="18" charset="2"/>
              </a:rPr>
              <a:t>   A independent of B</a:t>
            </a:r>
          </a:p>
          <a:p>
            <a:r>
              <a:rPr lang="en-US" sz="2000" dirty="0"/>
              <a:t>Special names for various </a:t>
            </a:r>
            <a:r>
              <a:rPr lang="en-US" sz="2000" dirty="0" err="1"/>
              <a:t>submodels</a:t>
            </a:r>
            <a:endParaRPr lang="en-US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392F79-588A-4477-A4CB-4423576A5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43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2B0C6FC-676C-472B-9BA5-EA61A7734C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3581400"/>
            <a:ext cx="8171428" cy="2361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805332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D83BE-FCA4-4467-9441-CDD5A09B17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Model types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E06F9E-E46A-4EE3-8AE1-32DED34F1D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44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6905981-84D9-4BAA-B6DC-AAB349AE3C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600" y="1447800"/>
            <a:ext cx="8000000" cy="123809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1869003-3296-40EC-A5F4-C072A4AC5D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600" y="2905190"/>
            <a:ext cx="8000000" cy="104761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B3F0041-DCED-4D30-97BF-540C4BC0B0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600" y="4267200"/>
            <a:ext cx="8000000" cy="1352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328225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DB568C-399F-8852-5E4F-74F6E3C9BD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Association graphs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7A5E28B-ACA7-6CD4-8D50-DDB1B36DE3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2472315"/>
          </a:xfrm>
        </p:spPr>
        <p:txBody>
          <a:bodyPr/>
          <a:lstStyle/>
          <a:p>
            <a:r>
              <a:rPr lang="en-CA" sz="2800" dirty="0"/>
              <a:t>An association graph represents variables in an </a:t>
            </a:r>
            <a:r>
              <a:rPr lang="en-CA" sz="2800" i="1" dirty="0"/>
              <a:t>n</a:t>
            </a:r>
            <a:r>
              <a:rPr lang="en-CA" sz="2800" dirty="0"/>
              <a:t>-way frequency table by an </a:t>
            </a:r>
            <a:r>
              <a:rPr lang="en-CA" sz="2800" dirty="0">
                <a:solidFill>
                  <a:srgbClr val="0070C0"/>
                </a:solidFill>
              </a:rPr>
              <a:t>undirected graph</a:t>
            </a:r>
          </a:p>
          <a:p>
            <a:pPr marL="685800" lvl="1">
              <a:buFont typeface="Arial" panose="020B0604020202020204" pitchFamily="34" charset="0"/>
              <a:buChar char="•"/>
            </a:pPr>
            <a:r>
              <a:rPr lang="en-CA" dirty="0"/>
              <a:t>Nodes are the variables</a:t>
            </a:r>
          </a:p>
          <a:p>
            <a:pPr marL="685800" lvl="1">
              <a:buFont typeface="Arial" panose="020B0604020202020204" pitchFamily="34" charset="0"/>
              <a:buChar char="•"/>
            </a:pPr>
            <a:r>
              <a:rPr lang="en-CA" dirty="0"/>
              <a:t>Edges are first-order (2-way) </a:t>
            </a:r>
            <a:r>
              <a:rPr lang="en-CA" dirty="0">
                <a:solidFill>
                  <a:srgbClr val="0070C0"/>
                </a:solidFill>
              </a:rPr>
              <a:t>associations</a:t>
            </a:r>
          </a:p>
          <a:p>
            <a:pPr marL="685800" lvl="1">
              <a:buFont typeface="Arial" panose="020B0604020202020204" pitchFamily="34" charset="0"/>
              <a:buChar char="•"/>
            </a:pPr>
            <a:r>
              <a:rPr lang="en-CA" dirty="0">
                <a:sym typeface="Symbol" panose="05050102010706020507" pitchFamily="18" charset="2"/>
              </a:rPr>
              <a:t> two variables are </a:t>
            </a:r>
            <a:r>
              <a:rPr lang="en-CA" dirty="0">
                <a:solidFill>
                  <a:srgbClr val="0070C0"/>
                </a:solidFill>
                <a:sym typeface="Symbol" panose="05050102010706020507" pitchFamily="18" charset="2"/>
              </a:rPr>
              <a:t>independent</a:t>
            </a:r>
            <a:r>
              <a:rPr lang="en-CA" dirty="0">
                <a:sym typeface="Symbol" panose="05050102010706020507" pitchFamily="18" charset="2"/>
              </a:rPr>
              <a:t> if not joined by an edge</a:t>
            </a:r>
            <a:endParaRPr lang="en-CA" dirty="0"/>
          </a:p>
          <a:p>
            <a:endParaRPr lang="en-CA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D57BBA9-B22D-223A-8708-A86B45B9E3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45</a:t>
            </a:fld>
            <a:endParaRPr lang="en-US" dirty="0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EEE69581-9F10-0C6F-E522-9C1F1941BE37}"/>
              </a:ext>
            </a:extLst>
          </p:cNvPr>
          <p:cNvGrpSpPr/>
          <p:nvPr/>
        </p:nvGrpSpPr>
        <p:grpSpPr>
          <a:xfrm>
            <a:off x="762000" y="4191000"/>
            <a:ext cx="1892210" cy="1046955"/>
            <a:chOff x="762000" y="4191000"/>
            <a:chExt cx="1892210" cy="1046955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111A44BF-6563-4E10-1636-AED098BB437F}"/>
                </a:ext>
              </a:extLst>
            </p:cNvPr>
            <p:cNvGrpSpPr/>
            <p:nvPr/>
          </p:nvGrpSpPr>
          <p:grpSpPr>
            <a:xfrm>
              <a:off x="762000" y="4191000"/>
              <a:ext cx="609600" cy="504000"/>
              <a:chOff x="1699800" y="4525200"/>
              <a:chExt cx="609600" cy="504000"/>
            </a:xfrm>
          </p:grpSpPr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CCA0C80D-598E-5199-049F-F3B3C6B6A33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752600" y="4525200"/>
                <a:ext cx="504000" cy="504000"/>
              </a:xfrm>
              <a:prstGeom prst="ellipse">
                <a:avLst/>
              </a:prstGeom>
              <a:solidFill>
                <a:schemeClr val="tx2">
                  <a:lumMod val="20000"/>
                  <a:lumOff val="80000"/>
                  <a:alpha val="5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76C2C41-5D36-F8C3-F3EA-E5D575DAE585}"/>
                  </a:ext>
                </a:extLst>
              </p:cNvPr>
              <p:cNvSpPr txBox="1"/>
              <p:nvPr/>
            </p:nvSpPr>
            <p:spPr>
              <a:xfrm>
                <a:off x="1699800" y="4546367"/>
                <a:ext cx="6096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CA" sz="2400" dirty="0"/>
                  <a:t>A</a:t>
                </a:r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9F2827D8-9324-8EDF-DA32-6B7C4DDA824E}"/>
                </a:ext>
              </a:extLst>
            </p:cNvPr>
            <p:cNvGrpSpPr/>
            <p:nvPr/>
          </p:nvGrpSpPr>
          <p:grpSpPr>
            <a:xfrm>
              <a:off x="2044610" y="4191000"/>
              <a:ext cx="609600" cy="504000"/>
              <a:chOff x="2982410" y="4525200"/>
              <a:chExt cx="609600" cy="504000"/>
            </a:xfrm>
          </p:grpSpPr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22AE9704-9D6E-C35A-29DA-71D75A2C257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048000" y="4525200"/>
                <a:ext cx="504000" cy="504000"/>
              </a:xfrm>
              <a:prstGeom prst="ellipse">
                <a:avLst/>
              </a:prstGeom>
              <a:solidFill>
                <a:schemeClr val="tx2">
                  <a:lumMod val="20000"/>
                  <a:lumOff val="80000"/>
                  <a:alpha val="5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A9F4772-785E-FE52-75E2-40980ED1AF2A}"/>
                  </a:ext>
                </a:extLst>
              </p:cNvPr>
              <p:cNvSpPr txBox="1"/>
              <p:nvPr/>
            </p:nvSpPr>
            <p:spPr>
              <a:xfrm>
                <a:off x="2982410" y="4525200"/>
                <a:ext cx="6096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CA" sz="2400" dirty="0"/>
                  <a:t>B</a:t>
                </a:r>
              </a:p>
            </p:txBody>
          </p:sp>
        </p:grp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D01C15BB-13A8-E88A-DB62-38C448C2BDD7}"/>
                </a:ext>
              </a:extLst>
            </p:cNvPr>
            <p:cNvSpPr txBox="1"/>
            <p:nvPr/>
          </p:nvSpPr>
          <p:spPr>
            <a:xfrm>
              <a:off x="1195800" y="4837845"/>
              <a:ext cx="10434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CA" sz="2000" dirty="0"/>
                <a:t>[A] [B]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07492191-83AA-EADF-3E95-13A7D79596C6}"/>
              </a:ext>
            </a:extLst>
          </p:cNvPr>
          <p:cNvGrpSpPr/>
          <p:nvPr/>
        </p:nvGrpSpPr>
        <p:grpSpPr>
          <a:xfrm>
            <a:off x="3657600" y="4191000"/>
            <a:ext cx="1892210" cy="1043150"/>
            <a:chOff x="3657600" y="4191000"/>
            <a:chExt cx="1892210" cy="1043150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32AED4B1-FF99-2EF1-917C-FAA2BF6E015F}"/>
                </a:ext>
              </a:extLst>
            </p:cNvPr>
            <p:cNvGrpSpPr/>
            <p:nvPr/>
          </p:nvGrpSpPr>
          <p:grpSpPr>
            <a:xfrm>
              <a:off x="3657600" y="4191000"/>
              <a:ext cx="609600" cy="504000"/>
              <a:chOff x="1699800" y="4525200"/>
              <a:chExt cx="609600" cy="504000"/>
            </a:xfrm>
          </p:grpSpPr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11D8055D-3559-3090-322E-AEC0FD9492A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752600" y="4525200"/>
                <a:ext cx="504000" cy="504000"/>
              </a:xfrm>
              <a:prstGeom prst="ellipse">
                <a:avLst/>
              </a:prstGeom>
              <a:solidFill>
                <a:schemeClr val="tx2">
                  <a:lumMod val="20000"/>
                  <a:lumOff val="80000"/>
                  <a:alpha val="5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3C915E3-8120-AF41-FF3C-56AB1A67A727}"/>
                  </a:ext>
                </a:extLst>
              </p:cNvPr>
              <p:cNvSpPr txBox="1"/>
              <p:nvPr/>
            </p:nvSpPr>
            <p:spPr>
              <a:xfrm>
                <a:off x="1699800" y="4546367"/>
                <a:ext cx="6096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CA" sz="2400" dirty="0"/>
                  <a:t>A</a:t>
                </a:r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4A0CB129-20CC-2D93-0A83-5B8F9C7CF15F}"/>
                </a:ext>
              </a:extLst>
            </p:cNvPr>
            <p:cNvGrpSpPr/>
            <p:nvPr/>
          </p:nvGrpSpPr>
          <p:grpSpPr>
            <a:xfrm>
              <a:off x="4940210" y="4191000"/>
              <a:ext cx="609600" cy="504000"/>
              <a:chOff x="2982410" y="4525200"/>
              <a:chExt cx="609600" cy="504000"/>
            </a:xfrm>
          </p:grpSpPr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E63F9548-2818-7E52-672A-0003D026E74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048000" y="4525200"/>
                <a:ext cx="504000" cy="504000"/>
              </a:xfrm>
              <a:prstGeom prst="ellipse">
                <a:avLst/>
              </a:prstGeom>
              <a:solidFill>
                <a:schemeClr val="tx2">
                  <a:lumMod val="20000"/>
                  <a:lumOff val="80000"/>
                  <a:alpha val="5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2D7DEDED-6DF6-1A96-9E61-49459A57AEF4}"/>
                  </a:ext>
                </a:extLst>
              </p:cNvPr>
              <p:cNvSpPr txBox="1"/>
              <p:nvPr/>
            </p:nvSpPr>
            <p:spPr>
              <a:xfrm>
                <a:off x="2982410" y="4525200"/>
                <a:ext cx="6096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CA" sz="2400" dirty="0"/>
                  <a:t>B</a:t>
                </a:r>
              </a:p>
            </p:txBody>
          </p:sp>
        </p:grp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9BE3088B-9113-3D76-3232-DC87C5169A16}"/>
                </a:ext>
              </a:extLst>
            </p:cNvPr>
            <p:cNvSpPr txBox="1"/>
            <p:nvPr/>
          </p:nvSpPr>
          <p:spPr>
            <a:xfrm>
              <a:off x="4125408" y="4834040"/>
              <a:ext cx="10434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CA" sz="2000" dirty="0"/>
                <a:t>[A B]</a:t>
              </a:r>
            </a:p>
          </p:txBody>
        </p: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E83562AF-5C0D-78C5-E301-9DA72E573904}"/>
                </a:ext>
              </a:extLst>
            </p:cNvPr>
            <p:cNvCxnSpPr>
              <a:cxnSpLocks/>
              <a:endCxn id="16" idx="3"/>
            </p:cNvCxnSpPr>
            <p:nvPr/>
          </p:nvCxnSpPr>
          <p:spPr>
            <a:xfrm flipH="1">
              <a:off x="4267200" y="4433408"/>
              <a:ext cx="719310" cy="9592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E9B469A9-E831-00F9-898F-78D33014A4C6}"/>
              </a:ext>
            </a:extLst>
          </p:cNvPr>
          <p:cNvGrpSpPr/>
          <p:nvPr/>
        </p:nvGrpSpPr>
        <p:grpSpPr>
          <a:xfrm>
            <a:off x="6248400" y="3886200"/>
            <a:ext cx="1892210" cy="2202363"/>
            <a:chOff x="6248400" y="3886200"/>
            <a:chExt cx="1892210" cy="2202363"/>
          </a:xfrm>
        </p:grpSpPr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86371236-517E-E757-6A3A-78B386AC89A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764309" y="4144753"/>
              <a:ext cx="814802" cy="17361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659D6F01-0619-5106-C1BE-C02F022481A8}"/>
                </a:ext>
              </a:extLst>
            </p:cNvPr>
            <p:cNvGrpSpPr/>
            <p:nvPr/>
          </p:nvGrpSpPr>
          <p:grpSpPr>
            <a:xfrm>
              <a:off x="6248400" y="3886200"/>
              <a:ext cx="1892210" cy="2202363"/>
              <a:chOff x="6248400" y="3886200"/>
              <a:chExt cx="1892210" cy="2202363"/>
            </a:xfrm>
          </p:grpSpPr>
          <p:grpSp>
            <p:nvGrpSpPr>
              <p:cNvPr id="27" name="Group 26">
                <a:extLst>
                  <a:ext uri="{FF2B5EF4-FFF2-40B4-BE49-F238E27FC236}">
                    <a16:creationId xmlns:a16="http://schemas.microsoft.com/office/drawing/2014/main" id="{AD26D7E0-8615-EEC3-4CAD-26A5D45C6252}"/>
                  </a:ext>
                </a:extLst>
              </p:cNvPr>
              <p:cNvGrpSpPr/>
              <p:nvPr/>
            </p:nvGrpSpPr>
            <p:grpSpPr>
              <a:xfrm>
                <a:off x="6248400" y="3886200"/>
                <a:ext cx="609600" cy="504000"/>
                <a:chOff x="1699800" y="4525200"/>
                <a:chExt cx="609600" cy="504000"/>
              </a:xfrm>
            </p:grpSpPr>
            <p:sp>
              <p:nvSpPr>
                <p:cNvPr id="28" name="Oval 27">
                  <a:extLst>
                    <a:ext uri="{FF2B5EF4-FFF2-40B4-BE49-F238E27FC236}">
                      <a16:creationId xmlns:a16="http://schemas.microsoft.com/office/drawing/2014/main" id="{FBDD314C-967A-91F6-6971-0D975CE0B73D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752600" y="4525200"/>
                  <a:ext cx="504000" cy="504000"/>
                </a:xfrm>
                <a:prstGeom prst="ellipse">
                  <a:avLst/>
                </a:prstGeom>
                <a:solidFill>
                  <a:schemeClr val="tx2">
                    <a:lumMod val="20000"/>
                    <a:lumOff val="80000"/>
                    <a:alpha val="5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A"/>
                </a:p>
              </p:txBody>
            </p:sp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4993373F-09A9-0A4E-C8DD-1DFA1E7A3388}"/>
                    </a:ext>
                  </a:extLst>
                </p:cNvPr>
                <p:cNvSpPr txBox="1"/>
                <p:nvPr/>
              </p:nvSpPr>
              <p:spPr>
                <a:xfrm>
                  <a:off x="1699800" y="4546367"/>
                  <a:ext cx="609600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CA" sz="2400" dirty="0"/>
                    <a:t>A</a:t>
                  </a:r>
                </a:p>
              </p:txBody>
            </p:sp>
          </p:grpSp>
          <p:grpSp>
            <p:nvGrpSpPr>
              <p:cNvPr id="30" name="Group 29">
                <a:extLst>
                  <a:ext uri="{FF2B5EF4-FFF2-40B4-BE49-F238E27FC236}">
                    <a16:creationId xmlns:a16="http://schemas.microsoft.com/office/drawing/2014/main" id="{C56CC6FA-D626-1557-41A6-B1D4EAC6486A}"/>
                  </a:ext>
                </a:extLst>
              </p:cNvPr>
              <p:cNvGrpSpPr/>
              <p:nvPr/>
            </p:nvGrpSpPr>
            <p:grpSpPr>
              <a:xfrm>
                <a:off x="7531010" y="3886200"/>
                <a:ext cx="609600" cy="504000"/>
                <a:chOff x="2982410" y="4525200"/>
                <a:chExt cx="609600" cy="504000"/>
              </a:xfrm>
            </p:grpSpPr>
            <p:sp>
              <p:nvSpPr>
                <p:cNvPr id="31" name="Oval 30">
                  <a:extLst>
                    <a:ext uri="{FF2B5EF4-FFF2-40B4-BE49-F238E27FC236}">
                      <a16:creationId xmlns:a16="http://schemas.microsoft.com/office/drawing/2014/main" id="{8A009BDA-AEB2-290C-62DE-34511A1163EC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3048000" y="4525200"/>
                  <a:ext cx="504000" cy="504000"/>
                </a:xfrm>
                <a:prstGeom prst="ellipse">
                  <a:avLst/>
                </a:prstGeom>
                <a:solidFill>
                  <a:schemeClr val="tx2">
                    <a:lumMod val="20000"/>
                    <a:lumOff val="80000"/>
                    <a:alpha val="5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A"/>
                </a:p>
              </p:txBody>
            </p:sp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21AA8C64-6D1B-2E2A-8D89-9ED12FDC1AD2}"/>
                    </a:ext>
                  </a:extLst>
                </p:cNvPr>
                <p:cNvSpPr txBox="1"/>
                <p:nvPr/>
              </p:nvSpPr>
              <p:spPr>
                <a:xfrm>
                  <a:off x="2982410" y="4525200"/>
                  <a:ext cx="609600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CA" sz="2400" dirty="0"/>
                    <a:t>B</a:t>
                  </a:r>
                </a:p>
              </p:txBody>
            </p:sp>
          </p:grpSp>
          <p:grpSp>
            <p:nvGrpSpPr>
              <p:cNvPr id="33" name="Group 32">
                <a:extLst>
                  <a:ext uri="{FF2B5EF4-FFF2-40B4-BE49-F238E27FC236}">
                    <a16:creationId xmlns:a16="http://schemas.microsoft.com/office/drawing/2014/main" id="{83F53B24-A372-F99B-4AE4-C654C852EF3C}"/>
                  </a:ext>
                </a:extLst>
              </p:cNvPr>
              <p:cNvGrpSpPr/>
              <p:nvPr/>
            </p:nvGrpSpPr>
            <p:grpSpPr>
              <a:xfrm>
                <a:off x="6858780" y="5049267"/>
                <a:ext cx="609600" cy="504000"/>
                <a:chOff x="1699800" y="4525200"/>
                <a:chExt cx="609600" cy="504000"/>
              </a:xfrm>
            </p:grpSpPr>
            <p:sp>
              <p:nvSpPr>
                <p:cNvPr id="34" name="Oval 33">
                  <a:extLst>
                    <a:ext uri="{FF2B5EF4-FFF2-40B4-BE49-F238E27FC236}">
                      <a16:creationId xmlns:a16="http://schemas.microsoft.com/office/drawing/2014/main" id="{5FFE67EF-B0F9-6148-46E4-DE647817134C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752600" y="4525200"/>
                  <a:ext cx="504000" cy="504000"/>
                </a:xfrm>
                <a:prstGeom prst="ellipse">
                  <a:avLst/>
                </a:prstGeom>
                <a:solidFill>
                  <a:schemeClr val="tx2">
                    <a:lumMod val="20000"/>
                    <a:lumOff val="80000"/>
                    <a:alpha val="5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A"/>
                </a:p>
              </p:txBody>
            </p:sp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4D767801-2E8C-A60D-01EB-7661B3963030}"/>
                    </a:ext>
                  </a:extLst>
                </p:cNvPr>
                <p:cNvSpPr txBox="1"/>
                <p:nvPr/>
              </p:nvSpPr>
              <p:spPr>
                <a:xfrm>
                  <a:off x="1699800" y="4546367"/>
                  <a:ext cx="609600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CA" sz="2400" dirty="0"/>
                    <a:t>C</a:t>
                  </a:r>
                </a:p>
              </p:txBody>
            </p:sp>
          </p:grp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B2AC5CDE-1CC7-E61B-798A-DA861BCA942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6678895" y="4390199"/>
                <a:ext cx="383790" cy="703519"/>
              </a:xfrm>
              <a:prstGeom prst="line">
                <a:avLst/>
              </a:prstGeom>
              <a:ln w="889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169866BE-8860-08F0-416E-1A13F64E8B51}"/>
                  </a:ext>
                </a:extLst>
              </p:cNvPr>
              <p:cNvSpPr txBox="1"/>
              <p:nvPr/>
            </p:nvSpPr>
            <p:spPr>
              <a:xfrm>
                <a:off x="6488085" y="5688453"/>
                <a:ext cx="135099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CA" sz="2000" dirty="0"/>
                  <a:t>[A B] [</a:t>
                </a:r>
                <a:r>
                  <a:rPr lang="en-CA" sz="2000" b="1" dirty="0"/>
                  <a:t>A C</a:t>
                </a:r>
                <a:r>
                  <a:rPr lang="en-CA" sz="2000" dirty="0"/>
                  <a:t>]</a:t>
                </a:r>
              </a:p>
            </p:txBody>
          </p:sp>
        </p:grp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66609FD3-B662-663A-0FAE-7450E3CAA023}"/>
              </a:ext>
            </a:extLst>
          </p:cNvPr>
          <p:cNvSpPr txBox="1"/>
          <p:nvPr/>
        </p:nvSpPr>
        <p:spPr>
          <a:xfrm>
            <a:off x="914400" y="5562600"/>
            <a:ext cx="4953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solidFill>
                  <a:srgbClr val="FF0000"/>
                </a:solidFill>
              </a:rPr>
              <a:t>Under-solved problem</a:t>
            </a:r>
            <a:r>
              <a:rPr lang="en-CA" dirty="0"/>
              <a:t>: Use an association graph to represent </a:t>
            </a:r>
            <a:r>
              <a:rPr lang="en-CA" dirty="0">
                <a:solidFill>
                  <a:srgbClr val="0070C0"/>
                </a:solidFill>
              </a:rPr>
              <a:t>strength</a:t>
            </a:r>
            <a:r>
              <a:rPr lang="en-CA" dirty="0"/>
              <a:t> of conditional associations or as a widget for model fitting</a:t>
            </a:r>
          </a:p>
        </p:txBody>
      </p:sp>
    </p:spTree>
    <p:extLst>
      <p:ext uri="{BB962C8B-B14F-4D97-AF65-F5344CB8AC3E}">
        <p14:creationId xmlns:p14="http://schemas.microsoft.com/office/powerpoint/2010/main" val="38621723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44FFDA-CD21-EF88-A829-D8A441E664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Model types &amp; association graphs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C0BCA76-C365-54E4-101B-C941076B6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46</a:t>
            </a:fld>
            <a:endParaRPr lang="en-US"/>
          </a:p>
        </p:txBody>
      </p:sp>
      <p:pic>
        <p:nvPicPr>
          <p:cNvPr id="5" name="Picture 4" descr="Table&#10;&#10;Description automatically generated">
            <a:extLst>
              <a:ext uri="{FF2B5EF4-FFF2-40B4-BE49-F238E27FC236}">
                <a16:creationId xmlns:a16="http://schemas.microsoft.com/office/drawing/2014/main" id="{4A28C40D-8E3C-427D-EAC3-92756B90DD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1047" y="1557960"/>
            <a:ext cx="6561905" cy="4980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158449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6DE0B4-75C8-41AF-9721-2A86D34AB7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Model types: </a:t>
            </a:r>
            <a:r>
              <a:rPr lang="en-US" dirty="0" err="1"/>
              <a:t>loglm</a:t>
            </a:r>
            <a:r>
              <a:rPr lang="en-US" dirty="0"/>
              <a:t>()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A580A5C-5298-48AE-8D1F-811AF97421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47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ACD5C64-04D1-43BE-9ABB-60389ED89EDD}"/>
              </a:ext>
            </a:extLst>
          </p:cNvPr>
          <p:cNvSpPr txBox="1"/>
          <p:nvPr/>
        </p:nvSpPr>
        <p:spPr>
          <a:xfrm>
            <a:off x="457200" y="2571552"/>
            <a:ext cx="8229600" cy="1323439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loglm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(~ A + B + C)       </a:t>
            </a:r>
            <a:r>
              <a:rPr lang="en-US" sz="16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mutual independence      [A][B][C]</a:t>
            </a:r>
          </a:p>
          <a:p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loglm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(~ A * B + C)       </a:t>
            </a:r>
            <a:r>
              <a:rPr lang="en-US" sz="16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joint independence       [AB][C]</a:t>
            </a:r>
          </a:p>
          <a:p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loglm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(~ A*C + B*C)       </a:t>
            </a:r>
            <a:r>
              <a:rPr lang="en-US" sz="16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conditional independence [AC][BC]</a:t>
            </a:r>
          </a:p>
          <a:p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loglm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(~ (A + B + C)^2)   </a:t>
            </a:r>
            <a:r>
              <a:rPr lang="en-US" sz="16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homogeneous, all 2-way   [AB][AC][BC]</a:t>
            </a:r>
          </a:p>
          <a:p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loglm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(~ A * B * C)       </a:t>
            </a:r>
            <a:r>
              <a:rPr lang="en-US" sz="16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saturated model          [ABC]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11BA525-2177-40A5-B121-05879863618F}"/>
              </a:ext>
            </a:extLst>
          </p:cNvPr>
          <p:cNvSpPr txBox="1"/>
          <p:nvPr/>
        </p:nvSpPr>
        <p:spPr>
          <a:xfrm>
            <a:off x="457200" y="1295400"/>
            <a:ext cx="8229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Each of these have simple translations into the model formulae for </a:t>
            </a:r>
            <a:r>
              <a:rPr lang="en-US" sz="2400" dirty="0" err="1"/>
              <a:t>loglm</a:t>
            </a:r>
            <a:r>
              <a:rPr lang="en-US" sz="2400" dirty="0"/>
              <a:t>()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8DD5D7B-C7B0-1EF2-244E-4351A7E7CE9C}"/>
              </a:ext>
            </a:extLst>
          </p:cNvPr>
          <p:cNvSpPr txBox="1"/>
          <p:nvPr/>
        </p:nvSpPr>
        <p:spPr>
          <a:xfrm>
            <a:off x="609600" y="4572000"/>
            <a:ext cx="3962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e.g., Berkeley data</a:t>
            </a:r>
          </a:p>
          <a:p>
            <a:r>
              <a:rPr lang="en-CA" dirty="0" err="1"/>
              <a:t>loglm</a:t>
            </a:r>
            <a:r>
              <a:rPr lang="en-CA" dirty="0"/>
              <a:t>(~ (Admit + Gender) * Dept)</a:t>
            </a:r>
          </a:p>
          <a:p>
            <a:r>
              <a:rPr lang="en-CA" dirty="0" err="1"/>
              <a:t>loglm</a:t>
            </a:r>
            <a:r>
              <a:rPr lang="en-CA" dirty="0"/>
              <a:t>(~Admit*Dept + Gender * Dept)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E7774190-38C1-EF31-D7ED-69DEE44C6C87}"/>
              </a:ext>
            </a:extLst>
          </p:cNvPr>
          <p:cNvGrpSpPr/>
          <p:nvPr/>
        </p:nvGrpSpPr>
        <p:grpSpPr>
          <a:xfrm>
            <a:off x="4686300" y="4422811"/>
            <a:ext cx="3352800" cy="1791222"/>
            <a:chOff x="4686300" y="4422811"/>
            <a:chExt cx="3352800" cy="1791222"/>
          </a:xfrm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9FFF49DA-445C-4457-C9CA-E8B1220303A1}"/>
                </a:ext>
              </a:extLst>
            </p:cNvPr>
            <p:cNvGrpSpPr/>
            <p:nvPr/>
          </p:nvGrpSpPr>
          <p:grpSpPr>
            <a:xfrm>
              <a:off x="5105400" y="4895295"/>
              <a:ext cx="2514600" cy="397000"/>
              <a:chOff x="762000" y="4648200"/>
              <a:chExt cx="2514600" cy="397000"/>
            </a:xfrm>
          </p:grpSpPr>
          <p:grpSp>
            <p:nvGrpSpPr>
              <p:cNvPr id="6" name="Group 5">
                <a:extLst>
                  <a:ext uri="{FF2B5EF4-FFF2-40B4-BE49-F238E27FC236}">
                    <a16:creationId xmlns:a16="http://schemas.microsoft.com/office/drawing/2014/main" id="{E9D89840-3373-FD96-8258-5455D366B627}"/>
                  </a:ext>
                </a:extLst>
              </p:cNvPr>
              <p:cNvGrpSpPr/>
              <p:nvPr/>
            </p:nvGrpSpPr>
            <p:grpSpPr>
              <a:xfrm>
                <a:off x="762000" y="4648200"/>
                <a:ext cx="533400" cy="381000"/>
                <a:chOff x="1699800" y="4525200"/>
                <a:chExt cx="609600" cy="504000"/>
              </a:xfrm>
            </p:grpSpPr>
            <p:sp>
              <p:nvSpPr>
                <p:cNvPr id="7" name="Oval 6">
                  <a:extLst>
                    <a:ext uri="{FF2B5EF4-FFF2-40B4-BE49-F238E27FC236}">
                      <a16:creationId xmlns:a16="http://schemas.microsoft.com/office/drawing/2014/main" id="{8CDD4B15-EC85-AB43-3D3A-68F190B8901C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752600" y="4525200"/>
                  <a:ext cx="504000" cy="504000"/>
                </a:xfrm>
                <a:prstGeom prst="ellipse">
                  <a:avLst/>
                </a:prstGeom>
                <a:solidFill>
                  <a:schemeClr val="tx2">
                    <a:lumMod val="20000"/>
                    <a:lumOff val="80000"/>
                    <a:alpha val="5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A"/>
                </a:p>
              </p:txBody>
            </p:sp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0D40E38A-76C1-58A7-FA66-3523EB85A0DB}"/>
                    </a:ext>
                  </a:extLst>
                </p:cNvPr>
                <p:cNvSpPr txBox="1"/>
                <p:nvPr/>
              </p:nvSpPr>
              <p:spPr>
                <a:xfrm>
                  <a:off x="1699800" y="4546366"/>
                  <a:ext cx="609600" cy="37320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CA" sz="1600" dirty="0"/>
                    <a:t>A</a:t>
                  </a:r>
                </a:p>
              </p:txBody>
            </p:sp>
          </p:grpSp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62A87ED1-1715-D8B4-2E9E-CFAE74F3EAEB}"/>
                  </a:ext>
                </a:extLst>
              </p:cNvPr>
              <p:cNvGrpSpPr/>
              <p:nvPr/>
            </p:nvGrpSpPr>
            <p:grpSpPr>
              <a:xfrm>
                <a:off x="1752600" y="4648200"/>
                <a:ext cx="533400" cy="381000"/>
                <a:chOff x="1699800" y="4525200"/>
                <a:chExt cx="609600" cy="504000"/>
              </a:xfrm>
            </p:grpSpPr>
            <p:sp>
              <p:nvSpPr>
                <p:cNvPr id="10" name="Oval 9">
                  <a:extLst>
                    <a:ext uri="{FF2B5EF4-FFF2-40B4-BE49-F238E27FC236}">
                      <a16:creationId xmlns:a16="http://schemas.microsoft.com/office/drawing/2014/main" id="{F8B3A698-2776-00D8-6EBD-D6B69943C5E6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752600" y="4525200"/>
                  <a:ext cx="504000" cy="504000"/>
                </a:xfrm>
                <a:prstGeom prst="ellipse">
                  <a:avLst/>
                </a:prstGeom>
                <a:solidFill>
                  <a:schemeClr val="tx2">
                    <a:lumMod val="20000"/>
                    <a:lumOff val="80000"/>
                    <a:alpha val="5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A"/>
                </a:p>
              </p:txBody>
            </p:sp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F6204BC7-5C10-E594-F481-F57A27319D07}"/>
                    </a:ext>
                  </a:extLst>
                </p:cNvPr>
                <p:cNvSpPr txBox="1"/>
                <p:nvPr/>
              </p:nvSpPr>
              <p:spPr>
                <a:xfrm>
                  <a:off x="1699800" y="4546365"/>
                  <a:ext cx="609600" cy="44785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CA" sz="1600" dirty="0"/>
                    <a:t>D</a:t>
                  </a:r>
                </a:p>
              </p:txBody>
            </p:sp>
          </p:grpSp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4C9F44C1-7EF3-FE85-1C81-0AB468EF8D96}"/>
                  </a:ext>
                </a:extLst>
              </p:cNvPr>
              <p:cNvGrpSpPr/>
              <p:nvPr/>
            </p:nvGrpSpPr>
            <p:grpSpPr>
              <a:xfrm>
                <a:off x="2743200" y="4664200"/>
                <a:ext cx="533400" cy="381000"/>
                <a:chOff x="1699800" y="4525200"/>
                <a:chExt cx="609600" cy="504000"/>
              </a:xfrm>
            </p:grpSpPr>
            <p:sp>
              <p:nvSpPr>
                <p:cNvPr id="13" name="Oval 12">
                  <a:extLst>
                    <a:ext uri="{FF2B5EF4-FFF2-40B4-BE49-F238E27FC236}">
                      <a16:creationId xmlns:a16="http://schemas.microsoft.com/office/drawing/2014/main" id="{5CA43664-068B-759D-47A5-83DD8380578A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752600" y="4525200"/>
                  <a:ext cx="504000" cy="504000"/>
                </a:xfrm>
                <a:prstGeom prst="ellipse">
                  <a:avLst/>
                </a:prstGeom>
                <a:solidFill>
                  <a:schemeClr val="tx2">
                    <a:lumMod val="20000"/>
                    <a:lumOff val="80000"/>
                    <a:alpha val="5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A"/>
                </a:p>
              </p:txBody>
            </p:sp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1609EF98-98CB-B348-3A40-EB7E8527B582}"/>
                    </a:ext>
                  </a:extLst>
                </p:cNvPr>
                <p:cNvSpPr txBox="1"/>
                <p:nvPr/>
              </p:nvSpPr>
              <p:spPr>
                <a:xfrm>
                  <a:off x="1699800" y="4546365"/>
                  <a:ext cx="609600" cy="44785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CA" sz="1600" dirty="0"/>
                    <a:t>G</a:t>
                  </a:r>
                </a:p>
              </p:txBody>
            </p:sp>
          </p:grp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15EB3D1C-1CD2-D803-5543-3F8DD51718D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95400" y="4833477"/>
                <a:ext cx="457200" cy="0"/>
              </a:xfrm>
              <a:prstGeom prst="line">
                <a:avLst/>
              </a:prstGeom>
              <a:ln w="254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1119B847-3371-2FCF-C337-43912D60D9E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86000" y="4849477"/>
                <a:ext cx="457200" cy="0"/>
              </a:xfrm>
              <a:prstGeom prst="line">
                <a:avLst/>
              </a:prstGeom>
              <a:ln w="254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6474FCA5-1658-94C7-0AC3-F39DC885F507}"/>
                </a:ext>
              </a:extLst>
            </p:cNvPr>
            <p:cNvSpPr txBox="1"/>
            <p:nvPr/>
          </p:nvSpPr>
          <p:spPr>
            <a:xfrm>
              <a:off x="4991100" y="4422811"/>
              <a:ext cx="2743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CA" dirty="0"/>
                <a:t>Association graph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884F6242-2740-248E-37C3-16BC3C5106C9}"/>
                </a:ext>
              </a:extLst>
            </p:cNvPr>
            <p:cNvSpPr txBox="1"/>
            <p:nvPr/>
          </p:nvSpPr>
          <p:spPr>
            <a:xfrm>
              <a:off x="4686300" y="5506147"/>
              <a:ext cx="335280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 algn="ctr">
                <a:buFont typeface="Symbol" panose="05050102010706020507" pitchFamily="18" charset="2"/>
                <a:buChar char="®"/>
              </a:pPr>
              <a:r>
                <a:rPr lang="en-CA" sz="2000" dirty="0">
                  <a:sym typeface="Symbol" panose="05050102010706020507" pitchFamily="18" charset="2"/>
                </a:rPr>
                <a:t>A  G | D</a:t>
              </a:r>
            </a:p>
            <a:p>
              <a:pPr algn="ctr"/>
              <a:r>
                <a:rPr lang="en-CA" sz="2000" dirty="0">
                  <a:sym typeface="Symbol" panose="05050102010706020507" pitchFamily="18" charset="2"/>
                </a:rPr>
                <a:t>(just put your finger over D)</a:t>
              </a:r>
              <a:endParaRPr lang="en-CA" sz="2000" dirty="0"/>
            </a:p>
          </p:txBody>
        </p:sp>
      </p:grpSp>
    </p:spTree>
    <p:extLst>
      <p:ext uri="{BB962C8B-B14F-4D97-AF65-F5344CB8AC3E}">
        <p14:creationId xmlns:p14="http://schemas.microsoft.com/office/powerpoint/2010/main" val="38401839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0703E1-C404-7572-6A02-66CA73CACD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sz="2800" dirty="0"/>
              <a:t>Collapsibility: Marginal &amp; conditional associations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217ADE-87C2-239D-955B-CE758D3F71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CA" sz="2400" dirty="0"/>
              <a:t>Q: When can we legitimately collapse a table, {ABC}, over some variable (C)?</a:t>
            </a:r>
          </a:p>
          <a:p>
            <a:r>
              <a:rPr lang="en-CA" sz="2400" dirty="0"/>
              <a:t>A: When the </a:t>
            </a:r>
            <a:r>
              <a:rPr lang="en-CA" sz="2400" dirty="0">
                <a:solidFill>
                  <a:srgbClr val="0070C0"/>
                </a:solidFill>
              </a:rPr>
              <a:t>marginal</a:t>
            </a:r>
            <a:r>
              <a:rPr lang="en-CA" sz="2400" dirty="0"/>
              <a:t> association of AB is the same as the </a:t>
            </a:r>
            <a:r>
              <a:rPr lang="en-CA" sz="2400" dirty="0">
                <a:solidFill>
                  <a:srgbClr val="0070C0"/>
                </a:solidFill>
              </a:rPr>
              <a:t>conditional</a:t>
            </a:r>
            <a:r>
              <a:rPr lang="en-CA" sz="2400" dirty="0"/>
              <a:t> association, AB | C</a:t>
            </a:r>
          </a:p>
          <a:p>
            <a:r>
              <a:rPr lang="en-CA" sz="2400" dirty="0"/>
              <a:t>Recall the Berkeley data</a:t>
            </a:r>
          </a:p>
          <a:p>
            <a:pPr lvl="1"/>
            <a:r>
              <a:rPr lang="en-CA" sz="2000" dirty="0"/>
              <a:t>Margin of [Admit, Gender] ignoring Dept showed strong association</a:t>
            </a:r>
          </a:p>
          <a:p>
            <a:pPr lvl="1"/>
            <a:r>
              <a:rPr lang="en-CA" sz="2000" dirty="0"/>
              <a:t>The partial assoc. within Dept were mostly NS</a:t>
            </a:r>
          </a:p>
          <a:p>
            <a:pPr lvl="1"/>
            <a:r>
              <a:rPr lang="en-CA" sz="2000" dirty="0"/>
              <a:t>Conditional association [Admit, Gender | Dept] ≠ marginal [A, G]</a:t>
            </a:r>
          </a:p>
          <a:p>
            <a:r>
              <a:rPr lang="en-CA" sz="2400" dirty="0"/>
              <a:t>Three-way tables: The AB marginal and AB | C conditional associations are the same, if either:</a:t>
            </a:r>
          </a:p>
          <a:p>
            <a:pPr lvl="1"/>
            <a:r>
              <a:rPr lang="en-CA" sz="2000" dirty="0"/>
              <a:t>A &amp; C are conditionally independent, A </a:t>
            </a:r>
            <a:r>
              <a:rPr lang="en-CA" sz="2000" dirty="0">
                <a:sym typeface="Symbol" panose="05050102010706020507" pitchFamily="18" charset="2"/>
              </a:rPr>
              <a:t> C| B = [AB][CB]</a:t>
            </a:r>
          </a:p>
          <a:p>
            <a:pPr lvl="1"/>
            <a:r>
              <a:rPr lang="en-CA" sz="2000" dirty="0">
                <a:sym typeface="Symbol" panose="05050102010706020507" pitchFamily="18" charset="2"/>
              </a:rPr>
              <a:t>B &amp; C are conditionally independent, B  C | A = [AB][AC]</a:t>
            </a:r>
          </a:p>
          <a:p>
            <a:pPr lvl="1"/>
            <a:r>
              <a:rPr lang="en-CA" sz="2000" dirty="0">
                <a:sym typeface="Symbol" panose="05050102010706020507" pitchFamily="18" charset="2"/>
              </a:rPr>
              <a:t> no three-way association</a:t>
            </a:r>
            <a:endParaRPr lang="en-CA" sz="20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0A03C8D-B755-B47A-E820-2748F682AD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16543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92FAF4-BA1E-8EBB-050A-CEBB9546FF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Higher-way tables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0B1904-9674-663A-CA56-D3BCF2176E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49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4E7526-6E18-4D6F-9C25-BF50D500FCF9}"/>
              </a:ext>
            </a:extLst>
          </p:cNvPr>
          <p:cNvSpPr txBox="1"/>
          <p:nvPr/>
        </p:nvSpPr>
        <p:spPr>
          <a:xfrm>
            <a:off x="457200" y="1219200"/>
            <a:ext cx="822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 err="1"/>
              <a:t>DaytonSurvey</a:t>
            </a:r>
            <a:r>
              <a:rPr lang="en-CA" dirty="0"/>
              <a:t> data: A 2</a:t>
            </a:r>
            <a:r>
              <a:rPr lang="en-CA" baseline="30000" dirty="0"/>
              <a:t>5</a:t>
            </a:r>
            <a:r>
              <a:rPr lang="en-CA" dirty="0"/>
              <a:t> table</a:t>
            </a:r>
          </a:p>
          <a:p>
            <a:r>
              <a:rPr lang="en-CA" dirty="0"/>
              <a:t>2,276 HS seniors asked if they had ever used cigarettes, alcohol, or marijuana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777FD56-A441-8352-35B9-8F3C20837E75}"/>
              </a:ext>
            </a:extLst>
          </p:cNvPr>
          <p:cNvSpPr txBox="1"/>
          <p:nvPr/>
        </p:nvSpPr>
        <p:spPr>
          <a:xfrm>
            <a:off x="476250" y="1905000"/>
            <a:ext cx="5334000" cy="1569660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</a:t>
            </a:r>
            <a:r>
              <a:rPr lang="en-CA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cigarette</a:t>
            </a:r>
            <a:r>
              <a:rPr lang="en-CA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Yes              No            </a:t>
            </a:r>
          </a:p>
          <a:p>
            <a:r>
              <a:rPr lang="en-CA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</a:t>
            </a:r>
            <a:r>
              <a:rPr lang="en-CA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alcohol</a:t>
            </a:r>
            <a:r>
              <a:rPr lang="en-CA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Yes      No     Yes      No    </a:t>
            </a:r>
          </a:p>
          <a:p>
            <a:r>
              <a:rPr lang="en-CA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</a:t>
            </a:r>
            <a:r>
              <a:rPr lang="en-CA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marijuana</a:t>
            </a:r>
            <a:r>
              <a:rPr lang="en-CA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Yes  No Yes  No Yes  No Yes  No</a:t>
            </a:r>
          </a:p>
          <a:p>
            <a:r>
              <a:rPr lang="en-CA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sex</a:t>
            </a:r>
            <a:r>
              <a:rPr lang="en-CA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CA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race</a:t>
            </a:r>
            <a:r>
              <a:rPr lang="en-CA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                 </a:t>
            </a:r>
          </a:p>
          <a:p>
            <a:r>
              <a:rPr lang="en-CA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female white           405 268   1  17  13 218   1 117</a:t>
            </a:r>
          </a:p>
          <a:p>
            <a:r>
              <a:rPr lang="en-CA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other            23  23   0   1   2  19   0  12</a:t>
            </a:r>
          </a:p>
          <a:p>
            <a:r>
              <a:rPr lang="en-CA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male   white           453 228   1  17  28 201   1 133</a:t>
            </a:r>
          </a:p>
          <a:p>
            <a:r>
              <a:rPr lang="en-CA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other            30  19   1   8   1  18   0  17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14A6373-B9B4-F8BA-0247-110F6F7E6B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1200" y="3448493"/>
            <a:ext cx="3123809" cy="284761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DB3E1FC-4EED-566B-2814-5B26D670E92F}"/>
              </a:ext>
            </a:extLst>
          </p:cNvPr>
          <p:cNvSpPr txBox="1"/>
          <p:nvPr/>
        </p:nvSpPr>
        <p:spPr>
          <a:xfrm>
            <a:off x="457200" y="3579674"/>
            <a:ext cx="49530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Suppose we wish to fit the model:</a:t>
            </a:r>
          </a:p>
          <a:p>
            <a:r>
              <a:rPr lang="en-CA" dirty="0"/>
              <a:t>   [A M] [A C] [M C]   [A R] [A G] [R G]</a:t>
            </a:r>
          </a:p>
          <a:p>
            <a:endParaRPr lang="en-CA" dirty="0"/>
          </a:p>
          <a:p>
            <a:r>
              <a:rPr lang="en-CA" dirty="0"/>
              <a:t>The association graph implies:</a:t>
            </a:r>
          </a:p>
          <a:p>
            <a:endParaRPr lang="en-CA" dirty="0"/>
          </a:p>
          <a:p>
            <a:r>
              <a:rPr lang="en-CA" dirty="0"/>
              <a:t>{race, gender} </a:t>
            </a:r>
            <a:r>
              <a:rPr lang="en-CA" sz="1800" dirty="0">
                <a:sym typeface="Symbol" panose="05050102010706020507" pitchFamily="18" charset="2"/>
              </a:rPr>
              <a:t> {marijuana, cigarette} | alcohol</a:t>
            </a:r>
          </a:p>
          <a:p>
            <a:endParaRPr lang="en-CA" dirty="0">
              <a:sym typeface="Symbol" panose="05050102010706020507" pitchFamily="18" charset="2"/>
            </a:endParaRPr>
          </a:p>
          <a:p>
            <a:r>
              <a:rPr lang="en-CA" dirty="0">
                <a:sym typeface="Symbol" panose="05050102010706020507" pitchFamily="18" charset="2"/>
              </a:rPr>
              <a:t>If it fits, we can collapse the table over {race, gender} to study associations among A, M &amp; C. 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4017093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B2B7CC-6717-3EB1-0450-6A6B0D708D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Response vs. Association models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170B58-3C99-BFD6-BE9A-F4C90AD422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50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EA7BAFF-49D3-E8D4-71FD-657D5F6965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996" y="1502046"/>
            <a:ext cx="7952381" cy="144761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0D18DCC-94AC-ADBC-A186-31A86C44BD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233" y="3292523"/>
            <a:ext cx="7961905" cy="2209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00859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8FCAFE-9AC5-67F1-BD34-E48113FBC8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Goodness of fit tests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1ABAAF2-8625-B620-7112-A7267F07BF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51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FE90121-0A64-9728-3894-3B25565548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95400"/>
            <a:ext cx="8171428" cy="203809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E20BEF7-B203-F0D1-1A21-F7A24F87E5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363" y="3638295"/>
            <a:ext cx="8171428" cy="1819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334550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41E331-37F4-3DF3-30D7-A8359E762D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Nested models &amp; ANOVA-type tests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863997-3F0C-39D4-9AC0-047DF633DD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3429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CA" sz="2000" dirty="0"/>
              <a:t>Two models, M</a:t>
            </a:r>
            <a:r>
              <a:rPr lang="en-CA" sz="2000" baseline="-25000" dirty="0"/>
              <a:t>1</a:t>
            </a:r>
            <a:r>
              <a:rPr lang="en-CA" sz="2000" dirty="0"/>
              <a:t> and M</a:t>
            </a:r>
            <a:r>
              <a:rPr lang="en-CA" sz="2000" baseline="-25000" dirty="0"/>
              <a:t>2</a:t>
            </a:r>
            <a:r>
              <a:rPr lang="en-CA" sz="2000" dirty="0"/>
              <a:t> are </a:t>
            </a:r>
            <a:r>
              <a:rPr lang="en-CA" sz="2000" dirty="0">
                <a:solidFill>
                  <a:srgbClr val="0070C0"/>
                </a:solidFill>
              </a:rPr>
              <a:t>nested</a:t>
            </a:r>
            <a:r>
              <a:rPr lang="en-CA" sz="2000" dirty="0"/>
              <a:t> when one (say, M</a:t>
            </a:r>
            <a:r>
              <a:rPr lang="en-CA" sz="2000" baseline="-25000" dirty="0"/>
              <a:t>2</a:t>
            </a:r>
            <a:r>
              <a:rPr lang="en-CA" sz="2000" dirty="0"/>
              <a:t>) is a special case of the other</a:t>
            </a:r>
          </a:p>
          <a:p>
            <a:r>
              <a:rPr lang="en-CA" sz="2000" dirty="0"/>
              <a:t>Model M</a:t>
            </a:r>
            <a:r>
              <a:rPr lang="en-CA" sz="2000" baseline="-25000" dirty="0"/>
              <a:t>2</a:t>
            </a:r>
            <a:r>
              <a:rPr lang="en-CA" sz="2000" dirty="0"/>
              <a:t> (w/ </a:t>
            </a:r>
            <a:r>
              <a:rPr lang="en-CA" sz="2000" dirty="0">
                <a:sym typeface="Symbol" panose="05050102010706020507" pitchFamily="18" charset="2"/>
              </a:rPr>
              <a:t></a:t>
            </a:r>
            <a:r>
              <a:rPr lang="en-CA" sz="2000" baseline="-25000" dirty="0">
                <a:sym typeface="Symbol" panose="05050102010706020507" pitchFamily="18" charset="2"/>
              </a:rPr>
              <a:t>2</a:t>
            </a:r>
            <a:r>
              <a:rPr lang="en-CA" sz="2000" dirty="0">
                <a:sym typeface="Symbol" panose="05050102010706020507" pitchFamily="18" charset="2"/>
              </a:rPr>
              <a:t> </a:t>
            </a:r>
            <a:r>
              <a:rPr lang="en-CA" sz="2000" dirty="0" err="1">
                <a:sym typeface="Symbol" panose="05050102010706020507" pitchFamily="18" charset="2"/>
              </a:rPr>
              <a:t>df</a:t>
            </a:r>
            <a:r>
              <a:rPr lang="en-CA" sz="2000" dirty="0">
                <a:sym typeface="Symbol" panose="05050102010706020507" pitchFamily="18" charset="2"/>
              </a:rPr>
              <a:t>) fits a subset of the parameters  of M</a:t>
            </a:r>
            <a:r>
              <a:rPr lang="en-CA" sz="2000" baseline="-25000" dirty="0">
                <a:sym typeface="Symbol" panose="05050102010706020507" pitchFamily="18" charset="2"/>
              </a:rPr>
              <a:t>1</a:t>
            </a:r>
            <a:r>
              <a:rPr lang="en-CA" sz="2000" dirty="0">
                <a:sym typeface="Symbol" panose="05050102010706020507" pitchFamily="18" charset="2"/>
              </a:rPr>
              <a:t> (w/ </a:t>
            </a:r>
            <a:r>
              <a:rPr lang="en-CA" sz="2000" baseline="-25000" dirty="0">
                <a:sym typeface="Symbol" panose="05050102010706020507" pitchFamily="18" charset="2"/>
              </a:rPr>
              <a:t>1</a:t>
            </a:r>
            <a:r>
              <a:rPr lang="en-CA" sz="2000" dirty="0">
                <a:sym typeface="Symbol" panose="05050102010706020507" pitchFamily="18" charset="2"/>
              </a:rPr>
              <a:t> </a:t>
            </a:r>
            <a:r>
              <a:rPr lang="en-CA" sz="2000" dirty="0" err="1">
                <a:sym typeface="Symbol" panose="05050102010706020507" pitchFamily="18" charset="2"/>
              </a:rPr>
              <a:t>df</a:t>
            </a:r>
            <a:r>
              <a:rPr lang="en-CA" sz="2000" dirty="0">
                <a:sym typeface="Symbol" panose="05050102010706020507" pitchFamily="18" charset="2"/>
              </a:rPr>
              <a:t>)</a:t>
            </a:r>
          </a:p>
          <a:p>
            <a:r>
              <a:rPr lang="en-CA" sz="2000" dirty="0">
                <a:sym typeface="Symbol" panose="05050102010706020507" pitchFamily="18" charset="2"/>
              </a:rPr>
              <a:t>M</a:t>
            </a:r>
            <a:r>
              <a:rPr lang="en-CA" sz="2000" baseline="-25000" dirty="0">
                <a:sym typeface="Symbol" panose="05050102010706020507" pitchFamily="18" charset="2"/>
              </a:rPr>
              <a:t>2</a:t>
            </a:r>
            <a:r>
              <a:rPr lang="en-CA" sz="2000" dirty="0">
                <a:sym typeface="Symbol" panose="05050102010706020507" pitchFamily="18" charset="2"/>
              </a:rPr>
              <a:t> is more </a:t>
            </a:r>
            <a:r>
              <a:rPr lang="en-CA" sz="2000" dirty="0">
                <a:solidFill>
                  <a:srgbClr val="0070C0"/>
                </a:solidFill>
                <a:sym typeface="Symbol" panose="05050102010706020507" pitchFamily="18" charset="2"/>
              </a:rPr>
              <a:t>restrictive</a:t>
            </a:r>
            <a:r>
              <a:rPr lang="en-CA" sz="2000" dirty="0">
                <a:sym typeface="Symbol" panose="05050102010706020507" pitchFamily="18" charset="2"/>
              </a:rPr>
              <a:t> – cannot fit better than M</a:t>
            </a:r>
            <a:r>
              <a:rPr lang="en-CA" sz="2000" baseline="-25000" dirty="0">
                <a:sym typeface="Symbol" panose="05050102010706020507" pitchFamily="18" charset="2"/>
              </a:rPr>
              <a:t>1</a:t>
            </a:r>
            <a:r>
              <a:rPr lang="en-CA" sz="2000" dirty="0">
                <a:sym typeface="Symbol" panose="05050102010706020507" pitchFamily="18" charset="2"/>
              </a:rPr>
              <a:t>: </a:t>
            </a:r>
            <a:r>
              <a:rPr lang="en-CA" sz="2000" i="1" dirty="0">
                <a:sym typeface="Symbol" panose="05050102010706020507" pitchFamily="18" charset="2"/>
              </a:rPr>
              <a:t>G</a:t>
            </a:r>
            <a:r>
              <a:rPr lang="en-CA" sz="2000" baseline="30000" dirty="0">
                <a:sym typeface="Symbol" panose="05050102010706020507" pitchFamily="18" charset="2"/>
              </a:rPr>
              <a:t>2</a:t>
            </a:r>
            <a:r>
              <a:rPr lang="en-CA" sz="2000" dirty="0">
                <a:sym typeface="Symbol" panose="05050102010706020507" pitchFamily="18" charset="2"/>
              </a:rPr>
              <a:t>(M</a:t>
            </a:r>
            <a:r>
              <a:rPr lang="en-CA" sz="2000" baseline="-25000" dirty="0">
                <a:sym typeface="Symbol" panose="05050102010706020507" pitchFamily="18" charset="2"/>
              </a:rPr>
              <a:t>2</a:t>
            </a:r>
            <a:r>
              <a:rPr lang="en-CA" sz="2000" dirty="0">
                <a:sym typeface="Symbol" panose="05050102010706020507" pitchFamily="18" charset="2"/>
              </a:rPr>
              <a:t>) ≥ </a:t>
            </a:r>
            <a:r>
              <a:rPr lang="en-CA" sz="2000" i="1" dirty="0">
                <a:sym typeface="Symbol" panose="05050102010706020507" pitchFamily="18" charset="2"/>
              </a:rPr>
              <a:t>G</a:t>
            </a:r>
            <a:r>
              <a:rPr lang="en-CA" sz="2000" baseline="30000" dirty="0">
                <a:sym typeface="Symbol" panose="05050102010706020507" pitchFamily="18" charset="2"/>
              </a:rPr>
              <a:t>2</a:t>
            </a:r>
            <a:r>
              <a:rPr lang="en-CA" sz="2000" dirty="0">
                <a:sym typeface="Symbol" panose="05050102010706020507" pitchFamily="18" charset="2"/>
              </a:rPr>
              <a:t>(M</a:t>
            </a:r>
            <a:r>
              <a:rPr lang="en-CA" sz="2000" baseline="-25000" dirty="0">
                <a:sym typeface="Symbol" panose="05050102010706020507" pitchFamily="18" charset="2"/>
              </a:rPr>
              <a:t>1</a:t>
            </a:r>
            <a:r>
              <a:rPr lang="en-CA" sz="2000" dirty="0">
                <a:sym typeface="Symbol" panose="05050102010706020507" pitchFamily="18" charset="2"/>
              </a:rPr>
              <a:t>)</a:t>
            </a:r>
          </a:p>
          <a:p>
            <a:r>
              <a:rPr lang="en-CA" sz="2000" dirty="0">
                <a:sym typeface="Symbol" panose="05050102010706020507" pitchFamily="18" charset="2"/>
              </a:rPr>
              <a:t>The least restrictive model is the </a:t>
            </a:r>
            <a:r>
              <a:rPr lang="en-CA" sz="2000" dirty="0">
                <a:solidFill>
                  <a:srgbClr val="0070C0"/>
                </a:solidFill>
                <a:sym typeface="Symbol" panose="05050102010706020507" pitchFamily="18" charset="2"/>
              </a:rPr>
              <a:t>saturated</a:t>
            </a:r>
            <a:r>
              <a:rPr lang="en-CA" sz="2000" dirty="0">
                <a:sym typeface="Symbol" panose="05050102010706020507" pitchFamily="18" charset="2"/>
              </a:rPr>
              <a:t> model [ABC …], w/ </a:t>
            </a:r>
            <a:r>
              <a:rPr lang="en-CA" sz="2000" i="1" dirty="0">
                <a:sym typeface="Symbol" panose="05050102010706020507" pitchFamily="18" charset="2"/>
              </a:rPr>
              <a:t>G</a:t>
            </a:r>
            <a:r>
              <a:rPr lang="en-CA" sz="2000" baseline="30000" dirty="0">
                <a:sym typeface="Symbol" panose="05050102010706020507" pitchFamily="18" charset="2"/>
              </a:rPr>
              <a:t>2</a:t>
            </a:r>
            <a:r>
              <a:rPr lang="en-CA" sz="2000" dirty="0">
                <a:sym typeface="Symbol" panose="05050102010706020507" pitchFamily="18" charset="2"/>
              </a:rPr>
              <a:t> = 0</a:t>
            </a:r>
          </a:p>
          <a:p>
            <a:endParaRPr lang="en-CA" sz="2000" dirty="0">
              <a:sym typeface="Symbol" panose="05050102010706020507" pitchFamily="18" charset="2"/>
            </a:endParaRPr>
          </a:p>
          <a:p>
            <a:pPr marL="0" indent="0">
              <a:buNone/>
            </a:pPr>
            <a:r>
              <a:rPr lang="en-CA" sz="2000" dirty="0">
                <a:sym typeface="Symbol" panose="05050102010706020507" pitchFamily="18" charset="2"/>
              </a:rPr>
              <a:t>Therefore, we can test the </a:t>
            </a:r>
            <a:r>
              <a:rPr lang="en-CA" sz="2000" dirty="0">
                <a:solidFill>
                  <a:srgbClr val="0070C0"/>
                </a:solidFill>
                <a:sym typeface="Symbol" panose="05050102010706020507" pitchFamily="18" charset="2"/>
              </a:rPr>
              <a:t>difference in G</a:t>
            </a:r>
            <a:r>
              <a:rPr lang="en-CA" sz="2000" baseline="30000" dirty="0">
                <a:solidFill>
                  <a:srgbClr val="0070C0"/>
                </a:solidFill>
                <a:sym typeface="Symbol" panose="05050102010706020507" pitchFamily="18" charset="2"/>
              </a:rPr>
              <a:t>2</a:t>
            </a:r>
            <a:r>
              <a:rPr lang="en-CA" sz="2000" dirty="0">
                <a:solidFill>
                  <a:srgbClr val="0070C0"/>
                </a:solidFill>
                <a:sym typeface="Symbol" panose="05050102010706020507" pitchFamily="18" charset="2"/>
              </a:rPr>
              <a:t> </a:t>
            </a:r>
            <a:r>
              <a:rPr lang="en-CA" sz="2000" dirty="0">
                <a:sym typeface="Symbol" panose="05050102010706020507" pitchFamily="18" charset="2"/>
              </a:rPr>
              <a:t>as a specific test of the added restrictions in M</a:t>
            </a:r>
            <a:r>
              <a:rPr lang="en-CA" sz="2000" baseline="-25000" dirty="0">
                <a:sym typeface="Symbol" panose="05050102010706020507" pitchFamily="18" charset="2"/>
              </a:rPr>
              <a:t>2</a:t>
            </a:r>
            <a:r>
              <a:rPr lang="en-CA" sz="2000" dirty="0">
                <a:sym typeface="Symbol" panose="05050102010706020507" pitchFamily="18" charset="2"/>
              </a:rPr>
              <a:t> compared to M</a:t>
            </a:r>
            <a:r>
              <a:rPr lang="en-CA" sz="2000" baseline="-25000" dirty="0">
                <a:sym typeface="Symbol" panose="05050102010706020507" pitchFamily="18" charset="2"/>
              </a:rPr>
              <a:t>1</a:t>
            </a:r>
            <a:r>
              <a:rPr lang="en-CA" sz="2000" dirty="0">
                <a:sym typeface="Symbol" panose="05050102010706020507" pitchFamily="18" charset="2"/>
              </a:rPr>
              <a:t>.</a:t>
            </a:r>
          </a:p>
          <a:p>
            <a:r>
              <a:rPr lang="en-CA" sz="2000" dirty="0">
                <a:sym typeface="Symbol" panose="05050102010706020507" pitchFamily="18" charset="2"/>
              </a:rPr>
              <a:t>This test has a </a:t>
            </a:r>
            <a:r>
              <a:rPr lang="en-CA" sz="2000" baseline="30000" dirty="0">
                <a:sym typeface="Symbol" panose="05050102010706020507" pitchFamily="18" charset="2"/>
              </a:rPr>
              <a:t>2</a:t>
            </a:r>
            <a:r>
              <a:rPr lang="en-CA" sz="2000" dirty="0">
                <a:sym typeface="Symbol" panose="05050102010706020507" pitchFamily="18" charset="2"/>
              </a:rPr>
              <a:t> distribution with </a:t>
            </a:r>
            <a:r>
              <a:rPr lang="en-CA" sz="2000" dirty="0" err="1">
                <a:sym typeface="Symbol" panose="05050102010706020507" pitchFamily="18" charset="2"/>
              </a:rPr>
              <a:t>df</a:t>
            </a:r>
            <a:r>
              <a:rPr lang="en-CA" sz="2000" dirty="0">
                <a:sym typeface="Symbol" panose="05050102010706020507" pitchFamily="18" charset="2"/>
              </a:rPr>
              <a:t> = </a:t>
            </a:r>
            <a:r>
              <a:rPr lang="en-CA" sz="2000" baseline="-25000" dirty="0">
                <a:sym typeface="Symbol" panose="05050102010706020507" pitchFamily="18" charset="2"/>
              </a:rPr>
              <a:t>2</a:t>
            </a:r>
            <a:r>
              <a:rPr lang="en-CA" sz="2000" dirty="0">
                <a:sym typeface="Symbol" panose="05050102010706020507" pitchFamily="18" charset="2"/>
              </a:rPr>
              <a:t>  - </a:t>
            </a:r>
            <a:r>
              <a:rPr lang="en-CA" sz="2000" baseline="-25000" dirty="0">
                <a:sym typeface="Symbol" panose="05050102010706020507" pitchFamily="18" charset="2"/>
              </a:rPr>
              <a:t>1</a:t>
            </a:r>
            <a:r>
              <a:rPr lang="en-CA" sz="2000" dirty="0">
                <a:sym typeface="Symbol" panose="05050102010706020507" pitchFamily="18" charset="2"/>
              </a:rPr>
              <a:t> </a:t>
            </a:r>
          </a:p>
          <a:p>
            <a:pPr marL="0" indent="0">
              <a:buNone/>
            </a:pPr>
            <a:endParaRPr lang="en-CA" sz="20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35DB78B-F6AD-5C59-0A38-9E4BCDE3AC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52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457A524-16D4-D535-2D27-09C52A3854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400" y="4800600"/>
            <a:ext cx="6742857" cy="1028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18161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A18E2A-F71D-344F-F5BA-11FE98A190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Example: Berkeley admissions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3BA3D3-E83C-668A-390E-CCE08F999A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53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AB2E927-BCC1-9A66-E654-2B17F364ED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902" y="1148864"/>
            <a:ext cx="8171428" cy="355238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D022CB6-E10B-E72F-080A-A4DE61ADFE12}"/>
              </a:ext>
            </a:extLst>
          </p:cNvPr>
          <p:cNvSpPr txBox="1"/>
          <p:nvPr/>
        </p:nvSpPr>
        <p:spPr>
          <a:xfrm>
            <a:off x="486902" y="4887306"/>
            <a:ext cx="8229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tx2">
                  <a:lumMod val="60000"/>
                  <a:lumOff val="40000"/>
                </a:schemeClr>
              </a:buClr>
              <a:buSzPct val="110000"/>
              <a:buFont typeface="Arial" panose="020B0604020202020204" pitchFamily="34" charset="0"/>
              <a:buChar char="•"/>
            </a:pPr>
            <a:r>
              <a:rPr lang="en-CA" dirty="0"/>
              <a:t>Only testing the </a:t>
            </a:r>
            <a:r>
              <a:rPr lang="en-CA" dirty="0">
                <a:solidFill>
                  <a:srgbClr val="0070C0"/>
                </a:solidFill>
              </a:rPr>
              <a:t>decrease</a:t>
            </a:r>
            <a:r>
              <a:rPr lang="en-CA" dirty="0"/>
              <a:t> in G</a:t>
            </a:r>
            <a:r>
              <a:rPr lang="en-CA" baseline="30000" dirty="0"/>
              <a:t>2</a:t>
            </a:r>
            <a:r>
              <a:rPr lang="en-CA" dirty="0"/>
              <a:t> from one model to the next</a:t>
            </a:r>
          </a:p>
          <a:p>
            <a:pPr marL="285750" indent="-285750">
              <a:buClr>
                <a:schemeClr val="tx2">
                  <a:lumMod val="60000"/>
                  <a:lumOff val="40000"/>
                </a:schemeClr>
              </a:buClr>
              <a:buSzPct val="110000"/>
              <a:buFont typeface="Arial" panose="020B0604020202020204" pitchFamily="34" charset="0"/>
              <a:buChar char="•"/>
            </a:pPr>
            <a:r>
              <a:rPr lang="en-CA" dirty="0"/>
              <a:t>Here, each model is significantly better than the previous</a:t>
            </a:r>
          </a:p>
          <a:p>
            <a:pPr marL="285750" indent="-285750">
              <a:buClr>
                <a:schemeClr val="tx2">
                  <a:lumMod val="60000"/>
                  <a:lumOff val="40000"/>
                </a:schemeClr>
              </a:buClr>
              <a:buSzPct val="110000"/>
              <a:buFont typeface="Arial" panose="020B0604020202020204" pitchFamily="34" charset="0"/>
              <a:buChar char="•"/>
            </a:pPr>
            <a:r>
              <a:rPr lang="en-CA" dirty="0"/>
              <a:t>Joint vs. all two-way: Does Admit depend on Dept and/or Gender?</a:t>
            </a:r>
          </a:p>
          <a:p>
            <a:pPr marL="285750" indent="-285750">
              <a:buClr>
                <a:schemeClr val="tx2">
                  <a:lumMod val="60000"/>
                  <a:lumOff val="40000"/>
                </a:schemeClr>
              </a:buClr>
              <a:buSzPct val="110000"/>
              <a:buFont typeface="Arial" panose="020B0604020202020204" pitchFamily="34" charset="0"/>
              <a:buChar char="•"/>
            </a:pPr>
            <a:r>
              <a:rPr lang="en-CA" dirty="0"/>
              <a:t>Absolute fit of all 2-way model is not terrible.  Investigate this further!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5A16C4D-39E8-2901-F27E-C25BC02584E3}"/>
              </a:ext>
            </a:extLst>
          </p:cNvPr>
          <p:cNvSpPr txBox="1"/>
          <p:nvPr/>
        </p:nvSpPr>
        <p:spPr>
          <a:xfrm>
            <a:off x="8212868" y="4070956"/>
            <a:ext cx="38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solidFill>
                  <a:srgbClr val="00B050"/>
                </a:solidFill>
                <a:sym typeface="Wingdings" panose="05000000000000000000" pitchFamily="2" charset="2"/>
              </a:rPr>
              <a:t></a:t>
            </a:r>
            <a:endParaRPr lang="en-CA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E07627-9E08-367F-F8BF-142A0C954D5E}"/>
              </a:ext>
            </a:extLst>
          </p:cNvPr>
          <p:cNvSpPr txBox="1"/>
          <p:nvPr/>
        </p:nvSpPr>
        <p:spPr>
          <a:xfrm>
            <a:off x="8212868" y="3810000"/>
            <a:ext cx="38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solidFill>
                  <a:srgbClr val="00B050"/>
                </a:solidFill>
                <a:sym typeface="Wingdings" panose="05000000000000000000" pitchFamily="2" charset="2"/>
              </a:rPr>
              <a:t></a:t>
            </a:r>
            <a:endParaRPr lang="en-CA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F7990B3-CD21-A529-89A5-98AECFEC35C9}"/>
              </a:ext>
            </a:extLst>
          </p:cNvPr>
          <p:cNvSpPr txBox="1"/>
          <p:nvPr/>
        </p:nvSpPr>
        <p:spPr>
          <a:xfrm>
            <a:off x="8212868" y="4323658"/>
            <a:ext cx="38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solidFill>
                  <a:srgbClr val="00B050"/>
                </a:solidFill>
                <a:sym typeface="Wingdings" panose="05000000000000000000" pitchFamily="2" charset="2"/>
              </a:rPr>
              <a:t>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44859830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B61D18-742A-5445-A8EB-C7B047D955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Fitting these in 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FAC35E1-D454-FC97-5006-E5C3702115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54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8282C4-7093-A9D6-FEBF-7221D5F7BA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19200"/>
            <a:ext cx="8171428" cy="157142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56F6246-81D8-3E6D-65E8-320E541C4E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971800"/>
            <a:ext cx="8171428" cy="121904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2C36AC8-F90F-D1CE-7F13-328E6794C3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556321"/>
            <a:ext cx="8180952" cy="1780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882986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186CCA-1A59-DAA5-A557-BB9F0079E0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Example: Berkeley admissions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147DAD5-F53C-A0F9-52A1-6412261747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55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D30849-4A95-7AD5-3CD4-DC2181784B92}"/>
              </a:ext>
            </a:extLst>
          </p:cNvPr>
          <p:cNvSpPr txBox="1"/>
          <p:nvPr/>
        </p:nvSpPr>
        <p:spPr>
          <a:xfrm>
            <a:off x="457200" y="1118422"/>
            <a:ext cx="822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dirty="0"/>
              <a:t>Fit the model of mutual independence, using </a:t>
            </a:r>
            <a:r>
              <a:rPr lang="en-CA" sz="2400" dirty="0" err="1"/>
              <a:t>loglm</a:t>
            </a:r>
            <a:r>
              <a:rPr lang="en-CA" sz="2400" dirty="0"/>
              <a:t>()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0070E5D-3AEB-FBCB-BEC4-B240C4C4FC86}"/>
              </a:ext>
            </a:extLst>
          </p:cNvPr>
          <p:cNvSpPr txBox="1"/>
          <p:nvPr/>
        </p:nvSpPr>
        <p:spPr>
          <a:xfrm>
            <a:off x="457200" y="1626275"/>
            <a:ext cx="8229600" cy="2031325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berk.loglm0 &lt;- 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loglm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CA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~ Admit + Dept + Gender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data=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UCBAdmissions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berk.loglm0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Call:</a:t>
            </a:r>
          </a:p>
          <a:p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loglm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(formula = ~Admit + Dept + Gender, data = 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UCBAdmissions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endParaRPr lang="en-CA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Statistics: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X^2 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P(&gt; X^2)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Likelihood Ratio 2097.7 16        0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Pearson          2000.3 16        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554D758-2234-DCBE-A81A-2C1D2FC9DBDB}"/>
              </a:ext>
            </a:extLst>
          </p:cNvPr>
          <p:cNvSpPr txBox="1"/>
          <p:nvPr/>
        </p:nvSpPr>
        <p:spPr>
          <a:xfrm>
            <a:off x="457200" y="3881735"/>
            <a:ext cx="822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dirty="0"/>
              <a:t>Conditional independence [AD] [AG]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77D8A3F-9E79-E6B6-945B-F4AF25F030B8}"/>
              </a:ext>
            </a:extLst>
          </p:cNvPr>
          <p:cNvSpPr txBox="1"/>
          <p:nvPr/>
        </p:nvSpPr>
        <p:spPr>
          <a:xfrm>
            <a:off x="457200" y="4445675"/>
            <a:ext cx="8229600" cy="2031325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berk.loglm1 &lt;- 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loglm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CA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~ Admit * (Dept + Gender)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data=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UCBAdmissions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berk.loglm1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Call:</a:t>
            </a:r>
          </a:p>
          <a:p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loglm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(formula = ~Admit * (Dept + Gender), data = 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UCBAdmissions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endParaRPr lang="en-CA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Statistics: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X^2 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P(&gt; X^2)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Likelihood Ratio 1148.9 10        0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Pearson          1015.7 10        0</a:t>
            </a:r>
          </a:p>
        </p:txBody>
      </p:sp>
    </p:spTree>
    <p:extLst>
      <p:ext uri="{BB962C8B-B14F-4D97-AF65-F5344CB8AC3E}">
        <p14:creationId xmlns:p14="http://schemas.microsoft.com/office/powerpoint/2010/main" val="13392360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E120B4E-BFA9-FCB2-343B-08959BED12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56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D38084-56C0-CD99-0B62-99763DB9C8E2}"/>
              </a:ext>
            </a:extLst>
          </p:cNvPr>
          <p:cNvSpPr txBox="1"/>
          <p:nvPr/>
        </p:nvSpPr>
        <p:spPr>
          <a:xfrm>
            <a:off x="609600" y="838200"/>
            <a:ext cx="8077200" cy="2031325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berk.loglm2 &lt;- 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loglm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CA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~ Admit + (Dept * Gender)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data=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UCBAdmissions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berk.loglm2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Call:</a:t>
            </a:r>
          </a:p>
          <a:p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loglm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(formula = ~Admit + (Dept * Gender), data = 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UCBAdmissions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endParaRPr lang="en-CA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Statistics: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X^2 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P(&gt; X^2)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Likelihood Ratio 877.06 11        0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Pearson          797.70 11        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6B078D8-18F8-277D-4C16-CFDFA26B39B4}"/>
              </a:ext>
            </a:extLst>
          </p:cNvPr>
          <p:cNvSpPr txBox="1"/>
          <p:nvPr/>
        </p:nvSpPr>
        <p:spPr>
          <a:xfrm>
            <a:off x="685800" y="3759875"/>
            <a:ext cx="7696200" cy="2031325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berk.loglm3 &lt;-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loglm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CA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~(</a:t>
            </a:r>
            <a:r>
              <a:rPr lang="en-CA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Admit+Dept+Gender</a:t>
            </a:r>
            <a:r>
              <a:rPr lang="en-CA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)^2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data=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UCBAdmissions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berk.loglm3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Call:</a:t>
            </a:r>
          </a:p>
          <a:p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loglm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(formula = ~(Admit + Dept + Gender)^2, data = 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UCBAdmissions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endParaRPr lang="en-CA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Statistics: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X^2 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P(&gt; X^2)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Likelihood Ratio 20.204  5 0.0011441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Pearson          18.823  5 0.0020740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20818A9-1B1A-063A-2F6F-E22B16465879}"/>
              </a:ext>
            </a:extLst>
          </p:cNvPr>
          <p:cNvSpPr txBox="1"/>
          <p:nvPr/>
        </p:nvSpPr>
        <p:spPr>
          <a:xfrm>
            <a:off x="685800" y="381000"/>
            <a:ext cx="762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dirty="0"/>
              <a:t>Conditional independence, [AD] [AG]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1F0CB8-252C-00CE-CE4F-9E3545FD7C83}"/>
              </a:ext>
            </a:extLst>
          </p:cNvPr>
          <p:cNvSpPr txBox="1"/>
          <p:nvPr/>
        </p:nvSpPr>
        <p:spPr>
          <a:xfrm>
            <a:off x="685800" y="3195935"/>
            <a:ext cx="7696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dirty="0"/>
              <a:t>All two-way model, [AD] [AG] [DG]</a:t>
            </a:r>
          </a:p>
        </p:txBody>
      </p:sp>
    </p:spTree>
    <p:extLst>
      <p:ext uri="{BB962C8B-B14F-4D97-AF65-F5344CB8AC3E}">
        <p14:creationId xmlns:p14="http://schemas.microsoft.com/office/powerpoint/2010/main" val="196608894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DD02348-6B95-DCBD-23F2-D3F67EC3A1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ANOVA tests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C8872C2-0684-6C26-6870-8F301D1488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57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A31D0FB-338B-C36F-A04C-043BD95B6B78}"/>
              </a:ext>
            </a:extLst>
          </p:cNvPr>
          <p:cNvSpPr txBox="1"/>
          <p:nvPr/>
        </p:nvSpPr>
        <p:spPr>
          <a:xfrm>
            <a:off x="457200" y="1676400"/>
            <a:ext cx="8229600" cy="3539430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aov1 &lt;- 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anova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(berk.loglm0, berk.loglm1, berk.loglm3, test="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Chisq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")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aov1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LR tests for hierarchical log-linear models</a:t>
            </a:r>
          </a:p>
          <a:p>
            <a:endParaRPr lang="en-CA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Model 1: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~Admit + Dept + Gender 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Model 2: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~Admit * (Dept + Gender) 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Model 3: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~(Admit + Dept + Gender)^2 </a:t>
            </a:r>
          </a:p>
          <a:p>
            <a:endParaRPr lang="en-CA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Deviance 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Delta(Dev) Delta(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 P(&gt; Delta(Dev)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Model 1   2097.671 16                                    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Model 2   1148.901 10    948.770         6        0.00000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Model 3     20.204  5   1128.697         5        0.00000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Saturated    0.000  0     20.204         5        0.00114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D5CADC1-8B8D-CCC0-5C9E-870CE6E16D12}"/>
              </a:ext>
            </a:extLst>
          </p:cNvPr>
          <p:cNvSpPr txBox="1"/>
          <p:nvPr/>
        </p:nvSpPr>
        <p:spPr>
          <a:xfrm>
            <a:off x="457200" y="1143000"/>
            <a:ext cx="822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dirty="0"/>
              <a:t>These are nested. Compare with </a:t>
            </a:r>
            <a:r>
              <a:rPr lang="en-CA" sz="2400" b="1" dirty="0" err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anova</a:t>
            </a:r>
            <a:r>
              <a:rPr lang="en-CA" sz="2400" b="1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5445B52-8946-B624-A979-FFC812FD8D1C}"/>
              </a:ext>
            </a:extLst>
          </p:cNvPr>
          <p:cNvSpPr txBox="1"/>
          <p:nvPr/>
        </p:nvSpPr>
        <p:spPr>
          <a:xfrm>
            <a:off x="533400" y="5715000"/>
            <a:ext cx="8153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000" dirty="0"/>
              <a:t>These are tests of </a:t>
            </a:r>
            <a:r>
              <a:rPr lang="en-CA" sz="2000" dirty="0">
                <a:solidFill>
                  <a:srgbClr val="0070C0"/>
                </a:solidFill>
              </a:rPr>
              <a:t>relative fit</a:t>
            </a:r>
            <a:r>
              <a:rPr lang="en-CA" sz="2000" dirty="0"/>
              <a:t>, </a:t>
            </a:r>
            <a:r>
              <a:rPr lang="en-CA" sz="2000" dirty="0">
                <a:sym typeface="Symbol" panose="05050102010706020507" pitchFamily="18" charset="2"/>
              </a:rPr>
              <a:t>G</a:t>
            </a:r>
            <a:r>
              <a:rPr lang="en-CA" sz="2000" baseline="30000" dirty="0">
                <a:sym typeface="Symbol" panose="05050102010706020507" pitchFamily="18" charset="2"/>
              </a:rPr>
              <a:t>2</a:t>
            </a:r>
            <a:r>
              <a:rPr lang="en-CA" sz="2000" dirty="0">
                <a:sym typeface="Symbol" panose="05050102010706020507" pitchFamily="18" charset="2"/>
              </a:rPr>
              <a:t> = </a:t>
            </a:r>
            <a:r>
              <a:rPr lang="en-CA" sz="2000" dirty="0"/>
              <a:t> G</a:t>
            </a:r>
            <a:r>
              <a:rPr lang="en-CA" sz="2000" baseline="30000" dirty="0"/>
              <a:t>2</a:t>
            </a:r>
            <a:r>
              <a:rPr lang="en-CA" sz="2000" dirty="0"/>
              <a:t> (M</a:t>
            </a:r>
            <a:r>
              <a:rPr lang="en-CA" sz="2000" baseline="-25000" dirty="0"/>
              <a:t>i</a:t>
            </a:r>
            <a:r>
              <a:rPr lang="en-CA" sz="2000" dirty="0"/>
              <a:t> | M</a:t>
            </a:r>
            <a:r>
              <a:rPr lang="en-CA" sz="2000" baseline="-25000" dirty="0"/>
              <a:t>i-1</a:t>
            </a:r>
            <a:r>
              <a:rPr lang="en-CA" sz="2000" dirty="0"/>
              <a:t> )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C9AF81B-2795-1A3E-6F01-0F7FA2E53F52}"/>
              </a:ext>
            </a:extLst>
          </p:cNvPr>
          <p:cNvSpPr txBox="1"/>
          <p:nvPr/>
        </p:nvSpPr>
        <p:spPr>
          <a:xfrm>
            <a:off x="6686144" y="4419600"/>
            <a:ext cx="38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solidFill>
                  <a:srgbClr val="00B050"/>
                </a:solidFill>
                <a:sym typeface="Wingdings" panose="05000000000000000000" pitchFamily="2" charset="2"/>
              </a:rPr>
              <a:t></a:t>
            </a:r>
            <a:endParaRPr lang="en-CA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37146E4-BFEA-CE87-D02A-3D52C448E1EA}"/>
              </a:ext>
            </a:extLst>
          </p:cNvPr>
          <p:cNvSpPr txBox="1"/>
          <p:nvPr/>
        </p:nvSpPr>
        <p:spPr>
          <a:xfrm>
            <a:off x="6674796" y="4676001"/>
            <a:ext cx="38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solidFill>
                  <a:srgbClr val="00B050"/>
                </a:solidFill>
                <a:sym typeface="Wingdings" panose="05000000000000000000" pitchFamily="2" charset="2"/>
              </a:rPr>
              <a:t></a:t>
            </a:r>
            <a:endParaRPr lang="en-CA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827094E-8197-0229-7F7E-A6F2A946CD9F}"/>
              </a:ext>
            </a:extLst>
          </p:cNvPr>
          <p:cNvSpPr txBox="1"/>
          <p:nvPr/>
        </p:nvSpPr>
        <p:spPr>
          <a:xfrm>
            <a:off x="6705600" y="4918233"/>
            <a:ext cx="38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solidFill>
                  <a:srgbClr val="00B050"/>
                </a:solidFill>
                <a:sym typeface="Wingdings" panose="05000000000000000000" pitchFamily="2" charset="2"/>
              </a:rPr>
              <a:t>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60715928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EA692-2F92-2315-C6A5-6A5657C7FA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 err="1"/>
              <a:t>LRstats</a:t>
            </a:r>
            <a:r>
              <a:rPr lang="en-CA" dirty="0"/>
              <a:t>: AIC &amp; BIC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0C46FA9-0563-C9A2-2E4A-EBE3A0082E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58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BF3F93B-D1A1-C14D-4E2F-D35AABFA0BFD}"/>
              </a:ext>
            </a:extLst>
          </p:cNvPr>
          <p:cNvSpPr txBox="1"/>
          <p:nvPr/>
        </p:nvSpPr>
        <p:spPr>
          <a:xfrm>
            <a:off x="457200" y="1295400"/>
            <a:ext cx="822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vcdExtra</a:t>
            </a:r>
            <a:r>
              <a:rPr lang="en-CA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-CA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LRstats</a:t>
            </a:r>
            <a:r>
              <a:rPr lang="en-CA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CA" dirty="0"/>
              <a:t>gives one-line summaries of a collection of models</a:t>
            </a:r>
          </a:p>
          <a:p>
            <a:r>
              <a:rPr lang="en-CA" dirty="0"/>
              <a:t>These are tests of </a:t>
            </a:r>
            <a:r>
              <a:rPr lang="en-CA" dirty="0">
                <a:solidFill>
                  <a:srgbClr val="0070C0"/>
                </a:solidFill>
              </a:rPr>
              <a:t>absolute</a:t>
            </a:r>
            <a:r>
              <a:rPr lang="en-CA" dirty="0"/>
              <a:t> goodness of fit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9639635-6DD8-BF8B-FBE3-3DE3F4E280BD}"/>
              </a:ext>
            </a:extLst>
          </p:cNvPr>
          <p:cNvSpPr txBox="1"/>
          <p:nvPr/>
        </p:nvSpPr>
        <p:spPr>
          <a:xfrm>
            <a:off x="533400" y="2128680"/>
            <a:ext cx="8153400" cy="2031325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LRstats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(berk.loglm0, berk.loglm1, berk.loglm2, berk.loglm3)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Likelihood summary table: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AIC  BIC LR 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Chisq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(&gt;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Chisq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    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berk.loglm0 2273 2282     2098 16     &lt;2e-16 ***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berk.loglm1 1336 1352     1149 10     &lt;2e-16 ***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berk.loglm2 1062 1077      877 11     &lt;2e-16 ***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berk.loglm3  217  240       20  5     0.0011 ** 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---</a:t>
            </a:r>
          </a:p>
          <a:p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Signif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. codes:  0 ‘***’ 0.001 ‘**’ 0.01 ‘*’ 0.05 ‘.’ 0.1 ‘ ’ 1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2CD280B-9121-CD14-0105-AF60B036FA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047" y="4472184"/>
            <a:ext cx="8161905" cy="2009524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0A64CAFC-9420-A4A0-D1C2-FD9C51F2B59E}"/>
              </a:ext>
            </a:extLst>
          </p:cNvPr>
          <p:cNvSpPr/>
          <p:nvPr/>
        </p:nvSpPr>
        <p:spPr>
          <a:xfrm>
            <a:off x="1828800" y="2597446"/>
            <a:ext cx="1142999" cy="115887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994683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5000"/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72F842-BA39-3452-63F6-74560B4319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Mosaic displays: Visual fitting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BB99DA-6FF6-F67B-6B94-F3D7E6CC75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sz="2400" dirty="0"/>
              <a:t>Each mosaic shows:</a:t>
            </a:r>
          </a:p>
          <a:p>
            <a:pPr lvl="1"/>
            <a:r>
              <a:rPr lang="en-CA" sz="2000" dirty="0"/>
              <a:t>The DATA – size of tiles</a:t>
            </a:r>
          </a:p>
          <a:p>
            <a:pPr lvl="1"/>
            <a:r>
              <a:rPr lang="en-CA" sz="2000" dirty="0"/>
              <a:t>(some) marginal frequencies – initial splits (visual grouping)</a:t>
            </a:r>
          </a:p>
          <a:p>
            <a:pPr lvl="1"/>
            <a:r>
              <a:rPr lang="en-CA" sz="2000" dirty="0"/>
              <a:t>RESIDUALS (shading) – what associations have been omitted?</a:t>
            </a:r>
          </a:p>
          <a:p>
            <a:r>
              <a:rPr lang="en-CA" sz="2400" dirty="0"/>
              <a:t>Visual fitting</a:t>
            </a:r>
          </a:p>
          <a:p>
            <a:pPr lvl="1"/>
            <a:r>
              <a:rPr lang="en-CA" sz="2000" dirty="0"/>
              <a:t>Start with a simple model: mutual independence or joint independence for response models</a:t>
            </a:r>
          </a:p>
          <a:p>
            <a:pPr lvl="1"/>
            <a:r>
              <a:rPr lang="en-CA" sz="2000" dirty="0"/>
              <a:t>Pattern of residuals: suggest a better model </a:t>
            </a:r>
            <a:r>
              <a:rPr lang="en-CA" sz="2000" dirty="0">
                <a:sym typeface="Symbol" panose="05050102010706020507" pitchFamily="18" charset="2"/>
              </a:rPr>
              <a:t> smaller residuals</a:t>
            </a:r>
          </a:p>
          <a:p>
            <a:pPr lvl="1"/>
            <a:r>
              <a:rPr lang="en-CA" sz="2000" dirty="0">
                <a:sym typeface="Symbol" panose="05050102010706020507" pitchFamily="18" charset="2"/>
              </a:rPr>
              <a:t>Add terms:  smaller residuals, less shading: “</a:t>
            </a:r>
            <a:r>
              <a:rPr lang="en-CA" sz="2000" dirty="0">
                <a:solidFill>
                  <a:srgbClr val="0070C0"/>
                </a:solidFill>
                <a:sym typeface="Symbol" panose="05050102010706020507" pitchFamily="18" charset="2"/>
              </a:rPr>
              <a:t>cleaning the mosaic</a:t>
            </a:r>
            <a:r>
              <a:rPr lang="en-CA" sz="2000" dirty="0">
                <a:sym typeface="Symbol" panose="05050102010706020507" pitchFamily="18" charset="2"/>
              </a:rPr>
              <a:t>”</a:t>
            </a:r>
          </a:p>
          <a:p>
            <a:pPr lvl="1"/>
            <a:r>
              <a:rPr lang="en-CA" sz="2000" dirty="0">
                <a:sym typeface="Symbol" panose="05050102010706020507" pitchFamily="18" charset="2"/>
              </a:rPr>
              <a:t>Good fitting model will have mostly unshaded tiles</a:t>
            </a:r>
            <a:endParaRPr lang="en-CA" sz="20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92AC754-D333-DE72-594F-5483A4EBC5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74160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D2D2CB-5B0D-3FC9-608A-48DD689D69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Mosaic displays: Predictor variables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011B60F-9A0C-24EA-72CF-3CADC24D0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60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C2A14D6-490E-68F7-BF32-E07AD33ED1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95400"/>
            <a:ext cx="8038095" cy="511428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EF09E9D-D6EE-C4EB-59E7-ED9797E5F9DB}"/>
              </a:ext>
            </a:extLst>
          </p:cNvPr>
          <p:cNvSpPr txBox="1"/>
          <p:nvPr/>
        </p:nvSpPr>
        <p:spPr>
          <a:xfrm>
            <a:off x="4782052" y="2313061"/>
            <a:ext cx="3542295" cy="923330"/>
          </a:xfrm>
          <a:custGeom>
            <a:avLst/>
            <a:gdLst>
              <a:gd name="csX0" fmla="*/ 0 w 3542295"/>
              <a:gd name="csY0" fmla="*/ 0 h 923330"/>
              <a:gd name="csX1" fmla="*/ 554960 w 3542295"/>
              <a:gd name="csY1" fmla="*/ 0 h 923330"/>
              <a:gd name="csX2" fmla="*/ 1039073 w 3542295"/>
              <a:gd name="csY2" fmla="*/ 0 h 923330"/>
              <a:gd name="csX3" fmla="*/ 1700302 w 3542295"/>
              <a:gd name="csY3" fmla="*/ 0 h 923330"/>
              <a:gd name="csX4" fmla="*/ 2255261 w 3542295"/>
              <a:gd name="csY4" fmla="*/ 0 h 923330"/>
              <a:gd name="csX5" fmla="*/ 2810221 w 3542295"/>
              <a:gd name="csY5" fmla="*/ 0 h 923330"/>
              <a:gd name="csX6" fmla="*/ 3542295 w 3542295"/>
              <a:gd name="csY6" fmla="*/ 0 h 923330"/>
              <a:gd name="csX7" fmla="*/ 3542295 w 3542295"/>
              <a:gd name="csY7" fmla="*/ 443198 h 923330"/>
              <a:gd name="csX8" fmla="*/ 3542295 w 3542295"/>
              <a:gd name="csY8" fmla="*/ 923330 h 923330"/>
              <a:gd name="csX9" fmla="*/ 3022758 w 3542295"/>
              <a:gd name="csY9" fmla="*/ 923330 h 923330"/>
              <a:gd name="csX10" fmla="*/ 2432376 w 3542295"/>
              <a:gd name="csY10" fmla="*/ 923330 h 923330"/>
              <a:gd name="csX11" fmla="*/ 1841993 w 3542295"/>
              <a:gd name="csY11" fmla="*/ 923330 h 923330"/>
              <a:gd name="csX12" fmla="*/ 1287034 w 3542295"/>
              <a:gd name="csY12" fmla="*/ 923330 h 923330"/>
              <a:gd name="csX13" fmla="*/ 625805 w 3542295"/>
              <a:gd name="csY13" fmla="*/ 923330 h 923330"/>
              <a:gd name="csX14" fmla="*/ 0 w 3542295"/>
              <a:gd name="csY14" fmla="*/ 923330 h 923330"/>
              <a:gd name="csX15" fmla="*/ 0 w 3542295"/>
              <a:gd name="csY15" fmla="*/ 480132 h 923330"/>
              <a:gd name="csX16" fmla="*/ 0 w 3542295"/>
              <a:gd name="csY16" fmla="*/ 0 h 92333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3542295" h="923330" extrusionOk="0">
                <a:moveTo>
                  <a:pt x="0" y="0"/>
                </a:moveTo>
                <a:cubicBezTo>
                  <a:pt x="191071" y="-10419"/>
                  <a:pt x="350412" y="2128"/>
                  <a:pt x="554960" y="0"/>
                </a:cubicBezTo>
                <a:cubicBezTo>
                  <a:pt x="759508" y="-2128"/>
                  <a:pt x="828598" y="50897"/>
                  <a:pt x="1039073" y="0"/>
                </a:cubicBezTo>
                <a:cubicBezTo>
                  <a:pt x="1249548" y="-50897"/>
                  <a:pt x="1464482" y="78489"/>
                  <a:pt x="1700302" y="0"/>
                </a:cubicBezTo>
                <a:cubicBezTo>
                  <a:pt x="1936122" y="-78489"/>
                  <a:pt x="2028722" y="34600"/>
                  <a:pt x="2255261" y="0"/>
                </a:cubicBezTo>
                <a:cubicBezTo>
                  <a:pt x="2481800" y="-34600"/>
                  <a:pt x="2666735" y="61009"/>
                  <a:pt x="2810221" y="0"/>
                </a:cubicBezTo>
                <a:cubicBezTo>
                  <a:pt x="2953707" y="-61009"/>
                  <a:pt x="3196606" y="79114"/>
                  <a:pt x="3542295" y="0"/>
                </a:cubicBezTo>
                <a:cubicBezTo>
                  <a:pt x="3580628" y="188300"/>
                  <a:pt x="3542031" y="328992"/>
                  <a:pt x="3542295" y="443198"/>
                </a:cubicBezTo>
                <a:cubicBezTo>
                  <a:pt x="3542559" y="557404"/>
                  <a:pt x="3539225" y="805706"/>
                  <a:pt x="3542295" y="923330"/>
                </a:cubicBezTo>
                <a:cubicBezTo>
                  <a:pt x="3360988" y="937929"/>
                  <a:pt x="3236758" y="895520"/>
                  <a:pt x="3022758" y="923330"/>
                </a:cubicBezTo>
                <a:cubicBezTo>
                  <a:pt x="2808758" y="951140"/>
                  <a:pt x="2686754" y="894537"/>
                  <a:pt x="2432376" y="923330"/>
                </a:cubicBezTo>
                <a:cubicBezTo>
                  <a:pt x="2177998" y="952123"/>
                  <a:pt x="2039024" y="907809"/>
                  <a:pt x="1841993" y="923330"/>
                </a:cubicBezTo>
                <a:cubicBezTo>
                  <a:pt x="1644962" y="938851"/>
                  <a:pt x="1543103" y="896028"/>
                  <a:pt x="1287034" y="923330"/>
                </a:cubicBezTo>
                <a:cubicBezTo>
                  <a:pt x="1030965" y="950632"/>
                  <a:pt x="836159" y="856121"/>
                  <a:pt x="625805" y="923330"/>
                </a:cubicBezTo>
                <a:cubicBezTo>
                  <a:pt x="415451" y="990539"/>
                  <a:pt x="295309" y="884961"/>
                  <a:pt x="0" y="923330"/>
                </a:cubicBezTo>
                <a:cubicBezTo>
                  <a:pt x="-11937" y="782128"/>
                  <a:pt x="6703" y="625898"/>
                  <a:pt x="0" y="480132"/>
                </a:cubicBezTo>
                <a:cubicBezTo>
                  <a:pt x="-6703" y="334366"/>
                  <a:pt x="41595" y="124121"/>
                  <a:pt x="0" y="0"/>
                </a:cubicBezTo>
                <a:close/>
              </a:path>
            </a:pathLst>
          </a:custGeom>
          <a:noFill/>
          <a:ln w="15875">
            <a:solidFill>
              <a:srgbClr val="FF0000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r>
              <a:rPr lang="en-CA" dirty="0"/>
              <a:t>In response models, the mosaic of the predictors gives a graphic summary of </a:t>
            </a:r>
            <a:r>
              <a:rPr lang="en-CA" dirty="0">
                <a:solidFill>
                  <a:srgbClr val="0070C0"/>
                </a:solidFill>
              </a:rPr>
              <a:t>background</a:t>
            </a:r>
            <a:r>
              <a:rPr lang="en-CA" dirty="0"/>
              <a:t> variables</a:t>
            </a:r>
          </a:p>
        </p:txBody>
      </p:sp>
    </p:spTree>
    <p:extLst>
      <p:ext uri="{BB962C8B-B14F-4D97-AF65-F5344CB8AC3E}">
        <p14:creationId xmlns:p14="http://schemas.microsoft.com/office/powerpoint/2010/main" val="390562589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A542565-6756-0A29-B519-EF552ECDFE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Baseline response model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1B751B-ACD0-FED1-5489-1B79B23D75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61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3D15645-E58E-0AD6-6512-F32A3C24CC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867495"/>
            <a:ext cx="4752381" cy="476190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14F9D02-2E3B-F3B3-236D-E1AAE217BFDE}"/>
              </a:ext>
            </a:extLst>
          </p:cNvPr>
          <p:cNvSpPr txBox="1"/>
          <p:nvPr/>
        </p:nvSpPr>
        <p:spPr>
          <a:xfrm>
            <a:off x="533400" y="1106269"/>
            <a:ext cx="7772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For the Berkeley data, start with the model of </a:t>
            </a:r>
            <a:r>
              <a:rPr lang="en-CA" dirty="0">
                <a:solidFill>
                  <a:srgbClr val="0070C0"/>
                </a:solidFill>
              </a:rPr>
              <a:t>joint independence</a:t>
            </a:r>
            <a:r>
              <a:rPr lang="en-CA" dirty="0"/>
              <a:t>, [A][DG]</a:t>
            </a:r>
          </a:p>
          <a:p>
            <a:r>
              <a:rPr lang="en-CA" dirty="0"/>
              <a:t>Fits badly: G</a:t>
            </a:r>
            <a:r>
              <a:rPr lang="en-CA" baseline="30000" dirty="0"/>
              <a:t>2</a:t>
            </a:r>
            <a:r>
              <a:rPr lang="en-CA" dirty="0"/>
              <a:t> </a:t>
            </a:r>
            <a:r>
              <a:rPr lang="en-CA" baseline="-25000" dirty="0"/>
              <a:t>(11) </a:t>
            </a:r>
            <a:r>
              <a:rPr lang="en-CA" dirty="0"/>
              <a:t>= 877.1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B75080E-1DE0-75B9-DBCD-EB2220C6589E}"/>
              </a:ext>
            </a:extLst>
          </p:cNvPr>
          <p:cNvSpPr txBox="1"/>
          <p:nvPr/>
        </p:nvSpPr>
        <p:spPr>
          <a:xfrm>
            <a:off x="5638800" y="2374880"/>
            <a:ext cx="30480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This is the </a:t>
            </a:r>
            <a:r>
              <a:rPr lang="en-CA" dirty="0">
                <a:solidFill>
                  <a:srgbClr val="0070C0"/>
                </a:solidFill>
              </a:rPr>
              <a:t>null, </a:t>
            </a:r>
            <a:r>
              <a:rPr lang="en-CA" dirty="0"/>
              <a:t>or</a:t>
            </a:r>
            <a:r>
              <a:rPr lang="en-CA" dirty="0">
                <a:solidFill>
                  <a:srgbClr val="0070C0"/>
                </a:solidFill>
              </a:rPr>
              <a:t> baseline </a:t>
            </a:r>
            <a:r>
              <a:rPr lang="en-CA" dirty="0"/>
              <a:t>model when Admit is the response variable.</a:t>
            </a:r>
          </a:p>
          <a:p>
            <a:endParaRPr lang="en-CA" dirty="0"/>
          </a:p>
          <a:p>
            <a:r>
              <a:rPr lang="en-CA" dirty="0"/>
              <a:t>Allows/fits assoc. of [Dept Gender], not shown in shading</a:t>
            </a:r>
          </a:p>
          <a:p>
            <a:endParaRPr lang="en-CA" dirty="0"/>
          </a:p>
          <a:p>
            <a:r>
              <a:rPr lang="en-CA" dirty="0"/>
              <a:t>Remaining shading suggests:</a:t>
            </a:r>
          </a:p>
          <a:p>
            <a:r>
              <a:rPr lang="en-CA" dirty="0"/>
              <a:t>[AD] : Admit varies w/ Dept</a:t>
            </a:r>
          </a:p>
          <a:p>
            <a:r>
              <a:rPr lang="en-CA" dirty="0"/>
              <a:t>[AG] : Admit varies w/ Gender</a:t>
            </a:r>
          </a:p>
          <a:p>
            <a:endParaRPr lang="en-CA" dirty="0"/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5593574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12E090D-CB4D-1B71-500D-090A09DFF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Add an association term…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0E17A17-191F-C8AC-7195-6129580911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62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80AE297-8B9A-E6B3-B97E-AE1F0DA699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571" y="1419857"/>
            <a:ext cx="8142857" cy="505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266102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DD1B5DB-1C07-4D40-8491-B7350CFA5E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Double decker plots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40E4E1B-F5C3-41F2-46E5-C517821C5D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63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E7BC877-16DB-F3DD-BBE3-0522930ECF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2765874"/>
            <a:ext cx="5695238" cy="359047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BDF18E0-84CA-1F18-71C4-5D70CE5037B7}"/>
              </a:ext>
            </a:extLst>
          </p:cNvPr>
          <p:cNvSpPr txBox="1"/>
          <p:nvPr/>
        </p:nvSpPr>
        <p:spPr>
          <a:xfrm>
            <a:off x="457200" y="1219200"/>
            <a:ext cx="8229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600" dirty="0"/>
              <a:t>Visualize dependence of one </a:t>
            </a:r>
            <a:r>
              <a:rPr lang="en-CA" sz="1600" dirty="0">
                <a:solidFill>
                  <a:srgbClr val="0070C0"/>
                </a:solidFill>
              </a:rPr>
              <a:t>response</a:t>
            </a:r>
            <a:r>
              <a:rPr lang="en-CA" sz="1600" dirty="0"/>
              <a:t> variable (typically binary) on combinations of predictors</a:t>
            </a:r>
          </a:p>
          <a:p>
            <a:r>
              <a:rPr lang="en-CA" sz="1600" dirty="0"/>
              <a:t>Formally: mosaic plots with vertical splits for all predictors, </a:t>
            </a:r>
            <a:r>
              <a:rPr lang="en-CA" sz="1600" dirty="0">
                <a:solidFill>
                  <a:srgbClr val="FF0000"/>
                </a:solidFill>
              </a:rPr>
              <a:t>highlighting</a:t>
            </a:r>
            <a:r>
              <a:rPr lang="en-CA" sz="1600" dirty="0"/>
              <a:t> the response by shading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7CCC623-0A9C-1C5D-CC34-6901D69946EE}"/>
              </a:ext>
            </a:extLst>
          </p:cNvPr>
          <p:cNvSpPr txBox="1"/>
          <p:nvPr/>
        </p:nvSpPr>
        <p:spPr>
          <a:xfrm>
            <a:off x="457200" y="2209800"/>
            <a:ext cx="8153400" cy="338554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doubledecker</a:t>
            </a:r>
            <a:r>
              <a:rPr lang="en-CA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(Admit ~ Dept + Gender, data = </a:t>
            </a:r>
            <a:r>
              <a:rPr lang="en-CA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UCBAdmissions</a:t>
            </a:r>
            <a:r>
              <a:rPr lang="en-CA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[2:1, ,])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C522339-62F6-D9E5-0B8A-B04747EDD327}"/>
              </a:ext>
            </a:extLst>
          </p:cNvPr>
          <p:cNvSpPr txBox="1"/>
          <p:nvPr/>
        </p:nvSpPr>
        <p:spPr>
          <a:xfrm>
            <a:off x="7086600" y="5943600"/>
            <a:ext cx="1524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200" dirty="0"/>
              <a:t>DDAR Fig 5.34, p 211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82A4A6E-9AB5-A9DA-46F4-C539CE0DE20E}"/>
              </a:ext>
            </a:extLst>
          </p:cNvPr>
          <p:cNvSpPr txBox="1"/>
          <p:nvPr/>
        </p:nvSpPr>
        <p:spPr>
          <a:xfrm>
            <a:off x="6629400" y="2971800"/>
            <a:ext cx="19812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An exploratory plot</a:t>
            </a:r>
          </a:p>
          <a:p>
            <a:endParaRPr lang="en-CA" dirty="0"/>
          </a:p>
          <a:p>
            <a:r>
              <a:rPr lang="en-CA" dirty="0"/>
              <a:t>Highlights the M-F </a:t>
            </a:r>
            <a:r>
              <a:rPr lang="en-CA" dirty="0" err="1"/>
              <a:t>diff</a:t>
            </a:r>
            <a:r>
              <a:rPr lang="en-CA" baseline="30000" dirty="0" err="1"/>
              <a:t>ce</a:t>
            </a:r>
            <a:r>
              <a:rPr lang="en-CA" dirty="0"/>
              <a:t>  in Admit for Dept A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5BB830F-1A77-A90E-669A-26552E66B420}"/>
              </a:ext>
            </a:extLst>
          </p:cNvPr>
          <p:cNvSpPr/>
          <p:nvPr/>
        </p:nvSpPr>
        <p:spPr>
          <a:xfrm>
            <a:off x="914400" y="3293851"/>
            <a:ext cx="1828800" cy="83322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974401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" presetClass="entr" presetSubtype="8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7F7D7B8D-EF99-4CA1-AB1E-4C0C047409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2917370"/>
            <a:ext cx="9143999" cy="394062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A227CD7-8146-44FF-0C7B-B74CE5DFCE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836" y="4559523"/>
            <a:ext cx="8176104" cy="1236440"/>
          </a:xfrm>
          <a:noFill/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</a:pPr>
            <a:r>
              <a:rPr lang="en-US" sz="6000" dirty="0"/>
              <a:t>Survival on the </a:t>
            </a:r>
            <a:r>
              <a:rPr lang="en-US" sz="6000" i="1" dirty="0"/>
              <a:t>Titanic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74E748F-FD22-8B8E-25C3-DB2F4C9ECF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7836" y="5795963"/>
            <a:ext cx="8176104" cy="560388"/>
          </a:xfrm>
          <a:noFill/>
        </p:spPr>
        <p:txBody>
          <a:bodyPr vert="horz" lIns="91440" tIns="45720" rIns="91440" bIns="45720" rtlCol="0">
            <a:normAutofit/>
          </a:bodyPr>
          <a:lstStyle/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en-US" sz="2400" dirty="0">
                <a:solidFill>
                  <a:schemeClr val="bg1"/>
                </a:solidFill>
              </a:rPr>
              <a:t>An epic data set, revealed with loglinear models</a:t>
            </a:r>
          </a:p>
        </p:txBody>
      </p:sp>
      <p:pic>
        <p:nvPicPr>
          <p:cNvPr id="7" name="Picture 6" descr="A picture containing text, outdoor, watercraft, boat&#10;&#10;Description automatically generated">
            <a:extLst>
              <a:ext uri="{FF2B5EF4-FFF2-40B4-BE49-F238E27FC236}">
                <a16:creationId xmlns:a16="http://schemas.microsoft.com/office/drawing/2014/main" id="{F4948D81-CF04-7D2C-1F29-5FE6438EDEE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576"/>
          <a:stretch/>
        </p:blipFill>
        <p:spPr>
          <a:xfrm>
            <a:off x="20" y="1"/>
            <a:ext cx="9143979" cy="4239482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CDDA48D-5917-EB36-35C9-187D33BDCC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621225AB-15B9-4C79-A121-04D1DC7E2307}" type="slidenum">
              <a:rPr lang="en-US">
                <a:solidFill>
                  <a:schemeClr val="bg1">
                    <a:alpha val="80000"/>
                  </a:schemeClr>
                </a:solidFill>
                <a:latin typeface="Calibri" panose="020F0502020204030204"/>
              </a:rPr>
              <a:pPr>
                <a:spcAft>
                  <a:spcPts val="600"/>
                </a:spcAft>
                <a:defRPr/>
              </a:pPr>
              <a:t>64</a:t>
            </a:fld>
            <a:endParaRPr lang="en-US">
              <a:solidFill>
                <a:schemeClr val="bg1">
                  <a:alpha val="80000"/>
                </a:schemeClr>
              </a:solidFill>
              <a:latin typeface="Calibri" panose="020F0502020204030204"/>
            </a:endParaRPr>
          </a:p>
        </p:txBody>
      </p:sp>
      <p:sp>
        <p:nvSpPr>
          <p:cNvPr id="2" name="Speech Bubble: Oval 1">
            <a:extLst>
              <a:ext uri="{FF2B5EF4-FFF2-40B4-BE49-F238E27FC236}">
                <a16:creationId xmlns:a16="http://schemas.microsoft.com/office/drawing/2014/main" id="{809FCA6B-BD62-B712-5871-9681B2E7C728}"/>
              </a:ext>
            </a:extLst>
          </p:cNvPr>
          <p:cNvSpPr/>
          <p:nvPr/>
        </p:nvSpPr>
        <p:spPr>
          <a:xfrm>
            <a:off x="7620000" y="2743200"/>
            <a:ext cx="1043940" cy="685800"/>
          </a:xfrm>
          <a:prstGeom prst="wedgeEllipseCallout">
            <a:avLst>
              <a:gd name="adj1" fmla="val -26424"/>
              <a:gd name="adj2" fmla="val 75266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971920B-17BA-6519-D6A7-E8E30A467139}"/>
              </a:ext>
            </a:extLst>
          </p:cNvPr>
          <p:cNvSpPr txBox="1"/>
          <p:nvPr/>
        </p:nvSpPr>
        <p:spPr>
          <a:xfrm>
            <a:off x="7587574" y="2765897"/>
            <a:ext cx="1371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dirty="0">
                <a:solidFill>
                  <a:schemeClr val="bg1"/>
                </a:solidFill>
              </a:rPr>
              <a:t>HELP! I need a loglinear model</a:t>
            </a:r>
          </a:p>
        </p:txBody>
      </p:sp>
    </p:spTree>
    <p:extLst>
      <p:ext uri="{BB962C8B-B14F-4D97-AF65-F5344CB8AC3E}">
        <p14:creationId xmlns:p14="http://schemas.microsoft.com/office/powerpoint/2010/main" val="38303317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2A1879-175D-D364-7A0E-06C905DC50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4-way tables: Survival on the </a:t>
            </a:r>
            <a:r>
              <a:rPr lang="en-CA" i="1" dirty="0"/>
              <a:t>Titanic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7DAF962-2BE8-356A-60CA-B3974991CA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65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CBFDF35-33AD-B930-B7F5-0A5A36E6BAFB}"/>
              </a:ext>
            </a:extLst>
          </p:cNvPr>
          <p:cNvSpPr txBox="1"/>
          <p:nvPr/>
        </p:nvSpPr>
        <p:spPr>
          <a:xfrm>
            <a:off x="457200" y="1219200"/>
            <a:ext cx="8229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000" dirty="0"/>
              <a:t>Data on the fate of passengers &amp; crew on the HMS </a:t>
            </a:r>
            <a:r>
              <a:rPr lang="en-CA" sz="2000" i="1" dirty="0"/>
              <a:t>Titanic</a:t>
            </a:r>
            <a:r>
              <a:rPr lang="en-CA" sz="2000" dirty="0"/>
              <a:t>: a 4 × 2 × 2 × 2 table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1750336-F7D5-55A4-FC20-82418B05C050}"/>
              </a:ext>
            </a:extLst>
          </p:cNvPr>
          <p:cNvSpPr txBox="1"/>
          <p:nvPr/>
        </p:nvSpPr>
        <p:spPr>
          <a:xfrm>
            <a:off x="533400" y="1905000"/>
            <a:ext cx="8153400" cy="1815882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data(Titanic, package=“datasets”)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str(Titanic)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'table' num [1:4, 1:2, 1:2, 1:2] 0 0 35 0 0 0 17 0 118 154 ...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- 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attr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(*, "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dimnames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")=List of 4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..$ Class   : chr [1:4] "1st" "2nd" "3rd" "Crew"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..$ Sex     : chr [1:2] "Male" "Female"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..$ Age     : chr [1:2] "Child" "Adult"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..$ Survived: chr [1:2] "No" "Yes"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C9EB161-0638-9855-1D51-D66464A48F17}"/>
              </a:ext>
            </a:extLst>
          </p:cNvPr>
          <p:cNvSpPr txBox="1"/>
          <p:nvPr/>
        </p:nvSpPr>
        <p:spPr>
          <a:xfrm>
            <a:off x="533400" y="3962400"/>
            <a:ext cx="7696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000" dirty="0"/>
              <a:t>What proportion survived?  Ans: 711/2201 = 32.3%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A93830C-E872-C2ED-E9B5-46456BAAB17D}"/>
              </a:ext>
            </a:extLst>
          </p:cNvPr>
          <p:cNvSpPr txBox="1"/>
          <p:nvPr/>
        </p:nvSpPr>
        <p:spPr>
          <a:xfrm>
            <a:off x="533400" y="4495800"/>
            <a:ext cx="8001000" cy="1815882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addmargins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margin.table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(Titanic, 4))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Survived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No  Yes  Sum 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1490  711 2201 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margin.table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(Titanic, 4) / sum(Titanic)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Survived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No   Yes 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0.677 0.323 </a:t>
            </a:r>
          </a:p>
        </p:txBody>
      </p:sp>
    </p:spTree>
    <p:extLst>
      <p:ext uri="{BB962C8B-B14F-4D97-AF65-F5344CB8AC3E}">
        <p14:creationId xmlns:p14="http://schemas.microsoft.com/office/powerpoint/2010/main" val="1182034226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25DD9C-7E48-503A-21A5-E1A0B23022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Zero cells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2176F40-53E9-47AF-304A-B9755DBA4F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66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A1D0CE7-4F6C-F4A9-2BCA-4F2A3F2BDF74}"/>
              </a:ext>
            </a:extLst>
          </p:cNvPr>
          <p:cNvSpPr txBox="1"/>
          <p:nvPr/>
        </p:nvSpPr>
        <p:spPr>
          <a:xfrm>
            <a:off x="457200" y="1216744"/>
            <a:ext cx="8229600" cy="3046988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CA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structable</a:t>
            </a:r>
            <a:r>
              <a:rPr lang="en-CA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(Titanic)</a:t>
            </a:r>
          </a:p>
          <a:p>
            <a:r>
              <a:rPr lang="en-CA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Sex      Male     Female    </a:t>
            </a:r>
          </a:p>
          <a:p>
            <a:r>
              <a:rPr lang="en-CA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Survived   No Yes     No Yes</a:t>
            </a:r>
          </a:p>
          <a:p>
            <a:r>
              <a:rPr lang="en-CA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Class Age                               </a:t>
            </a:r>
          </a:p>
          <a:p>
            <a:r>
              <a:rPr lang="en-CA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1st   Child             0   5      0   1</a:t>
            </a:r>
          </a:p>
          <a:p>
            <a:r>
              <a:rPr lang="en-CA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Adult           118  57      4 140</a:t>
            </a:r>
          </a:p>
          <a:p>
            <a:r>
              <a:rPr lang="en-CA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2nd   Child             0  11      0  13</a:t>
            </a:r>
          </a:p>
          <a:p>
            <a:r>
              <a:rPr lang="en-CA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Adult           154  14     13  80</a:t>
            </a:r>
          </a:p>
          <a:p>
            <a:r>
              <a:rPr lang="en-CA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3rd   Child            35  13     17  14</a:t>
            </a:r>
          </a:p>
          <a:p>
            <a:r>
              <a:rPr lang="en-CA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Adult           387  75     89  76</a:t>
            </a:r>
          </a:p>
          <a:p>
            <a:r>
              <a:rPr lang="en-CA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Crew  Child             0   0      0   0</a:t>
            </a:r>
          </a:p>
          <a:p>
            <a:r>
              <a:rPr lang="en-CA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Adult           670 192      3  20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13E49EB-7633-EC70-DA64-69852708F9AA}"/>
              </a:ext>
            </a:extLst>
          </p:cNvPr>
          <p:cNvSpPr txBox="1"/>
          <p:nvPr/>
        </p:nvSpPr>
        <p:spPr>
          <a:xfrm>
            <a:off x="533400" y="4558699"/>
            <a:ext cx="81534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Two types of zero cells: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>
                <a:solidFill>
                  <a:srgbClr val="0070C0"/>
                </a:solidFill>
              </a:rPr>
              <a:t>Structural zeros</a:t>
            </a:r>
            <a:r>
              <a:rPr lang="en-CA" dirty="0"/>
              <a:t>: could not occur (children in crew)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>
                <a:solidFill>
                  <a:srgbClr val="0070C0"/>
                </a:solidFill>
              </a:rPr>
              <a:t>Sampling zeros</a:t>
            </a:r>
            <a:r>
              <a:rPr lang="en-CA" dirty="0"/>
              <a:t>: did not happen to occur (children in 1</a:t>
            </a:r>
            <a:r>
              <a:rPr lang="en-CA" baseline="30000" dirty="0"/>
              <a:t>st</a:t>
            </a:r>
            <a:r>
              <a:rPr lang="en-CA" dirty="0"/>
              <a:t> &amp; 2</a:t>
            </a:r>
            <a:r>
              <a:rPr lang="en-CA" baseline="30000" dirty="0"/>
              <a:t>nd</a:t>
            </a:r>
            <a:r>
              <a:rPr lang="en-CA" dirty="0"/>
              <a:t> who died)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Beware: zeros can cause problems: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CA" dirty="0"/>
              <a:t>Loss of </a:t>
            </a:r>
            <a:r>
              <a:rPr lang="en-CA" dirty="0" err="1"/>
              <a:t>df</a:t>
            </a:r>
            <a:endParaRPr lang="en-CA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CA" dirty="0"/>
              <a:t>0/0 </a:t>
            </a:r>
            <a:r>
              <a:rPr lang="en-CA" dirty="0">
                <a:sym typeface="Symbol" panose="05050102010706020507" pitchFamily="18" charset="2"/>
              </a:rPr>
              <a:t> </a:t>
            </a:r>
            <a:r>
              <a:rPr lang="en-CA" dirty="0" err="1">
                <a:sym typeface="Symbol" panose="05050102010706020507" pitchFamily="18" charset="2"/>
              </a:rPr>
              <a:t>NaN</a:t>
            </a:r>
            <a:r>
              <a:rPr lang="en-CA" dirty="0">
                <a:sym typeface="Symbol" panose="05050102010706020507" pitchFamily="18" charset="2"/>
              </a:rPr>
              <a:t> in 2 tests</a:t>
            </a:r>
            <a:endParaRPr lang="en-CA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C106C0B-DA38-B4D9-FBA4-BD788E296198}"/>
              </a:ext>
            </a:extLst>
          </p:cNvPr>
          <p:cNvSpPr/>
          <p:nvPr/>
        </p:nvSpPr>
        <p:spPr>
          <a:xfrm>
            <a:off x="2971800" y="3667432"/>
            <a:ext cx="2514600" cy="27432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032683D-8C63-4C34-A9C2-3667C249A27D}"/>
              </a:ext>
            </a:extLst>
          </p:cNvPr>
          <p:cNvSpPr/>
          <p:nvPr/>
        </p:nvSpPr>
        <p:spPr>
          <a:xfrm>
            <a:off x="3124200" y="2219818"/>
            <a:ext cx="571500" cy="27432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C2ECFAE-1BF0-4160-B1C7-C6379978A066}"/>
              </a:ext>
            </a:extLst>
          </p:cNvPr>
          <p:cNvSpPr/>
          <p:nvPr/>
        </p:nvSpPr>
        <p:spPr>
          <a:xfrm>
            <a:off x="4495800" y="2219818"/>
            <a:ext cx="571500" cy="27432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DE59F66-3210-42FE-8BD6-092F0A3F3F5A}"/>
              </a:ext>
            </a:extLst>
          </p:cNvPr>
          <p:cNvSpPr/>
          <p:nvPr/>
        </p:nvSpPr>
        <p:spPr>
          <a:xfrm>
            <a:off x="3124200" y="2719777"/>
            <a:ext cx="571500" cy="27432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9BBE28E-6F61-445A-B523-B0A995C88D95}"/>
              </a:ext>
            </a:extLst>
          </p:cNvPr>
          <p:cNvSpPr/>
          <p:nvPr/>
        </p:nvSpPr>
        <p:spPr>
          <a:xfrm>
            <a:off x="4495398" y="2719777"/>
            <a:ext cx="571500" cy="27432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73955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BAF1B2-965C-1AD5-4A72-314CC7CC54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Exploratory plots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91707C7-B962-200E-EA68-2C19B80D8B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67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4C273A5-D75C-0DF2-AD29-A4C1CF710D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61326"/>
            <a:ext cx="8171428" cy="505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8168983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8B9432-493E-7677-CBB3-3DB21F850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Exploratory plots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D6A9B26-EB02-B61B-EFD4-9D8095F286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68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E14C0A3-4888-078C-A0E3-E13B657797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66645"/>
            <a:ext cx="8190476" cy="5114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9584139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C6F19F-F79C-3543-23C1-AE792EBCA2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Fitting &amp; visualizing models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8B2D3BC-A15C-F129-570F-4B4F56E01B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69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B99F4FB-193D-679B-7846-0187A27AEE7F}"/>
              </a:ext>
            </a:extLst>
          </p:cNvPr>
          <p:cNvSpPr txBox="1"/>
          <p:nvPr/>
        </p:nvSpPr>
        <p:spPr>
          <a:xfrm>
            <a:off x="457200" y="1219200"/>
            <a:ext cx="5029200" cy="646331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dirty="0"/>
              <a:t>mod0 &lt;- </a:t>
            </a:r>
            <a:r>
              <a:rPr lang="en-CA" dirty="0" err="1"/>
              <a:t>loglm</a:t>
            </a:r>
            <a:r>
              <a:rPr lang="en-CA" dirty="0"/>
              <a:t>(~ 1 + 2 + 3 + 4, data=Titanic)</a:t>
            </a:r>
          </a:p>
          <a:p>
            <a:r>
              <a:rPr lang="en-CA" dirty="0"/>
              <a:t>mosaic(mod0, main="Titanic: Model [C][G][A][S]")</a:t>
            </a:r>
          </a:p>
        </p:txBody>
      </p:sp>
      <p:pic>
        <p:nvPicPr>
          <p:cNvPr id="6" name="Picture 5" descr="Chart, bar chart&#10;&#10;Description automatically generated">
            <a:extLst>
              <a:ext uri="{FF2B5EF4-FFF2-40B4-BE49-F238E27FC236}">
                <a16:creationId xmlns:a16="http://schemas.microsoft.com/office/drawing/2014/main" id="{DA556361-F5E7-E6BA-9470-AB3B6B0A5C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2103120"/>
            <a:ext cx="4934415" cy="447621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1F2FF0F-9719-9F38-45DA-A5F7AFCC4816}"/>
              </a:ext>
            </a:extLst>
          </p:cNvPr>
          <p:cNvSpPr txBox="1"/>
          <p:nvPr/>
        </p:nvSpPr>
        <p:spPr>
          <a:xfrm>
            <a:off x="6019800" y="1219200"/>
            <a:ext cx="26670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600" dirty="0"/>
              <a:t>In the model formulas, I’m using variable numbers 1-4 for </a:t>
            </a:r>
            <a:r>
              <a:rPr lang="en-CA" sz="1600" i="1" dirty="0">
                <a:solidFill>
                  <a:srgbClr val="0070C0"/>
                </a:solidFill>
              </a:rPr>
              <a:t>C</a:t>
            </a:r>
            <a:r>
              <a:rPr lang="en-CA" sz="1600" dirty="0"/>
              <a:t>lass, </a:t>
            </a:r>
            <a:r>
              <a:rPr lang="en-CA" sz="1600" i="1" dirty="0">
                <a:solidFill>
                  <a:srgbClr val="0070C0"/>
                </a:solidFill>
              </a:rPr>
              <a:t>G</a:t>
            </a:r>
            <a:r>
              <a:rPr lang="en-CA" sz="1600" dirty="0"/>
              <a:t>ender, </a:t>
            </a:r>
            <a:r>
              <a:rPr lang="en-CA" sz="1600" i="1" dirty="0">
                <a:solidFill>
                  <a:srgbClr val="0070C0"/>
                </a:solidFill>
              </a:rPr>
              <a:t>A</a:t>
            </a:r>
            <a:r>
              <a:rPr lang="en-CA" sz="1600" dirty="0"/>
              <a:t>ge and </a:t>
            </a:r>
            <a:r>
              <a:rPr lang="en-CA" sz="1600" i="1" dirty="0">
                <a:solidFill>
                  <a:srgbClr val="0070C0"/>
                </a:solidFill>
              </a:rPr>
              <a:t>S</a:t>
            </a:r>
            <a:r>
              <a:rPr lang="en-CA" sz="1600" dirty="0"/>
              <a:t>urvived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4542D92-BBC1-7D40-F11D-5A9B41B8EDF9}"/>
              </a:ext>
            </a:extLst>
          </p:cNvPr>
          <p:cNvSpPr txBox="1"/>
          <p:nvPr/>
        </p:nvSpPr>
        <p:spPr>
          <a:xfrm>
            <a:off x="6019800" y="2819400"/>
            <a:ext cx="2590800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The </a:t>
            </a:r>
            <a:r>
              <a:rPr lang="en-CA" dirty="0">
                <a:solidFill>
                  <a:srgbClr val="0070C0"/>
                </a:solidFill>
              </a:rPr>
              <a:t>independence</a:t>
            </a:r>
            <a:r>
              <a:rPr lang="en-CA" dirty="0"/>
              <a:t> model serves only as a background for the total associations in the table</a:t>
            </a:r>
          </a:p>
          <a:p>
            <a:endParaRPr lang="en-CA" dirty="0"/>
          </a:p>
          <a:p>
            <a:r>
              <a:rPr lang="en-CA" dirty="0"/>
              <a:t>Let’s clean this mosaic!!</a:t>
            </a:r>
          </a:p>
          <a:p>
            <a:endParaRPr lang="en-CA" dirty="0"/>
          </a:p>
          <a:p>
            <a:r>
              <a:rPr lang="en-CA" sz="1400" dirty="0"/>
              <a:t>Note the scale of residuals: </a:t>
            </a:r>
          </a:p>
          <a:p>
            <a:r>
              <a:rPr lang="en-CA" sz="1400" dirty="0"/>
              <a:t>                    +26 -- -11</a:t>
            </a:r>
          </a:p>
        </p:txBody>
      </p:sp>
    </p:spTree>
    <p:extLst>
      <p:ext uri="{BB962C8B-B14F-4D97-AF65-F5344CB8AC3E}">
        <p14:creationId xmlns:p14="http://schemas.microsoft.com/office/powerpoint/2010/main" val="2313782589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DCC11A-773F-85E2-DA12-BDED33A16E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Baseline model for Survived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67A6D86-FAA6-DCA9-2A13-BF686F0AC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70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53DDE6E-4FD6-BD71-4513-AA46FF86550F}"/>
              </a:ext>
            </a:extLst>
          </p:cNvPr>
          <p:cNvSpPr txBox="1"/>
          <p:nvPr/>
        </p:nvSpPr>
        <p:spPr>
          <a:xfrm>
            <a:off x="457200" y="1219200"/>
            <a:ext cx="5029200" cy="646331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dirty="0"/>
              <a:t>mod1 &lt;- </a:t>
            </a:r>
            <a:r>
              <a:rPr lang="en-CA" dirty="0" err="1"/>
              <a:t>loglm</a:t>
            </a:r>
            <a:r>
              <a:rPr lang="en-CA" dirty="0"/>
              <a:t>(~ 1*2*3 + 4, data=Titanic)</a:t>
            </a:r>
          </a:p>
          <a:p>
            <a:r>
              <a:rPr lang="en-CA" dirty="0"/>
              <a:t>mosaic(mod1, main="Titanic: Model [CGA][S]")</a:t>
            </a:r>
          </a:p>
        </p:txBody>
      </p:sp>
      <p:pic>
        <p:nvPicPr>
          <p:cNvPr id="6" name="Picture 5" descr="Chart, bar chart&#10;&#10;Description automatically generated">
            <a:extLst>
              <a:ext uri="{FF2B5EF4-FFF2-40B4-BE49-F238E27FC236}">
                <a16:creationId xmlns:a16="http://schemas.microsoft.com/office/drawing/2014/main" id="{F60880AF-1FA7-B099-1670-4C5007E355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2103120"/>
            <a:ext cx="4939201" cy="448056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DBCD857-EEB6-5B7F-A207-9847DB7B7840}"/>
              </a:ext>
            </a:extLst>
          </p:cNvPr>
          <p:cNvSpPr txBox="1"/>
          <p:nvPr/>
        </p:nvSpPr>
        <p:spPr>
          <a:xfrm>
            <a:off x="5867400" y="2286000"/>
            <a:ext cx="28194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With </a:t>
            </a:r>
            <a:r>
              <a:rPr lang="en-CA" i="1" dirty="0">
                <a:solidFill>
                  <a:srgbClr val="0070C0"/>
                </a:solidFill>
              </a:rPr>
              <a:t>S</a:t>
            </a:r>
            <a:r>
              <a:rPr lang="en-CA" dirty="0"/>
              <a:t> as response, the </a:t>
            </a:r>
            <a:r>
              <a:rPr lang="en-CA" dirty="0">
                <a:solidFill>
                  <a:srgbClr val="0070C0"/>
                </a:solidFill>
              </a:rPr>
              <a:t>baseline</a:t>
            </a:r>
            <a:r>
              <a:rPr lang="en-CA" dirty="0"/>
              <a:t> model includes all associations among [CGA]</a:t>
            </a:r>
          </a:p>
          <a:p>
            <a:endParaRPr lang="en-CA" dirty="0"/>
          </a:p>
          <a:p>
            <a:r>
              <a:rPr lang="en-CA" dirty="0"/>
              <a:t>But this model asserts survival is independent of all of these</a:t>
            </a:r>
          </a:p>
          <a:p>
            <a:endParaRPr lang="en-CA" dirty="0"/>
          </a:p>
          <a:p>
            <a:r>
              <a:rPr lang="en-CA" i="1" dirty="0"/>
              <a:t>G</a:t>
            </a:r>
            <a:r>
              <a:rPr lang="en-CA" baseline="30000" dirty="0"/>
              <a:t>2</a:t>
            </a:r>
            <a:r>
              <a:rPr lang="en-CA" dirty="0"/>
              <a:t> </a:t>
            </a:r>
            <a:r>
              <a:rPr lang="en-CA" baseline="-25000" dirty="0"/>
              <a:t>(15) </a:t>
            </a:r>
            <a:r>
              <a:rPr lang="en-CA" dirty="0"/>
              <a:t>= 671.96, a very poor fit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C367EC0-992F-B3CE-388D-DE0DF461B689}"/>
              </a:ext>
            </a:extLst>
          </p:cNvPr>
          <p:cNvSpPr txBox="1"/>
          <p:nvPr/>
        </p:nvSpPr>
        <p:spPr>
          <a:xfrm>
            <a:off x="5867400" y="5334000"/>
            <a:ext cx="2743200" cy="646331"/>
          </a:xfrm>
          <a:custGeom>
            <a:avLst/>
            <a:gdLst>
              <a:gd name="csX0" fmla="*/ 0 w 2743200"/>
              <a:gd name="csY0" fmla="*/ 0 h 646331"/>
              <a:gd name="csX1" fmla="*/ 521208 w 2743200"/>
              <a:gd name="csY1" fmla="*/ 0 h 646331"/>
              <a:gd name="csX2" fmla="*/ 987552 w 2743200"/>
              <a:gd name="csY2" fmla="*/ 0 h 646331"/>
              <a:gd name="csX3" fmla="*/ 1591056 w 2743200"/>
              <a:gd name="csY3" fmla="*/ 0 h 646331"/>
              <a:gd name="csX4" fmla="*/ 2112264 w 2743200"/>
              <a:gd name="csY4" fmla="*/ 0 h 646331"/>
              <a:gd name="csX5" fmla="*/ 2743200 w 2743200"/>
              <a:gd name="csY5" fmla="*/ 0 h 646331"/>
              <a:gd name="csX6" fmla="*/ 2743200 w 2743200"/>
              <a:gd name="csY6" fmla="*/ 336092 h 646331"/>
              <a:gd name="csX7" fmla="*/ 2743200 w 2743200"/>
              <a:gd name="csY7" fmla="*/ 646331 h 646331"/>
              <a:gd name="csX8" fmla="*/ 2194560 w 2743200"/>
              <a:gd name="csY8" fmla="*/ 646331 h 646331"/>
              <a:gd name="csX9" fmla="*/ 1728216 w 2743200"/>
              <a:gd name="csY9" fmla="*/ 646331 h 646331"/>
              <a:gd name="csX10" fmla="*/ 1179576 w 2743200"/>
              <a:gd name="csY10" fmla="*/ 646331 h 646331"/>
              <a:gd name="csX11" fmla="*/ 630936 w 2743200"/>
              <a:gd name="csY11" fmla="*/ 646331 h 646331"/>
              <a:gd name="csX12" fmla="*/ 0 w 2743200"/>
              <a:gd name="csY12" fmla="*/ 646331 h 646331"/>
              <a:gd name="csX13" fmla="*/ 0 w 2743200"/>
              <a:gd name="csY13" fmla="*/ 310239 h 646331"/>
              <a:gd name="csX14" fmla="*/ 0 w 2743200"/>
              <a:gd name="csY14" fmla="*/ 0 h 6463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2743200" h="646331" extrusionOk="0">
                <a:moveTo>
                  <a:pt x="0" y="0"/>
                </a:moveTo>
                <a:cubicBezTo>
                  <a:pt x="229318" y="-6392"/>
                  <a:pt x="401789" y="18958"/>
                  <a:pt x="521208" y="0"/>
                </a:cubicBezTo>
                <a:cubicBezTo>
                  <a:pt x="640627" y="-18958"/>
                  <a:pt x="889635" y="51740"/>
                  <a:pt x="987552" y="0"/>
                </a:cubicBezTo>
                <a:cubicBezTo>
                  <a:pt x="1085469" y="-51740"/>
                  <a:pt x="1389405" y="33160"/>
                  <a:pt x="1591056" y="0"/>
                </a:cubicBezTo>
                <a:cubicBezTo>
                  <a:pt x="1792707" y="-33160"/>
                  <a:pt x="1962286" y="57170"/>
                  <a:pt x="2112264" y="0"/>
                </a:cubicBezTo>
                <a:cubicBezTo>
                  <a:pt x="2262242" y="-57170"/>
                  <a:pt x="2440659" y="58656"/>
                  <a:pt x="2743200" y="0"/>
                </a:cubicBezTo>
                <a:cubicBezTo>
                  <a:pt x="2777872" y="99397"/>
                  <a:pt x="2705139" y="207528"/>
                  <a:pt x="2743200" y="336092"/>
                </a:cubicBezTo>
                <a:cubicBezTo>
                  <a:pt x="2781261" y="464656"/>
                  <a:pt x="2735954" y="558683"/>
                  <a:pt x="2743200" y="646331"/>
                </a:cubicBezTo>
                <a:cubicBezTo>
                  <a:pt x="2625962" y="651724"/>
                  <a:pt x="2444853" y="622285"/>
                  <a:pt x="2194560" y="646331"/>
                </a:cubicBezTo>
                <a:cubicBezTo>
                  <a:pt x="1944267" y="670377"/>
                  <a:pt x="1902789" y="609359"/>
                  <a:pt x="1728216" y="646331"/>
                </a:cubicBezTo>
                <a:cubicBezTo>
                  <a:pt x="1553643" y="683303"/>
                  <a:pt x="1300658" y="629306"/>
                  <a:pt x="1179576" y="646331"/>
                </a:cubicBezTo>
                <a:cubicBezTo>
                  <a:pt x="1058494" y="663356"/>
                  <a:pt x="790734" y="625199"/>
                  <a:pt x="630936" y="646331"/>
                </a:cubicBezTo>
                <a:cubicBezTo>
                  <a:pt x="471138" y="667463"/>
                  <a:pt x="135533" y="575079"/>
                  <a:pt x="0" y="646331"/>
                </a:cubicBezTo>
                <a:cubicBezTo>
                  <a:pt x="-33616" y="483157"/>
                  <a:pt x="27355" y="419635"/>
                  <a:pt x="0" y="310239"/>
                </a:cubicBezTo>
                <a:cubicBezTo>
                  <a:pt x="-27355" y="200843"/>
                  <a:pt x="264" y="72993"/>
                  <a:pt x="0" y="0"/>
                </a:cubicBezTo>
                <a:close/>
              </a:path>
            </a:pathLst>
          </a:custGeom>
          <a:noFill/>
          <a:ln w="19050">
            <a:solidFill>
              <a:srgbClr val="FF0000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r>
              <a:rPr lang="en-CA" dirty="0"/>
              <a:t>Pattern of residuals shows all associations with </a:t>
            </a:r>
            <a:r>
              <a:rPr lang="en-CA" dirty="0" err="1"/>
              <a:t>Surv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32976102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9E23C-76BC-C24D-893E-A596F35782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Adding associations: Main effects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CCF4377-6E1E-9F68-5011-3EC8D065DF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71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4EC0161-33F1-AD5F-42D0-068904CA0809}"/>
              </a:ext>
            </a:extLst>
          </p:cNvPr>
          <p:cNvSpPr txBox="1"/>
          <p:nvPr/>
        </p:nvSpPr>
        <p:spPr>
          <a:xfrm>
            <a:off x="457200" y="1219200"/>
            <a:ext cx="5715000" cy="646331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dirty="0"/>
              <a:t>mod2 &lt;- </a:t>
            </a:r>
            <a:r>
              <a:rPr lang="en-CA" dirty="0" err="1"/>
              <a:t>loglm</a:t>
            </a:r>
            <a:r>
              <a:rPr lang="en-CA" dirty="0"/>
              <a:t>(~ 1*2*3 + (1+2+3)*4, data=Titanic)</a:t>
            </a:r>
          </a:p>
          <a:p>
            <a:r>
              <a:rPr lang="en-CA" dirty="0"/>
              <a:t>mosaic(mod2, main="Titanic: Model [CGA] </a:t>
            </a:r>
            <a:r>
              <a:rPr lang="en-CA" b="1" dirty="0"/>
              <a:t>[CS][GS][AS]")</a:t>
            </a:r>
          </a:p>
        </p:txBody>
      </p:sp>
      <p:pic>
        <p:nvPicPr>
          <p:cNvPr id="6" name="Picture 5" descr="Chart, bar chart&#10;&#10;Description automatically generated">
            <a:extLst>
              <a:ext uri="{FF2B5EF4-FFF2-40B4-BE49-F238E27FC236}">
                <a16:creationId xmlns:a16="http://schemas.microsoft.com/office/drawing/2014/main" id="{2E8DE91D-4D53-9844-4390-1BE1FCE7AD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2103120"/>
            <a:ext cx="4939201" cy="448056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7A95323-EE1A-45B3-1F11-EAD5858B9F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7240" y="2553735"/>
            <a:ext cx="3566160" cy="81049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FF49B48-D08A-5F2F-5BB3-743E93212E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0" y="3581400"/>
            <a:ext cx="3566160" cy="99818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E35BF19-3625-A79D-878A-5427B77F642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0" y="4736227"/>
            <a:ext cx="3566160" cy="721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85876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3DE7D1-7373-CDD9-72A9-0BBF9D13EB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Final model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82253F2-88D3-DE33-D503-24BE26D13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72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3E875C3-8AF4-720E-0ACC-C37EA933099A}"/>
              </a:ext>
            </a:extLst>
          </p:cNvPr>
          <p:cNvSpPr txBox="1"/>
          <p:nvPr/>
        </p:nvSpPr>
        <p:spPr>
          <a:xfrm>
            <a:off x="457200" y="1219200"/>
            <a:ext cx="5943600" cy="646331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dirty="0"/>
              <a:t>mod3 &lt;- </a:t>
            </a:r>
            <a:r>
              <a:rPr lang="en-CA" dirty="0" err="1"/>
              <a:t>loglm</a:t>
            </a:r>
            <a:r>
              <a:rPr lang="en-CA" dirty="0"/>
              <a:t>(~ 1*2*3 + (1*2)*4 + (1*3)*4, data=Titanic)</a:t>
            </a:r>
          </a:p>
          <a:p>
            <a:r>
              <a:rPr lang="en-CA" dirty="0"/>
              <a:t>mosaic(mod3, main="Titanic: Model [CGA] </a:t>
            </a:r>
            <a:r>
              <a:rPr lang="en-CA" b="1" dirty="0"/>
              <a:t>[CGS][CAS]")</a:t>
            </a:r>
          </a:p>
        </p:txBody>
      </p:sp>
      <p:pic>
        <p:nvPicPr>
          <p:cNvPr id="8" name="Picture 7" descr="Diagram&#10;&#10;Description automatically generated with medium confidence">
            <a:extLst>
              <a:ext uri="{FF2B5EF4-FFF2-40B4-BE49-F238E27FC236}">
                <a16:creationId xmlns:a16="http://schemas.microsoft.com/office/drawing/2014/main" id="{C567F79C-D7AF-B853-2BC2-AD6ACC03EC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2103120"/>
            <a:ext cx="4939201" cy="448056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4DC6455-1D49-A48C-0DCC-57BD16B0F999}"/>
              </a:ext>
            </a:extLst>
          </p:cNvPr>
          <p:cNvSpPr txBox="1"/>
          <p:nvPr/>
        </p:nvSpPr>
        <p:spPr>
          <a:xfrm>
            <a:off x="5867400" y="2819400"/>
            <a:ext cx="28194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dirty="0"/>
              <a:t>Nice &amp; clean!</a:t>
            </a:r>
          </a:p>
          <a:p>
            <a:endParaRPr lang="en-CA" dirty="0"/>
          </a:p>
          <a:p>
            <a:r>
              <a:rPr lang="en-CA" i="1" dirty="0"/>
              <a:t>G</a:t>
            </a:r>
            <a:r>
              <a:rPr lang="en-CA" baseline="30000" dirty="0"/>
              <a:t>2 </a:t>
            </a:r>
            <a:r>
              <a:rPr lang="en-CA" baseline="-25000" dirty="0"/>
              <a:t>(4) </a:t>
            </a:r>
            <a:r>
              <a:rPr lang="en-CA" dirty="0"/>
              <a:t>= 1.69, p=0.79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3FFE80-3B0B-42C5-9E64-3F81148B8EE2}"/>
              </a:ext>
            </a:extLst>
          </p:cNvPr>
          <p:cNvSpPr txBox="1"/>
          <p:nvPr/>
        </p:nvSpPr>
        <p:spPr>
          <a:xfrm>
            <a:off x="5943600" y="4267200"/>
            <a:ext cx="28194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Before accepting this, should compare models, and consider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parsimony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model explanations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98A94B9-2A86-D9EE-3BD9-BD81F0CBE393}"/>
              </a:ext>
            </a:extLst>
          </p:cNvPr>
          <p:cNvSpPr txBox="1"/>
          <p:nvPr/>
        </p:nvSpPr>
        <p:spPr>
          <a:xfrm>
            <a:off x="762000" y="6356350"/>
            <a:ext cx="38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solidFill>
                  <a:srgbClr val="00B050"/>
                </a:solidFill>
                <a:sym typeface="Wingdings" panose="05000000000000000000" pitchFamily="2" charset="2"/>
              </a:rPr>
              <a:t></a:t>
            </a:r>
            <a:endParaRPr lang="en-CA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87AD9FE-3468-7B00-1F44-27426FFCC0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9966" y="1752600"/>
            <a:ext cx="1523999" cy="893773"/>
          </a:xfrm>
          <a:prstGeom prst="rect">
            <a:avLst/>
          </a:prstGeom>
        </p:spPr>
      </p:pic>
      <p:sp>
        <p:nvSpPr>
          <p:cNvPr id="11" name="Speech Bubble: Oval 10">
            <a:extLst>
              <a:ext uri="{FF2B5EF4-FFF2-40B4-BE49-F238E27FC236}">
                <a16:creationId xmlns:a16="http://schemas.microsoft.com/office/drawing/2014/main" id="{DF6BE514-10A8-BF33-ECCA-9BC7C43425CB}"/>
              </a:ext>
            </a:extLst>
          </p:cNvPr>
          <p:cNvSpPr/>
          <p:nvPr/>
        </p:nvSpPr>
        <p:spPr>
          <a:xfrm>
            <a:off x="7162800" y="1066800"/>
            <a:ext cx="1523999" cy="576983"/>
          </a:xfrm>
          <a:prstGeom prst="wedgeEllipseCallout">
            <a:avLst>
              <a:gd name="adj1" fmla="val -65178"/>
              <a:gd name="adj2" fmla="val 108021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105798E-8A48-12C5-6136-162E34A55C70}"/>
              </a:ext>
            </a:extLst>
          </p:cNvPr>
          <p:cNvSpPr txBox="1"/>
          <p:nvPr/>
        </p:nvSpPr>
        <p:spPr>
          <a:xfrm>
            <a:off x="7072800" y="1219200"/>
            <a:ext cx="16139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400" dirty="0"/>
              <a:t>Now I understand</a:t>
            </a:r>
          </a:p>
        </p:txBody>
      </p:sp>
    </p:spTree>
    <p:extLst>
      <p:ext uri="{BB962C8B-B14F-4D97-AF65-F5344CB8AC3E}">
        <p14:creationId xmlns:p14="http://schemas.microsoft.com/office/powerpoint/2010/main" val="1692861796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B34282-9A49-76F3-8C5B-22899834F2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Comparing models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BB0550B-836A-30D1-840A-672F26E2D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73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E33A701-5128-C452-590F-7D8234D64F9A}"/>
              </a:ext>
            </a:extLst>
          </p:cNvPr>
          <p:cNvSpPr txBox="1"/>
          <p:nvPr/>
        </p:nvSpPr>
        <p:spPr>
          <a:xfrm>
            <a:off x="457200" y="1295400"/>
            <a:ext cx="822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As usual, </a:t>
            </a:r>
            <a:r>
              <a:rPr lang="en-CA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anova</a:t>
            </a:r>
            <a:r>
              <a:rPr lang="en-CA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CA" dirty="0"/>
              <a:t>give compact </a:t>
            </a:r>
            <a:r>
              <a:rPr lang="en-CA" dirty="0">
                <a:solidFill>
                  <a:srgbClr val="0070C0"/>
                </a:solidFill>
              </a:rPr>
              <a:t>relative</a:t>
            </a:r>
            <a:r>
              <a:rPr lang="en-CA" dirty="0"/>
              <a:t> comparisons of a set of nested models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526136-C5AF-CBA4-48A5-3F17E2D36783}"/>
              </a:ext>
            </a:extLst>
          </p:cNvPr>
          <p:cNvSpPr txBox="1"/>
          <p:nvPr/>
        </p:nvSpPr>
        <p:spPr>
          <a:xfrm>
            <a:off x="457200" y="1828800"/>
            <a:ext cx="8229600" cy="3970318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anova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(mod0, mod1, mod2, mod3)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LR tests for hierarchical log-linear models</a:t>
            </a:r>
          </a:p>
          <a:p>
            <a:endParaRPr lang="en-CA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Model 1: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~1 + 2 + 3 + 4 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Model 2: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~1 * 2 * 3 + 4 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Model 3: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~1 * 2 * 3 + (1 + 2 + 3) * 4 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Model 4: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~1 * 2 * 3 + (1 * 2) * 4 + (1 * 3) * 4 </a:t>
            </a:r>
          </a:p>
          <a:p>
            <a:endParaRPr lang="en-CA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Deviance 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Delta(Dev) Delta(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 P(&gt; Delta(Dev)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Model 1    1243.66 25                                    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Model 2     671.96 15     571.70        10          0.000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Model 3     112.57 10     559.40         5          0.000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Model 4       1.69  4     110.88         6          0.000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Saturated     0.00  0       1.69         4          0.793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68A4565-6F4D-7B81-7152-D721720DBC6B}"/>
              </a:ext>
            </a:extLst>
          </p:cNvPr>
          <p:cNvSpPr txBox="1"/>
          <p:nvPr/>
        </p:nvSpPr>
        <p:spPr>
          <a:xfrm>
            <a:off x="457200" y="6019800"/>
            <a:ext cx="822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Q: Please help me interpret these results </a:t>
            </a:r>
            <a:r>
              <a:rPr lang="en-CA" dirty="0">
                <a:sym typeface="Wingdings" panose="05000000000000000000" pitchFamily="2" charset="2"/>
              </a:rPr>
              <a:t>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40800928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9A08FF-6C33-306A-9464-5C3ECEB9E0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Comparing models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E7FF9C7-AA23-2D28-2497-5C411B0FC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74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A2459E7-49A1-DE9C-3BAA-56DBE313D867}"/>
              </a:ext>
            </a:extLst>
          </p:cNvPr>
          <p:cNvSpPr txBox="1"/>
          <p:nvPr/>
        </p:nvSpPr>
        <p:spPr>
          <a:xfrm>
            <a:off x="457200" y="1371600"/>
            <a:ext cx="822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LRstats</a:t>
            </a:r>
            <a:r>
              <a:rPr lang="en-CA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CA" dirty="0"/>
              <a:t>gives </a:t>
            </a:r>
            <a:r>
              <a:rPr lang="en-CA" dirty="0">
                <a:solidFill>
                  <a:srgbClr val="0070C0"/>
                </a:solidFill>
              </a:rPr>
              <a:t>absolute</a:t>
            </a:r>
            <a:r>
              <a:rPr lang="en-CA" dirty="0"/>
              <a:t> GOF tests; also provides AIC, BIC stats: model parsimony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C28A7E9-7AA6-7FDF-8159-E6ADCFDA47EE}"/>
              </a:ext>
            </a:extLst>
          </p:cNvPr>
          <p:cNvSpPr txBox="1"/>
          <p:nvPr/>
        </p:nvSpPr>
        <p:spPr>
          <a:xfrm>
            <a:off x="457200" y="2121932"/>
            <a:ext cx="8229600" cy="2031325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LRstats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(mod0, mod1, mod2, mod3)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Likelihood summary table: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AIC  BIC LR 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Chisq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(&gt;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Chisq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    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mod0 1385 1395     1244 25     &lt;2e-16 ***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mod1  833  858      672 15     &lt;2e-16 ***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mod2  284  316      113 10     &lt;2e-16 ***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mod3  185  226        2  4       0.79    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---</a:t>
            </a:r>
          </a:p>
          <a:p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Signif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. codes:  0 ‘***’ 0.001 ‘**’ 0.01 ‘*’ 0.05 ‘.’ 0.1 ‘ ’ 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E7FD02-BBC3-833C-F461-63D96186F5C5}"/>
              </a:ext>
            </a:extLst>
          </p:cNvPr>
          <p:cNvSpPr txBox="1"/>
          <p:nvPr/>
        </p:nvSpPr>
        <p:spPr>
          <a:xfrm>
            <a:off x="457200" y="4572000"/>
            <a:ext cx="7848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mod3 [CGA] [CGS] [CAS] wins!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Acceptable </a:t>
            </a:r>
            <a:r>
              <a:rPr lang="en-CA" i="1" dirty="0"/>
              <a:t>G</a:t>
            </a:r>
            <a:r>
              <a:rPr lang="en-CA" baseline="30000" dirty="0"/>
              <a:t>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Looks best by AIC &amp; BIC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DD0E96A-0304-F01F-A603-88AD04315504}"/>
              </a:ext>
            </a:extLst>
          </p:cNvPr>
          <p:cNvSpPr/>
          <p:nvPr/>
        </p:nvSpPr>
        <p:spPr>
          <a:xfrm>
            <a:off x="1143000" y="3429000"/>
            <a:ext cx="3429000" cy="30653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31923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DB53E-CFB1-5B99-7578-696EFA202F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Model interpretation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3F022A-C994-5D77-FEF4-AD665DEE56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CA" sz="2400" dirty="0"/>
              <a:t>Recall that the goal of analysis is to tell a story</a:t>
            </a:r>
          </a:p>
          <a:p>
            <a:r>
              <a:rPr lang="en-CA" sz="2400" dirty="0"/>
              <a:t>Greatest impact: lower class </a:t>
            </a:r>
            <a:r>
              <a:rPr lang="en-CA" sz="2400" dirty="0">
                <a:sym typeface="Symbol" panose="05050102010706020507" pitchFamily="18" charset="2"/>
              </a:rPr>
              <a:t> decreased survival, regardless of Gender &amp; Age</a:t>
            </a:r>
          </a:p>
          <a:p>
            <a:r>
              <a:rPr lang="en-CA" sz="2400" dirty="0">
                <a:sym typeface="Symbol" panose="05050102010706020507" pitchFamily="18" charset="2"/>
              </a:rPr>
              <a:t>Differences in survival by Class were </a:t>
            </a:r>
            <a:r>
              <a:rPr lang="en-CA" sz="2400" dirty="0">
                <a:solidFill>
                  <a:srgbClr val="0070C0"/>
                </a:solidFill>
                <a:sym typeface="Symbol" panose="05050102010706020507" pitchFamily="18" charset="2"/>
              </a:rPr>
              <a:t>moderated</a:t>
            </a:r>
            <a:r>
              <a:rPr lang="en-CA" sz="2400" dirty="0">
                <a:sym typeface="Symbol" panose="05050102010706020507" pitchFamily="18" charset="2"/>
              </a:rPr>
              <a:t> by both Gender &amp; Age</a:t>
            </a:r>
          </a:p>
          <a:p>
            <a:pPr lvl="1"/>
            <a:r>
              <a:rPr lang="en-CA" sz="2000" dirty="0">
                <a:sym typeface="Symbol" panose="05050102010706020507" pitchFamily="18" charset="2"/>
              </a:rPr>
              <a:t>Term [CGS]: Women in 3</a:t>
            </a:r>
            <a:r>
              <a:rPr lang="en-CA" sz="2000" baseline="30000" dirty="0">
                <a:sym typeface="Symbol" panose="05050102010706020507" pitchFamily="18" charset="2"/>
              </a:rPr>
              <a:t>rd</a:t>
            </a:r>
            <a:r>
              <a:rPr lang="en-CA" sz="2000" dirty="0">
                <a:sym typeface="Symbol" panose="05050102010706020507" pitchFamily="18" charset="2"/>
              </a:rPr>
              <a:t> class did not have an advantage, while men in 1</a:t>
            </a:r>
            <a:r>
              <a:rPr lang="en-CA" sz="2000" baseline="30000" dirty="0">
                <a:sym typeface="Symbol" panose="05050102010706020507" pitchFamily="18" charset="2"/>
              </a:rPr>
              <a:t>st</a:t>
            </a:r>
            <a:r>
              <a:rPr lang="en-CA" sz="2000" dirty="0">
                <a:sym typeface="Symbol" panose="05050102010706020507" pitchFamily="18" charset="2"/>
              </a:rPr>
              <a:t> class did vs. other classes</a:t>
            </a:r>
          </a:p>
          <a:p>
            <a:pPr lvl="1"/>
            <a:r>
              <a:rPr lang="en-CA" sz="2000" dirty="0">
                <a:sym typeface="Symbol" panose="05050102010706020507" pitchFamily="18" charset="2"/>
              </a:rPr>
              <a:t>Term [CAS]: No children in 1</a:t>
            </a:r>
            <a:r>
              <a:rPr lang="en-CA" sz="2000" baseline="30000" dirty="0">
                <a:sym typeface="Symbol" panose="05050102010706020507" pitchFamily="18" charset="2"/>
              </a:rPr>
              <a:t>st</a:t>
            </a:r>
            <a:r>
              <a:rPr lang="en-CA" sz="2000" dirty="0">
                <a:sym typeface="Symbol" panose="05050102010706020507" pitchFamily="18" charset="2"/>
              </a:rPr>
              <a:t> or 2</a:t>
            </a:r>
            <a:r>
              <a:rPr lang="en-CA" sz="2000" baseline="30000" dirty="0">
                <a:sym typeface="Symbol" panose="05050102010706020507" pitchFamily="18" charset="2"/>
              </a:rPr>
              <a:t>nd</a:t>
            </a:r>
            <a:r>
              <a:rPr lang="en-CA" sz="2000" dirty="0">
                <a:sym typeface="Symbol" panose="05050102010706020507" pitchFamily="18" charset="2"/>
              </a:rPr>
              <a:t> class died, but nearly 2/3 in 3</a:t>
            </a:r>
            <a:r>
              <a:rPr lang="en-CA" sz="2000" baseline="30000" dirty="0">
                <a:sym typeface="Symbol" panose="05050102010706020507" pitchFamily="18" charset="2"/>
              </a:rPr>
              <a:t>rd</a:t>
            </a:r>
            <a:r>
              <a:rPr lang="en-CA" sz="2000" dirty="0">
                <a:sym typeface="Symbol" panose="05050102010706020507" pitchFamily="18" charset="2"/>
              </a:rPr>
              <a:t> class did</a:t>
            </a:r>
          </a:p>
          <a:p>
            <a:r>
              <a:rPr lang="en-CA" sz="2400" dirty="0">
                <a:sym typeface="Symbol" panose="05050102010706020507" pitchFamily="18" charset="2"/>
              </a:rPr>
              <a:t>Summary:</a:t>
            </a:r>
          </a:p>
          <a:p>
            <a:pPr lvl="1"/>
            <a:r>
              <a:rPr lang="en-CA" sz="2000" dirty="0">
                <a:sym typeface="Symbol" panose="05050102010706020507" pitchFamily="18" charset="2"/>
              </a:rPr>
              <a:t>Not so much “women &amp; children first”, rather</a:t>
            </a:r>
          </a:p>
          <a:p>
            <a:pPr lvl="1"/>
            <a:r>
              <a:rPr lang="en-CA" sz="2000" dirty="0">
                <a:sym typeface="Symbol" panose="05050102010706020507" pitchFamily="18" charset="2"/>
              </a:rPr>
              <a:t>Women &amp; children, ordered by class, and 1</a:t>
            </a:r>
            <a:r>
              <a:rPr lang="en-CA" sz="2000" baseline="30000" dirty="0">
                <a:sym typeface="Symbol" panose="05050102010706020507" pitchFamily="18" charset="2"/>
              </a:rPr>
              <a:t>st</a:t>
            </a:r>
            <a:r>
              <a:rPr lang="en-CA" sz="2000" dirty="0">
                <a:sym typeface="Symbol" panose="05050102010706020507" pitchFamily="18" charset="2"/>
              </a:rPr>
              <a:t> class men!</a:t>
            </a:r>
            <a:endParaRPr lang="en-CA" sz="20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ED772C9-5893-C42C-8B68-41270C8313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75</a:t>
            </a:fld>
            <a:endParaRPr lang="en-US"/>
          </a:p>
        </p:txBody>
      </p:sp>
      <p:pic>
        <p:nvPicPr>
          <p:cNvPr id="6" name="Picture 5" descr="A blue and orange book with a person reading&#10;&#10;AI-generated content may be incorrect.">
            <a:extLst>
              <a:ext uri="{FF2B5EF4-FFF2-40B4-BE49-F238E27FC236}">
                <a16:creationId xmlns:a16="http://schemas.microsoft.com/office/drawing/2014/main" id="{CCBE364A-8AB4-CCC5-0809-055852298E9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8600" y="274638"/>
            <a:ext cx="754580" cy="754580"/>
          </a:xfrm>
          <a:prstGeom prst="rect">
            <a:avLst/>
          </a:prstGeom>
        </p:spPr>
      </p:pic>
      <p:pic>
        <p:nvPicPr>
          <p:cNvPr id="7" name="Picture 6" descr="A blue and orange book with a person reading&#10;&#10;AI-generated content may be incorrect.">
            <a:extLst>
              <a:ext uri="{FF2B5EF4-FFF2-40B4-BE49-F238E27FC236}">
                <a16:creationId xmlns:a16="http://schemas.microsoft.com/office/drawing/2014/main" id="{1021D673-EE9B-6499-5F77-6F52BE2C91E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820" y="284687"/>
            <a:ext cx="754580" cy="754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5009683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B468CE1-E1E0-2CBC-C819-60C31704A1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810000" cy="715962"/>
          </a:xfrm>
        </p:spPr>
        <p:txBody>
          <a:bodyPr>
            <a:normAutofit fontScale="90000"/>
          </a:bodyPr>
          <a:lstStyle/>
          <a:p>
            <a:r>
              <a:rPr lang="en-CA" dirty="0"/>
              <a:t>Historical note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24E10F-5529-F424-BBFA-1448FC19CD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76</a:t>
            </a:fld>
            <a:endParaRPr lang="en-US"/>
          </a:p>
        </p:txBody>
      </p:sp>
      <p:pic>
        <p:nvPicPr>
          <p:cNvPr id="7" name="Picture 6" descr="Graphical user interface&#10;&#10;Description automatically generated">
            <a:extLst>
              <a:ext uri="{FF2B5EF4-FFF2-40B4-BE49-F238E27FC236}">
                <a16:creationId xmlns:a16="http://schemas.microsoft.com/office/drawing/2014/main" id="{B5E50A9E-2714-57A9-884F-47243AC851B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7296" y="274638"/>
            <a:ext cx="4846704" cy="6858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E34A31C-F887-70D7-2D5A-AC38E060332D}"/>
              </a:ext>
            </a:extLst>
          </p:cNvPr>
          <p:cNvSpPr txBox="1"/>
          <p:nvPr/>
        </p:nvSpPr>
        <p:spPr>
          <a:xfrm>
            <a:off x="457200" y="1295400"/>
            <a:ext cx="37338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The </a:t>
            </a:r>
            <a:r>
              <a:rPr lang="en-CA" i="1" dirty="0"/>
              <a:t>Titanic</a:t>
            </a:r>
            <a:r>
              <a:rPr lang="en-CA" dirty="0"/>
              <a:t> sank on Apr. 15, 1912</a:t>
            </a:r>
          </a:p>
          <a:p>
            <a:endParaRPr lang="en-CA" dirty="0"/>
          </a:p>
          <a:p>
            <a:r>
              <a:rPr lang="en-CA" dirty="0"/>
              <a:t>On May 4, the technical illustrator, G. </a:t>
            </a:r>
            <a:r>
              <a:rPr lang="en-CA" dirty="0" err="1"/>
              <a:t>Bron</a:t>
            </a:r>
            <a:r>
              <a:rPr lang="en-CA" dirty="0"/>
              <a:t> published this graph in </a:t>
            </a:r>
            <a:r>
              <a:rPr lang="en-CA" i="1" dirty="0"/>
              <a:t>The Sphere</a:t>
            </a:r>
            <a:r>
              <a:rPr lang="en-CA" dirty="0"/>
              <a:t>, a popular magazine.</a:t>
            </a:r>
          </a:p>
          <a:p>
            <a:endParaRPr lang="en-CA" dirty="0"/>
          </a:p>
          <a:p>
            <a:r>
              <a:rPr lang="en-CA" dirty="0"/>
              <a:t>He used a remarkably modern graph to show the differences in survival by class, gender &amp; age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21D7F6A-3232-BEC3-9604-0DCE691E996E}"/>
              </a:ext>
            </a:extLst>
          </p:cNvPr>
          <p:cNvSpPr txBox="1"/>
          <p:nvPr/>
        </p:nvSpPr>
        <p:spPr>
          <a:xfrm>
            <a:off x="381000" y="5715000"/>
            <a:ext cx="39624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600" dirty="0"/>
              <a:t>Read the story:</a:t>
            </a:r>
          </a:p>
          <a:p>
            <a:r>
              <a:rPr lang="en-CA" sz="1400" dirty="0"/>
              <a:t>Friendly, </a:t>
            </a:r>
            <a:r>
              <a:rPr lang="en-CA" sz="1400" dirty="0" err="1"/>
              <a:t>Symanzik</a:t>
            </a:r>
            <a:r>
              <a:rPr lang="en-CA" sz="1400" dirty="0"/>
              <a:t>, </a:t>
            </a:r>
            <a:r>
              <a:rPr lang="en-CA" sz="1400" dirty="0" err="1"/>
              <a:t>Onder</a:t>
            </a:r>
            <a:r>
              <a:rPr lang="en-CA" sz="1400" dirty="0"/>
              <a:t>, </a:t>
            </a:r>
            <a:r>
              <a:rPr lang="en-CA" sz="1400" dirty="0">
                <a:hlinkClick r:id="rId3"/>
              </a:rPr>
              <a:t>Visualizing the Titanic Disaster</a:t>
            </a:r>
            <a:r>
              <a:rPr lang="en-CA" sz="1400" dirty="0"/>
              <a:t>, </a:t>
            </a:r>
            <a:r>
              <a:rPr lang="en-CA" sz="1400" i="1" dirty="0"/>
              <a:t>Significance</a:t>
            </a:r>
            <a:r>
              <a:rPr lang="en-CA" sz="1400" dirty="0"/>
              <a:t>, Feb., 2019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59DA01A-1EFC-3E81-8E58-3046157AF6D5}"/>
              </a:ext>
            </a:extLst>
          </p:cNvPr>
          <p:cNvSpPr txBox="1"/>
          <p:nvPr/>
        </p:nvSpPr>
        <p:spPr>
          <a:xfrm>
            <a:off x="4419600" y="1600200"/>
            <a:ext cx="121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dirty="0">
                <a:solidFill>
                  <a:srgbClr val="FF0000"/>
                </a:solidFill>
              </a:rPr>
              <a:t>died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9648535-9ACC-AB28-652F-44F5C38C716E}"/>
              </a:ext>
            </a:extLst>
          </p:cNvPr>
          <p:cNvSpPr txBox="1"/>
          <p:nvPr/>
        </p:nvSpPr>
        <p:spPr>
          <a:xfrm>
            <a:off x="7620000" y="1600200"/>
            <a:ext cx="121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dirty="0">
                <a:solidFill>
                  <a:srgbClr val="FF0000"/>
                </a:solidFill>
              </a:rPr>
              <a:t>survived</a:t>
            </a:r>
          </a:p>
        </p:txBody>
      </p:sp>
    </p:spTree>
    <p:extLst>
      <p:ext uri="{BB962C8B-B14F-4D97-AF65-F5344CB8AC3E}">
        <p14:creationId xmlns:p14="http://schemas.microsoft.com/office/powerpoint/2010/main" val="3942525403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14F3E13-34DE-1C0D-E18E-B9574EB7DF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77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9F08933-65DC-A9B0-4BFB-FAE308FA68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170" y="116656"/>
            <a:ext cx="8096430" cy="627374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95E0896-2191-12C0-6A17-1B8F9297B102}"/>
              </a:ext>
            </a:extLst>
          </p:cNvPr>
          <p:cNvSpPr txBox="1"/>
          <p:nvPr/>
        </p:nvSpPr>
        <p:spPr>
          <a:xfrm>
            <a:off x="1666785" y="1600200"/>
            <a:ext cx="579119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7200" dirty="0">
                <a:solidFill>
                  <a:schemeClr val="bg1"/>
                </a:solidFill>
              </a:rPr>
              <a:t>Sequential plots &amp; models</a:t>
            </a:r>
          </a:p>
        </p:txBody>
      </p:sp>
    </p:spTree>
    <p:extLst>
      <p:ext uri="{BB962C8B-B14F-4D97-AF65-F5344CB8AC3E}">
        <p14:creationId xmlns:p14="http://schemas.microsoft.com/office/powerpoint/2010/main" val="1233720193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AD5590-4237-6A42-3024-3169A48EFC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Sequential plots &amp;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EEE718-9F70-03F2-7257-397093A9E8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CA" sz="2000" dirty="0"/>
              <a:t>Mosaic for an n-way table </a:t>
            </a:r>
            <a:r>
              <a:rPr lang="en-CA" sz="2000" dirty="0">
                <a:sym typeface="Symbol" panose="05050102010706020507" pitchFamily="18" charset="2"/>
              </a:rPr>
              <a:t> hierarchical decomposition of association</a:t>
            </a:r>
          </a:p>
          <a:p>
            <a:r>
              <a:rPr lang="en-CA" sz="2000" dirty="0">
                <a:sym typeface="Symbol" panose="05050102010706020507" pitchFamily="18" charset="2"/>
              </a:rPr>
              <a:t>Joint cell probabilities are decomposed as:</a:t>
            </a:r>
          </a:p>
          <a:p>
            <a:endParaRPr lang="en-CA" sz="2400" dirty="0">
              <a:sym typeface="Symbol" panose="05050102010706020507" pitchFamily="18" charset="2"/>
            </a:endParaRPr>
          </a:p>
          <a:p>
            <a:endParaRPr lang="en-CA" sz="2400" dirty="0"/>
          </a:p>
          <a:p>
            <a:pPr lvl="1"/>
            <a:endParaRPr lang="en-CA" sz="2000" dirty="0"/>
          </a:p>
          <a:p>
            <a:pPr lvl="1"/>
            <a:r>
              <a:rPr lang="en-CA" sz="2000" dirty="0"/>
              <a:t>First 2 terms: </a:t>
            </a:r>
            <a:r>
              <a:rPr lang="en-CA" sz="2000" dirty="0">
                <a:sym typeface="Symbol" panose="05050102010706020507" pitchFamily="18" charset="2"/>
              </a:rPr>
              <a:t> mosaic for {v</a:t>
            </a:r>
            <a:r>
              <a:rPr lang="en-CA" sz="2000" baseline="-25000" dirty="0">
                <a:sym typeface="Symbol" panose="05050102010706020507" pitchFamily="18" charset="2"/>
              </a:rPr>
              <a:t>1</a:t>
            </a:r>
            <a:r>
              <a:rPr lang="en-CA" sz="2000" dirty="0">
                <a:sym typeface="Symbol" panose="05050102010706020507" pitchFamily="18" charset="2"/>
              </a:rPr>
              <a:t>, v</a:t>
            </a:r>
            <a:r>
              <a:rPr lang="en-CA" sz="2000" baseline="-25000" dirty="0">
                <a:sym typeface="Symbol" panose="05050102010706020507" pitchFamily="18" charset="2"/>
              </a:rPr>
              <a:t>2</a:t>
            </a:r>
            <a:r>
              <a:rPr lang="en-CA" sz="2000" dirty="0">
                <a:sym typeface="Symbol" panose="05050102010706020507" pitchFamily="18" charset="2"/>
              </a:rPr>
              <a:t>}</a:t>
            </a:r>
            <a:endParaRPr lang="en-CA" sz="2000" baseline="-25000" dirty="0">
              <a:sym typeface="Symbol" panose="05050102010706020507" pitchFamily="18" charset="2"/>
            </a:endParaRPr>
          </a:p>
          <a:p>
            <a:pPr lvl="1"/>
            <a:r>
              <a:rPr lang="en-CA" sz="2000" dirty="0">
                <a:sym typeface="Symbol" panose="05050102010706020507" pitchFamily="18" charset="2"/>
              </a:rPr>
              <a:t>First 3 terms:  mosaic for {v</a:t>
            </a:r>
            <a:r>
              <a:rPr lang="en-CA" sz="2000" baseline="-25000" dirty="0">
                <a:sym typeface="Symbol" panose="05050102010706020507" pitchFamily="18" charset="2"/>
              </a:rPr>
              <a:t>1</a:t>
            </a:r>
            <a:r>
              <a:rPr lang="en-CA" sz="2000" dirty="0">
                <a:sym typeface="Symbol" panose="05050102010706020507" pitchFamily="18" charset="2"/>
              </a:rPr>
              <a:t>, v</a:t>
            </a:r>
            <a:r>
              <a:rPr lang="en-CA" sz="2000" baseline="-25000" dirty="0">
                <a:sym typeface="Symbol" panose="05050102010706020507" pitchFamily="18" charset="2"/>
              </a:rPr>
              <a:t>2</a:t>
            </a:r>
            <a:r>
              <a:rPr lang="en-CA" sz="2000" dirty="0">
                <a:sym typeface="Symbol" panose="05050102010706020507" pitchFamily="18" charset="2"/>
              </a:rPr>
              <a:t>, v</a:t>
            </a:r>
            <a:r>
              <a:rPr lang="en-CA" sz="2000" baseline="-25000" dirty="0">
                <a:sym typeface="Symbol" panose="05050102010706020507" pitchFamily="18" charset="2"/>
              </a:rPr>
              <a:t>3</a:t>
            </a:r>
            <a:r>
              <a:rPr lang="en-CA" sz="2000" dirty="0">
                <a:sym typeface="Symbol" panose="05050102010706020507" pitchFamily="18" charset="2"/>
              </a:rPr>
              <a:t>}</a:t>
            </a:r>
            <a:endParaRPr lang="en-CA" sz="2000" baseline="-25000" dirty="0">
              <a:sym typeface="Symbol" panose="05050102010706020507" pitchFamily="18" charset="2"/>
            </a:endParaRPr>
          </a:p>
          <a:p>
            <a:pPr lvl="1"/>
            <a:r>
              <a:rPr lang="en-CA" sz="2000" dirty="0">
                <a:sym typeface="Symbol" panose="05050102010706020507" pitchFamily="18" charset="2"/>
              </a:rPr>
              <a:t>… and so on</a:t>
            </a:r>
          </a:p>
          <a:p>
            <a:r>
              <a:rPr lang="en-CA" sz="2000" dirty="0">
                <a:sym typeface="Symbol" panose="05050102010706020507" pitchFamily="18" charset="2"/>
              </a:rPr>
              <a:t>Roughly analogous to </a:t>
            </a:r>
            <a:r>
              <a:rPr lang="en-CA" sz="2000" dirty="0">
                <a:solidFill>
                  <a:srgbClr val="0070C0"/>
                </a:solidFill>
                <a:sym typeface="Symbol" panose="05050102010706020507" pitchFamily="18" charset="2"/>
              </a:rPr>
              <a:t>sequential</a:t>
            </a:r>
            <a:r>
              <a:rPr lang="en-CA" sz="2000" dirty="0">
                <a:sym typeface="Symbol" panose="05050102010706020507" pitchFamily="18" charset="2"/>
              </a:rPr>
              <a:t> fitting in regression: X</a:t>
            </a:r>
            <a:r>
              <a:rPr lang="en-CA" sz="2000" baseline="-25000" dirty="0">
                <a:sym typeface="Symbol" panose="05050102010706020507" pitchFamily="18" charset="2"/>
              </a:rPr>
              <a:t>1</a:t>
            </a:r>
            <a:r>
              <a:rPr lang="en-CA" sz="2000" dirty="0">
                <a:sym typeface="Symbol" panose="05050102010706020507" pitchFamily="18" charset="2"/>
              </a:rPr>
              <a:t> ; X</a:t>
            </a:r>
            <a:r>
              <a:rPr lang="en-CA" sz="2000" baseline="-25000" dirty="0">
                <a:sym typeface="Symbol" panose="05050102010706020507" pitchFamily="18" charset="2"/>
              </a:rPr>
              <a:t>2</a:t>
            </a:r>
            <a:r>
              <a:rPr lang="en-CA" sz="2000" dirty="0">
                <a:sym typeface="Symbol" panose="05050102010706020507" pitchFamily="18" charset="2"/>
              </a:rPr>
              <a:t>|X</a:t>
            </a:r>
            <a:r>
              <a:rPr lang="en-CA" sz="2000" baseline="-25000" dirty="0">
                <a:sym typeface="Symbol" panose="05050102010706020507" pitchFamily="18" charset="2"/>
              </a:rPr>
              <a:t>1 </a:t>
            </a:r>
            <a:r>
              <a:rPr lang="en-CA" sz="2000" dirty="0">
                <a:sym typeface="Symbol" panose="05050102010706020507" pitchFamily="18" charset="2"/>
              </a:rPr>
              <a:t>; X</a:t>
            </a:r>
            <a:r>
              <a:rPr lang="en-CA" sz="2000" baseline="-25000" dirty="0">
                <a:sym typeface="Symbol" panose="05050102010706020507" pitchFamily="18" charset="2"/>
              </a:rPr>
              <a:t>3</a:t>
            </a:r>
            <a:r>
              <a:rPr lang="en-CA" sz="2000" dirty="0">
                <a:sym typeface="Symbol" panose="05050102010706020507" pitchFamily="18" charset="2"/>
              </a:rPr>
              <a:t>|X</a:t>
            </a:r>
            <a:r>
              <a:rPr lang="en-CA" sz="2000" baseline="-25000" dirty="0">
                <a:sym typeface="Symbol" panose="05050102010706020507" pitchFamily="18" charset="2"/>
              </a:rPr>
              <a:t>1</a:t>
            </a:r>
            <a:r>
              <a:rPr lang="en-CA" sz="2000" dirty="0">
                <a:sym typeface="Symbol" panose="05050102010706020507" pitchFamily="18" charset="2"/>
              </a:rPr>
              <a:t>,X</a:t>
            </a:r>
            <a:r>
              <a:rPr lang="en-CA" sz="2000" baseline="-25000" dirty="0">
                <a:sym typeface="Symbol" panose="05050102010706020507" pitchFamily="18" charset="2"/>
              </a:rPr>
              <a:t>2</a:t>
            </a:r>
          </a:p>
          <a:p>
            <a:r>
              <a:rPr lang="en-CA" sz="2000" dirty="0">
                <a:sym typeface="Symbol" panose="05050102010706020507" pitchFamily="18" charset="2"/>
              </a:rPr>
              <a:t>Order of variables matters for interpretation </a:t>
            </a:r>
          </a:p>
          <a:p>
            <a:pPr lvl="1"/>
            <a:r>
              <a:rPr lang="en-CA" sz="1600" dirty="0">
                <a:sym typeface="Symbol" panose="05050102010706020507" pitchFamily="18" charset="2"/>
              </a:rPr>
              <a:t>Mosaics: 1</a:t>
            </a:r>
            <a:r>
              <a:rPr lang="en-CA" sz="1600" baseline="30000" dirty="0">
                <a:sym typeface="Symbol" panose="05050102010706020507" pitchFamily="18" charset="2"/>
              </a:rPr>
              <a:t>st</a:t>
            </a:r>
            <a:r>
              <a:rPr lang="en-CA" sz="1600" dirty="0">
                <a:sym typeface="Symbol" panose="05050102010706020507" pitchFamily="18" charset="2"/>
              </a:rPr>
              <a:t> split: easiest to see the marginal proportions</a:t>
            </a:r>
          </a:p>
          <a:p>
            <a:pPr lvl="1"/>
            <a:r>
              <a:rPr lang="en-CA" sz="1600" dirty="0">
                <a:sym typeface="Symbol" panose="05050102010706020507" pitchFamily="18" charset="2"/>
              </a:rPr>
              <a:t>Mosaics: 2</a:t>
            </a:r>
            <a:r>
              <a:rPr lang="en-CA" sz="1600" baseline="30000" dirty="0">
                <a:sym typeface="Symbol" panose="05050102010706020507" pitchFamily="18" charset="2"/>
              </a:rPr>
              <a:t>nd</a:t>
            </a:r>
            <a:r>
              <a:rPr lang="en-CA" sz="1600" dirty="0">
                <a:sym typeface="Symbol" panose="05050102010706020507" pitchFamily="18" charset="2"/>
              </a:rPr>
              <a:t> variable seen as conditional proportions, given the 1st</a:t>
            </a:r>
          </a:p>
          <a:p>
            <a:pPr lvl="1"/>
            <a:endParaRPr lang="en-CA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B9FEF1-B372-4F6B-D7D9-3C009587BB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78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FC52C2C-0D07-4F56-5BB8-64E3EF2E7D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3428" y="1905000"/>
            <a:ext cx="4657143" cy="111428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DD8876E-9D04-2E77-77AD-63B56D92547F}"/>
              </a:ext>
            </a:extLst>
          </p:cNvPr>
          <p:cNvSpPr txBox="1"/>
          <p:nvPr/>
        </p:nvSpPr>
        <p:spPr>
          <a:xfrm>
            <a:off x="533400" y="6096000"/>
            <a:ext cx="7924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dirty="0"/>
              <a:t>Friendly (1999), </a:t>
            </a:r>
            <a:r>
              <a:rPr lang="en-CA" sz="1400" dirty="0">
                <a:hlinkClick r:id="rId3"/>
              </a:rPr>
              <a:t>Extending Mosaic Displays: Marginal, Conditional, and Partial Views of Categorical Data</a:t>
            </a:r>
            <a:r>
              <a:rPr lang="en-CA" sz="1400" dirty="0"/>
              <a:t>, </a:t>
            </a:r>
            <a:r>
              <a:rPr lang="en-CA" sz="1400" i="1" dirty="0"/>
              <a:t>JCGS</a:t>
            </a:r>
            <a:r>
              <a:rPr lang="en-CA" sz="1400" dirty="0"/>
              <a:t>, 8:3, 373-395, DOI: 10.1080/10618600.1999.10474820 </a:t>
            </a:r>
          </a:p>
        </p:txBody>
      </p:sp>
    </p:spTree>
    <p:extLst>
      <p:ext uri="{BB962C8B-B14F-4D97-AF65-F5344CB8AC3E}">
        <p14:creationId xmlns:p14="http://schemas.microsoft.com/office/powerpoint/2010/main" val="40474890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AED658-D4B6-F094-2767-9FACAB9FEE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Sequential plots &amp;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D4B241-E278-FCD1-B868-F1A69CB5B7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CA" sz="2400" dirty="0"/>
              <a:t>Sequential models of joint independence</a:t>
            </a:r>
          </a:p>
          <a:p>
            <a:pPr lvl="1"/>
            <a:r>
              <a:rPr lang="en-CA" sz="2000" dirty="0"/>
              <a:t>Give an </a:t>
            </a:r>
            <a:r>
              <a:rPr lang="en-CA" sz="2000" dirty="0">
                <a:solidFill>
                  <a:srgbClr val="0070C0"/>
                </a:solidFill>
              </a:rPr>
              <a:t>additive</a:t>
            </a:r>
            <a:r>
              <a:rPr lang="en-CA" sz="2000" dirty="0"/>
              <a:t> decomposition of </a:t>
            </a:r>
            <a:r>
              <a:rPr lang="en-CA" sz="2000" dirty="0">
                <a:solidFill>
                  <a:srgbClr val="0070C0"/>
                </a:solidFill>
              </a:rPr>
              <a:t>total</a:t>
            </a:r>
            <a:r>
              <a:rPr lang="en-CA" sz="2000" dirty="0"/>
              <a:t> association – mutual independence [v</a:t>
            </a:r>
            <a:r>
              <a:rPr lang="en-CA" sz="2000" baseline="-25000" dirty="0"/>
              <a:t>1</a:t>
            </a:r>
            <a:r>
              <a:rPr lang="en-CA" sz="2000" dirty="0"/>
              <a:t>][v</a:t>
            </a:r>
            <a:r>
              <a:rPr lang="en-CA" sz="2000" baseline="-25000" dirty="0"/>
              <a:t>2</a:t>
            </a:r>
            <a:r>
              <a:rPr lang="en-CA" sz="2000" dirty="0"/>
              <a:t>] … [</a:t>
            </a:r>
            <a:r>
              <a:rPr lang="en-CA" sz="2000" dirty="0" err="1"/>
              <a:t>v</a:t>
            </a:r>
            <a:r>
              <a:rPr lang="en-CA" sz="2000" baseline="-25000" dirty="0" err="1"/>
              <a:t>p</a:t>
            </a:r>
            <a:r>
              <a:rPr lang="en-CA" sz="2000" dirty="0"/>
              <a:t>]</a:t>
            </a:r>
          </a:p>
          <a:p>
            <a:pPr lvl="1"/>
            <a:endParaRPr lang="en-CA" sz="2000" dirty="0"/>
          </a:p>
          <a:p>
            <a:pPr lvl="1"/>
            <a:endParaRPr lang="en-CA" sz="2000" dirty="0"/>
          </a:p>
          <a:p>
            <a:endParaRPr lang="en-CA" sz="2400" dirty="0"/>
          </a:p>
          <a:p>
            <a:r>
              <a:rPr lang="en-CA" sz="2400" dirty="0"/>
              <a:t>E.g., for Hair Eye color data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AA280F-F5B5-1FF9-F3B0-F02764D432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79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0D30D3A-2C4A-2D88-28B1-4574DB7C92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800" y="2433481"/>
            <a:ext cx="6866667" cy="600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C066A10-D6F8-DE87-20B0-E4AE764C95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7238" y="4267200"/>
            <a:ext cx="4809524" cy="1295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4424451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77C301E-E346-4930-8BDE-FEB053356E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Sequential plots &amp; models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C60DE5-3D7F-43E8-AB81-A315E83076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80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7800A38-5F28-42DA-8919-8427CE4C9888}"/>
              </a:ext>
            </a:extLst>
          </p:cNvPr>
          <p:cNvSpPr txBox="1"/>
          <p:nvPr/>
        </p:nvSpPr>
        <p:spPr>
          <a:xfrm>
            <a:off x="457200" y="1087120"/>
            <a:ext cx="822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Hair color × Eye color marginal table (ignoring Sex)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0DDBF19-577B-4A21-9AD6-206EC81BC2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6972" y="1737360"/>
            <a:ext cx="4530055" cy="4937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0790714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77C301E-E346-4930-8BDE-FEB053356E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Sequential plots &amp; models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C60DE5-3D7F-43E8-AB81-A315E83076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81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7800A38-5F28-42DA-8919-8427CE4C9888}"/>
              </a:ext>
            </a:extLst>
          </p:cNvPr>
          <p:cNvSpPr txBox="1"/>
          <p:nvPr/>
        </p:nvSpPr>
        <p:spPr>
          <a:xfrm>
            <a:off x="457200" y="1087120"/>
            <a:ext cx="822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3-way table, Joint independence model [Hair Eye][Sex]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DF2035F-1625-46A7-B517-C6896986AF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6972" y="1737360"/>
            <a:ext cx="4530055" cy="4937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4651601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77C301E-E346-4930-8BDE-FEB053356E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Sequential plots &amp; models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C60DE5-3D7F-43E8-AB81-A315E83076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82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7800A38-5F28-42DA-8919-8427CE4C9888}"/>
              </a:ext>
            </a:extLst>
          </p:cNvPr>
          <p:cNvSpPr txBox="1"/>
          <p:nvPr/>
        </p:nvSpPr>
        <p:spPr>
          <a:xfrm>
            <a:off x="457200" y="1087120"/>
            <a:ext cx="822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3-way table, Mutual independence [Hair] [Eye][Sex]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D88042D-3260-441A-8B0A-4D0DF90899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2200" y="1737360"/>
            <a:ext cx="4530055" cy="4937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1043418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77C301E-E346-4930-8BDE-FEB053356E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Sequential plots &amp; models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C60DE5-3D7F-43E8-AB81-A315E83076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83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7800A38-5F28-42DA-8919-8427CE4C9888}"/>
              </a:ext>
            </a:extLst>
          </p:cNvPr>
          <p:cNvSpPr txBox="1"/>
          <p:nvPr/>
        </p:nvSpPr>
        <p:spPr>
          <a:xfrm>
            <a:off x="457200" y="1087120"/>
            <a:ext cx="822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Putting these together: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9526FC4-0D6F-4CA7-B14F-86494BB0D3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660" y="1828800"/>
            <a:ext cx="8225140" cy="36576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48284DA-0183-47F7-00BD-4A878BC0C1F0}"/>
              </a:ext>
            </a:extLst>
          </p:cNvPr>
          <p:cNvSpPr txBox="1"/>
          <p:nvPr/>
        </p:nvSpPr>
        <p:spPr>
          <a:xfrm>
            <a:off x="685800" y="5943600"/>
            <a:ext cx="800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TIP: </a:t>
            </a:r>
            <a:r>
              <a:rPr lang="en-CA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vcdExtra</a:t>
            </a:r>
            <a:r>
              <a:rPr lang="en-CA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-CA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seq_loglm</a:t>
            </a:r>
            <a:r>
              <a:rPr lang="en-CA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CA" dirty="0"/>
              <a:t>generates a variety of sequential models</a:t>
            </a:r>
          </a:p>
        </p:txBody>
      </p:sp>
    </p:spTree>
    <p:extLst>
      <p:ext uri="{BB962C8B-B14F-4D97-AF65-F5344CB8AC3E}">
        <p14:creationId xmlns:p14="http://schemas.microsoft.com/office/powerpoint/2010/main" val="2504013786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F000CD-833B-406D-B15B-A0710FC476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Sequential models: Applications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4E3E362-2643-4CD4-BF0B-F83BC0044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84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227851D-A067-4DFC-A8C8-D94F85E334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33500"/>
            <a:ext cx="8171428" cy="216190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6A66610-402E-4732-81EB-36468A7E4F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286" y="3807825"/>
            <a:ext cx="8171428" cy="2323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65178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7CAC16-7C81-4043-BEE1-92C6D95EA2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Example: Marital status, pre- &amp; extra-marital sex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2D6215-27A5-452E-8EE1-D942B3DF06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85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F27F776-4C54-4756-B54D-0DDD0446B4E9}"/>
              </a:ext>
            </a:extLst>
          </p:cNvPr>
          <p:cNvSpPr txBox="1"/>
          <p:nvPr/>
        </p:nvSpPr>
        <p:spPr>
          <a:xfrm>
            <a:off x="457200" y="1117600"/>
            <a:ext cx="822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Thornes and Collard (1979) studied divorce patterns in relation to premarital</a:t>
            </a:r>
          </a:p>
          <a:p>
            <a:r>
              <a:rPr lang="en-US" dirty="0"/>
              <a:t>and extramarital sex, a 2</a:t>
            </a:r>
            <a:r>
              <a:rPr lang="en-US" baseline="30000" dirty="0"/>
              <a:t>4</a:t>
            </a:r>
            <a:r>
              <a:rPr lang="en-US" dirty="0"/>
              <a:t> table, </a:t>
            </a:r>
            <a:r>
              <a:rPr lang="en-US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PreSex</a:t>
            </a:r>
            <a:r>
              <a:rPr lang="en-US" dirty="0"/>
              <a:t> in </a:t>
            </a:r>
            <a:r>
              <a:rPr lang="en-US" dirty="0" err="1"/>
              <a:t>vcd</a:t>
            </a:r>
            <a:r>
              <a:rPr lang="en-US" dirty="0"/>
              <a:t> ( G × P × E × M 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5F069F-9E7E-45EC-8549-1C917FD52C66}"/>
              </a:ext>
            </a:extLst>
          </p:cNvPr>
          <p:cNvSpPr txBox="1"/>
          <p:nvPr/>
        </p:nvSpPr>
        <p:spPr>
          <a:xfrm>
            <a:off x="533400" y="1940560"/>
            <a:ext cx="8153400" cy="2554545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&gt; data("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PreSex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", package="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vcd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")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structable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(Gender +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PremaritalSex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+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ExtramaritalSex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~ 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MaritalStatus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data =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PreSex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Gender          Women             Men            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PremaritalSex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Yes      No     Yes      No    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ExtramaritalSex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Yes  No Yes  No Yes  No Yes  No</a:t>
            </a:r>
          </a:p>
          <a:p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MaritalStatus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                        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Divorced                         17  54  36 214  28  60  17  68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Married                           4  25   4 322  11  42   4 130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8789A8C-E8C7-44DB-AD46-C6EDD6BB780E}"/>
              </a:ext>
            </a:extLst>
          </p:cNvPr>
          <p:cNvSpPr txBox="1"/>
          <p:nvPr/>
        </p:nvSpPr>
        <p:spPr>
          <a:xfrm>
            <a:off x="533400" y="4876800"/>
            <a:ext cx="8153400" cy="1538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/>
              <a:t>Submodels</a:t>
            </a:r>
            <a:r>
              <a:rPr lang="en-US" sz="2000" dirty="0"/>
              <a:t>:</a:t>
            </a:r>
          </a:p>
          <a:p>
            <a:endParaRPr lang="en-US" sz="2000" dirty="0"/>
          </a:p>
          <a:p>
            <a:pPr marL="285750" indent="-285750">
              <a:buClr>
                <a:srgbClr val="FF0000"/>
              </a:buClr>
              <a:buFont typeface="Wingdings" panose="05000000000000000000" pitchFamily="2" charset="2"/>
              <a:buChar char="v"/>
            </a:pPr>
            <a:r>
              <a:rPr lang="en-US" dirty="0"/>
              <a:t>[G][P] :       Do men &amp; women differ by pre-marital sex?</a:t>
            </a:r>
          </a:p>
          <a:p>
            <a:pPr marL="285750" indent="-285750">
              <a:buClr>
                <a:srgbClr val="FF0000"/>
              </a:buClr>
              <a:buFont typeface="Wingdings" panose="05000000000000000000" pitchFamily="2" charset="2"/>
              <a:buChar char="v"/>
            </a:pPr>
            <a:r>
              <a:rPr lang="en-US" dirty="0"/>
              <a:t>[GP][E]:      Given G &amp; P, are there differences in extra-marital sex?</a:t>
            </a:r>
          </a:p>
          <a:p>
            <a:pPr marL="285750" indent="-285750">
              <a:buClr>
                <a:srgbClr val="FF0000"/>
              </a:buClr>
              <a:buFont typeface="Wingdings" panose="05000000000000000000" pitchFamily="2" charset="2"/>
              <a:buChar char="v"/>
            </a:pPr>
            <a:r>
              <a:rPr lang="en-US" dirty="0"/>
              <a:t>[GPE][M]:  Are there differences in divorce among the G, P, E groups?</a:t>
            </a:r>
          </a:p>
        </p:txBody>
      </p:sp>
    </p:spTree>
    <p:extLst>
      <p:ext uri="{BB962C8B-B14F-4D97-AF65-F5344CB8AC3E}">
        <p14:creationId xmlns:p14="http://schemas.microsoft.com/office/powerpoint/2010/main" val="1498817746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945653-D1E8-147D-B5EB-10301C7D95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Debugging </a:t>
            </a:r>
            <a:r>
              <a:rPr lang="en-CA" dirty="0" err="1"/>
              <a:t>color_table</a:t>
            </a:r>
            <a:r>
              <a:rPr lang="en-CA" dirty="0"/>
              <a:t>()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9847A9A-8E2E-47DB-1A87-E4F8D42E4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86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F2A1558-14F1-1945-0277-506210ED5F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737" y="4374048"/>
            <a:ext cx="3929974" cy="197257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55A1F3A-3C1C-BC6D-C199-1F04658EB2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752600"/>
            <a:ext cx="7162800" cy="177617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CAC0904-2038-ACAD-01B0-E2EDD45454A6}"/>
              </a:ext>
            </a:extLst>
          </p:cNvPr>
          <p:cNvSpPr txBox="1"/>
          <p:nvPr/>
        </p:nvSpPr>
        <p:spPr>
          <a:xfrm>
            <a:off x="421532" y="1143000"/>
            <a:ext cx="8229600" cy="584775"/>
          </a:xfrm>
          <a:prstGeom prst="rect">
            <a:avLst/>
          </a:prstGeom>
          <a:solidFill>
            <a:schemeClr val="accent6">
              <a:lumMod val="20000"/>
              <a:lumOff val="80000"/>
              <a:alpha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sz="1600" dirty="0"/>
              <a:t>&gt; </a:t>
            </a:r>
            <a:r>
              <a:rPr lang="en-CA" sz="1600" dirty="0" err="1"/>
              <a:t>color_table</a:t>
            </a:r>
            <a:r>
              <a:rPr lang="en-CA" sz="1600" dirty="0"/>
              <a:t>(</a:t>
            </a:r>
            <a:r>
              <a:rPr lang="en-CA" sz="1600" dirty="0" err="1"/>
              <a:t>PreSex</a:t>
            </a:r>
            <a:r>
              <a:rPr lang="en-CA" sz="1600" dirty="0"/>
              <a:t>,  formula = Gender + </a:t>
            </a:r>
            <a:r>
              <a:rPr lang="en-CA" sz="1600" dirty="0" err="1"/>
              <a:t>PremaritalSex</a:t>
            </a:r>
            <a:r>
              <a:rPr lang="en-CA" sz="1600" dirty="0"/>
              <a:t> + </a:t>
            </a:r>
            <a:r>
              <a:rPr lang="en-CA" sz="1600" dirty="0" err="1"/>
              <a:t>ExtramaritalSex</a:t>
            </a:r>
            <a:r>
              <a:rPr lang="en-CA" sz="1600" dirty="0"/>
              <a:t> ~  </a:t>
            </a:r>
            <a:r>
              <a:rPr lang="en-CA" sz="1600" dirty="0" err="1"/>
              <a:t>MaritalStatus</a:t>
            </a:r>
            <a:r>
              <a:rPr lang="en-CA" sz="1600" dirty="0"/>
              <a:t>)</a:t>
            </a:r>
          </a:p>
          <a:p>
            <a:r>
              <a:rPr lang="en-CA" sz="1600" dirty="0">
                <a:solidFill>
                  <a:srgbClr val="00B050"/>
                </a:solidFill>
              </a:rPr>
              <a:t>Shading based on residuals from model of complete independence, X^2 = 270.14, </a:t>
            </a:r>
            <a:r>
              <a:rPr lang="en-CA" sz="1600" dirty="0" err="1">
                <a:solidFill>
                  <a:srgbClr val="00B050"/>
                </a:solidFill>
              </a:rPr>
              <a:t>df</a:t>
            </a:r>
            <a:r>
              <a:rPr lang="en-CA" sz="1600" dirty="0">
                <a:solidFill>
                  <a:srgbClr val="00B050"/>
                </a:solidFill>
              </a:rPr>
              <a:t> = 11, p = 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2317C77-AF9B-26FB-2DDE-581516B3FD29}"/>
              </a:ext>
            </a:extLst>
          </p:cNvPr>
          <p:cNvSpPr txBox="1"/>
          <p:nvPr/>
        </p:nvSpPr>
        <p:spPr>
          <a:xfrm>
            <a:off x="421532" y="3733800"/>
            <a:ext cx="7701063" cy="338554"/>
          </a:xfrm>
          <a:prstGeom prst="rect">
            <a:avLst/>
          </a:prstGeom>
          <a:solidFill>
            <a:schemeClr val="accent6">
              <a:lumMod val="20000"/>
              <a:lumOff val="80000"/>
              <a:alpha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sz="1600" dirty="0"/>
              <a:t>&gt; </a:t>
            </a:r>
            <a:r>
              <a:rPr lang="en-CA" sz="1600" dirty="0" err="1"/>
              <a:t>color_table</a:t>
            </a:r>
            <a:r>
              <a:rPr lang="en-CA" sz="1600" dirty="0"/>
              <a:t>(</a:t>
            </a:r>
            <a:r>
              <a:rPr lang="en-CA" sz="1600" dirty="0" err="1"/>
              <a:t>PreSex</a:t>
            </a:r>
            <a:r>
              <a:rPr lang="en-CA" sz="1600" dirty="0"/>
              <a:t>,  formula = </a:t>
            </a:r>
            <a:r>
              <a:rPr lang="en-CA" sz="1600" dirty="0" err="1"/>
              <a:t>MaritalStatus</a:t>
            </a:r>
            <a:r>
              <a:rPr lang="en-CA" sz="1600" dirty="0"/>
              <a:t> + Gender ~ </a:t>
            </a:r>
            <a:r>
              <a:rPr lang="en-CA" sz="1600" dirty="0" err="1"/>
              <a:t>PremaritalSex</a:t>
            </a:r>
            <a:r>
              <a:rPr lang="en-CA" sz="1600" dirty="0"/>
              <a:t> + </a:t>
            </a:r>
            <a:r>
              <a:rPr lang="en-CA" sz="1600" dirty="0" err="1"/>
              <a:t>ExtramaritalSex</a:t>
            </a:r>
            <a:r>
              <a:rPr lang="en-CA" sz="1600" dirty="0"/>
              <a:t>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99B55E0-5586-3264-3410-95641B26FA6F}"/>
              </a:ext>
            </a:extLst>
          </p:cNvPr>
          <p:cNvSpPr txBox="1"/>
          <p:nvPr/>
        </p:nvSpPr>
        <p:spPr>
          <a:xfrm>
            <a:off x="4798979" y="4343400"/>
            <a:ext cx="3740284" cy="1477328"/>
          </a:xfrm>
          <a:prstGeom prst="rect">
            <a:avLst/>
          </a:prstGeom>
          <a:solidFill>
            <a:schemeClr val="accent3">
              <a:lumMod val="20000"/>
              <a:lumOff val="80000"/>
              <a:alpha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dirty="0"/>
              <a:t>What’s missing here?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Rows &amp; cols each have nested categories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Need to reflect this in the labels, as is done in </a:t>
            </a:r>
            <a:r>
              <a:rPr lang="en-CA" dirty="0" err="1"/>
              <a:t>structable</a:t>
            </a:r>
            <a:r>
              <a:rPr lang="en-CA" dirty="0"/>
              <a:t>()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CB93F8-6C62-378E-BEE9-2E8856B3AB7C}"/>
              </a:ext>
            </a:extLst>
          </p:cNvPr>
          <p:cNvSpPr txBox="1"/>
          <p:nvPr/>
        </p:nvSpPr>
        <p:spPr>
          <a:xfrm>
            <a:off x="4798979" y="5902252"/>
            <a:ext cx="3740284" cy="369332"/>
          </a:xfrm>
          <a:prstGeom prst="rect">
            <a:avLst/>
          </a:prstGeom>
          <a:solidFill>
            <a:schemeClr val="accent3">
              <a:lumMod val="20000"/>
              <a:lumOff val="80000"/>
              <a:alpha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dirty="0"/>
              <a:t>But: what cells stand out?</a:t>
            </a:r>
          </a:p>
        </p:txBody>
      </p:sp>
    </p:spTree>
    <p:extLst>
      <p:ext uri="{BB962C8B-B14F-4D97-AF65-F5344CB8AC3E}">
        <p14:creationId xmlns:p14="http://schemas.microsoft.com/office/powerpoint/2010/main" val="21434004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DE7E1F-FCB5-48B5-9175-DD57C02002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prstClr val="white"/>
                </a:solidFill>
              </a:rPr>
              <a:t>Example: Marital status, pre- &amp; extra-marital sex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4F53CB4-412C-43A5-9825-1F21B4EA7A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87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6EA4FAC-7C6E-46E9-A943-FB8CC48618FB}"/>
              </a:ext>
            </a:extLst>
          </p:cNvPr>
          <p:cNvSpPr txBox="1"/>
          <p:nvPr/>
        </p:nvSpPr>
        <p:spPr>
          <a:xfrm>
            <a:off x="457200" y="1143000"/>
            <a:ext cx="822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Order the table variables as G  </a:t>
            </a:r>
            <a:r>
              <a:rPr lang="en-US" sz="2400" dirty="0">
                <a:sym typeface="Symbol" panose="05050102010706020507" pitchFamily="18" charset="2"/>
              </a:rPr>
              <a:t>  P   E    M</a:t>
            </a:r>
            <a:endParaRPr 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F5D386A-8E76-4861-8FA0-0A4616FD365F}"/>
              </a:ext>
            </a:extLst>
          </p:cNvPr>
          <p:cNvSpPr txBox="1"/>
          <p:nvPr/>
        </p:nvSpPr>
        <p:spPr>
          <a:xfrm>
            <a:off x="457200" y="1766771"/>
            <a:ext cx="8229600" cy="954107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names(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dimnames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PreSex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))        # table variable names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[1] "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MaritalStatus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"   "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ExtramaritalSex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" "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PremaritalSex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"   "Gender“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PreSex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&lt;- </a:t>
            </a:r>
            <a:r>
              <a:rPr lang="en-US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aperm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PreSex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4:1)   # order variables G, P, E, 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AC8354C-4CFA-4227-A367-1A02F494EC0A}"/>
              </a:ext>
            </a:extLst>
          </p:cNvPr>
          <p:cNvSpPr txBox="1"/>
          <p:nvPr/>
        </p:nvSpPr>
        <p:spPr>
          <a:xfrm>
            <a:off x="457200" y="3088640"/>
            <a:ext cx="822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Fit each sequential model to the marginal sub-table. </a:t>
            </a:r>
            <a:r>
              <a:rPr lang="en-US" sz="1600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vcdExtra</a:t>
            </a:r>
            <a:r>
              <a:rPr lang="en-US" sz="16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-US" sz="1600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seq_loglm</a:t>
            </a:r>
            <a:r>
              <a:rPr lang="en-US" sz="16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US" dirty="0"/>
              <a:t>generates these models of </a:t>
            </a:r>
            <a:r>
              <a:rPr lang="en-US" b="1" dirty="0"/>
              <a:t>joint independence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D933433-CEA1-4136-9F60-C56348C1839A}"/>
              </a:ext>
            </a:extLst>
          </p:cNvPr>
          <p:cNvSpPr txBox="1"/>
          <p:nvPr/>
        </p:nvSpPr>
        <p:spPr>
          <a:xfrm>
            <a:off x="457200" y="3888969"/>
            <a:ext cx="8229600" cy="954107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PreSex.mods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&lt;- </a:t>
            </a:r>
            <a:r>
              <a:rPr lang="en-US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seq_loglm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PreSex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type="joint", 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marginals = 2:4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</a:p>
          <a:p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LRstats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PreSex.mods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988D4AE-329D-BAEB-6A6A-DA0E00C98A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4600" y="4997075"/>
            <a:ext cx="3680779" cy="1607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7725575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C220F5FE-C281-47CE-A525-435BA3117E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2700637"/>
            <a:ext cx="4114800" cy="3852658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995BB6C-FA56-4BA0-BAC1-F97B12248B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88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83E0E1-F350-49EB-853A-4FAD9D576318}"/>
              </a:ext>
            </a:extLst>
          </p:cNvPr>
          <p:cNvSpPr txBox="1"/>
          <p:nvPr/>
        </p:nvSpPr>
        <p:spPr>
          <a:xfrm>
            <a:off x="533400" y="279400"/>
            <a:ext cx="3886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Mosaic plots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8ACAF3-F686-4ECA-B9CA-2F973E2BC53E}"/>
              </a:ext>
            </a:extLst>
          </p:cNvPr>
          <p:cNvSpPr txBox="1"/>
          <p:nvPr/>
        </p:nvSpPr>
        <p:spPr>
          <a:xfrm>
            <a:off x="609600" y="750332"/>
            <a:ext cx="7924800" cy="1600438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(Gender Pre)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mosaic(</a:t>
            </a:r>
            <a:r>
              <a:rPr lang="en-US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margin.table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PreSex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1:2), 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shade=TRUE,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main = "Gender and Premarital Sex")</a:t>
            </a:r>
          </a:p>
          <a:p>
            <a:r>
              <a:rPr lang="en-US" sz="1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(Gender Pre)(Extra)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mosaic(</a:t>
            </a:r>
            <a:r>
              <a:rPr lang="en-US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margin.table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PreSex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1:3),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expected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= ~Gender *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PremaritalSex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+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ExtramaritalSex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main = "Gender*Pre +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ExtramaritalSex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")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ABE1C5B-25B9-4FCB-9E67-D1CD882C46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2841144"/>
            <a:ext cx="4114800" cy="3571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4951117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995BB6C-FA56-4BA0-BAC1-F97B12248B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89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83E0E1-F350-49EB-853A-4FAD9D576318}"/>
              </a:ext>
            </a:extLst>
          </p:cNvPr>
          <p:cNvSpPr txBox="1"/>
          <p:nvPr/>
        </p:nvSpPr>
        <p:spPr>
          <a:xfrm>
            <a:off x="533400" y="279400"/>
            <a:ext cx="3886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Mosaic plots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8ACAF3-F686-4ECA-B9CA-2F973E2BC53E}"/>
              </a:ext>
            </a:extLst>
          </p:cNvPr>
          <p:cNvSpPr txBox="1"/>
          <p:nvPr/>
        </p:nvSpPr>
        <p:spPr>
          <a:xfrm>
            <a:off x="609600" y="750332"/>
            <a:ext cx="7924800" cy="738664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(Gender Pre)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mosaic(</a:t>
            </a:r>
            <a:r>
              <a:rPr lang="en-US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margin.table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PreSex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1:2), 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shade=TRUE,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main = "Gender and Premarital Sex")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ABE1C5B-25B9-4FCB-9E67-D1CD882C46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1981200"/>
            <a:ext cx="4114800" cy="357164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27932F8-647A-4AAF-BA67-BDE783D9311C}"/>
              </a:ext>
            </a:extLst>
          </p:cNvPr>
          <p:cNvSpPr txBox="1"/>
          <p:nvPr/>
        </p:nvSpPr>
        <p:spPr>
          <a:xfrm>
            <a:off x="4800600" y="2133600"/>
            <a:ext cx="37338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Twice as many women in this sample</a:t>
            </a:r>
          </a:p>
          <a:p>
            <a:endParaRPr lang="en-US" dirty="0"/>
          </a:p>
          <a:p>
            <a:r>
              <a:rPr lang="en-US" dirty="0"/>
              <a:t>Men far more likely to report pre-marital sex than women (odds ratio = 3.7)</a:t>
            </a:r>
          </a:p>
        </p:txBody>
      </p:sp>
    </p:spTree>
    <p:extLst>
      <p:ext uri="{BB962C8B-B14F-4D97-AF65-F5344CB8AC3E}">
        <p14:creationId xmlns:p14="http://schemas.microsoft.com/office/powerpoint/2010/main" val="4045200006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C220F5FE-C281-47CE-A525-435BA3117E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2483372"/>
            <a:ext cx="4114800" cy="3852658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995BB6C-FA56-4BA0-BAC1-F97B12248B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90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83E0E1-F350-49EB-853A-4FAD9D576318}"/>
              </a:ext>
            </a:extLst>
          </p:cNvPr>
          <p:cNvSpPr txBox="1"/>
          <p:nvPr/>
        </p:nvSpPr>
        <p:spPr>
          <a:xfrm>
            <a:off x="533400" y="279400"/>
            <a:ext cx="3886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Mosaic plots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8ACAF3-F686-4ECA-B9CA-2F973E2BC53E}"/>
              </a:ext>
            </a:extLst>
          </p:cNvPr>
          <p:cNvSpPr txBox="1"/>
          <p:nvPr/>
        </p:nvSpPr>
        <p:spPr>
          <a:xfrm>
            <a:off x="609600" y="750332"/>
            <a:ext cx="7924800" cy="954107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(Gender Pre)(Extra)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mosaic(</a:t>
            </a:r>
            <a:r>
              <a:rPr lang="en-US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margin.table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PreSex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1:3),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expected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= ~Gender *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PremaritalSex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+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ExtramaritalSex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main = "Gender*Pre +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ExtramaritalSex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")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05AD488-3FCA-4E33-B035-7483858B75B2}"/>
              </a:ext>
            </a:extLst>
          </p:cNvPr>
          <p:cNvSpPr txBox="1"/>
          <p:nvPr/>
        </p:nvSpPr>
        <p:spPr>
          <a:xfrm>
            <a:off x="5029200" y="2590800"/>
            <a:ext cx="35052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Men &amp; women who reported Pre- far more likely to report Extra- sex</a:t>
            </a:r>
          </a:p>
          <a:p>
            <a:endParaRPr lang="en-US" dirty="0"/>
          </a:p>
          <a:p>
            <a:r>
              <a:rPr lang="en-US" dirty="0"/>
              <a:t>Odds ratio of Extra- given Pre- about the same for men  &amp; women</a:t>
            </a:r>
          </a:p>
          <a:p>
            <a:r>
              <a:rPr lang="en-US" dirty="0"/>
              <a:t>(3.61 vs. 3.56)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3874857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AA3153C-A8FC-4113-897F-2F1DA4DB7F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6620" y="2622203"/>
            <a:ext cx="4114800" cy="4083744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2C6E48E-AEEE-4E0A-8FC3-BC35A7BE4E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91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E57D5E-AAC9-481F-8AE0-8FC1364AD7BC}"/>
              </a:ext>
            </a:extLst>
          </p:cNvPr>
          <p:cNvSpPr txBox="1"/>
          <p:nvPr/>
        </p:nvSpPr>
        <p:spPr>
          <a:xfrm>
            <a:off x="533400" y="269240"/>
            <a:ext cx="3886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Mosaic plots: Full table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1732F93-30ED-4476-A80D-3658C884DE18}"/>
              </a:ext>
            </a:extLst>
          </p:cNvPr>
          <p:cNvSpPr txBox="1"/>
          <p:nvPr/>
        </p:nvSpPr>
        <p:spPr>
          <a:xfrm>
            <a:off x="543560" y="685800"/>
            <a:ext cx="8001000" cy="1754326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mosaic(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PreSex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expected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= ~Gender *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PremaritalSex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*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ExtramaritalSex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+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MaritalStatus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main = "Gender*Pre*Extra +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MaritalStatus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")</a:t>
            </a:r>
          </a:p>
          <a:p>
            <a:r>
              <a:rPr lang="en-US" sz="12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(GPE)(PEM)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mosaic(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PreSex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expected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= ~ Gender *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PremaritalSex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*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ExtramaritalSex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+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MaritalStatus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*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PremaritalSex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*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ExtramaritalSex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main = "G*P*E + P*E*M")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5003506-7BB8-4287-8C49-3C8D7CEDF0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580" y="2622203"/>
            <a:ext cx="4114800" cy="4099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680343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2C6E48E-AEEE-4E0A-8FC3-BC35A7BE4E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92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E57D5E-AAC9-481F-8AE0-8FC1364AD7BC}"/>
              </a:ext>
            </a:extLst>
          </p:cNvPr>
          <p:cNvSpPr txBox="1"/>
          <p:nvPr/>
        </p:nvSpPr>
        <p:spPr>
          <a:xfrm>
            <a:off x="533400" y="269240"/>
            <a:ext cx="3886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Mosaic plots: Full table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1732F93-30ED-4476-A80D-3658C884DE18}"/>
              </a:ext>
            </a:extLst>
          </p:cNvPr>
          <p:cNvSpPr txBox="1"/>
          <p:nvPr/>
        </p:nvSpPr>
        <p:spPr>
          <a:xfrm>
            <a:off x="543560" y="685800"/>
            <a:ext cx="8001000" cy="646331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mosaic(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PreSex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expected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= ~Gender *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PremaritalSex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*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ExtramaritalSex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+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MaritalStatus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main = "Gender*Pre*Extra +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MaritalStatus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")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5003506-7BB8-4287-8C49-3C8D7CEDF0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580" y="2622203"/>
            <a:ext cx="4114800" cy="409927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5933AE0-827E-4B96-BC7B-5128E080C89A}"/>
              </a:ext>
            </a:extLst>
          </p:cNvPr>
          <p:cNvSpPr txBox="1"/>
          <p:nvPr/>
        </p:nvSpPr>
        <p:spPr>
          <a:xfrm>
            <a:off x="4953000" y="2743200"/>
            <a:ext cx="359156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 the model [GPE][M], marital status depends in a complex way</a:t>
            </a:r>
          </a:p>
          <a:p>
            <a:endParaRPr lang="en-US" dirty="0"/>
          </a:p>
          <a:p>
            <a:r>
              <a:rPr lang="en-US" dirty="0"/>
              <a:t>Among women, those reporting Pre- more likely to be divorced</a:t>
            </a:r>
          </a:p>
          <a:p>
            <a:endParaRPr lang="en-US" dirty="0"/>
          </a:p>
          <a:p>
            <a:r>
              <a:rPr lang="en-US" dirty="0"/>
              <a:t>Among men, those reporting Pre- only more likely to be divorced if Extra-</a:t>
            </a:r>
          </a:p>
          <a:p>
            <a:endParaRPr lang="en-US" dirty="0"/>
          </a:p>
          <a:p>
            <a:r>
              <a:rPr lang="en-US" dirty="0"/>
              <a:t>This suggests adding associations of M with P and E: [PEM] term</a:t>
            </a:r>
          </a:p>
        </p:txBody>
      </p:sp>
    </p:spTree>
    <p:extLst>
      <p:ext uri="{BB962C8B-B14F-4D97-AF65-F5344CB8AC3E}">
        <p14:creationId xmlns:p14="http://schemas.microsoft.com/office/powerpoint/2010/main" val="2530935875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AA3153C-A8FC-4113-897F-2F1DA4DB7F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560" y="2607251"/>
            <a:ext cx="4114800" cy="4083744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2C6E48E-AEEE-4E0A-8FC3-BC35A7BE4E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93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E57D5E-AAC9-481F-8AE0-8FC1364AD7BC}"/>
              </a:ext>
            </a:extLst>
          </p:cNvPr>
          <p:cNvSpPr txBox="1"/>
          <p:nvPr/>
        </p:nvSpPr>
        <p:spPr>
          <a:xfrm>
            <a:off x="533400" y="269240"/>
            <a:ext cx="3886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Mosaic plots: Full table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1732F93-30ED-4476-A80D-3658C884DE18}"/>
              </a:ext>
            </a:extLst>
          </p:cNvPr>
          <p:cNvSpPr txBox="1"/>
          <p:nvPr/>
        </p:nvSpPr>
        <p:spPr>
          <a:xfrm>
            <a:off x="543560" y="685800"/>
            <a:ext cx="8001000" cy="1015663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(GPE)(PEM)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mosaic(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PreSex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expected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= ~ Gender *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PremaritalSex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*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ExtramaritalSex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+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MaritalStatus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*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PremaritalSex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*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ExtramaritalSex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main = "G*P*E + P*E*M")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EA8D24-C3CC-4C3F-B73B-F0EE5FB6B6CC}"/>
              </a:ext>
            </a:extLst>
          </p:cNvPr>
          <p:cNvSpPr txBox="1"/>
          <p:nvPr/>
        </p:nvSpPr>
        <p:spPr>
          <a:xfrm>
            <a:off x="5181600" y="2667000"/>
            <a:ext cx="35052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This model fits well, G</a:t>
            </a:r>
            <a:r>
              <a:rPr lang="en-US" baseline="30000" dirty="0"/>
              <a:t>2</a:t>
            </a:r>
            <a:r>
              <a:rPr lang="en-US" dirty="0"/>
              <a:t>(4) = 5.26, p=0.26</a:t>
            </a:r>
          </a:p>
          <a:p>
            <a:endParaRPr lang="en-US" dirty="0"/>
          </a:p>
          <a:p>
            <a:r>
              <a:rPr lang="en-US" dirty="0">
                <a:solidFill>
                  <a:srgbClr val="0070C0"/>
                </a:solidFill>
              </a:rPr>
              <a:t>Loglinear thinking</a:t>
            </a:r>
            <a:r>
              <a:rPr lang="en-US" dirty="0"/>
              <a:t>: once we take GPE into account, are there simpler models for association with M?</a:t>
            </a:r>
          </a:p>
          <a:p>
            <a:endParaRPr lang="en-US" dirty="0"/>
          </a:p>
          <a:p>
            <a:r>
              <a:rPr lang="en-US" dirty="0">
                <a:solidFill>
                  <a:srgbClr val="0070C0"/>
                </a:solidFill>
              </a:rPr>
              <a:t>Looking forward</a:t>
            </a:r>
            <a:r>
              <a:rPr lang="en-US" dirty="0"/>
              <a:t>: logit models for </a:t>
            </a:r>
            <a:r>
              <a:rPr lang="en-US" dirty="0" err="1"/>
              <a:t>MaritalStatus</a:t>
            </a:r>
            <a:r>
              <a:rPr lang="en-US" dirty="0"/>
              <a:t> often provide an easier path</a:t>
            </a:r>
          </a:p>
        </p:txBody>
      </p:sp>
    </p:spTree>
    <p:extLst>
      <p:ext uri="{BB962C8B-B14F-4D97-AF65-F5344CB8AC3E}">
        <p14:creationId xmlns:p14="http://schemas.microsoft.com/office/powerpoint/2010/main" val="1671114844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CB72A11-78F2-4119-BD45-B91513D7F4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Partial association, partial mosaics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AF03BD-2D17-47F0-AA5F-A2B3E7ED9B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1828800"/>
          </a:xfrm>
        </p:spPr>
        <p:txBody>
          <a:bodyPr/>
          <a:lstStyle/>
          <a:p>
            <a:pPr marL="0" indent="0">
              <a:buNone/>
            </a:pPr>
            <a:r>
              <a:rPr lang="en-US" sz="2400" dirty="0"/>
              <a:t>Sometimes useful to do a </a:t>
            </a:r>
            <a:r>
              <a:rPr lang="en-US" sz="2400" dirty="0">
                <a:solidFill>
                  <a:srgbClr val="0070C0"/>
                </a:solidFill>
              </a:rPr>
              <a:t>stratified analysis</a:t>
            </a:r>
          </a:p>
          <a:p>
            <a:r>
              <a:rPr lang="en-US" sz="1800" dirty="0"/>
              <a:t>How does association between two (or more) variables vary over levels of other variables?</a:t>
            </a:r>
          </a:p>
          <a:p>
            <a:r>
              <a:rPr lang="en-US" sz="1800" dirty="0"/>
              <a:t>Mosaic plots for main variables show </a:t>
            </a:r>
            <a:r>
              <a:rPr lang="en-US" sz="1800" dirty="0">
                <a:solidFill>
                  <a:srgbClr val="0070C0"/>
                </a:solidFill>
              </a:rPr>
              <a:t>partial association </a:t>
            </a:r>
            <a:r>
              <a:rPr lang="en-US" sz="1800" dirty="0"/>
              <a:t>at each level of others</a:t>
            </a:r>
          </a:p>
          <a:p>
            <a:r>
              <a:rPr lang="en-US" sz="1800" dirty="0"/>
              <a:t>E.g., Hair color, Eye color, subset by Sex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36163B4-DD74-4676-9918-C759181B16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94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7381554-B31E-441D-95A0-679DD0DE70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3077325"/>
            <a:ext cx="6923809" cy="3466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6623053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710C93-125B-4F16-A9A0-794BA61A1D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Partial association, partial mosaics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170979-5833-4903-BE2D-9F428BA284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95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6D91713-AEE6-4851-ADA5-CC1656E828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24000"/>
            <a:ext cx="8171428" cy="4619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2907353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96E87F-3621-4D7C-B096-70736824B7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Partial association: Summary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16A066-DE96-49E9-AB72-2388574AEF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Overall, there is a strong association of hair color and eye color, controlling for sex, G</a:t>
            </a:r>
            <a:r>
              <a:rPr lang="en-US" sz="2400" baseline="30000" dirty="0"/>
              <a:t>2</a:t>
            </a:r>
            <a:r>
              <a:rPr lang="en-US" sz="2400" baseline="-25000" dirty="0"/>
              <a:t>(18) </a:t>
            </a:r>
            <a:r>
              <a:rPr lang="en-US" sz="2400" dirty="0"/>
              <a:t>= 156.67</a:t>
            </a:r>
          </a:p>
          <a:p>
            <a:pPr lvl="1"/>
            <a:r>
              <a:rPr lang="en-US" sz="2000" dirty="0"/>
              <a:t>For F, G</a:t>
            </a:r>
            <a:r>
              <a:rPr lang="en-US" sz="2000" baseline="30000" dirty="0"/>
              <a:t>2</a:t>
            </a:r>
            <a:r>
              <a:rPr lang="en-US" sz="2000" baseline="-25000" dirty="0"/>
              <a:t>(9) </a:t>
            </a:r>
            <a:r>
              <a:rPr lang="en-US" sz="2000" dirty="0"/>
              <a:t>= 112.23 accounts for 72% of this association</a:t>
            </a:r>
          </a:p>
          <a:p>
            <a:r>
              <a:rPr lang="en-US" sz="2400" dirty="0"/>
              <a:t>The pattern of association is similar for M &amp; F</a:t>
            </a:r>
          </a:p>
          <a:p>
            <a:pPr lvl="1"/>
            <a:r>
              <a:rPr lang="en-US" sz="2000" dirty="0"/>
              <a:t>The largest difference is for blue-eyed blonds, much more prevalent among F than M. Is there a hair dye effect?</a:t>
            </a:r>
          </a:p>
          <a:p>
            <a:pPr lvl="1"/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BA83EAE-3939-46A2-8FA7-F9AA3D5F11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96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465CBAD-382C-4629-8258-665AC5AB09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3680724"/>
            <a:ext cx="5323608" cy="2665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0760535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FB6671-18E2-4931-80D9-DAD89F592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Summary: What we’ve learned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DB61E5-3ECC-4FD6-93A0-BBB245FFAB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400" dirty="0"/>
              <a:t>Mosaic plots use sequential splits to show marginal and conditional frequencies in an </a:t>
            </a:r>
            <a:r>
              <a:rPr lang="en-US" sz="2400" i="1" dirty="0"/>
              <a:t>n</a:t>
            </a:r>
            <a:r>
              <a:rPr lang="en-US" sz="2400" dirty="0"/>
              <a:t>-way table</a:t>
            </a:r>
          </a:p>
          <a:p>
            <a:pPr lvl="1"/>
            <a:r>
              <a:rPr lang="en-US" sz="2000" dirty="0"/>
              <a:t>Shading: </a:t>
            </a:r>
            <a:r>
              <a:rPr lang="en-US" sz="2000" b="1" dirty="0">
                <a:solidFill>
                  <a:srgbClr val="0070C0"/>
                </a:solidFill>
              </a:rPr>
              <a:t>sign</a:t>
            </a:r>
            <a:r>
              <a:rPr lang="en-US" sz="2000" dirty="0"/>
              <a:t> and </a:t>
            </a:r>
            <a:r>
              <a:rPr lang="en-US" sz="2000" b="1" dirty="0"/>
              <a:t>magnitude</a:t>
            </a:r>
            <a:r>
              <a:rPr lang="en-US" sz="2000" dirty="0"/>
              <a:t> of residuals </a:t>
            </a:r>
            <a:r>
              <a:rPr lang="en-US" sz="2000" dirty="0">
                <a:sym typeface="Symbol" panose="05050102010706020507" pitchFamily="18" charset="2"/>
              </a:rPr>
              <a:t></a:t>
            </a:r>
            <a:r>
              <a:rPr lang="en-US" sz="2000" dirty="0"/>
              <a:t> contributions to χ</a:t>
            </a:r>
            <a:r>
              <a:rPr lang="en-US" sz="2000" baseline="30000" dirty="0"/>
              <a:t>2</a:t>
            </a:r>
          </a:p>
          <a:p>
            <a:pPr lvl="1"/>
            <a:r>
              <a:rPr lang="en-US" sz="2000" dirty="0"/>
              <a:t>Shows the pattern of association not accounted for</a:t>
            </a:r>
          </a:p>
          <a:p>
            <a:pPr lvl="1"/>
            <a:r>
              <a:rPr lang="en-US" sz="2000" dirty="0"/>
              <a:t>Permuting rows/cols often helps</a:t>
            </a:r>
          </a:p>
          <a:p>
            <a:r>
              <a:rPr lang="en-US" sz="2400" dirty="0"/>
              <a:t>Loglinear models </a:t>
            </a:r>
          </a:p>
          <a:p>
            <a:pPr lvl="1"/>
            <a:r>
              <a:rPr lang="en-US" sz="2000" dirty="0"/>
              <a:t>Express associations with ANOVA-like interaction terms: A*B, A*C</a:t>
            </a:r>
          </a:p>
          <a:p>
            <a:pPr lvl="2"/>
            <a:r>
              <a:rPr lang="en-US" sz="1800" dirty="0"/>
              <a:t>Joint independence: [AB][C] 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≡</a:t>
            </a:r>
            <a:r>
              <a:rPr lang="en-US" sz="1800" dirty="0">
                <a:sym typeface="Symbol" panose="05050102010706020507" pitchFamily="18" charset="2"/>
              </a:rPr>
              <a:t> A * B + C</a:t>
            </a:r>
            <a:endParaRPr lang="en-US" sz="1800" dirty="0"/>
          </a:p>
          <a:p>
            <a:pPr lvl="2"/>
            <a:r>
              <a:rPr lang="en-US" sz="1800" dirty="0"/>
              <a:t>Conditional independence: [AC][BC] 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≡ </a:t>
            </a:r>
            <a:r>
              <a:rPr lang="en-US" sz="1800" dirty="0">
                <a:sym typeface="Symbol" panose="05050102010706020507" pitchFamily="18" charset="2"/>
              </a:rPr>
              <a:t>A  B | C</a:t>
            </a:r>
          </a:p>
          <a:p>
            <a:pPr lvl="1"/>
            <a:r>
              <a:rPr lang="en-US" sz="2000" dirty="0">
                <a:sym typeface="Symbol" panose="05050102010706020507" pitchFamily="18" charset="2"/>
              </a:rPr>
              <a:t>Fitting models  “cleaning the mosaic”</a:t>
            </a:r>
          </a:p>
          <a:p>
            <a:pPr lvl="1"/>
            <a:r>
              <a:rPr lang="en-US" sz="2000" dirty="0">
                <a:sym typeface="Symbol" panose="05050102010706020507" pitchFamily="18" charset="2"/>
              </a:rPr>
              <a:t>Response models: include all associations among predictors</a:t>
            </a:r>
          </a:p>
          <a:p>
            <a:r>
              <a:rPr lang="en-US" sz="2400" dirty="0">
                <a:sym typeface="Symbol" panose="05050102010706020507" pitchFamily="18" charset="2"/>
              </a:rPr>
              <a:t>Sequential / partial plots &amp; models</a:t>
            </a:r>
          </a:p>
          <a:p>
            <a:pPr lvl="1"/>
            <a:r>
              <a:rPr lang="en-US" sz="2000" dirty="0">
                <a:sym typeface="Symbol" panose="05050102010706020507" pitchFamily="18" charset="2"/>
              </a:rPr>
              <a:t>Sequential: Decompose all associations: V</a:t>
            </a:r>
            <a:r>
              <a:rPr lang="en-US" sz="2000" baseline="-25000" dirty="0">
                <a:sym typeface="Symbol" panose="05050102010706020507" pitchFamily="18" charset="2"/>
              </a:rPr>
              <a:t>1</a:t>
            </a:r>
            <a:r>
              <a:rPr lang="en-US" sz="2000" dirty="0">
                <a:sym typeface="Symbol" panose="05050102010706020507" pitchFamily="18" charset="2"/>
              </a:rPr>
              <a:t>;  V</a:t>
            </a:r>
            <a:r>
              <a:rPr lang="en-US" sz="2000" baseline="-25000" dirty="0">
                <a:sym typeface="Symbol" panose="05050102010706020507" pitchFamily="18" charset="2"/>
              </a:rPr>
              <a:t>2</a:t>
            </a:r>
            <a:r>
              <a:rPr lang="en-US" sz="2000" dirty="0">
                <a:sym typeface="Symbol" panose="05050102010706020507" pitchFamily="18" charset="2"/>
              </a:rPr>
              <a:t>|V</a:t>
            </a:r>
            <a:r>
              <a:rPr lang="en-US" sz="2000" baseline="-25000" dirty="0">
                <a:sym typeface="Symbol" panose="05050102010706020507" pitchFamily="18" charset="2"/>
              </a:rPr>
              <a:t>1</a:t>
            </a:r>
            <a:r>
              <a:rPr lang="en-US" sz="2000" dirty="0">
                <a:sym typeface="Symbol" panose="05050102010706020507" pitchFamily="18" charset="2"/>
              </a:rPr>
              <a:t>;   V</a:t>
            </a:r>
            <a:r>
              <a:rPr lang="en-US" sz="2000" baseline="-25000" dirty="0">
                <a:sym typeface="Symbol" panose="05050102010706020507" pitchFamily="18" charset="2"/>
              </a:rPr>
              <a:t>3</a:t>
            </a:r>
            <a:r>
              <a:rPr lang="en-US" sz="2000" dirty="0">
                <a:sym typeface="Symbol" panose="05050102010706020507" pitchFamily="18" charset="2"/>
              </a:rPr>
              <a:t>|{V</a:t>
            </a:r>
            <a:r>
              <a:rPr lang="en-US" sz="2000" baseline="-25000" dirty="0">
                <a:sym typeface="Symbol" panose="05050102010706020507" pitchFamily="18" charset="2"/>
              </a:rPr>
              <a:t>1</a:t>
            </a:r>
            <a:r>
              <a:rPr lang="en-US" sz="2000" dirty="0">
                <a:sym typeface="Symbol" panose="05050102010706020507" pitchFamily="18" charset="2"/>
              </a:rPr>
              <a:t>, V</a:t>
            </a:r>
            <a:r>
              <a:rPr lang="en-US" sz="2000" baseline="-25000" dirty="0">
                <a:sym typeface="Symbol" panose="05050102010706020507" pitchFamily="18" charset="2"/>
              </a:rPr>
              <a:t>2</a:t>
            </a:r>
            <a:r>
              <a:rPr lang="en-US" sz="2000" dirty="0">
                <a:sym typeface="Symbol" panose="05050102010706020507" pitchFamily="18" charset="2"/>
              </a:rPr>
              <a:t>}, …</a:t>
            </a:r>
          </a:p>
          <a:p>
            <a:pPr lvl="1"/>
            <a:r>
              <a:rPr lang="en-US" sz="2000" dirty="0">
                <a:sym typeface="Symbol" panose="05050102010706020507" pitchFamily="18" charset="2"/>
              </a:rPr>
              <a:t>Partial: Decompose conditional associations: [V</a:t>
            </a:r>
            <a:r>
              <a:rPr lang="en-US" sz="2000" baseline="-25000" dirty="0">
                <a:sym typeface="Symbol" panose="05050102010706020507" pitchFamily="18" charset="2"/>
              </a:rPr>
              <a:t>1</a:t>
            </a:r>
            <a:r>
              <a:rPr lang="en-US" sz="2000" dirty="0">
                <a:sym typeface="Symbol" panose="05050102010706020507" pitchFamily="18" charset="2"/>
              </a:rPr>
              <a:t>, V</a:t>
            </a:r>
            <a:r>
              <a:rPr lang="en-US" sz="2000" baseline="-25000" dirty="0">
                <a:sym typeface="Symbol" panose="05050102010706020507" pitchFamily="18" charset="2"/>
              </a:rPr>
              <a:t>2</a:t>
            </a:r>
            <a:r>
              <a:rPr lang="en-US" sz="2000" dirty="0">
                <a:sym typeface="Symbol" panose="05050102010706020507" pitchFamily="18" charset="2"/>
              </a:rPr>
              <a:t> ]| V</a:t>
            </a:r>
            <a:r>
              <a:rPr lang="en-US" sz="2000" baseline="-25000" dirty="0">
                <a:sym typeface="Symbol" panose="05050102010706020507" pitchFamily="18" charset="2"/>
              </a:rPr>
              <a:t>3</a:t>
            </a:r>
            <a:r>
              <a:rPr lang="en-US" sz="2000" dirty="0">
                <a:sym typeface="Symbol" panose="05050102010706020507" pitchFamily="18" charset="2"/>
              </a:rPr>
              <a:t>= {a, b, …}</a:t>
            </a:r>
            <a:endParaRPr lang="en-US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8FA1E9-B6E8-4A7F-8556-FFF9AD625B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777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 w="25400">
          <a:solidFill>
            <a:srgbClr val="FF0000"/>
          </a:solidFill>
          <a:tailEnd type="stealth" w="lg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8460</TotalTime>
  <Words>7435</Words>
  <Application>Microsoft Office PowerPoint</Application>
  <PresentationFormat>On-screen Show (4:3)</PresentationFormat>
  <Paragraphs>987</Paragraphs>
  <Slides>97</Slides>
  <Notes>2</Notes>
  <HiddenSlides>1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97</vt:i4>
      </vt:variant>
    </vt:vector>
  </HeadingPairs>
  <TitlesOfParts>
    <vt:vector size="105" baseType="lpstr">
      <vt:lpstr>Cambria Math</vt:lpstr>
      <vt:lpstr>Calibri</vt:lpstr>
      <vt:lpstr>Arial</vt:lpstr>
      <vt:lpstr>Wingdings</vt:lpstr>
      <vt:lpstr>Symbol</vt:lpstr>
      <vt:lpstr>Consolas</vt:lpstr>
      <vt:lpstr>Courier New</vt:lpstr>
      <vt:lpstr>1_Office Theme</vt:lpstr>
      <vt:lpstr>Loglinear models &amp; mosaic displays</vt:lpstr>
      <vt:lpstr>Today’s topics</vt:lpstr>
      <vt:lpstr>Mosaic displays</vt:lpstr>
      <vt:lpstr>Mosaic displays: basic ideas</vt:lpstr>
      <vt:lpstr>Mosaic displays: basic ideas</vt:lpstr>
      <vt:lpstr>Mosaic displays: basic ideas</vt:lpstr>
      <vt:lpstr>Mosaic displays: Independence</vt:lpstr>
      <vt:lpstr>Mosaic displays: Residuals &amp; shading</vt:lpstr>
      <vt:lpstr>History corner: von Mayr</vt:lpstr>
      <vt:lpstr>History corner: Minard</vt:lpstr>
      <vt:lpstr>History corner: Francis Walker</vt:lpstr>
      <vt:lpstr>Mosaic cartograms</vt:lpstr>
      <vt:lpstr>Loglinear models: Perspectives</vt:lpstr>
      <vt:lpstr>Loglinear approach</vt:lpstr>
      <vt:lpstr>glm() approach</vt:lpstr>
      <vt:lpstr>Logit models</vt:lpstr>
      <vt:lpstr>Two-way tables: loglinear approach</vt:lpstr>
      <vt:lpstr>Two-way tables: loglinear approach</vt:lpstr>
      <vt:lpstr>Two-way tables: loglinear approach</vt:lpstr>
      <vt:lpstr>Example: Independence</vt:lpstr>
      <vt:lpstr>PowerPoint Presentation</vt:lpstr>
      <vt:lpstr>Two-way tables: glm approach</vt:lpstr>
      <vt:lpstr>PowerPoint Presentation</vt:lpstr>
      <vt:lpstr>Assessing goodness of fit</vt:lpstr>
      <vt:lpstr>Degrees of freedom</vt:lpstr>
      <vt:lpstr>R functions for loglinear models</vt:lpstr>
      <vt:lpstr>Model-based methods: Fitting &amp; graphing</vt:lpstr>
      <vt:lpstr>R functions &amp; methods</vt:lpstr>
      <vt:lpstr>Example: Arthritis treatment</vt:lpstr>
      <vt:lpstr>Arthritis treatment</vt:lpstr>
      <vt:lpstr>Arthritis treatment: Plots</vt:lpstr>
      <vt:lpstr>Arthritis treatment: glm()</vt:lpstr>
      <vt:lpstr>Example: Hair color &amp; Eye color</vt:lpstr>
      <vt:lpstr>New in vcdExtra: color_table()</vt:lpstr>
      <vt:lpstr>Mosaic displays: Seeing patterns</vt:lpstr>
      <vt:lpstr>Mosaic displays: Seeing patterns</vt:lpstr>
      <vt:lpstr>Bee abundance data</vt:lpstr>
      <vt:lpstr>PowerPoint Presentation</vt:lpstr>
      <vt:lpstr>PowerPoint Presentation</vt:lpstr>
      <vt:lpstr>PowerPoint Presentation</vt:lpstr>
      <vt:lpstr>Three-way tables</vt:lpstr>
      <vt:lpstr>Reduced models</vt:lpstr>
      <vt:lpstr>Reduced models</vt:lpstr>
      <vt:lpstr>Model types</vt:lpstr>
      <vt:lpstr>Association graphs</vt:lpstr>
      <vt:lpstr>Model types &amp; association graphs</vt:lpstr>
      <vt:lpstr>Model types: loglm()</vt:lpstr>
      <vt:lpstr>Collapsibility: Marginal &amp; conditional associations</vt:lpstr>
      <vt:lpstr>Higher-way tables</vt:lpstr>
      <vt:lpstr>Response vs. Association models</vt:lpstr>
      <vt:lpstr>Goodness of fit tests</vt:lpstr>
      <vt:lpstr>Nested models &amp; ANOVA-type tests</vt:lpstr>
      <vt:lpstr>Example: Berkeley admissions</vt:lpstr>
      <vt:lpstr>Fitting these in R</vt:lpstr>
      <vt:lpstr>Example: Berkeley admissions</vt:lpstr>
      <vt:lpstr>PowerPoint Presentation</vt:lpstr>
      <vt:lpstr>ANOVA tests</vt:lpstr>
      <vt:lpstr>LRstats: AIC &amp; BIC</vt:lpstr>
      <vt:lpstr>Mosaic displays: Visual fitting</vt:lpstr>
      <vt:lpstr>Mosaic displays: Predictor variables</vt:lpstr>
      <vt:lpstr>Baseline response model</vt:lpstr>
      <vt:lpstr>Add an association term…</vt:lpstr>
      <vt:lpstr>Double decker plots</vt:lpstr>
      <vt:lpstr>Survival on the Titanic</vt:lpstr>
      <vt:lpstr>4-way tables: Survival on the Titanic</vt:lpstr>
      <vt:lpstr>Zero cells</vt:lpstr>
      <vt:lpstr>Exploratory plots</vt:lpstr>
      <vt:lpstr>Exploratory plots</vt:lpstr>
      <vt:lpstr>Fitting &amp; visualizing models</vt:lpstr>
      <vt:lpstr>Baseline model for Survived</vt:lpstr>
      <vt:lpstr>Adding associations: Main effects</vt:lpstr>
      <vt:lpstr>Final model</vt:lpstr>
      <vt:lpstr>Comparing models</vt:lpstr>
      <vt:lpstr>Comparing models</vt:lpstr>
      <vt:lpstr>Model interpretation</vt:lpstr>
      <vt:lpstr>Historical note</vt:lpstr>
      <vt:lpstr>PowerPoint Presentation</vt:lpstr>
      <vt:lpstr>Sequential plots &amp; models</vt:lpstr>
      <vt:lpstr>Sequential plots &amp; models</vt:lpstr>
      <vt:lpstr>Sequential plots &amp; models</vt:lpstr>
      <vt:lpstr>Sequential plots &amp; models</vt:lpstr>
      <vt:lpstr>Sequential plots &amp; models</vt:lpstr>
      <vt:lpstr>Sequential plots &amp; models</vt:lpstr>
      <vt:lpstr>Sequential models: Applications</vt:lpstr>
      <vt:lpstr>Example: Marital status, pre- &amp; extra-marital sex</vt:lpstr>
      <vt:lpstr>Debugging color_table()</vt:lpstr>
      <vt:lpstr>Example: Marital status, pre- &amp; extra-marital sex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Partial association, partial mosaics</vt:lpstr>
      <vt:lpstr>Partial association, partial mosaics</vt:lpstr>
      <vt:lpstr>Partial association: Summary</vt:lpstr>
      <vt:lpstr>Summary: What we’ve learned</vt:lpstr>
    </vt:vector>
  </TitlesOfParts>
  <Company>YORK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04-Loglin</dc:title>
  <dc:creator>Michael Friendly</dc:creator>
  <cp:lastModifiedBy>Michael L Friendly</cp:lastModifiedBy>
  <cp:revision>155</cp:revision>
  <dcterms:created xsi:type="dcterms:W3CDTF">2017-10-14T20:35:56Z</dcterms:created>
  <dcterms:modified xsi:type="dcterms:W3CDTF">2026-01-29T16:08:15Z</dcterms:modified>
</cp:coreProperties>
</file>