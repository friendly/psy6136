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74"/>
  </p:notesMasterIdLst>
  <p:handoutMasterIdLst>
    <p:handoutMasterId r:id="rId75"/>
  </p:handoutMasterIdLst>
  <p:sldIdLst>
    <p:sldId id="256" r:id="rId2"/>
    <p:sldId id="257" r:id="rId3"/>
    <p:sldId id="258" r:id="rId4"/>
    <p:sldId id="356" r:id="rId5"/>
    <p:sldId id="259" r:id="rId6"/>
    <p:sldId id="260" r:id="rId7"/>
    <p:sldId id="338" r:id="rId8"/>
    <p:sldId id="268" r:id="rId9"/>
    <p:sldId id="364" r:id="rId10"/>
    <p:sldId id="376" r:id="rId11"/>
    <p:sldId id="359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9" r:id="rId20"/>
    <p:sldId id="368" r:id="rId21"/>
    <p:sldId id="372" r:id="rId22"/>
    <p:sldId id="373" r:id="rId23"/>
    <p:sldId id="271" r:id="rId24"/>
    <p:sldId id="272" r:id="rId25"/>
    <p:sldId id="340" r:id="rId26"/>
    <p:sldId id="273" r:id="rId27"/>
    <p:sldId id="274" r:id="rId28"/>
    <p:sldId id="369" r:id="rId29"/>
    <p:sldId id="275" r:id="rId30"/>
    <p:sldId id="276" r:id="rId31"/>
    <p:sldId id="281" r:id="rId32"/>
    <p:sldId id="335" r:id="rId33"/>
    <p:sldId id="277" r:id="rId34"/>
    <p:sldId id="278" r:id="rId35"/>
    <p:sldId id="279" r:id="rId36"/>
    <p:sldId id="280" r:id="rId37"/>
    <p:sldId id="282" r:id="rId38"/>
    <p:sldId id="362" r:id="rId39"/>
    <p:sldId id="341" r:id="rId40"/>
    <p:sldId id="342" r:id="rId41"/>
    <p:sldId id="343" r:id="rId42"/>
    <p:sldId id="355" r:id="rId43"/>
    <p:sldId id="344" r:id="rId44"/>
    <p:sldId id="283" r:id="rId45"/>
    <p:sldId id="286" r:id="rId46"/>
    <p:sldId id="345" r:id="rId47"/>
    <p:sldId id="284" r:id="rId48"/>
    <p:sldId id="285" r:id="rId49"/>
    <p:sldId id="377" r:id="rId50"/>
    <p:sldId id="288" r:id="rId51"/>
    <p:sldId id="290" r:id="rId52"/>
    <p:sldId id="337" r:id="rId53"/>
    <p:sldId id="361" r:id="rId54"/>
    <p:sldId id="378" r:id="rId55"/>
    <p:sldId id="365" r:id="rId56"/>
    <p:sldId id="370" r:id="rId57"/>
    <p:sldId id="363" r:id="rId58"/>
    <p:sldId id="366" r:id="rId59"/>
    <p:sldId id="367" r:id="rId60"/>
    <p:sldId id="374" r:id="rId61"/>
    <p:sldId id="375" r:id="rId62"/>
    <p:sldId id="332" r:id="rId63"/>
    <p:sldId id="333" r:id="rId64"/>
    <p:sldId id="334" r:id="rId65"/>
    <p:sldId id="325" r:id="rId66"/>
    <p:sldId id="318" r:id="rId67"/>
    <p:sldId id="319" r:id="rId68"/>
    <p:sldId id="324" r:id="rId69"/>
    <p:sldId id="357" r:id="rId70"/>
    <p:sldId id="336" r:id="rId71"/>
    <p:sldId id="358" r:id="rId72"/>
    <p:sldId id="339" r:id="rId73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7DEFF45C-7225-4D7D-BA5D-7817B3A9A8CA}">
          <p14:sldIdLst>
            <p14:sldId id="256"/>
          </p14:sldIdLst>
        </p14:section>
        <p14:section name="Introduction" id="{C1ACA334-276F-4B0A-9366-C6FEE178BE68}">
          <p14:sldIdLst>
            <p14:sldId id="257"/>
            <p14:sldId id="258"/>
            <p14:sldId id="356"/>
            <p14:sldId id="259"/>
            <p14:sldId id="260"/>
            <p14:sldId id="338"/>
            <p14:sldId id="268"/>
            <p14:sldId id="364"/>
          </p14:sldIdLst>
        </p14:section>
        <p14:section name="What is" id="{3D6C153D-3321-4390-B79E-5CE0E6971929}">
          <p14:sldIdLst>
            <p14:sldId id="376"/>
            <p14:sldId id="359"/>
            <p14:sldId id="261"/>
            <p14:sldId id="262"/>
            <p14:sldId id="263"/>
            <p14:sldId id="264"/>
            <p14:sldId id="265"/>
            <p14:sldId id="266"/>
            <p14:sldId id="267"/>
            <p14:sldId id="269"/>
            <p14:sldId id="368"/>
            <p14:sldId id="372"/>
            <p14:sldId id="373"/>
            <p14:sldId id="271"/>
            <p14:sldId id="272"/>
            <p14:sldId id="340"/>
          </p14:sldIdLst>
        </p14:section>
        <p14:section name="Methods" id="{CD6C1471-5C70-410E-AC60-643F713C6A29}">
          <p14:sldIdLst>
            <p14:sldId id="273"/>
            <p14:sldId id="274"/>
            <p14:sldId id="369"/>
            <p14:sldId id="275"/>
            <p14:sldId id="276"/>
            <p14:sldId id="281"/>
            <p14:sldId id="335"/>
          </p14:sldIdLst>
        </p14:section>
        <p14:section name="Graphical methods" id="{2A84C71C-4A94-45C8-A7C3-6AC447570178}">
          <p14:sldIdLst>
            <p14:sldId id="277"/>
            <p14:sldId id="278"/>
            <p14:sldId id="279"/>
            <p14:sldId id="280"/>
            <p14:sldId id="282"/>
            <p14:sldId id="362"/>
          </p14:sldIdLst>
        </p14:section>
        <p14:section name="Effective data display" id="{B70E0AF4-C5E0-424E-A325-7F5F059400BE}">
          <p14:sldIdLst>
            <p14:sldId id="341"/>
            <p14:sldId id="342"/>
            <p14:sldId id="343"/>
            <p14:sldId id="355"/>
          </p14:sldIdLst>
        </p14:section>
        <p14:section name="Effect ordering" id="{A4DD5BD0-F1FF-49ED-A56D-A793AC80B9F7}">
          <p14:sldIdLst>
            <p14:sldId id="344"/>
            <p14:sldId id="283"/>
            <p14:sldId id="286"/>
            <p14:sldId id="345"/>
            <p14:sldId id="284"/>
            <p14:sldId id="285"/>
          </p14:sldIdLst>
        </p14:section>
        <p14:section name="Visual tables" id="{721D9B52-BD22-463D-8A4E-9824D6EB88F6}">
          <p14:sldIdLst>
            <p14:sldId id="377"/>
            <p14:sldId id="288"/>
            <p14:sldId id="290"/>
            <p14:sldId id="337"/>
            <p14:sldId id="361"/>
          </p14:sldIdLst>
        </p14:section>
        <p14:section name="Graphical ideas" id="{A443A2C1-AB4D-4FAA-A892-C407BA11A0B9}">
          <p14:sldIdLst>
            <p14:sldId id="378"/>
            <p14:sldId id="365"/>
            <p14:sldId id="370"/>
            <p14:sldId id="363"/>
            <p14:sldId id="366"/>
            <p14:sldId id="367"/>
            <p14:sldId id="374"/>
            <p14:sldId id="375"/>
          </p14:sldIdLst>
        </p14:section>
        <p14:section name="Data, pictures, models" id="{44A7DE1F-F367-4B49-B28A-18C6E8D72B81}">
          <p14:sldIdLst>
            <p14:sldId id="332"/>
            <p14:sldId id="333"/>
            <p14:sldId id="334"/>
            <p14:sldId id="325"/>
            <p14:sldId id="318"/>
            <p14:sldId id="319"/>
            <p14:sldId id="324"/>
            <p14:sldId id="357"/>
            <p14:sldId id="336"/>
            <p14:sldId id="358"/>
            <p14:sldId id="339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00" d="100"/>
          <a:sy n="100" d="100"/>
        </p:scale>
        <p:origin x="1242" y="7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4526"/>
    </p:cViewPr>
  </p:sorterViewPr>
  <p:notesViewPr>
    <p:cSldViewPr>
      <p:cViewPr varScale="1">
        <p:scale>
          <a:sx n="87" d="100"/>
          <a:sy n="87" d="100"/>
        </p:scale>
        <p:origin x="-2040" y="-72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notesMaster" Target="notesMasters/notesMaster1.xml"/><Relationship Id="rId79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8BD4FA9-F3CE-45B3-A980-C331C6F1EF65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7CD5E95-8CAD-4274-BFFA-CD87442DEA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076907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E868E6B-2B58-4827-9AA6-AB8949EE5698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29FAFA-867C-401E-8BFE-A74C92B6CF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70953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29FAFA-867C-401E-8BFE-A74C92B6CFBC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7470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29FAFA-867C-401E-8BFE-A74C92B6CFBC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176326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algn="l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</a:defRPr>
            </a:lvl1pPr>
            <a:lvl2pPr marL="742950" indent="-285750" algn="l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</a:defRPr>
            </a:lvl2pPr>
            <a:lvl3pPr marL="1143000" indent="-228600" algn="l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</a:defRPr>
            </a:lvl3pPr>
            <a:lvl4pPr marL="1600200" indent="-228600" algn="l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</a:defRPr>
            </a:lvl4pPr>
            <a:lvl5pPr marL="2057400" indent="-228600" algn="l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r" eaLnBrk="1" hangingPunct="1">
              <a:spcBef>
                <a:spcPct val="0"/>
              </a:spcBef>
            </a:pPr>
            <a:fld id="{7B139DA5-5EF3-4D66-8AE7-7945AF959C12}" type="slidenum">
              <a:rPr lang="en-US" altLang="en-US" smtClean="0"/>
              <a:pPr algn="r" eaLnBrk="1" hangingPunct="1">
                <a:spcBef>
                  <a:spcPct val="0"/>
                </a:spcBef>
              </a:pPr>
              <a:t>62</a:t>
            </a:fld>
            <a:endParaRPr lang="en-US" altLang="en-US"/>
          </a:p>
        </p:txBody>
      </p:sp>
      <p:sp>
        <p:nvSpPr>
          <p:cNvPr id="921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220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en-US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algn="l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</a:defRPr>
            </a:lvl1pPr>
            <a:lvl2pPr marL="742950" indent="-285750" algn="l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</a:defRPr>
            </a:lvl2pPr>
            <a:lvl3pPr marL="1143000" indent="-228600" algn="l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</a:defRPr>
            </a:lvl3pPr>
            <a:lvl4pPr marL="1600200" indent="-228600" algn="l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</a:defRPr>
            </a:lvl4pPr>
            <a:lvl5pPr marL="2057400" indent="-228600" algn="l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r" eaLnBrk="1" hangingPunct="1">
              <a:spcBef>
                <a:spcPct val="0"/>
              </a:spcBef>
            </a:pPr>
            <a:fld id="{F15FE66C-0560-491B-B74C-DD265CE1C878}" type="slidenum">
              <a:rPr lang="en-US" altLang="en-US" smtClean="0"/>
              <a:pPr algn="r" eaLnBrk="1" hangingPunct="1">
                <a:spcBef>
                  <a:spcPct val="0"/>
                </a:spcBef>
              </a:pPr>
              <a:t>63</a:t>
            </a:fld>
            <a:endParaRPr lang="en-US" altLang="en-US"/>
          </a:p>
        </p:txBody>
      </p:sp>
      <p:sp>
        <p:nvSpPr>
          <p:cNvPr id="122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292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en-US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algn="l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</a:defRPr>
            </a:lvl1pPr>
            <a:lvl2pPr marL="742950" indent="-285750" algn="l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</a:defRPr>
            </a:lvl2pPr>
            <a:lvl3pPr marL="1143000" indent="-228600" algn="l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</a:defRPr>
            </a:lvl3pPr>
            <a:lvl4pPr marL="1600200" indent="-228600" algn="l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</a:defRPr>
            </a:lvl4pPr>
            <a:lvl5pPr marL="2057400" indent="-228600" algn="l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r" eaLnBrk="1" hangingPunct="1">
              <a:spcBef>
                <a:spcPct val="0"/>
              </a:spcBef>
            </a:pPr>
            <a:fld id="{DA15731D-AA58-4F5C-AD9C-2D2EC6841EDF}" type="slidenum">
              <a:rPr lang="en-US" altLang="en-US" smtClean="0"/>
              <a:pPr algn="r" eaLnBrk="1" hangingPunct="1">
                <a:spcBef>
                  <a:spcPct val="0"/>
                </a:spcBef>
              </a:pPr>
              <a:t>64</a:t>
            </a:fld>
            <a:endParaRPr lang="en-US" altLang="en-US"/>
          </a:p>
        </p:txBody>
      </p:sp>
      <p:sp>
        <p:nvSpPr>
          <p:cNvPr id="1433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340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en-US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Methods for studying gender or racial discrimination in hiring, promotion, salary are now well developed. </a:t>
            </a:r>
          </a:p>
          <a:p>
            <a:r>
              <a:rPr lang="en-US" dirty="0"/>
              <a:t>Many universities and large corporations have mechanisms for equity, affirmative action and, in the case of salary, anomaly adjustment.</a:t>
            </a:r>
          </a:p>
          <a:p>
            <a:endParaRPr lang="en-US" dirty="0"/>
          </a:p>
          <a:p>
            <a:r>
              <a:rPr lang="en-US" dirty="0"/>
              <a:t>An initial salvo that got wide attention was a 1975 study on graduate admissions by Peter Bickel and others.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E20828-1A1A-4225-BE3A-F8540A5E6146}" type="slidenum">
              <a:rPr lang="en-US" smtClean="0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329994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E20828-1A1A-4225-BE3A-F8540A5E6146}" type="slidenum">
              <a:rPr lang="en-US" smtClean="0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855387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E20828-1A1A-4225-BE3A-F8540A5E6146}" type="slidenum">
              <a:rPr lang="en-US" smtClean="0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090303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E20828-1A1A-4225-BE3A-F8540A5E6146}" type="slidenum">
              <a:rPr lang="en-US" smtClean="0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75273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solidFill>
            <a:srgbClr val="002060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AD3657-2200-4D14-82C0-10C39B0F0F06}" type="datetime1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9663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SzPct val="120000"/>
              <a:defRPr sz="2800"/>
            </a:lvl1pPr>
            <a:lvl2pPr>
              <a:defRPr sz="2400"/>
            </a:lvl2pPr>
            <a:lvl3pPr marL="1143000" indent="-228600">
              <a:buClr>
                <a:srgbClr val="00B0F0"/>
              </a:buClr>
              <a:buSzPct val="110000"/>
              <a:buFont typeface="Arial" panose="020B0604020202020204" pitchFamily="34" charset="0"/>
              <a:buChar char="•"/>
              <a:defRPr sz="2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1AD17-B813-4477-8AFE-B1860CC59113}" type="datetime1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55579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none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975C0D-5C9E-48CC-8D31-F42D19FA8F7A}" type="datetime1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2219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143000"/>
            <a:ext cx="4038600" cy="51054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143000"/>
            <a:ext cx="4038600" cy="51054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657551-0F2B-4F09-86FD-F7994CE83DC5}" type="datetime1">
              <a:rPr lang="en-US" smtClean="0"/>
              <a:t>1/8/2026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07015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29D2B2-4200-46B9-96C3-02A55D5FAA00}" type="datetime1">
              <a:rPr lang="en-US" smtClean="0"/>
              <a:t>1/8/2026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8767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FF7722-74E8-497F-A072-89677A2C2373}" type="datetime1">
              <a:rPr lang="en-US" smtClean="0"/>
              <a:t>1/8/2026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73631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6212E-B46B-426F-AE59-AA326827D9E0}" type="datetime1">
              <a:rPr lang="en-US" smtClean="0"/>
              <a:t>1/8/2026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6946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9B81E8-09EA-4684-A39F-38DE1E49D20C}" type="datetime1">
              <a:rPr lang="en-US" smtClean="0"/>
              <a:t>1/8/2026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01098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C5CC5F-056C-4047-9A5C-9F5B4BED129B}" type="datetime1">
              <a:rPr lang="en-US" smtClean="0"/>
              <a:t>1/8/2026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99378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BBAF55-A85E-4993-914E-FC1E5AA7DF24}" type="datetime1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21866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816E07-E1DB-44A4-A5E5-9F4B54E8C933}" type="datetime1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41791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715962"/>
          </a:xfrm>
          <a:prstGeom prst="rect">
            <a:avLst/>
          </a:prstGeom>
          <a:solidFill>
            <a:srgbClr val="002060"/>
          </a:solidFill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3000"/>
            <a:ext cx="8229600" cy="5105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171053-07BD-4A17-AC24-0A22EAA36098}" type="datetime1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94294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Clr>
          <a:srgbClr val="0070C0"/>
        </a:buClr>
        <a:buSzPct val="115000"/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Clr>
          <a:srgbClr val="FF0000"/>
        </a:buClr>
        <a:buSzPct val="110000"/>
        <a:buFont typeface="Wingdings" panose="05000000000000000000" pitchFamily="2" charset="2"/>
        <a:buChar char="§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://friendly.github.io/psy6136" TargetMode="External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1.png"/><Relationship Id="rId4" Type="http://schemas.openxmlformats.org/officeDocument/2006/relationships/hyperlink" Target="https://bsky.app/profile/datavisfriendly.bsky.social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friendly.github.io/psy6136/schedule.html" TargetMode="Externa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hyperlink" Target="https://friendly.github.io/psy6136/" TargetMode="External"/><Relationship Id="rId7" Type="http://schemas.openxmlformats.org/officeDocument/2006/relationships/hyperlink" Target="https://friendly.github.io/psy6136/papers/YorkBookstore-PSYC6136.docx" TargetMode="External"/><Relationship Id="rId2" Type="http://schemas.openxmlformats.org/officeDocument/2006/relationships/hyperlink" Target="https://www.taylorfrancis.com/books/mono/10.1201/b19022/discrete-data-analysis-michael-friendly-david-meyer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bit.ly/3Wzqv0n" TargetMode="External"/><Relationship Id="rId5" Type="http://schemas.openxmlformats.org/officeDocument/2006/relationships/hyperlink" Target="https://ddar.datavis.ca/" TargetMode="External"/><Relationship Id="rId4" Type="http://schemas.openxmlformats.org/officeDocument/2006/relationships/hyperlink" Target="https://friendly.github.io/psy6136/schedule.html" TargetMode="External"/><Relationship Id="rId9" Type="http://schemas.openxmlformats.org/officeDocument/2006/relationships/image" Target="../media/image10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://socserv.socsci.mcmaster.ca/jfox/Books/Companion/" TargetMode="External"/><Relationship Id="rId2" Type="http://schemas.openxmlformats.org/officeDocument/2006/relationships/hyperlink" Target="https://bityl.co/FG9c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jpeg"/><Relationship Id="rId5" Type="http://schemas.openxmlformats.org/officeDocument/2006/relationships/image" Target="../media/image12.jpg"/><Relationship Id="rId4" Type="http://schemas.openxmlformats.org/officeDocument/2006/relationships/image" Target="../media/image11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friendly.github.io/psy6136/about.html#assign" TargetMode="External"/><Relationship Id="rId2" Type="http://schemas.openxmlformats.org/officeDocument/2006/relationships/hyperlink" Target="https://friendly.github.io/psy6136/schedule.html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friendly.github.io/psy6136/about.html#evaluation" TargetMode="Externa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hyperlink" Target="https://cran.r-project.org/" TargetMode="External"/><Relationship Id="rId7" Type="http://schemas.openxmlformats.org/officeDocument/2006/relationships/hyperlink" Target="https://friendly.github.io/psy6136/R/install-vcd-pkgs.R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11" Type="http://schemas.openxmlformats.org/officeDocument/2006/relationships/image" Target="../media/image19.png"/><Relationship Id="rId5" Type="http://schemas.openxmlformats.org/officeDocument/2006/relationships/image" Target="../media/image14.png"/><Relationship Id="rId10" Type="http://schemas.openxmlformats.org/officeDocument/2006/relationships/image" Target="../media/image18.png"/><Relationship Id="rId4" Type="http://schemas.openxmlformats.org/officeDocument/2006/relationships/hyperlink" Target="https://www.rstudio.com/products/rstudio/" TargetMode="External"/><Relationship Id="rId9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friendly/my6136/archive/refs/heads/master.zip" TargetMode="External"/><Relationship Id="rId2" Type="http://schemas.openxmlformats.org/officeDocument/2006/relationships/hyperlink" Target="https://github.com/friendly/my6136" TargetMode="Externa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0.jpg"/><Relationship Id="rId4" Type="http://schemas.openxmlformats.org/officeDocument/2006/relationships/hyperlink" Target="https://github.com/friendly/my6136.git" TargetMode="Externa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hyperlink" Target="https://friendly.github.io/vcdExtra/articles/a1-creating.html" TargetMode="Externa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jpg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atavis.ca/papers/amstat95.pdf" TargetMode="External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jpeg"/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hyperlink" Target="https://doi.org/10.1177/15291006211051956" TargetMode="Externa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6.png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hyperlink" Target="https://doi.org/10.1016/S0167-9473(02)00290-6" TargetMode="Externa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atavis.ca/papers/corrgram.pdf" TargetMode="External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6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136/bmj.m3223" TargetMode="External"/><Relationship Id="rId2" Type="http://schemas.openxmlformats.org/officeDocument/2006/relationships/image" Target="../media/image52.jpeg"/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56.png"/><Relationship Id="rId4" Type="http://schemas.openxmlformats.org/officeDocument/2006/relationships/hyperlink" Target="http://www.aviz.fr/bertifier" TargetMode="Externa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gif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hyperlink" Target="https://bsky.app/profile/xangregg.bsky.social/post/3m7dttgtggs2a" TargetMode="External"/><Relationship Id="rId2" Type="http://schemas.openxmlformats.org/officeDocument/2006/relationships/image" Target="../media/image59.jpg"/><Relationship Id="rId1" Type="http://schemas.openxmlformats.org/officeDocument/2006/relationships/slideLayout" Target="../slideLayouts/slideLayout6.xml"/><Relationship Id="rId4" Type="http://schemas.openxmlformats.org/officeDocument/2006/relationships/hyperlink" Target="https://tischcollege.tufts.edu/research-faculty/research-centers/cooperative-election-study" TargetMode="Externa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jpg"/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eddit.com/r/writing/comments/3vf1g1/causes_of_death_in_shakespeares_plays/" TargetMode="External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hyperlink" Target="https://bsky.app/profile/infobeautiful.bsky.social/post/3m7ispw2gyh2j" TargetMode="External"/><Relationship Id="rId2" Type="http://schemas.openxmlformats.org/officeDocument/2006/relationships/image" Target="../media/image62.jpg"/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hyperlink" Target="https://ourworldindata.org/does-the-news-reflect-what-we-die-from" TargetMode="External"/><Relationship Id="rId2" Type="http://schemas.openxmlformats.org/officeDocument/2006/relationships/image" Target="../media/image63.jpg"/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juleswg23/baseball" TargetMode="External"/><Relationship Id="rId2" Type="http://schemas.openxmlformats.org/officeDocument/2006/relationships/image" Target="../media/image64.jpg"/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6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7" Type="http://schemas.openxmlformats.org/officeDocument/2006/relationships/image" Target="../media/image69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8.png"/><Relationship Id="rId5" Type="http://schemas.openxmlformats.org/officeDocument/2006/relationships/image" Target="../media/image67.png"/><Relationship Id="rId4" Type="http://schemas.openxmlformats.org/officeDocument/2006/relationships/image" Target="../media/image66.png"/></Relationships>
</file>

<file path=ppt/slides/_rels/slide6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0.jpeg"/><Relationship Id="rId3" Type="http://schemas.openxmlformats.org/officeDocument/2006/relationships/image" Target="../media/image65.png"/><Relationship Id="rId7" Type="http://schemas.openxmlformats.org/officeDocument/2006/relationships/image" Target="../media/image69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8.png"/><Relationship Id="rId5" Type="http://schemas.openxmlformats.org/officeDocument/2006/relationships/image" Target="../media/image67.png"/><Relationship Id="rId4" Type="http://schemas.openxmlformats.org/officeDocument/2006/relationships/image" Target="../media/image66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73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6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667000"/>
            <a:ext cx="7772400" cy="1470025"/>
          </a:xfrm>
        </p:spPr>
        <p:txBody>
          <a:bodyPr/>
          <a:lstStyle/>
          <a:p>
            <a:r>
              <a:rPr lang="en-US" dirty="0"/>
              <a:t>Categorical Data Analysis</a:t>
            </a:r>
            <a:br>
              <a:rPr lang="en-US" dirty="0"/>
            </a:br>
            <a:r>
              <a:rPr lang="en-US" sz="3200" dirty="0"/>
              <a:t>Course overview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4648200"/>
            <a:ext cx="6400800" cy="1752600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Michael Friendly</a:t>
            </a:r>
          </a:p>
          <a:p>
            <a:r>
              <a:rPr lang="en-US" dirty="0"/>
              <a:t>Psych 6136</a:t>
            </a:r>
          </a:p>
          <a:p>
            <a:pPr lvl="0"/>
            <a:r>
              <a:rPr lang="en-US" sz="2200" dirty="0">
                <a:solidFill>
                  <a:prstClr val="black">
                    <a:tint val="75000"/>
                  </a:prstClr>
                </a:solidFill>
                <a:hlinkClick r:id="rId3"/>
              </a:rPr>
              <a:t>http://friendly.github.io/psy6136</a:t>
            </a:r>
            <a:endParaRPr lang="en-US" sz="2200" dirty="0">
              <a:solidFill>
                <a:prstClr val="black">
                  <a:tint val="75000"/>
                </a:prstClr>
              </a:solidFill>
            </a:endParaRPr>
          </a:p>
          <a:p>
            <a:pPr lvl="0"/>
            <a:r>
              <a:rPr lang="en-US" sz="2200" dirty="0">
                <a:solidFill>
                  <a:prstClr val="black">
                    <a:tint val="75000"/>
                  </a:prstClr>
                </a:solidFill>
                <a:hlinkClick r:id="rId4"/>
              </a:rPr>
              <a:t>@datavisFriendly </a:t>
            </a:r>
            <a:r>
              <a:rPr lang="en-US" sz="2200" dirty="0">
                <a:solidFill>
                  <a:prstClr val="black">
                    <a:tint val="75000"/>
                  </a:prstClr>
                </a:solidFill>
              </a:rPr>
              <a:t>|| </a:t>
            </a:r>
            <a:r>
              <a:rPr lang="en-US" sz="2200" dirty="0">
                <a:solidFill>
                  <a:schemeClr val="accent1">
                    <a:lumMod val="75000"/>
                  </a:schemeClr>
                </a:solidFill>
              </a:rPr>
              <a:t>#psy6136</a:t>
            </a:r>
          </a:p>
          <a:p>
            <a:endParaRPr lang="en-US" dirty="0"/>
          </a:p>
        </p:txBody>
      </p:sp>
      <p:pic>
        <p:nvPicPr>
          <p:cNvPr id="5" name="Picture 4" descr="A picture containing diagram&#10;&#10;Description automatically generated">
            <a:extLst>
              <a:ext uri="{FF2B5EF4-FFF2-40B4-BE49-F238E27FC236}">
                <a16:creationId xmlns:a16="http://schemas.microsoft.com/office/drawing/2014/main" id="{A0F6C6BF-0447-4881-AAF9-FBDBDBD4659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4400" y="393580"/>
            <a:ext cx="7198764" cy="1892420"/>
          </a:xfrm>
          <a:prstGeom prst="rect">
            <a:avLst/>
          </a:prstGeom>
        </p:spPr>
      </p:pic>
      <p:pic>
        <p:nvPicPr>
          <p:cNvPr id="6" name="Picture 5" descr="Shape&#10;&#10;Description automatically generated">
            <a:extLst>
              <a:ext uri="{FF2B5EF4-FFF2-40B4-BE49-F238E27FC236}">
                <a16:creationId xmlns:a16="http://schemas.microsoft.com/office/drawing/2014/main" id="{93954C02-1023-4830-9FBD-BCB524918B7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86072" y="4578350"/>
            <a:ext cx="1495928" cy="1730890"/>
          </a:xfrm>
          <a:prstGeom prst="rect">
            <a:avLst/>
          </a:prstGeom>
        </p:spPr>
      </p:pic>
      <p:pic>
        <p:nvPicPr>
          <p:cNvPr id="7" name="Picture 6" descr="Shape&#10;&#10;Description automatically generated">
            <a:extLst>
              <a:ext uri="{FF2B5EF4-FFF2-40B4-BE49-F238E27FC236}">
                <a16:creationId xmlns:a16="http://schemas.microsoft.com/office/drawing/2014/main" id="{D6C99A87-168D-40AD-BE2A-0DC5681CE56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800" y="4578350"/>
            <a:ext cx="1495928" cy="1730890"/>
          </a:xfrm>
          <a:prstGeom prst="rect">
            <a:avLst/>
          </a:prstGeom>
        </p:spPr>
      </p:pic>
      <p:pic>
        <p:nvPicPr>
          <p:cNvPr id="4" name="Picture 2" descr="C:\Dropbox\Twitter\twitter2.png">
            <a:extLst>
              <a:ext uri="{FF2B5EF4-FFF2-40B4-BE49-F238E27FC236}">
                <a16:creationId xmlns:a16="http://schemas.microsoft.com/office/drawing/2014/main" id="{85CF8872-A8A2-FBD2-452E-AFBB07DFDB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35366" y="6019800"/>
            <a:ext cx="269677" cy="2196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704656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BEF9C3-57A4-44FF-A6AD-320E023DF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Course goals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4BA79E5-2133-4288-BE25-49A6500562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43000"/>
            <a:ext cx="8229600" cy="9144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This course is designed as a broad, applied introduction to the statistical analysis of categorical data, with an emphasis on: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4E166A3-DE3D-4B6E-8FA4-E071A97D29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2E2974E-78A2-4D4D-A62A-F497C8CD59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381" y="2384601"/>
            <a:ext cx="8095238" cy="140952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D22F0D1-59BA-4235-924C-79DA446658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381" y="4121326"/>
            <a:ext cx="8114286" cy="19523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50389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BA2C2-84C7-494D-8C55-5224AC635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Course outline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D757B2-EC64-4B40-BF70-DF06B989E8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E03444F-ED5B-4391-ADAB-6B0A305D60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28695"/>
            <a:ext cx="8409524" cy="216190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5CEE8CF-5F87-44AA-BA90-B2EE022705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665493"/>
            <a:ext cx="8419048" cy="24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44051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734EE70-1B98-4E96-4AC1-0950820E66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8899FCB-5F17-0F02-BE61-D014C7F645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1676400"/>
            <a:ext cx="7657143" cy="453333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1CBFDD0-9C53-DBF8-02D2-2D8DDE3BBA14}"/>
              </a:ext>
            </a:extLst>
          </p:cNvPr>
          <p:cNvSpPr txBox="1"/>
          <p:nvPr/>
        </p:nvSpPr>
        <p:spPr>
          <a:xfrm>
            <a:off x="457200" y="1143000"/>
            <a:ext cx="822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The </a:t>
            </a:r>
            <a:r>
              <a:rPr lang="en-CA" dirty="0">
                <a:hlinkClick r:id="rId3"/>
              </a:rPr>
              <a:t>schedule</a:t>
            </a:r>
            <a:r>
              <a:rPr lang="en-CA" dirty="0"/>
              <a:t> page provides links to slides, tutorials, readings &amp; R scripts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7F713B7-1D8F-0B75-C89D-76C8DE7C5E9C}"/>
              </a:ext>
            </a:extLst>
          </p:cNvPr>
          <p:cNvSpPr txBox="1"/>
          <p:nvPr/>
        </p:nvSpPr>
        <p:spPr>
          <a:xfrm>
            <a:off x="762000" y="5867400"/>
            <a:ext cx="3657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. . .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B386812-8B77-5488-F866-CE3F850356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Schedule</a:t>
            </a:r>
          </a:p>
        </p:txBody>
      </p:sp>
    </p:spTree>
    <p:extLst>
      <p:ext uri="{BB962C8B-B14F-4D97-AF65-F5344CB8AC3E}">
        <p14:creationId xmlns:p14="http://schemas.microsoft.com/office/powerpoint/2010/main" val="3149794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D85F51-96D4-4074-9DCF-44C8AB884C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Textbooks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4E13AB5-7B66-49AD-9233-E3F1CFD5F3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43000"/>
            <a:ext cx="6477000" cy="510540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Main texts</a:t>
            </a:r>
          </a:p>
          <a:p>
            <a:r>
              <a:rPr lang="en-US" sz="2200" dirty="0"/>
              <a:t>Friendly &amp; Meyer (2016). </a:t>
            </a:r>
            <a:r>
              <a:rPr lang="en-US" sz="2200" i="1" dirty="0"/>
              <a:t>Discrete Data Analysis with R: Visualizing &amp; Modeling Techniques for Categorical &amp; Count Data</a:t>
            </a:r>
          </a:p>
          <a:p>
            <a:pPr lvl="1"/>
            <a:r>
              <a:rPr lang="en-US" sz="1800" dirty="0"/>
              <a:t>30% discount on </a:t>
            </a:r>
            <a:r>
              <a:rPr lang="en-US" sz="1800" dirty="0">
                <a:hlinkClick r:id="rId2"/>
              </a:rPr>
              <a:t>Routledge web site </a:t>
            </a:r>
            <a:r>
              <a:rPr lang="en-US" sz="1800" dirty="0"/>
              <a:t>(code: DDAR30)</a:t>
            </a:r>
          </a:p>
          <a:p>
            <a:pPr lvl="1"/>
            <a:r>
              <a:rPr lang="en-US" sz="1800" dirty="0"/>
              <a:t>Draft chapters linked in </a:t>
            </a:r>
            <a:r>
              <a:rPr lang="en-US" sz="1800" dirty="0">
                <a:hlinkClick r:id="rId3"/>
              </a:rPr>
              <a:t>Home page </a:t>
            </a:r>
            <a:r>
              <a:rPr lang="en-US" sz="1800" dirty="0"/>
              <a:t>&amp; </a:t>
            </a:r>
            <a:r>
              <a:rPr lang="en-US" sz="1800" dirty="0">
                <a:hlinkClick r:id="rId4"/>
              </a:rPr>
              <a:t>Schedule</a:t>
            </a:r>
            <a:endParaRPr lang="en-US" sz="1800" dirty="0"/>
          </a:p>
          <a:p>
            <a:pPr lvl="1"/>
            <a:r>
              <a:rPr lang="en-US" sz="1800" dirty="0"/>
              <a:t>DDAR web site: </a:t>
            </a:r>
            <a:r>
              <a:rPr lang="en-US" sz="1800" dirty="0">
                <a:hlinkClick r:id="rId5"/>
              </a:rPr>
              <a:t>https://ddar.datavis.ca</a:t>
            </a:r>
            <a:r>
              <a:rPr lang="en-US" sz="1800" dirty="0"/>
              <a:t> </a:t>
            </a:r>
          </a:p>
          <a:p>
            <a:endParaRPr lang="en-US" sz="2200" dirty="0"/>
          </a:p>
          <a:p>
            <a:r>
              <a:rPr lang="en-US" sz="2200" dirty="0" err="1"/>
              <a:t>Agresti</a:t>
            </a:r>
            <a:r>
              <a:rPr lang="en-US" sz="2200" dirty="0"/>
              <a:t> (2007). </a:t>
            </a:r>
            <a:r>
              <a:rPr lang="en-US" sz="2200" i="1" dirty="0"/>
              <a:t>An Introduction to Categorical Data Analysis</a:t>
            </a:r>
            <a:r>
              <a:rPr lang="en-US" sz="2200" dirty="0"/>
              <a:t>, 3</a:t>
            </a:r>
            <a:r>
              <a:rPr lang="en-US" sz="2200" baseline="30000" dirty="0"/>
              <a:t>rd</a:t>
            </a:r>
            <a:r>
              <a:rPr lang="en-US" sz="2200" dirty="0"/>
              <a:t>  E. Wiley &amp; Sons.</a:t>
            </a:r>
          </a:p>
          <a:p>
            <a:pPr lvl="1"/>
            <a:r>
              <a:rPr lang="en-US" sz="1800" dirty="0"/>
              <a:t>eBook available: </a:t>
            </a:r>
            <a:r>
              <a:rPr lang="en-US" sz="1800" dirty="0">
                <a:hlinkClick r:id="rId6"/>
              </a:rPr>
              <a:t>https://bit.ly/3Wzqv0n</a:t>
            </a:r>
            <a:r>
              <a:rPr lang="en-US" sz="1800" dirty="0"/>
              <a:t> </a:t>
            </a:r>
          </a:p>
          <a:p>
            <a:pPr lvl="1"/>
            <a:r>
              <a:rPr lang="en-US" sz="1800" dirty="0"/>
              <a:t>Or, via </a:t>
            </a:r>
            <a:r>
              <a:rPr lang="en-US" sz="1800" dirty="0">
                <a:hlinkClick r:id="rId7"/>
              </a:rPr>
              <a:t>York Bookstore</a:t>
            </a:r>
            <a:r>
              <a:rPr lang="en-US" sz="1800" dirty="0"/>
              <a:t> (?)</a:t>
            </a:r>
          </a:p>
          <a:p>
            <a:pPr marL="457200" lvl="1" indent="0">
              <a:buNone/>
            </a:pPr>
            <a:r>
              <a:rPr lang="en-US" sz="1800" dirty="0"/>
              <a:t> </a:t>
            </a:r>
          </a:p>
          <a:p>
            <a:pPr lvl="1"/>
            <a:endParaRPr lang="en-US" sz="2000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E4BF7A5-E7A3-47CE-A156-8F9BBF4B54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</a:t>
            </a:fld>
            <a:endParaRPr lang="en-US"/>
          </a:p>
        </p:txBody>
      </p:sp>
      <p:pic>
        <p:nvPicPr>
          <p:cNvPr id="6" name="Picture 5" descr="Diagram, schematic&#10;&#10;Description automatically generated">
            <a:extLst>
              <a:ext uri="{FF2B5EF4-FFF2-40B4-BE49-F238E27FC236}">
                <a16:creationId xmlns:a16="http://schemas.microsoft.com/office/drawing/2014/main" id="{D4ECA688-4AF4-4FA8-B118-5FC5E110CFD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6600" y="1690858"/>
            <a:ext cx="1371600" cy="2117851"/>
          </a:xfrm>
          <a:prstGeom prst="rect">
            <a:avLst/>
          </a:prstGeom>
        </p:spPr>
      </p:pic>
      <p:pic>
        <p:nvPicPr>
          <p:cNvPr id="10" name="Picture 9" descr="A picture containing text&#10;&#10;Description automatically generated">
            <a:extLst>
              <a:ext uri="{FF2B5EF4-FFF2-40B4-BE49-F238E27FC236}">
                <a16:creationId xmlns:a16="http://schemas.microsoft.com/office/drawing/2014/main" id="{F193AEDB-99C6-4A68-AF59-77AF98706D78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77849" y="3981422"/>
            <a:ext cx="1676400" cy="2268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51047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65F1CE-4FD1-40D0-9DD5-2F1D04A385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Textbooks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57F162-9B6F-4DFA-8207-D641BD4EF7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43000"/>
            <a:ext cx="8229600" cy="2590800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2400" dirty="0"/>
              <a:t>Supplementary readings</a:t>
            </a:r>
          </a:p>
          <a:p>
            <a:r>
              <a:rPr lang="en-US" sz="2000" dirty="0" err="1"/>
              <a:t>Agresti</a:t>
            </a:r>
            <a:r>
              <a:rPr lang="en-US" sz="2000" dirty="0"/>
              <a:t> (2013). </a:t>
            </a:r>
            <a:r>
              <a:rPr lang="en-US" sz="2000" i="1" dirty="0"/>
              <a:t>Categorical Data Analysis</a:t>
            </a:r>
            <a:r>
              <a:rPr lang="en-US" sz="2000" dirty="0"/>
              <a:t>, 3</a:t>
            </a:r>
            <a:r>
              <a:rPr lang="en-US" sz="2000" baseline="30000" dirty="0"/>
              <a:t>rd</a:t>
            </a:r>
            <a:r>
              <a:rPr lang="en-US" sz="2000" dirty="0"/>
              <a:t> ed. [More mathematical, but the current Bible of CDA]</a:t>
            </a:r>
            <a:r>
              <a:rPr lang="en-US" sz="2400" dirty="0"/>
              <a:t> </a:t>
            </a:r>
          </a:p>
          <a:p>
            <a:pPr lvl="1"/>
            <a:r>
              <a:rPr lang="en-US" sz="2000" dirty="0"/>
              <a:t>PDF available: </a:t>
            </a:r>
            <a:r>
              <a:rPr lang="en-US" sz="2000" dirty="0">
                <a:hlinkClick r:id="rId2"/>
              </a:rPr>
              <a:t>https://bityl.co/FG9c</a:t>
            </a:r>
            <a:r>
              <a:rPr lang="en-US" sz="2000" dirty="0"/>
              <a:t> </a:t>
            </a:r>
          </a:p>
          <a:p>
            <a:r>
              <a:rPr lang="en-US" sz="2000" dirty="0"/>
              <a:t>Fox (2016). </a:t>
            </a:r>
            <a:r>
              <a:rPr lang="en-US" sz="2000" i="1" dirty="0"/>
              <a:t>Applied Regression Analysis and Generalized Linear Models</a:t>
            </a:r>
            <a:r>
              <a:rPr lang="en-US" sz="2000" dirty="0"/>
              <a:t>, 3</a:t>
            </a:r>
            <a:r>
              <a:rPr lang="en-US" sz="2000" baseline="30000" dirty="0"/>
              <a:t>rd</a:t>
            </a:r>
            <a:r>
              <a:rPr lang="en-US" sz="2000" dirty="0"/>
              <a:t> ed. Particularly: Part IV on Generalized Linear Models</a:t>
            </a:r>
          </a:p>
          <a:p>
            <a:r>
              <a:rPr lang="en-US" sz="2000" dirty="0"/>
              <a:t>Fox &amp; Weisberg (2018). </a:t>
            </a:r>
            <a:r>
              <a:rPr lang="en-US" sz="2000" i="1" dirty="0"/>
              <a:t>An R Companion to Applied Regression. </a:t>
            </a:r>
            <a:r>
              <a:rPr lang="en-US" sz="2000" dirty="0"/>
              <a:t>Also, </a:t>
            </a:r>
            <a:r>
              <a:rPr lang="en-US" sz="2000" dirty="0">
                <a:hlinkClick r:id="rId3"/>
              </a:rPr>
              <a:t>web site for the book</a:t>
            </a:r>
            <a:r>
              <a:rPr lang="en-US" sz="2000" dirty="0"/>
              <a:t>.</a:t>
            </a:r>
            <a:endParaRPr lang="en-US" sz="2000" i="1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EBE438-5FE5-4B24-8583-F1B8A89353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6</a:t>
            </a:fld>
            <a:endParaRPr lang="en-US"/>
          </a:p>
        </p:txBody>
      </p:sp>
      <p:pic>
        <p:nvPicPr>
          <p:cNvPr id="6" name="Picture 5" descr="Graphical user interface&#10;&#10;Description automatically generated">
            <a:extLst>
              <a:ext uri="{FF2B5EF4-FFF2-40B4-BE49-F238E27FC236}">
                <a16:creationId xmlns:a16="http://schemas.microsoft.com/office/drawing/2014/main" id="{1294B1B7-7DAC-4589-8E77-41F2A3718D3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4400" y="4191000"/>
            <a:ext cx="1519518" cy="2286000"/>
          </a:xfrm>
          <a:prstGeom prst="rect">
            <a:avLst/>
          </a:prstGeom>
        </p:spPr>
      </p:pic>
      <p:pic>
        <p:nvPicPr>
          <p:cNvPr id="8" name="Picture 7" descr="Diagram&#10;&#10;Description automatically generated">
            <a:extLst>
              <a:ext uri="{FF2B5EF4-FFF2-40B4-BE49-F238E27FC236}">
                <a16:creationId xmlns:a16="http://schemas.microsoft.com/office/drawing/2014/main" id="{18E5F382-41ED-4B6E-97C6-C65A1AB6917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95599" y="4191000"/>
            <a:ext cx="1602336" cy="22860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6F20895-437A-4131-81AD-10E051A5608C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76800" y="4191000"/>
            <a:ext cx="1600200" cy="22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52128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440524-8492-4FF5-8A5F-877052E0DF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Expectations &amp; grading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9742D7-7F0C-45AD-9A73-22E15B9474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I expect you will read chapters in </a:t>
            </a:r>
            <a:r>
              <a:rPr lang="en-US" i="1" dirty="0"/>
              <a:t>DDAR</a:t>
            </a:r>
            <a:r>
              <a:rPr lang="en-US" dirty="0"/>
              <a:t> &amp; </a:t>
            </a:r>
            <a:r>
              <a:rPr lang="en-US" dirty="0" err="1"/>
              <a:t>Agresti</a:t>
            </a:r>
            <a:r>
              <a:rPr lang="en-US" dirty="0"/>
              <a:t> </a:t>
            </a:r>
            <a:r>
              <a:rPr lang="en-US" i="1" dirty="0"/>
              <a:t>Intro</a:t>
            </a:r>
            <a:r>
              <a:rPr lang="en-US" dirty="0"/>
              <a:t> each week</a:t>
            </a:r>
          </a:p>
          <a:p>
            <a:pPr lvl="1"/>
            <a:r>
              <a:rPr lang="en-US" dirty="0"/>
              <a:t>See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hlinkClick r:id="rId2"/>
              </a:rPr>
              <a:t>Topic Schedule </a:t>
            </a:r>
            <a:r>
              <a:rPr lang="en-US" dirty="0"/>
              <a:t>on course web site</a:t>
            </a:r>
          </a:p>
          <a:p>
            <a:pPr lvl="1"/>
            <a:r>
              <a:rPr lang="en-US" dirty="0"/>
              <a:t>R exercises &amp; tutorials: Please work on these</a:t>
            </a:r>
          </a:p>
          <a:p>
            <a:pPr lvl="1"/>
            <a:r>
              <a:rPr lang="en-US" dirty="0"/>
              <a:t>R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hlinkClick r:id="rId3"/>
              </a:rPr>
              <a:t>Assignments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 : </a:t>
            </a:r>
            <a:r>
              <a:rPr lang="en-US" dirty="0"/>
              <a:t>Ungraded, but please submit them when assigned</a:t>
            </a:r>
          </a:p>
          <a:p>
            <a:pPr lvl="1"/>
            <a:r>
              <a:rPr lang="en-US" dirty="0"/>
              <a:t>Class discussion: Help make classes participatory</a:t>
            </a:r>
          </a:p>
          <a:p>
            <a:r>
              <a:rPr lang="en-US" dirty="0">
                <a:solidFill>
                  <a:schemeClr val="accent6">
                    <a:lumMod val="75000"/>
                  </a:schemeClr>
                </a:solidFill>
                <a:hlinkClick r:id="rId4"/>
              </a:rPr>
              <a:t>Evaluation</a:t>
            </a:r>
            <a:r>
              <a:rPr lang="en-US" dirty="0"/>
              <a:t>:        (tentative: subject to change)</a:t>
            </a:r>
          </a:p>
          <a:p>
            <a:pPr lvl="1"/>
            <a:r>
              <a:rPr lang="en-US" dirty="0"/>
              <a:t>(2 x 30%) Two take-home projects: Analysis &amp; research report, based on assignment problems or your own data</a:t>
            </a:r>
          </a:p>
          <a:p>
            <a:pPr lvl="1"/>
            <a:r>
              <a:rPr lang="en-US" dirty="0"/>
              <a:t>(40%) Final project</a:t>
            </a:r>
          </a:p>
          <a:p>
            <a:pPr lvl="2"/>
            <a:r>
              <a:rPr lang="en-US" dirty="0"/>
              <a:t>Assignment portfolio: best work, enhanced</a:t>
            </a:r>
          </a:p>
          <a:p>
            <a:pPr lvl="2"/>
            <a:r>
              <a:rPr lang="en-US" dirty="0"/>
              <a:t>Research report on journal article(s) of theory / application of CDA</a:t>
            </a:r>
          </a:p>
          <a:p>
            <a:pPr lvl="2"/>
            <a:r>
              <a:rPr lang="en-US" dirty="0"/>
              <a:t>In-class presentation (~15 min) on application of general interest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9BC5D4-2A31-4329-AD46-68DF1F1366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76307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</a:t>
            </a:r>
            <a:r>
              <a:rPr lang="en-US" b="1" dirty="0"/>
              <a:t>R</a:t>
            </a:r>
            <a:r>
              <a:rPr lang="en-US" dirty="0"/>
              <a:t> you need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R, version &gt;=4.1 [R 4.5.2 is current]</a:t>
            </a:r>
          </a:p>
          <a:p>
            <a:pPr lvl="1"/>
            <a:r>
              <a:rPr lang="en-US" dirty="0"/>
              <a:t>Download from </a:t>
            </a:r>
            <a:r>
              <a:rPr lang="en-US" dirty="0">
                <a:hlinkClick r:id="rId3"/>
              </a:rPr>
              <a:t>https://cran.r-project.org/</a:t>
            </a:r>
            <a:r>
              <a:rPr lang="en-US" dirty="0"/>
              <a:t> </a:t>
            </a:r>
          </a:p>
          <a:p>
            <a:r>
              <a:rPr lang="en-US" dirty="0" err="1"/>
              <a:t>RStudio</a:t>
            </a:r>
            <a:r>
              <a:rPr lang="en-US" dirty="0"/>
              <a:t> IDE, highly recommended</a:t>
            </a:r>
          </a:p>
          <a:p>
            <a:pPr lvl="1"/>
            <a:r>
              <a:rPr lang="en-US" dirty="0">
                <a:hlinkClick r:id="rId4"/>
              </a:rPr>
              <a:t>https://www.rstudio.com/products/rstudio/</a:t>
            </a:r>
            <a:r>
              <a:rPr lang="en-US" dirty="0"/>
              <a:t> </a:t>
            </a:r>
          </a:p>
          <a:p>
            <a:r>
              <a:rPr lang="en-US" dirty="0"/>
              <a:t>R packages: </a:t>
            </a:r>
          </a:p>
          <a:p>
            <a:pPr lvl="1"/>
            <a:r>
              <a:rPr lang="en-US" dirty="0" err="1"/>
              <a:t>vcd</a:t>
            </a:r>
            <a:endParaRPr lang="en-US" dirty="0"/>
          </a:p>
          <a:p>
            <a:pPr lvl="1"/>
            <a:r>
              <a:rPr lang="en-US" dirty="0" err="1"/>
              <a:t>vcdExtra</a:t>
            </a:r>
            <a:endParaRPr lang="en-US" dirty="0"/>
          </a:p>
          <a:p>
            <a:pPr lvl="1"/>
            <a:r>
              <a:rPr lang="en-US" dirty="0"/>
              <a:t>car</a:t>
            </a:r>
          </a:p>
          <a:p>
            <a:pPr lvl="1"/>
            <a:r>
              <a:rPr lang="en-US" dirty="0"/>
              <a:t>effects</a:t>
            </a:r>
          </a:p>
          <a:p>
            <a:pPr lvl="1"/>
            <a:r>
              <a:rPr lang="en-US" dirty="0"/>
              <a:t>ggplot2</a:t>
            </a:r>
          </a:p>
          <a:p>
            <a:pPr lvl="1"/>
            <a:r>
              <a:rPr lang="en-US" dirty="0"/>
              <a:t>...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0B7604-93B8-4136-B9BD-D1CE89EE20B0}" type="slidenum">
              <a:rPr lang="en-US" smtClean="0"/>
              <a:t>8</a:t>
            </a:fld>
            <a:endParaRPr lang="en-US"/>
          </a:p>
        </p:txBody>
      </p:sp>
      <p:pic>
        <p:nvPicPr>
          <p:cNvPr id="2050" name="Picture 2" descr="C:\Users\friendly\Dropbox\Documents\SCS\VisMLM-course\fig\logos\car-hex.png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71800" y="4371975"/>
            <a:ext cx="797168" cy="914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1" name="Picture 3" descr="C:\Users\friendly\Dropbox\Documents\SCS\VisMLM-course\fig\logos\effects-hex.png"/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38600" y="4371975"/>
            <a:ext cx="789781" cy="914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8F25AB7-642B-4860-AC8A-BE605B4CE2B9}"/>
              </a:ext>
            </a:extLst>
          </p:cNvPr>
          <p:cNvSpPr txBox="1"/>
          <p:nvPr/>
        </p:nvSpPr>
        <p:spPr>
          <a:xfrm>
            <a:off x="5410200" y="4442936"/>
            <a:ext cx="3048000" cy="738664"/>
          </a:xfrm>
          <a:prstGeom prst="rect">
            <a:avLst/>
          </a:prstGeom>
          <a:solidFill>
            <a:schemeClr val="accent3">
              <a:lumMod val="20000"/>
              <a:lumOff val="80000"/>
              <a:alpha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/>
              <a:t>R script to install packages: </a:t>
            </a:r>
            <a:r>
              <a:rPr lang="en-US" sz="1400" dirty="0">
                <a:hlinkClick r:id="rId7"/>
              </a:rPr>
              <a:t>https://friendly.github.io/psy6136/R/install-vcd-pkgs.R</a:t>
            </a:r>
            <a:r>
              <a:rPr lang="en-US" sz="1400" dirty="0"/>
              <a:t>  </a:t>
            </a:r>
          </a:p>
        </p:txBody>
      </p:sp>
      <p:pic>
        <p:nvPicPr>
          <p:cNvPr id="8" name="Picture 7" descr="Shape&#10;&#10;Description automatically generated">
            <a:extLst>
              <a:ext uri="{FF2B5EF4-FFF2-40B4-BE49-F238E27FC236}">
                <a16:creationId xmlns:a16="http://schemas.microsoft.com/office/drawing/2014/main" id="{7A409D88-D146-4E6B-90AB-520E5AC3BE1C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9067" y="3535003"/>
            <a:ext cx="789434" cy="914400"/>
          </a:xfrm>
          <a:prstGeom prst="rect">
            <a:avLst/>
          </a:prstGeom>
        </p:spPr>
      </p:pic>
      <p:pic>
        <p:nvPicPr>
          <p:cNvPr id="7" name="Picture 6" descr="A picture containing icon&#10;&#10;Description automatically generated">
            <a:extLst>
              <a:ext uri="{FF2B5EF4-FFF2-40B4-BE49-F238E27FC236}">
                <a16:creationId xmlns:a16="http://schemas.microsoft.com/office/drawing/2014/main" id="{C6B7276D-37F5-4CC9-8897-11EE01E789DD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88780" y="5158264"/>
            <a:ext cx="788977" cy="914400"/>
          </a:xfrm>
          <a:prstGeom prst="rect">
            <a:avLst/>
          </a:prstGeom>
        </p:spPr>
      </p:pic>
      <p:pic>
        <p:nvPicPr>
          <p:cNvPr id="9" name="Picture 8" descr="Icon&#10;&#10;Description automatically generated">
            <a:extLst>
              <a:ext uri="{FF2B5EF4-FFF2-40B4-BE49-F238E27FC236}">
                <a16:creationId xmlns:a16="http://schemas.microsoft.com/office/drawing/2014/main" id="{6190409F-4175-FDB4-400D-99B21B0B2B63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34200" y="1180819"/>
            <a:ext cx="1179870" cy="914400"/>
          </a:xfrm>
          <a:prstGeom prst="rect">
            <a:avLst/>
          </a:prstGeom>
        </p:spPr>
      </p:pic>
      <p:pic>
        <p:nvPicPr>
          <p:cNvPr id="11" name="Picture 10" descr="A picture containing text, sign, electronics, computer&#10;&#10;Description automatically generated">
            <a:extLst>
              <a:ext uri="{FF2B5EF4-FFF2-40B4-BE49-F238E27FC236}">
                <a16:creationId xmlns:a16="http://schemas.microsoft.com/office/drawing/2014/main" id="{6F979632-9A27-76D6-0106-D57A5B09747E}"/>
              </a:ext>
            </a:extLst>
          </p:cNvPr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62800" y="2242703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66411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C1464C-8F16-390D-23AF-1B6B2BD0E6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Make your life easier: </a:t>
            </a:r>
            <a:r>
              <a:rPr lang="en-CA" i="1" dirty="0"/>
              <a:t>my6136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787EC7F-711B-AFE1-6358-4B0D744C42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9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ACAE8E3-1541-0903-0AFB-23FDBFB1F1FF}"/>
              </a:ext>
            </a:extLst>
          </p:cNvPr>
          <p:cNvSpPr txBox="1"/>
          <p:nvPr/>
        </p:nvSpPr>
        <p:spPr>
          <a:xfrm>
            <a:off x="457200" y="1143000"/>
            <a:ext cx="82296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I created a template for an R Studio project you can use to organize your work in the course: </a:t>
            </a:r>
            <a:r>
              <a:rPr lang="en-CA" dirty="0">
                <a:hlinkClick r:id="rId2"/>
              </a:rPr>
              <a:t>https://github.com/friendly/my6136</a:t>
            </a:r>
            <a:r>
              <a:rPr lang="en-CA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>
                <a:hlinkClick r:id="rId3"/>
              </a:rPr>
              <a:t>Download the zip </a:t>
            </a:r>
            <a:r>
              <a:rPr lang="en-CA" dirty="0"/>
              <a:t>file, 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 err="1"/>
              <a:t>Rstudio</a:t>
            </a:r>
            <a:r>
              <a:rPr lang="en-CA" dirty="0"/>
              <a:t>: New </a:t>
            </a:r>
            <a:r>
              <a:rPr lang="en-CA" dirty="0" err="1"/>
              <a:t>Proj</a:t>
            </a:r>
            <a:r>
              <a:rPr lang="en-CA" dirty="0"/>
              <a:t> -&gt; </a:t>
            </a:r>
            <a:r>
              <a:rPr lang="en-CA" dirty="0" err="1"/>
              <a:t>Vers</a:t>
            </a:r>
            <a:r>
              <a:rPr lang="en-CA" dirty="0"/>
              <a:t> </a:t>
            </a:r>
            <a:r>
              <a:rPr lang="en-CA" dirty="0" err="1"/>
              <a:t>cont</a:t>
            </a:r>
            <a:r>
              <a:rPr lang="en-CA" dirty="0"/>
              <a:t> -&gt; GitHub: </a:t>
            </a:r>
            <a:r>
              <a:rPr lang="en-CA" dirty="0">
                <a:hlinkClick r:id="rId4"/>
              </a:rPr>
              <a:t>https://github.com/friendly/my6136.git</a:t>
            </a:r>
            <a:r>
              <a:rPr lang="en-CA" dirty="0"/>
              <a:t> </a:t>
            </a:r>
          </a:p>
        </p:txBody>
      </p:sp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1A2035E-CE2A-6A4A-5606-1EB6BBF261A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4542" y="2743200"/>
            <a:ext cx="8020050" cy="3419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53553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5A59F003-E00A-43F9-91DC-CC54E3B874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group of cats sitting on a table with a chart and a diagram&#10;&#10;AI-generated content may be incorrect.">
            <a:extLst>
              <a:ext uri="{FF2B5EF4-FFF2-40B4-BE49-F238E27FC236}">
                <a16:creationId xmlns:a16="http://schemas.microsoft.com/office/drawing/2014/main" id="{AD7603D2-F214-57D6-D3CA-9A16BFAC1D2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44" r="9091" b="2974"/>
          <a:stretch>
            <a:fillRect/>
          </a:stretch>
        </p:blipFill>
        <p:spPr>
          <a:xfrm>
            <a:off x="20" y="10"/>
            <a:ext cx="9143980" cy="6857990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D74A4382-E3AD-430A-9A1F-DFA3E0E77A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2275865" y="-511"/>
            <a:ext cx="4592270" cy="9144001"/>
          </a:xfrm>
          <a:prstGeom prst="rect">
            <a:avLst/>
          </a:prstGeom>
          <a:gradFill>
            <a:gsLst>
              <a:gs pos="35000">
                <a:schemeClr val="tx1">
                  <a:alpha val="46000"/>
                </a:schemeClr>
              </a:gs>
              <a:gs pos="21000">
                <a:schemeClr val="tx1">
                  <a:alpha val="30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>
                  <a:alpha val="90000"/>
                </a:schemeClr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7B36551-A286-A9AD-3118-4D45D67B86F9}"/>
              </a:ext>
            </a:extLst>
          </p:cNvPr>
          <p:cNvSpPr txBox="1"/>
          <p:nvPr/>
        </p:nvSpPr>
        <p:spPr>
          <a:xfrm>
            <a:off x="303413" y="3091928"/>
            <a:ext cx="8534885" cy="23876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7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What is “categorical data analysis”?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79F40191-0F44-4FD1-82CC-ACB507C14B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575039"/>
            <a:ext cx="7339422" cy="685800"/>
          </a:xfrm>
          <a:prstGeom prst="roundRect">
            <a:avLst>
              <a:gd name="adj" fmla="val 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E72458-E3A4-7201-0B7C-18152B10C5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80899" y="6356350"/>
            <a:ext cx="20574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  <a:defRPr/>
            </a:pPr>
            <a:fld id="{621225AB-15B9-4C79-A121-04D1DC7E2307}" type="slidenum">
              <a:rPr lang="en-US">
                <a:solidFill>
                  <a:schemeClr val="bg1"/>
                </a:solidFill>
                <a:latin typeface="Calibri" panose="020F0502020204030204"/>
              </a:rPr>
              <a:pPr>
                <a:spcAft>
                  <a:spcPts val="600"/>
                </a:spcAft>
                <a:defRPr/>
              </a:pPr>
              <a:t>10</a:t>
            </a:fld>
            <a:endParaRPr lang="en-US">
              <a:solidFill>
                <a:schemeClr val="bg1"/>
              </a:solidFill>
              <a:latin typeface="Calibri" panose="020F0502020204030204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31FB87BD-8841-E7B3-7533-4B73CC16DE58}"/>
              </a:ext>
            </a:extLst>
          </p:cNvPr>
          <p:cNvGrpSpPr>
            <a:grpSpLocks noChangeAspect="1"/>
          </p:cNvGrpSpPr>
          <p:nvPr/>
        </p:nvGrpSpPr>
        <p:grpSpPr>
          <a:xfrm>
            <a:off x="709744" y="700726"/>
            <a:ext cx="2435352" cy="1933956"/>
            <a:chOff x="914400" y="685800"/>
            <a:chExt cx="2590800" cy="2057400"/>
          </a:xfrm>
        </p:grpSpPr>
        <p:sp>
          <p:nvSpPr>
            <p:cNvPr id="9" name="Flowchart: Document 8">
              <a:extLst>
                <a:ext uri="{FF2B5EF4-FFF2-40B4-BE49-F238E27FC236}">
                  <a16:creationId xmlns:a16="http://schemas.microsoft.com/office/drawing/2014/main" id="{883A735E-B342-EEC7-A951-FE13C1B17DF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14400" y="685800"/>
              <a:ext cx="2590800" cy="2057400"/>
            </a:xfrm>
            <a:prstGeom prst="flowChartDocument">
              <a:avLst/>
            </a:prstGeom>
            <a:solidFill>
              <a:srgbClr val="FFFF00">
                <a:alpha val="5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BAC597A8-BBE0-FA60-01F4-8FDAA1486EE7}"/>
                </a:ext>
              </a:extLst>
            </p:cNvPr>
            <p:cNvSpPr txBox="1"/>
            <p:nvPr/>
          </p:nvSpPr>
          <p:spPr>
            <a:xfrm>
              <a:off x="1143000" y="1103165"/>
              <a:ext cx="213360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4800" dirty="0"/>
                <a:t>History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E910E35E-7E88-1C4A-ABCE-96E89FCFA876}"/>
              </a:ext>
            </a:extLst>
          </p:cNvPr>
          <p:cNvGrpSpPr>
            <a:grpSpLocks noChangeAspect="1"/>
          </p:cNvGrpSpPr>
          <p:nvPr/>
        </p:nvGrpSpPr>
        <p:grpSpPr>
          <a:xfrm>
            <a:off x="3245746" y="716712"/>
            <a:ext cx="2435352" cy="1933956"/>
            <a:chOff x="4114800" y="666161"/>
            <a:chExt cx="2590800" cy="2057400"/>
          </a:xfrm>
        </p:grpSpPr>
        <p:sp>
          <p:nvSpPr>
            <p:cNvPr id="13" name="Flowchart: Document 12">
              <a:extLst>
                <a:ext uri="{FF2B5EF4-FFF2-40B4-BE49-F238E27FC236}">
                  <a16:creationId xmlns:a16="http://schemas.microsoft.com/office/drawing/2014/main" id="{21E9C266-5B48-D96D-E574-54EDF8C077E4}"/>
                </a:ext>
              </a:extLst>
            </p:cNvPr>
            <p:cNvSpPr/>
            <p:nvPr/>
          </p:nvSpPr>
          <p:spPr>
            <a:xfrm>
              <a:off x="4114800" y="666161"/>
              <a:ext cx="2590800" cy="2057400"/>
            </a:xfrm>
            <a:prstGeom prst="flowChartDocument">
              <a:avLst/>
            </a:prstGeom>
            <a:solidFill>
              <a:srgbClr val="FFFF00">
                <a:alpha val="5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7C0EB300-8AAB-B617-C942-D473657C3859}"/>
                </a:ext>
              </a:extLst>
            </p:cNvPr>
            <p:cNvSpPr txBox="1"/>
            <p:nvPr/>
          </p:nvSpPr>
          <p:spPr>
            <a:xfrm>
              <a:off x="4285456" y="767975"/>
              <a:ext cx="2133600" cy="15696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4800" dirty="0"/>
                <a:t>Data types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136108BB-9908-C113-6CB6-9F500680EDC5}"/>
              </a:ext>
            </a:extLst>
          </p:cNvPr>
          <p:cNvGrpSpPr/>
          <p:nvPr/>
        </p:nvGrpSpPr>
        <p:grpSpPr>
          <a:xfrm>
            <a:off x="5781749" y="725864"/>
            <a:ext cx="2696283" cy="1933956"/>
            <a:chOff x="5781749" y="725864"/>
            <a:chExt cx="2696283" cy="1933956"/>
          </a:xfrm>
        </p:grpSpPr>
        <p:sp>
          <p:nvSpPr>
            <p:cNvPr id="18" name="Flowchart: Document 17">
              <a:extLst>
                <a:ext uri="{FF2B5EF4-FFF2-40B4-BE49-F238E27FC236}">
                  <a16:creationId xmlns:a16="http://schemas.microsoft.com/office/drawing/2014/main" id="{6311DAC4-F105-F7E8-7F32-A7B49EC9E3BE}"/>
                </a:ext>
              </a:extLst>
            </p:cNvPr>
            <p:cNvSpPr/>
            <p:nvPr/>
          </p:nvSpPr>
          <p:spPr>
            <a:xfrm>
              <a:off x="5781749" y="725864"/>
              <a:ext cx="2696283" cy="1933956"/>
            </a:xfrm>
            <a:prstGeom prst="flowChartDocument">
              <a:avLst/>
            </a:prstGeom>
            <a:solidFill>
              <a:srgbClr val="FFFF00">
                <a:alpha val="5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B957D971-CD67-D8C9-451D-9279C0B38326}"/>
                </a:ext>
              </a:extLst>
            </p:cNvPr>
            <p:cNvSpPr txBox="1"/>
            <p:nvPr/>
          </p:nvSpPr>
          <p:spPr>
            <a:xfrm>
              <a:off x="5811564" y="838200"/>
              <a:ext cx="2666468" cy="14465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4400" dirty="0"/>
                <a:t>Data structures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455446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3D32D3-49CE-92D3-6217-2B649C339E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Categorical data analysis: History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2C6215-C8EF-D34D-91BE-935179DE5C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CA" dirty="0"/>
              <a:t>Categorical data analysis is a relatively recent arrival</a:t>
            </a:r>
          </a:p>
          <a:p>
            <a:pPr lvl="1"/>
            <a:r>
              <a:rPr lang="en-CA" dirty="0"/>
              <a:t>1888 – Galton introduces the concept of correlation</a:t>
            </a:r>
          </a:p>
          <a:p>
            <a:pPr lvl="1"/>
            <a:r>
              <a:rPr lang="en-CA" dirty="0"/>
              <a:t>1908 – Student's </a:t>
            </a:r>
            <a:r>
              <a:rPr lang="en-CA" i="1" dirty="0"/>
              <a:t>t</a:t>
            </a:r>
            <a:r>
              <a:rPr lang="en-CA" dirty="0"/>
              <a:t>-distribution for the mean of small samples</a:t>
            </a:r>
          </a:p>
          <a:p>
            <a:pPr lvl="1"/>
            <a:r>
              <a:rPr lang="en-CA" dirty="0"/>
              <a:t>1931 – L. L. </a:t>
            </a:r>
            <a:r>
              <a:rPr lang="en-CA" dirty="0" err="1"/>
              <a:t>Thrustone</a:t>
            </a:r>
            <a:r>
              <a:rPr lang="en-CA" dirty="0"/>
              <a:t>: Multiple factor analysis</a:t>
            </a:r>
          </a:p>
          <a:p>
            <a:pPr lvl="1"/>
            <a:r>
              <a:rPr lang="en-CA" dirty="0"/>
              <a:t>1935 – R. A. Fisher's Design of Experiments – ANOVA</a:t>
            </a:r>
          </a:p>
          <a:p>
            <a:pPr lvl="1"/>
            <a:r>
              <a:rPr lang="en-CA" dirty="0"/>
              <a:t>. . . (time passes)</a:t>
            </a:r>
          </a:p>
          <a:p>
            <a:pPr marL="457200" lvl="1" indent="0">
              <a:buNone/>
            </a:pPr>
            <a:endParaRPr lang="en-CA" dirty="0"/>
          </a:p>
          <a:p>
            <a:pPr lvl="1"/>
            <a:r>
              <a:rPr lang="en-CA" dirty="0"/>
              <a:t>1972 – </a:t>
            </a:r>
            <a:r>
              <a:rPr lang="en-CA" dirty="0" err="1"/>
              <a:t>Nelder</a:t>
            </a:r>
            <a:r>
              <a:rPr lang="en-CA" dirty="0"/>
              <a:t> &amp; Wedderburn develop the central ideas of </a:t>
            </a:r>
            <a:r>
              <a:rPr lang="en-CA" dirty="0">
                <a:solidFill>
                  <a:srgbClr val="0070C0"/>
                </a:solidFill>
              </a:rPr>
              <a:t>generalized linear models </a:t>
            </a:r>
            <a:r>
              <a:rPr lang="en-CA" dirty="0"/>
              <a:t>(logistic &amp; poison regression)</a:t>
            </a:r>
          </a:p>
          <a:p>
            <a:pPr lvl="1"/>
            <a:r>
              <a:rPr lang="en-CA" dirty="0"/>
              <a:t>1973 – J-P. </a:t>
            </a:r>
            <a:r>
              <a:rPr lang="en-CA" dirty="0" err="1"/>
              <a:t>Benzecri</a:t>
            </a:r>
            <a:r>
              <a:rPr lang="en-CA" dirty="0"/>
              <a:t>: Correspondence analysis (analysis des </a:t>
            </a:r>
            <a:r>
              <a:rPr lang="en-CA" dirty="0" err="1"/>
              <a:t>donnés</a:t>
            </a:r>
            <a:r>
              <a:rPr lang="en-CA" dirty="0"/>
              <a:t>)</a:t>
            </a:r>
          </a:p>
          <a:p>
            <a:pPr lvl="1"/>
            <a:r>
              <a:rPr lang="en-CA" dirty="0"/>
              <a:t>1974 – Bishop , Fienberg, Holland introduce the </a:t>
            </a:r>
            <a:r>
              <a:rPr lang="en-CA" dirty="0">
                <a:solidFill>
                  <a:srgbClr val="0070C0"/>
                </a:solidFill>
              </a:rPr>
              <a:t>loglinear model</a:t>
            </a:r>
            <a:r>
              <a:rPr lang="en-CA" dirty="0"/>
              <a:t> for discrete data, ANOVA for log(Freq)</a:t>
            </a:r>
          </a:p>
          <a:p>
            <a:pPr lvl="1"/>
            <a:r>
              <a:rPr lang="en-CA" dirty="0"/>
              <a:t>1984 – Leo Goodman enhanced loglinear models for complex data: RC models, mobility tables, panel data, …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7D776BD-9668-B1E7-2FE8-973F2E3E46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99381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D457C1-C4F3-4D51-8F6C-90FD0E5AA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What are categorical variables?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22F5FE0-E7BF-4EC6-86DF-AF52E2ABC8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12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496DE98-2AB7-448F-B5DB-BCB8B9447B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8142857" cy="293333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B08D334-2823-4AFD-AF3C-B20205C5DD78}"/>
              </a:ext>
            </a:extLst>
          </p:cNvPr>
          <p:cNvSpPr txBox="1"/>
          <p:nvPr/>
        </p:nvSpPr>
        <p:spPr>
          <a:xfrm>
            <a:off x="457200" y="4648200"/>
            <a:ext cx="8001000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Questions: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Which of these are </a:t>
            </a:r>
            <a:r>
              <a:rPr lang="en-US" dirty="0">
                <a:solidFill>
                  <a:srgbClr val="0070C0"/>
                </a:solidFill>
              </a:rPr>
              <a:t>ordered</a:t>
            </a:r>
            <a:r>
              <a:rPr lang="en-US" dirty="0"/>
              <a:t> (ordinal)?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Which could be treated as </a:t>
            </a:r>
            <a:r>
              <a:rPr lang="en-US" dirty="0">
                <a:solidFill>
                  <a:srgbClr val="0070C0"/>
                </a:solidFill>
              </a:rPr>
              <a:t>numeric</a:t>
            </a:r>
            <a:r>
              <a:rPr lang="en-US" dirty="0"/>
              <a:t>? How?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Which have </a:t>
            </a:r>
            <a:r>
              <a:rPr lang="en-US" dirty="0">
                <a:solidFill>
                  <a:srgbClr val="0070C0"/>
                </a:solidFill>
              </a:rPr>
              <a:t>missing categories</a:t>
            </a:r>
            <a:r>
              <a:rPr lang="en-US" dirty="0"/>
              <a:t>, sometimes ignored, or treated as “Other”</a:t>
            </a:r>
          </a:p>
        </p:txBody>
      </p:sp>
    </p:spTree>
    <p:extLst>
      <p:ext uri="{BB962C8B-B14F-4D97-AF65-F5344CB8AC3E}">
        <p14:creationId xmlns:p14="http://schemas.microsoft.com/office/powerpoint/2010/main" val="9088991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A1FFA9-EBC1-48F8-9DC2-A24540941B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Categorical data: Structures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92EA834-894B-46BA-90ED-9599CD3B06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Categorical (frequency) data appears in various forms</a:t>
            </a:r>
          </a:p>
          <a:p>
            <a:r>
              <a:rPr lang="en-US" dirty="0">
                <a:solidFill>
                  <a:srgbClr val="0070C0"/>
                </a:solidFill>
              </a:rPr>
              <a:t>Tables</a:t>
            </a:r>
            <a:r>
              <a:rPr lang="en-US" dirty="0"/>
              <a:t>: often the result of </a:t>
            </a:r>
            <a:r>
              <a:rPr lang="en-US" sz="24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table() </a:t>
            </a:r>
            <a:r>
              <a:rPr lang="en-US" dirty="0"/>
              <a:t>or </a:t>
            </a:r>
            <a:r>
              <a:rPr lang="en-US" sz="2400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xtabs</a:t>
            </a:r>
            <a:r>
              <a:rPr lang="en-US" sz="24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dirty="0"/>
              <a:t>1-way</a:t>
            </a:r>
          </a:p>
          <a:p>
            <a:pPr lvl="1"/>
            <a:r>
              <a:rPr lang="en-US" dirty="0"/>
              <a:t>2-way – 2 × 2, r × c</a:t>
            </a:r>
          </a:p>
          <a:p>
            <a:pPr lvl="1"/>
            <a:r>
              <a:rPr lang="en-US" dirty="0"/>
              <a:t>3-way – r × c × k</a:t>
            </a:r>
          </a:p>
          <a:p>
            <a:r>
              <a:rPr lang="en-US" dirty="0">
                <a:solidFill>
                  <a:srgbClr val="0070C0"/>
                </a:solidFill>
              </a:rPr>
              <a:t>Matrices</a:t>
            </a:r>
            <a:r>
              <a:rPr lang="en-US" dirty="0"/>
              <a:t>: </a:t>
            </a:r>
            <a:r>
              <a:rPr lang="en-US" sz="24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matrix()</a:t>
            </a:r>
            <a:r>
              <a:rPr lang="en-US" dirty="0"/>
              <a:t>, </a:t>
            </a:r>
            <a:r>
              <a:rPr lang="en-US" sz="2400" dirty="0"/>
              <a:t>with row &amp; col names</a:t>
            </a:r>
          </a:p>
          <a:p>
            <a:r>
              <a:rPr lang="en-US" dirty="0">
                <a:solidFill>
                  <a:srgbClr val="0070C0"/>
                </a:solidFill>
              </a:rPr>
              <a:t>Arrays</a:t>
            </a:r>
            <a:r>
              <a:rPr lang="en-US" dirty="0"/>
              <a:t>: </a:t>
            </a:r>
            <a:r>
              <a:rPr lang="en-US" sz="24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array()</a:t>
            </a:r>
            <a:r>
              <a:rPr lang="en-US" dirty="0"/>
              <a:t>, with </a:t>
            </a:r>
            <a:r>
              <a:rPr lang="en-US" sz="2400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dimnames</a:t>
            </a:r>
            <a:r>
              <a:rPr lang="en-US" sz="24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en-US" dirty="0">
                <a:solidFill>
                  <a:srgbClr val="0070C0"/>
                </a:solidFill>
              </a:rPr>
              <a:t>Data frames</a:t>
            </a:r>
          </a:p>
          <a:p>
            <a:pPr lvl="1"/>
            <a:r>
              <a:rPr lang="en-US" dirty="0"/>
              <a:t>Case form (individual observations)</a:t>
            </a:r>
          </a:p>
          <a:p>
            <a:pPr lvl="1"/>
            <a:r>
              <a:rPr lang="en-US" dirty="0"/>
              <a:t>Frequency form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6E2336D-784A-4D7D-976B-7BADA87D73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13</a:t>
            </a:fld>
            <a:endParaRPr lang="en-US"/>
          </a:p>
        </p:txBody>
      </p:sp>
      <p:pic>
        <p:nvPicPr>
          <p:cNvPr id="6" name="Picture 5" descr="Table&#10;&#10;Description automatically generated">
            <a:extLst>
              <a:ext uri="{FF2B5EF4-FFF2-40B4-BE49-F238E27FC236}">
                <a16:creationId xmlns:a16="http://schemas.microsoft.com/office/drawing/2014/main" id="{5DE91BFC-9F87-4193-A6A9-B615D3D77C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41520" y="2286000"/>
            <a:ext cx="1828800" cy="1284732"/>
          </a:xfrm>
          <a:prstGeom prst="rect">
            <a:avLst/>
          </a:prstGeom>
        </p:spPr>
      </p:pic>
      <p:pic>
        <p:nvPicPr>
          <p:cNvPr id="8" name="Picture 7" descr="Diagram&#10;&#10;Description automatically generated">
            <a:extLst>
              <a:ext uri="{FF2B5EF4-FFF2-40B4-BE49-F238E27FC236}">
                <a16:creationId xmlns:a16="http://schemas.microsoft.com/office/drawing/2014/main" id="{3ABC27B4-2C56-4C32-967B-4BF3B0C7CAC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10562" y="3570732"/>
            <a:ext cx="1418876" cy="137529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F4EADF6-B57A-48BA-89B1-A1B264E36A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0" y="5085393"/>
            <a:ext cx="1423733" cy="125921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F02B28A-83AD-2E20-6DCF-5BFFA3B328C0}"/>
              </a:ext>
            </a:extLst>
          </p:cNvPr>
          <p:cNvSpPr txBox="1"/>
          <p:nvPr/>
        </p:nvSpPr>
        <p:spPr>
          <a:xfrm>
            <a:off x="6553200" y="2743200"/>
            <a:ext cx="141887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/>
              <a:t>margins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94D29A7-0CE5-7F49-558E-740F58A67261}"/>
              </a:ext>
            </a:extLst>
          </p:cNvPr>
          <p:cNvCxnSpPr>
            <a:cxnSpLocks/>
          </p:cNvCxnSpPr>
          <p:nvPr/>
        </p:nvCxnSpPr>
        <p:spPr>
          <a:xfrm flipH="1">
            <a:off x="6096000" y="2895600"/>
            <a:ext cx="457200" cy="7620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EE797AEC-6116-4128-23E4-C4728889E076}"/>
              </a:ext>
            </a:extLst>
          </p:cNvPr>
          <p:cNvCxnSpPr>
            <a:stCxn id="7" idx="1"/>
          </p:cNvCxnSpPr>
          <p:nvPr/>
        </p:nvCxnSpPr>
        <p:spPr>
          <a:xfrm flipH="1">
            <a:off x="6172200" y="2897089"/>
            <a:ext cx="381000" cy="303311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291833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59EC63-42D9-4357-A57F-D5C34C5256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1-way tables: Unordered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05A4B7-1FF0-4C74-886A-CA477EA88D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43000"/>
            <a:ext cx="8229600" cy="533400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Unordered</a:t>
            </a:r>
            <a:r>
              <a:rPr lang="en-US" dirty="0"/>
              <a:t> factors, with frequencies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20F2D6-B33F-4E37-97FF-B18565324F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14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EC6115E-E230-4334-8294-AEC2507A46CB}"/>
              </a:ext>
            </a:extLst>
          </p:cNvPr>
          <p:cNvSpPr txBox="1"/>
          <p:nvPr/>
        </p:nvSpPr>
        <p:spPr>
          <a:xfrm>
            <a:off x="838200" y="1905000"/>
            <a:ext cx="4572000" cy="914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     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Black  Brown   Red  Blond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    108    286    71    127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%   0.18   0.48  0.12   0.21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6FAF77A-BF3E-403F-BC18-7CC6FA3588BB}"/>
              </a:ext>
            </a:extLst>
          </p:cNvPr>
          <p:cNvSpPr txBox="1"/>
          <p:nvPr/>
        </p:nvSpPr>
        <p:spPr>
          <a:xfrm>
            <a:off x="838200" y="3200400"/>
            <a:ext cx="4876800" cy="92333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pt-BR" dirty="0">
                <a:latin typeface="Courier New" panose="02070309020205020404" pitchFamily="49" charset="0"/>
                <a:cs typeface="Courier New" panose="02070309020205020404" pitchFamily="49" charset="0"/>
              </a:rPr>
              <a:t>    BQ   Cons Green Liberal    NDP</a:t>
            </a:r>
          </a:p>
          <a:p>
            <a:r>
              <a:rPr lang="pt-BR" dirty="0">
                <a:latin typeface="Courier New" panose="02070309020205020404" pitchFamily="49" charset="0"/>
                <a:cs typeface="Courier New" panose="02070309020205020404" pitchFamily="49" charset="0"/>
              </a:rPr>
              <a:t>n  104    392   126     404    174</a:t>
            </a:r>
          </a:p>
          <a:p>
            <a:r>
              <a:rPr lang="pt-BR" dirty="0">
                <a:latin typeface="Courier New" panose="02070309020205020404" pitchFamily="49" charset="0"/>
                <a:cs typeface="Courier New" panose="02070309020205020404" pitchFamily="49" charset="0"/>
              </a:rPr>
              <a:t>%  0.087  0.33  0.1    0.34   0.14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A52F454-8D31-4ADB-9C35-3C8A6BC0A45A}"/>
              </a:ext>
            </a:extLst>
          </p:cNvPr>
          <p:cNvSpPr txBox="1"/>
          <p:nvPr/>
        </p:nvSpPr>
        <p:spPr>
          <a:xfrm>
            <a:off x="762000" y="4572000"/>
            <a:ext cx="7696200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Questions: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Are all hair colors equally likely?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Aside from Brown hair, are others equally likely?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Is there a diff in voting intentions for Liberal vs. Conservative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C3C384E-D6C5-46F9-8CC6-0D30BA25FF14}"/>
              </a:ext>
            </a:extLst>
          </p:cNvPr>
          <p:cNvSpPr txBox="1"/>
          <p:nvPr/>
        </p:nvSpPr>
        <p:spPr>
          <a:xfrm>
            <a:off x="6553200" y="2057400"/>
            <a:ext cx="2133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Hair color of 592 students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66D1A8B-4DE5-48D5-B703-0DF8024689DF}"/>
              </a:ext>
            </a:extLst>
          </p:cNvPr>
          <p:cNvSpPr txBox="1"/>
          <p:nvPr/>
        </p:nvSpPr>
        <p:spPr>
          <a:xfrm>
            <a:off x="6629400" y="3152775"/>
            <a:ext cx="18288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Voting intentions in Harris-Decima poll, 8/21/08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150B89A-A5A0-44E6-845C-62C6D0A3BB74}"/>
              </a:ext>
            </a:extLst>
          </p:cNvPr>
          <p:cNvSpPr/>
          <p:nvPr/>
        </p:nvSpPr>
        <p:spPr>
          <a:xfrm>
            <a:off x="2085475" y="3200399"/>
            <a:ext cx="762000" cy="92332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39DB773-14CD-4FBE-B12B-792658596DAE}"/>
              </a:ext>
            </a:extLst>
          </p:cNvPr>
          <p:cNvSpPr/>
          <p:nvPr/>
        </p:nvSpPr>
        <p:spPr>
          <a:xfrm>
            <a:off x="3581400" y="3169782"/>
            <a:ext cx="1071212" cy="92332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26414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/>
      <p:bldP spid="10" grpId="0"/>
      <p:bldP spid="5" grpId="0" animBg="1"/>
      <p:bldP spid="11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055A51-C397-4A03-80DD-09F995D647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1-way 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843AB8-1223-4D9F-8F08-8237AB0A46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43000"/>
            <a:ext cx="8229600" cy="551346"/>
          </a:xfrm>
        </p:spPr>
        <p:txBody>
          <a:bodyPr>
            <a:normAutofit/>
          </a:bodyPr>
          <a:lstStyle/>
          <a:p>
            <a:r>
              <a:rPr lang="en-US" sz="2400" dirty="0"/>
              <a:t>Even here, simple graphs are more informative than tables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28C3D7-9B35-4135-8505-2321C310A3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15</a:t>
            </a:fld>
            <a:endParaRPr lang="en-US"/>
          </a:p>
        </p:txBody>
      </p:sp>
      <p:pic>
        <p:nvPicPr>
          <p:cNvPr id="6" name="Picture 5" descr="Chart, bar chart&#10;&#10;Description automatically generated">
            <a:extLst>
              <a:ext uri="{FF2B5EF4-FFF2-40B4-BE49-F238E27FC236}">
                <a16:creationId xmlns:a16="http://schemas.microsoft.com/office/drawing/2014/main" id="{169E413C-1877-49A9-9F00-1443554F1DF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0601" y="2196548"/>
            <a:ext cx="3306305" cy="3657600"/>
          </a:xfrm>
          <a:prstGeom prst="rect">
            <a:avLst/>
          </a:prstGeom>
        </p:spPr>
      </p:pic>
      <p:pic>
        <p:nvPicPr>
          <p:cNvPr id="8" name="Picture 7" descr="Chart, bar chart, histogram&#10;&#10;Description automatically generated">
            <a:extLst>
              <a:ext uri="{FF2B5EF4-FFF2-40B4-BE49-F238E27FC236}">
                <a16:creationId xmlns:a16="http://schemas.microsoft.com/office/drawing/2014/main" id="{44125E1C-329E-48A9-A04B-D16696085D7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47096" y="2196548"/>
            <a:ext cx="3263286" cy="36576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F3C8D49-BF94-4EFA-A144-F84F0A74C35C}"/>
              </a:ext>
            </a:extLst>
          </p:cNvPr>
          <p:cNvSpPr txBox="1"/>
          <p:nvPr/>
        </p:nvSpPr>
        <p:spPr>
          <a:xfrm>
            <a:off x="685800" y="5854148"/>
            <a:ext cx="74675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But these don’t really answer the questions. Why?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4B7B2FA-895E-2CE3-A747-35976C1E0651}"/>
              </a:ext>
            </a:extLst>
          </p:cNvPr>
          <p:cNvSpPr txBox="1"/>
          <p:nvPr/>
        </p:nvSpPr>
        <p:spPr>
          <a:xfrm>
            <a:off x="1143000" y="1752600"/>
            <a:ext cx="28956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/>
              <a:t>Q: Are hair colors equally likely?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CE579E3-2661-4F0D-3242-2DA942A7903E}"/>
              </a:ext>
            </a:extLst>
          </p:cNvPr>
          <p:cNvSpPr txBox="1"/>
          <p:nvPr/>
        </p:nvSpPr>
        <p:spPr>
          <a:xfrm>
            <a:off x="5030939" y="1757472"/>
            <a:ext cx="28956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/>
              <a:t>Q: Do Libs differ from Cons?</a:t>
            </a:r>
          </a:p>
        </p:txBody>
      </p:sp>
    </p:spTree>
    <p:extLst>
      <p:ext uri="{BB962C8B-B14F-4D97-AF65-F5344CB8AC3E}">
        <p14:creationId xmlns:p14="http://schemas.microsoft.com/office/powerpoint/2010/main" val="2851409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5" grpId="0"/>
      <p:bldP spid="7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42FA3-0EE3-422A-A514-F5A93F1E49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1-way tables: Ordered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C70286-8A73-4B3C-A3B8-19636A5926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43000"/>
            <a:ext cx="8229600" cy="914400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Ordered</a:t>
            </a:r>
            <a:r>
              <a:rPr lang="en-US" dirty="0"/>
              <a:t>, quantitative factors</a:t>
            </a:r>
          </a:p>
          <a:p>
            <a:pPr lvl="1"/>
            <a:r>
              <a:rPr lang="en-US" sz="2000" dirty="0"/>
              <a:t>Number of sons in Saxony families with 12 children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00A753-02A0-47B6-96EC-C1D222E45C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005F27-2CFD-47FA-97D5-65F031AD2274}"/>
              </a:ext>
            </a:extLst>
          </p:cNvPr>
          <p:cNvSpPr txBox="1"/>
          <p:nvPr/>
        </p:nvSpPr>
        <p:spPr>
          <a:xfrm>
            <a:off x="457200" y="2133600"/>
            <a:ext cx="8229600" cy="1323439"/>
          </a:xfrm>
          <a:prstGeom prst="rect">
            <a:avLst/>
          </a:prstGeom>
          <a:solidFill>
            <a:schemeClr val="accent6">
              <a:lumMod val="20000"/>
              <a:lumOff val="80000"/>
              <a:alpha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data(Saxony, package="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vcd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Saxony</a:t>
            </a:r>
          </a:p>
          <a:p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nMales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0    1    2    3    4    5    6    7    8    9   10   11   12 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3   24  104  286  670 1033 1343 1112  829  478  181   45    7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4F682CF-8D43-4EE0-9811-02179361B9EB}"/>
              </a:ext>
            </a:extLst>
          </p:cNvPr>
          <p:cNvSpPr txBox="1"/>
          <p:nvPr/>
        </p:nvSpPr>
        <p:spPr>
          <a:xfrm>
            <a:off x="533400" y="4576853"/>
            <a:ext cx="8077200" cy="147732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Questions: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What is the </a:t>
            </a:r>
            <a:r>
              <a:rPr lang="en-US" dirty="0">
                <a:solidFill>
                  <a:srgbClr val="FF0000"/>
                </a:solidFill>
              </a:rPr>
              <a:t>form</a:t>
            </a:r>
            <a:r>
              <a:rPr lang="en-US" dirty="0"/>
              <a:t> of this distribution?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Is it useful to think of this as a </a:t>
            </a:r>
            <a:r>
              <a:rPr lang="en-US" dirty="0">
                <a:solidFill>
                  <a:srgbClr val="FF0000"/>
                </a:solidFill>
              </a:rPr>
              <a:t>binomial distribution</a:t>
            </a:r>
            <a:r>
              <a:rPr lang="en-US" dirty="0"/>
              <a:t>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If so, is </a:t>
            </a:r>
            <a:r>
              <a:rPr lang="en-US" dirty="0" err="1"/>
              <a:t>Pr</a:t>
            </a:r>
            <a:r>
              <a:rPr lang="en-US" dirty="0"/>
              <a:t>(male) = 0.5 reasonable to describe the data?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How could families have &gt; 10 children?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4FC84CD-9DA7-2DA0-37AA-DFDCAB61D4F5}"/>
              </a:ext>
            </a:extLst>
          </p:cNvPr>
          <p:cNvSpPr txBox="1"/>
          <p:nvPr/>
        </p:nvSpPr>
        <p:spPr>
          <a:xfrm>
            <a:off x="500974" y="3634775"/>
            <a:ext cx="8185826" cy="646331"/>
          </a:xfrm>
          <a:prstGeom prst="rect">
            <a:avLst/>
          </a:prstGeom>
          <a:solidFill>
            <a:schemeClr val="tx2">
              <a:lumMod val="20000"/>
              <a:lumOff val="80000"/>
              <a:alpha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Note: 1-way tables in R consist of the frequencies, </a:t>
            </a:r>
            <a:r>
              <a:rPr lang="en-CA" dirty="0" err="1"/>
              <a:t>n</a:t>
            </a:r>
            <a:r>
              <a:rPr lang="en-CA" baseline="-25000" dirty="0" err="1"/>
              <a:t>k</a:t>
            </a:r>
            <a:r>
              <a:rPr lang="en-CA" dirty="0"/>
              <a:t>. They have labels,</a:t>
            </a:r>
            <a:r>
              <a:rPr lang="en-CA" i="1" dirty="0"/>
              <a:t> k</a:t>
            </a:r>
            <a:r>
              <a:rPr lang="en-CA" dirty="0"/>
              <a:t>, a basic count (</a:t>
            </a:r>
            <a:r>
              <a:rPr lang="en-CA" dirty="0" err="1"/>
              <a:t>nMales</a:t>
            </a:r>
            <a:r>
              <a:rPr lang="en-CA" dirty="0"/>
              <a:t>, here).</a:t>
            </a:r>
          </a:p>
        </p:txBody>
      </p:sp>
    </p:spTree>
    <p:extLst>
      <p:ext uri="{BB962C8B-B14F-4D97-AF65-F5344CB8AC3E}">
        <p14:creationId xmlns:p14="http://schemas.microsoft.com/office/powerpoint/2010/main" val="215474215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4C3F47-8819-40D6-8443-89C4322A5E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1-way tables: graphs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01142B-F8CD-407A-A210-40413510A8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43000"/>
            <a:ext cx="8229600" cy="1524000"/>
          </a:xfrm>
        </p:spPr>
        <p:txBody>
          <a:bodyPr/>
          <a:lstStyle/>
          <a:p>
            <a:pPr marL="0" indent="0">
              <a:buNone/>
            </a:pPr>
            <a:r>
              <a:rPr lang="en-US" sz="2400" dirty="0"/>
              <a:t>For a particular distribution in mind:</a:t>
            </a:r>
          </a:p>
          <a:p>
            <a:pPr lvl="1"/>
            <a:r>
              <a:rPr lang="en-US" sz="2000" dirty="0"/>
              <a:t>Plot the data together with the </a:t>
            </a:r>
            <a:r>
              <a:rPr lang="en-US" sz="2000" dirty="0">
                <a:solidFill>
                  <a:srgbClr val="FF0000"/>
                </a:solidFill>
              </a:rPr>
              <a:t>fitted</a:t>
            </a:r>
            <a:r>
              <a:rPr lang="en-US" sz="2000" dirty="0"/>
              <a:t> frequencies</a:t>
            </a:r>
          </a:p>
          <a:p>
            <a:pPr lvl="1"/>
            <a:r>
              <a:rPr lang="en-US" sz="2000" dirty="0"/>
              <a:t>Better still: </a:t>
            </a:r>
            <a:r>
              <a:rPr lang="en-US" sz="2000" b="1" dirty="0">
                <a:solidFill>
                  <a:srgbClr val="0070C0"/>
                </a:solidFill>
              </a:rPr>
              <a:t>hanging rootogram</a:t>
            </a:r>
            <a:r>
              <a:rPr lang="en-US" sz="2000" dirty="0"/>
              <a:t>: </a:t>
            </a:r>
            <a:r>
              <a:rPr lang="en-US" sz="2000" dirty="0" err="1"/>
              <a:t>freq</a:t>
            </a:r>
            <a:r>
              <a:rPr lang="en-US" sz="2000" dirty="0"/>
              <a:t> on sqrt scale; hang bars from fitted values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22C635-37EA-4244-A1CE-F40E3C59C4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17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B9586DC-633B-4207-8085-066D23B054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2852899"/>
            <a:ext cx="4000000" cy="375238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52A39D2-0365-4E5F-B404-3667A36DF3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8981" y="2729090"/>
            <a:ext cx="4000000" cy="3876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67567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1026E1-49F9-4A0E-9481-2F36837C9F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2-way tables: 2 × 2 × …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B4A5B0-2638-4A05-9CFA-21A5170B66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18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FBFFDC5-769E-4BF3-80DC-287E5D0488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09084"/>
            <a:ext cx="8229600" cy="4769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522927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3529A1-582C-4347-83E0-328AEA7759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Larger tables: </a:t>
            </a:r>
            <a:r>
              <a:rPr lang="en-US" i="1" dirty="0"/>
              <a:t>r</a:t>
            </a:r>
            <a:r>
              <a:rPr lang="en-US" dirty="0"/>
              <a:t> × </a:t>
            </a:r>
            <a:r>
              <a:rPr lang="en-US" i="1" dirty="0"/>
              <a:t>c × …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FF647D8-D62A-4628-A411-185A189C4D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19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C2F53B7-091A-43D4-B0FA-1B5D3259DF41}"/>
              </a:ext>
            </a:extLst>
          </p:cNvPr>
          <p:cNvSpPr txBox="1"/>
          <p:nvPr/>
        </p:nvSpPr>
        <p:spPr>
          <a:xfrm>
            <a:off x="381000" y="1200825"/>
            <a:ext cx="5562600" cy="1815882"/>
          </a:xfrm>
          <a:prstGeom prst="rect">
            <a:avLst/>
          </a:prstGeom>
          <a:solidFill>
            <a:schemeClr val="accent6">
              <a:lumMod val="20000"/>
              <a:lumOff val="80000"/>
              <a:alpha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margin.table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HairEyeColor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1:2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Eye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Hair    Brown Blue Hazel Green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Black    68   20    15     5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Brown   119   84    54    29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Red      26   17    14    14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Blond     7   94    10    16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90C88FF-E573-495B-9E6D-2BB1B2D87F3D}"/>
              </a:ext>
            </a:extLst>
          </p:cNvPr>
          <p:cNvSpPr txBox="1"/>
          <p:nvPr/>
        </p:nvSpPr>
        <p:spPr>
          <a:xfrm>
            <a:off x="363794" y="3226932"/>
            <a:ext cx="5808406" cy="2800767"/>
          </a:xfrm>
          <a:prstGeom prst="rect">
            <a:avLst/>
          </a:prstGeom>
          <a:solidFill>
            <a:schemeClr val="accent6">
              <a:lumMod val="20000"/>
              <a:lumOff val="80000"/>
              <a:alpha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ftable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Eye ~ Sex + Hair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data=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HairEyeColor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Eye Brown Blue Hazel Green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Sex    Hair                            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Male   Black        32   11    10     3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Brown        53   50    25    15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Red          10   10     7     7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Blond         3   30     5     8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Female Black        36    9     5     2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Brown        66   34    29    14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Red          16    7     7     7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Blond         4   64     5     8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AC7A186-FF67-4E4C-A12B-D25C5F44D5D8}"/>
              </a:ext>
            </a:extLst>
          </p:cNvPr>
          <p:cNvSpPr txBox="1"/>
          <p:nvPr/>
        </p:nvSpPr>
        <p:spPr>
          <a:xfrm>
            <a:off x="6248400" y="1371600"/>
            <a:ext cx="24384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2-way</a:t>
            </a:r>
          </a:p>
          <a:p>
            <a:r>
              <a:rPr lang="en-US" dirty="0" err="1"/>
              <a:t>HairEye</a:t>
            </a:r>
            <a:r>
              <a:rPr lang="en-US" dirty="0"/>
              <a:t> table is a 2-way </a:t>
            </a:r>
            <a:r>
              <a:rPr lang="en-US" dirty="0">
                <a:solidFill>
                  <a:srgbClr val="0070C0"/>
                </a:solidFill>
              </a:rPr>
              <a:t>margin</a:t>
            </a:r>
            <a:r>
              <a:rPr lang="en-US" dirty="0"/>
              <a:t> of a 3-way table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4FF8EC0-6963-4221-80A1-03F26E6389A5}"/>
              </a:ext>
            </a:extLst>
          </p:cNvPr>
          <p:cNvSpPr txBox="1"/>
          <p:nvPr/>
        </p:nvSpPr>
        <p:spPr>
          <a:xfrm>
            <a:off x="6400800" y="3276600"/>
            <a:ext cx="237940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3-way (&amp; higher) can be “flattened” for a more convenient display</a:t>
            </a:r>
          </a:p>
          <a:p>
            <a:endParaRPr lang="en-US" dirty="0"/>
          </a:p>
          <a:p>
            <a:r>
              <a:rPr lang="en-US" dirty="0">
                <a:solidFill>
                  <a:srgbClr val="0070C0"/>
                </a:solidFill>
              </a:rPr>
              <a:t>formula</a:t>
            </a:r>
            <a:r>
              <a:rPr lang="en-US" dirty="0"/>
              <a:t> notation:</a:t>
            </a:r>
          </a:p>
          <a:p>
            <a:r>
              <a:rPr lang="en-US" dirty="0"/>
              <a:t>  col vars ~ row vars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6F33858-A624-3751-EEB9-671384B07604}"/>
              </a:ext>
            </a:extLst>
          </p:cNvPr>
          <p:cNvSpPr/>
          <p:nvPr/>
        </p:nvSpPr>
        <p:spPr>
          <a:xfrm>
            <a:off x="6400800" y="4556289"/>
            <a:ext cx="1981200" cy="777711"/>
          </a:xfrm>
          <a:prstGeom prst="rect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C5D39EE-3FC9-4B57-D3CC-8CE0BE5B47AD}"/>
              </a:ext>
            </a:extLst>
          </p:cNvPr>
          <p:cNvCxnSpPr/>
          <p:nvPr/>
        </p:nvCxnSpPr>
        <p:spPr>
          <a:xfrm flipH="1" flipV="1">
            <a:off x="2819400" y="3505200"/>
            <a:ext cx="3581400" cy="1051089"/>
          </a:xfrm>
          <a:prstGeom prst="straightConnector1">
            <a:avLst/>
          </a:prstGeom>
          <a:ln w="254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776800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2" presetClass="entr" presetSubtype="2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/>
      <p:bldP spid="8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FA0D81-62A7-26B9-00CE-95A796DF1A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Larger tables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0A5FF67-9422-2733-71F4-ACC04C9AAB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20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B411CD2-B895-C62C-CAFD-543A500725C4}"/>
              </a:ext>
            </a:extLst>
          </p:cNvPr>
          <p:cNvSpPr txBox="1"/>
          <p:nvPr/>
        </p:nvSpPr>
        <p:spPr>
          <a:xfrm>
            <a:off x="457200" y="1676162"/>
            <a:ext cx="5410200" cy="1569660"/>
          </a:xfrm>
          <a:prstGeom prst="rect">
            <a:avLst/>
          </a:prstGeom>
          <a:solidFill>
            <a:schemeClr val="accent6">
              <a:lumMod val="20000"/>
              <a:lumOff val="80000"/>
              <a:alpha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&gt; data(Fungicide, package = "</a:t>
            </a:r>
            <a:r>
              <a:rPr lang="en-CA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vcdExtra</a:t>
            </a:r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&gt; str(Fungicide)</a:t>
            </a:r>
          </a:p>
          <a:p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num [1:2, 1:2, 1:2, 1:2] 5 4 74 12 3 2 84 14 10 4 ...</a:t>
            </a:r>
          </a:p>
          <a:p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- </a:t>
            </a:r>
            <a:r>
              <a:rPr lang="en-CA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attr</a:t>
            </a:r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(*, "</a:t>
            </a:r>
            <a:r>
              <a:rPr lang="en-CA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dimnames</a:t>
            </a:r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")=List of 4</a:t>
            </a:r>
          </a:p>
          <a:p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..$ group  : chr [1:2] "Control" "Treated"</a:t>
            </a:r>
          </a:p>
          <a:p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..$ outcome: chr [1:2] "Tumor" "</a:t>
            </a:r>
            <a:r>
              <a:rPr lang="en-CA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NoTumor</a:t>
            </a:r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..$ sex    : chr [1:2] "M" "F"</a:t>
            </a:r>
          </a:p>
          <a:p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..$ strain : chr [1:2] "1" "2"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4DB15DF-D896-61FD-D1F7-F60F89406758}"/>
              </a:ext>
            </a:extLst>
          </p:cNvPr>
          <p:cNvSpPr txBox="1"/>
          <p:nvPr/>
        </p:nvSpPr>
        <p:spPr>
          <a:xfrm>
            <a:off x="533400" y="3594318"/>
            <a:ext cx="5410200" cy="1569660"/>
          </a:xfrm>
          <a:prstGeom prst="rect">
            <a:avLst/>
          </a:prstGeom>
          <a:solidFill>
            <a:schemeClr val="accent6">
              <a:lumMod val="20000"/>
              <a:lumOff val="80000"/>
              <a:alpha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CA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ftable</a:t>
            </a:r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(sex + strain ~ outcome + group, data=Fungicide)</a:t>
            </a:r>
          </a:p>
          <a:p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sex     M     F   </a:t>
            </a:r>
          </a:p>
          <a:p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strain  1  2  1  2</a:t>
            </a:r>
          </a:p>
          <a:p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outcome group                     </a:t>
            </a:r>
          </a:p>
          <a:p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Tumor   Control         5 10  3  3</a:t>
            </a:r>
          </a:p>
          <a:p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Treated         4  4  2  1</a:t>
            </a:r>
          </a:p>
          <a:p>
            <a:r>
              <a:rPr lang="en-CA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NoTumor</a:t>
            </a:r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Control        74 80 84 79</a:t>
            </a:r>
          </a:p>
          <a:p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Treated        12 14 14 14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6BA9394-B919-B962-0AA2-6753193F7687}"/>
              </a:ext>
            </a:extLst>
          </p:cNvPr>
          <p:cNvSpPr txBox="1"/>
          <p:nvPr/>
        </p:nvSpPr>
        <p:spPr>
          <a:xfrm>
            <a:off x="457200" y="1143000"/>
            <a:ext cx="7696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Carcinogenic effects of a fungicide in two strains of mice, a 2 × 2 × 2 × 2 table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867BBDB-E655-B5D7-0AD3-9FDBF4586DFB}"/>
              </a:ext>
            </a:extLst>
          </p:cNvPr>
          <p:cNvSpPr txBox="1"/>
          <p:nvPr/>
        </p:nvSpPr>
        <p:spPr>
          <a:xfrm>
            <a:off x="6005660" y="1704442"/>
            <a:ext cx="2590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Use str() to see the structure of an R object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55D11A-1FF3-CEA9-3161-31B84ADDF3FA}"/>
              </a:ext>
            </a:extLst>
          </p:cNvPr>
          <p:cNvSpPr txBox="1"/>
          <p:nvPr/>
        </p:nvSpPr>
        <p:spPr>
          <a:xfrm>
            <a:off x="6005660" y="3613957"/>
            <a:ext cx="2590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Use </a:t>
            </a:r>
            <a:r>
              <a:rPr lang="en-CA" dirty="0" err="1"/>
              <a:t>ftable</a:t>
            </a:r>
            <a:r>
              <a:rPr lang="en-CA" dirty="0"/>
              <a:t>() to see it as a flat frequency table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F417258-14A0-7247-31C0-AB01242CBB87}"/>
              </a:ext>
            </a:extLst>
          </p:cNvPr>
          <p:cNvSpPr txBox="1"/>
          <p:nvPr/>
        </p:nvSpPr>
        <p:spPr>
          <a:xfrm>
            <a:off x="533400" y="5410200"/>
            <a:ext cx="5943600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Main Q: </a:t>
            </a:r>
          </a:p>
          <a:p>
            <a:r>
              <a:rPr lang="en-CA" dirty="0"/>
              <a:t>Is there an </a:t>
            </a:r>
            <a:r>
              <a:rPr lang="en-CA" b="1" dirty="0"/>
              <a:t>association</a:t>
            </a:r>
            <a:r>
              <a:rPr lang="en-CA" dirty="0"/>
              <a:t> between tumor outcome and group?</a:t>
            </a:r>
          </a:p>
          <a:p>
            <a:r>
              <a:rPr lang="en-CA" dirty="0"/>
              <a:t>Does this </a:t>
            </a:r>
            <a:r>
              <a:rPr lang="en-CA" b="1" dirty="0"/>
              <a:t>vary by </a:t>
            </a:r>
            <a:r>
              <a:rPr lang="en-CA" dirty="0"/>
              <a:t>sex and strain?</a:t>
            </a:r>
          </a:p>
        </p:txBody>
      </p:sp>
    </p:spTree>
    <p:extLst>
      <p:ext uri="{BB962C8B-B14F-4D97-AF65-F5344CB8AC3E}">
        <p14:creationId xmlns:p14="http://schemas.microsoft.com/office/powerpoint/2010/main" val="224578436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8D4A0D-C7E3-4D89-D6D9-11C29FB5CA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A29103-CFAB-A9C8-3B01-C9F7503EA6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Table form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18FB59B-7F23-4534-4D71-CF2217DA2F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43000"/>
            <a:ext cx="8229600" cy="1066800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Table form </a:t>
            </a:r>
            <a:r>
              <a:rPr lang="en-US" dirty="0"/>
              <a:t>is convenient for display, but information is </a:t>
            </a:r>
            <a:r>
              <a:rPr lang="en-US" dirty="0">
                <a:solidFill>
                  <a:srgbClr val="FF0000"/>
                </a:solidFill>
              </a:rPr>
              <a:t>implicit </a:t>
            </a:r>
            <a:r>
              <a:rPr lang="en-US" dirty="0"/>
              <a:t>– contained in the row/col table entries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CA053F1-6561-0E17-C635-910F3E217E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21</a:t>
            </a:fld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C4B7BE4-0255-9D2A-570A-BAE4DFAD29C0}"/>
              </a:ext>
            </a:extLst>
          </p:cNvPr>
          <p:cNvSpPr txBox="1"/>
          <p:nvPr/>
        </p:nvSpPr>
        <p:spPr>
          <a:xfrm>
            <a:off x="457200" y="2362200"/>
            <a:ext cx="8229600" cy="3539430"/>
          </a:xfrm>
          <a:prstGeom prst="rect">
            <a:avLst/>
          </a:prstGeom>
          <a:solidFill>
            <a:schemeClr val="accent6">
              <a:lumMod val="20000"/>
              <a:lumOff val="80000"/>
              <a:alpha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haireye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&lt;-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margin.table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HairEyeColor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2:1)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class(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haireye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[1] "table"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str(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haireye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           </a:t>
            </a:r>
            <a:r>
              <a:rPr lang="en-CA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examine structure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'table' num [1:4, 1:4] 68 20 15 5 119 84 54 29 26 17 ...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-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attr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(*, "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dimnames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")=List of 2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..$ Eye : chr [1:4] "Brown" "Blue" "Hazel" "Green"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..$ Hair: chr [1:4] "Black" "Brown" "Red" "Blond"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haireye</a:t>
            </a:r>
            <a:endParaRPr lang="en-CA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Hair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Eye     Black Brown Red Blond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Brown    68   119  26     7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Blue     20    84  17    94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Hazel    15    54  14    10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Green     5    29  14    16</a:t>
            </a:r>
          </a:p>
        </p:txBody>
      </p:sp>
    </p:spTree>
    <p:extLst>
      <p:ext uri="{BB962C8B-B14F-4D97-AF65-F5344CB8AC3E}">
        <p14:creationId xmlns:p14="http://schemas.microsoft.com/office/powerpoint/2010/main" val="83442093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8CD437-5E69-0DFB-B931-7F16009960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932103-25CC-6BB2-C442-4E0740DA2B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Table form: Tools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79F323-2A9A-53D5-5C50-09BB2BDB74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43000"/>
            <a:ext cx="8229600" cy="2667000"/>
          </a:xfrm>
        </p:spPr>
        <p:txBody>
          <a:bodyPr>
            <a:normAutofit lnSpcReduction="10000"/>
          </a:bodyPr>
          <a:lstStyle/>
          <a:p>
            <a:r>
              <a:rPr lang="en-US" dirty="0">
                <a:solidFill>
                  <a:srgbClr val="0070C0"/>
                </a:solidFill>
              </a:rPr>
              <a:t>Table form </a:t>
            </a:r>
            <a:r>
              <a:rPr lang="en-US" dirty="0"/>
              <a:t>is convenient for display, but information is </a:t>
            </a:r>
            <a:r>
              <a:rPr lang="en-US" dirty="0">
                <a:solidFill>
                  <a:srgbClr val="FF0000"/>
                </a:solidFill>
              </a:rPr>
              <a:t>implicit</a:t>
            </a:r>
          </a:p>
          <a:p>
            <a:pPr lvl="1"/>
            <a:r>
              <a:rPr lang="en-US" dirty="0"/>
              <a:t>a table has dimensions, 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dim() </a:t>
            </a:r>
            <a:r>
              <a:rPr lang="en-US" dirty="0"/>
              <a:t>and </a:t>
            </a:r>
            <a:r>
              <a:rPr lang="en-US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dimnames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dirty="0"/>
              <a:t>the “observations” are the </a:t>
            </a:r>
            <a:r>
              <a:rPr lang="en-US" dirty="0">
                <a:solidFill>
                  <a:srgbClr val="0070C0"/>
                </a:solidFill>
              </a:rPr>
              <a:t>cells</a:t>
            </a:r>
            <a:r>
              <a:rPr lang="en-US" dirty="0"/>
              <a:t> in the tables</a:t>
            </a:r>
          </a:p>
          <a:p>
            <a:pPr lvl="1"/>
            <a:r>
              <a:rPr lang="en-US" dirty="0"/>
              <a:t>the “variables” are the dimensions of the table (</a:t>
            </a:r>
            <a:r>
              <a:rPr lang="en-US" dirty="0">
                <a:solidFill>
                  <a:srgbClr val="0070C0"/>
                </a:solidFill>
              </a:rPr>
              <a:t>factors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the cell </a:t>
            </a:r>
            <a:r>
              <a:rPr lang="en-US" dirty="0">
                <a:solidFill>
                  <a:srgbClr val="0070C0"/>
                </a:solidFill>
              </a:rPr>
              <a:t>value</a:t>
            </a:r>
            <a:r>
              <a:rPr lang="en-US" dirty="0"/>
              <a:t> is the count or </a:t>
            </a:r>
            <a:r>
              <a:rPr lang="en-US" dirty="0">
                <a:solidFill>
                  <a:srgbClr val="0070C0"/>
                </a:solidFill>
              </a:rPr>
              <a:t>frequency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4CEE421-3CB7-23B5-1EFB-1A6FAD9701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22</a:t>
            </a:fld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9F99435-68B4-DC39-04A0-C6C5FB841D3F}"/>
              </a:ext>
            </a:extLst>
          </p:cNvPr>
          <p:cNvSpPr txBox="1"/>
          <p:nvPr/>
        </p:nvSpPr>
        <p:spPr>
          <a:xfrm>
            <a:off x="457200" y="4114800"/>
            <a:ext cx="3657600" cy="2308324"/>
          </a:xfrm>
          <a:prstGeom prst="rect">
            <a:avLst/>
          </a:prstGeom>
          <a:solidFill>
            <a:schemeClr val="accent6">
              <a:lumMod val="20000"/>
              <a:lumOff val="80000"/>
              <a:alpha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&gt; dim(haireye)</a:t>
            </a:r>
          </a:p>
          <a:p>
            <a:r>
              <a:rPr lang="en-US" dirty="0"/>
              <a:t>[1] 4 4</a:t>
            </a:r>
          </a:p>
          <a:p>
            <a:r>
              <a:rPr lang="en-US" dirty="0"/>
              <a:t>&gt; </a:t>
            </a:r>
            <a:r>
              <a:rPr lang="en-US" dirty="0" err="1"/>
              <a:t>dimnames</a:t>
            </a:r>
            <a:r>
              <a:rPr lang="en-US" dirty="0"/>
              <a:t>(haireye)</a:t>
            </a:r>
          </a:p>
          <a:p>
            <a:r>
              <a:rPr lang="en-US" dirty="0"/>
              <a:t>$Hair</a:t>
            </a:r>
          </a:p>
          <a:p>
            <a:r>
              <a:rPr lang="en-US" dirty="0"/>
              <a:t>[1] "Black" "Brown" "Red"   "Blond"</a:t>
            </a:r>
          </a:p>
          <a:p>
            <a:endParaRPr lang="en-US" dirty="0"/>
          </a:p>
          <a:p>
            <a:r>
              <a:rPr lang="en-US" dirty="0"/>
              <a:t>$Eye</a:t>
            </a:r>
          </a:p>
          <a:p>
            <a:r>
              <a:rPr lang="en-US" dirty="0"/>
              <a:t>[1] "Brown" "Blue"  "Hazel" "Green"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049057-996F-62DF-C4E4-2B1295902DD4}"/>
              </a:ext>
            </a:extLst>
          </p:cNvPr>
          <p:cNvSpPr txBox="1"/>
          <p:nvPr/>
        </p:nvSpPr>
        <p:spPr>
          <a:xfrm>
            <a:off x="4260572" y="4114800"/>
            <a:ext cx="4572000" cy="1754326"/>
          </a:xfrm>
          <a:prstGeom prst="rect">
            <a:avLst/>
          </a:prstGeom>
          <a:solidFill>
            <a:schemeClr val="accent6">
              <a:lumMod val="20000"/>
              <a:lumOff val="80000"/>
              <a:alpha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&gt; names(</a:t>
            </a:r>
            <a:r>
              <a:rPr lang="en-US" dirty="0" err="1"/>
              <a:t>dimnames</a:t>
            </a:r>
            <a:r>
              <a:rPr lang="en-US" dirty="0"/>
              <a:t>(haireye)) # factor names</a:t>
            </a:r>
          </a:p>
          <a:p>
            <a:r>
              <a:rPr lang="en-US" dirty="0"/>
              <a:t>[1] "Hair" "Eye" </a:t>
            </a:r>
          </a:p>
          <a:p>
            <a:r>
              <a:rPr lang="en-US" dirty="0"/>
              <a:t>&gt; prod(dim(haireye))                 </a:t>
            </a:r>
            <a:r>
              <a:rPr lang="en-US" dirty="0">
                <a:solidFill>
                  <a:srgbClr val="00B050"/>
                </a:solidFill>
              </a:rPr>
              <a:t># of cells</a:t>
            </a:r>
          </a:p>
          <a:p>
            <a:r>
              <a:rPr lang="en-US" dirty="0"/>
              <a:t>[1] 16</a:t>
            </a:r>
          </a:p>
          <a:p>
            <a:r>
              <a:rPr lang="en-US" dirty="0"/>
              <a:t>&gt; sum(haireye)                           </a:t>
            </a:r>
            <a:r>
              <a:rPr lang="en-US" dirty="0">
                <a:solidFill>
                  <a:srgbClr val="00B050"/>
                </a:solidFill>
              </a:rPr>
              <a:t># total count</a:t>
            </a:r>
          </a:p>
          <a:p>
            <a:r>
              <a:rPr lang="en-US" dirty="0"/>
              <a:t>[1] 592</a:t>
            </a:r>
          </a:p>
        </p:txBody>
      </p:sp>
    </p:spTree>
    <p:extLst>
      <p:ext uri="{BB962C8B-B14F-4D97-AF65-F5344CB8AC3E}">
        <p14:creationId xmlns:p14="http://schemas.microsoft.com/office/powerpoint/2010/main" val="55674189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0549AB-F138-47CD-ACFA-6E232AC800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Datasets: frequency form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7FF57A-1509-4E82-9CD7-0D849930B8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43000"/>
            <a:ext cx="8229600" cy="1143000"/>
          </a:xfrm>
        </p:spPr>
        <p:txBody>
          <a:bodyPr>
            <a:normAutofit/>
          </a:bodyPr>
          <a:lstStyle/>
          <a:p>
            <a:r>
              <a:rPr lang="en-US" dirty="0"/>
              <a:t>Another common format is a dataset in </a:t>
            </a:r>
            <a:r>
              <a:rPr lang="en-US" dirty="0">
                <a:solidFill>
                  <a:srgbClr val="FF0000"/>
                </a:solidFill>
              </a:rPr>
              <a:t>frequency form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502302-59F1-4BE8-A18F-F0ECD48CE6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23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0E17AE6-449B-487E-AF13-A306F723CB56}"/>
              </a:ext>
            </a:extLst>
          </p:cNvPr>
          <p:cNvSpPr txBox="1"/>
          <p:nvPr/>
        </p:nvSpPr>
        <p:spPr>
          <a:xfrm>
            <a:off x="457200" y="2514600"/>
            <a:ext cx="3200400" cy="3970318"/>
          </a:xfrm>
          <a:prstGeom prst="rect">
            <a:avLst/>
          </a:prstGeom>
          <a:solidFill>
            <a:schemeClr val="accent6">
              <a:lumMod val="20000"/>
              <a:lumOff val="80000"/>
              <a:alpha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as.data.frame(haireye)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Hair   Eye Freq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1  Black Brown   68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2  Brown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Brown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119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3    Red Brown   26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4  Blond Brown    7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5  Black  Blue   20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6  Brown  Blue   84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7    Red  Blue   17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8  Blond  Blue   94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9  Black Hazel   15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10 Brown Hazel   54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11   Red Hazel   14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12 Blond Hazel   10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13 Black Green    5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14 Brown Green   29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15   Red Green   14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16 Blond Green   16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E4514C8-3802-42B2-9869-6D54D072A33F}"/>
              </a:ext>
            </a:extLst>
          </p:cNvPr>
          <p:cNvSpPr txBox="1"/>
          <p:nvPr/>
        </p:nvSpPr>
        <p:spPr>
          <a:xfrm>
            <a:off x="3733800" y="2667000"/>
            <a:ext cx="49530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Create: 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as.data.frame(table)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One row for each cell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Columns: factors + 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Freq</a:t>
            </a:r>
            <a:r>
              <a:rPr lang="en-US" dirty="0"/>
              <a:t> or 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count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0DA9EC2-5442-4F3D-BFF5-D6C96342BC45}"/>
              </a:ext>
            </a:extLst>
          </p:cNvPr>
          <p:cNvSpPr txBox="1"/>
          <p:nvPr/>
        </p:nvSpPr>
        <p:spPr>
          <a:xfrm>
            <a:off x="4191000" y="3886200"/>
            <a:ext cx="4419600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Questions: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What are the dimensions of the table?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What is the total frequency?</a:t>
            </a:r>
          </a:p>
        </p:txBody>
      </p:sp>
    </p:spTree>
    <p:extLst>
      <p:ext uri="{BB962C8B-B14F-4D97-AF65-F5344CB8AC3E}">
        <p14:creationId xmlns:p14="http://schemas.microsoft.com/office/powerpoint/2010/main" val="325458550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CFFAEB-EB1A-4A7B-A407-829DA81E1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Datasets: case form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B18C91-C7D5-4795-8742-59A3FEA87A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43000"/>
            <a:ext cx="8229600" cy="609600"/>
          </a:xfrm>
        </p:spPr>
        <p:txBody>
          <a:bodyPr/>
          <a:lstStyle/>
          <a:p>
            <a:r>
              <a:rPr lang="en-US" dirty="0"/>
              <a:t>Raw data often arrives in </a:t>
            </a:r>
            <a:r>
              <a:rPr lang="en-US" dirty="0">
                <a:solidFill>
                  <a:srgbClr val="FF0000"/>
                </a:solidFill>
              </a:rPr>
              <a:t>case form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BC8C6A-F504-4953-B903-123FC1CA4B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24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503573D-01CD-4469-9948-BBF73227D8B4}"/>
              </a:ext>
            </a:extLst>
          </p:cNvPr>
          <p:cNvSpPr txBox="1"/>
          <p:nvPr/>
        </p:nvSpPr>
        <p:spPr>
          <a:xfrm>
            <a:off x="457200" y="2057400"/>
            <a:ext cx="4953000" cy="4524315"/>
          </a:xfrm>
          <a:prstGeom prst="rect">
            <a:avLst/>
          </a:prstGeom>
          <a:solidFill>
            <a:schemeClr val="accent6">
              <a:lumMod val="20000"/>
              <a:lumOff val="80000"/>
              <a:alpha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expand.dft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(as.data.frame(haireye)) |&gt; 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as_tibble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() |&gt;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mutate(age = round(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runif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 n =  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sum(haireye), min=17, max=29)))</a:t>
            </a:r>
          </a:p>
          <a:p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A </a:t>
            </a:r>
            <a:r>
              <a:rPr lang="en-US" sz="1600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tibble</a:t>
            </a: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592 x 3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Hair  Eye     age</a:t>
            </a:r>
          </a:p>
          <a:p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&lt;</a:t>
            </a:r>
            <a:r>
              <a:rPr lang="en-US" sz="1600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chr</a:t>
            </a: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 &lt;</a:t>
            </a:r>
            <a:r>
              <a:rPr lang="en-US" sz="1600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chr</a:t>
            </a: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 &lt;</a:t>
            </a:r>
            <a:r>
              <a:rPr lang="en-US" sz="1600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dbl</a:t>
            </a: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1 Black Brown    19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2 Black Brown    19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3 Black Brown    27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4 Black Brown    23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5 Black Brown    19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6 Black Brown    29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7 Black Brown    25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8 Black Brown    29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9 Black Brown    17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10 Black Brown    23</a:t>
            </a:r>
          </a:p>
          <a:p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... with 582 more rows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194DCAC-A95A-41C9-96AA-E36CCAB9F765}"/>
              </a:ext>
            </a:extLst>
          </p:cNvPr>
          <p:cNvSpPr txBox="1"/>
          <p:nvPr/>
        </p:nvSpPr>
        <p:spPr>
          <a:xfrm>
            <a:off x="5638800" y="2133600"/>
            <a:ext cx="3048000" cy="36317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One obs. per case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# rows = sum of counts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vcdExtra</a:t>
            </a:r>
            <a:r>
              <a:rPr lang="en-US" sz="14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sz="1400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expand.dft</a:t>
            </a:r>
            <a:r>
              <a:rPr lang="en-US" sz="14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en-US" dirty="0"/>
              <a:t>expands to frequency form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case form is required if there are </a:t>
            </a:r>
            <a:r>
              <a:rPr lang="en-US" dirty="0">
                <a:solidFill>
                  <a:srgbClr val="0070C0"/>
                </a:solidFill>
              </a:rPr>
              <a:t>continuous</a:t>
            </a:r>
            <a:r>
              <a:rPr lang="en-US" dirty="0"/>
              <a:t> variables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case form is </a:t>
            </a:r>
            <a:r>
              <a:rPr lang="en-US" dirty="0">
                <a:solidFill>
                  <a:srgbClr val="FF0000"/>
                </a:solidFill>
              </a:rPr>
              <a:t>tidy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not all CDA functions play well with </a:t>
            </a:r>
            <a:r>
              <a:rPr lang="en-US" dirty="0" err="1"/>
              <a:t>tibbles</a:t>
            </a:r>
            <a:r>
              <a:rPr lang="en-US" dirty="0"/>
              <a:t>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3177AB6-A0BE-3CA3-3BA0-0C783C253705}"/>
              </a:ext>
            </a:extLst>
          </p:cNvPr>
          <p:cNvSpPr/>
          <p:nvPr/>
        </p:nvSpPr>
        <p:spPr>
          <a:xfrm>
            <a:off x="2362200" y="3352800"/>
            <a:ext cx="838200" cy="28956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664375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2F1D77-D51D-4186-83B2-0AE0DEDB1E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Converting data forms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24DD9A-1CCA-4F97-9102-1BBEC8C488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25</a:t>
            </a:fld>
            <a:endParaRPr lang="en-US"/>
          </a:p>
        </p:txBody>
      </p:sp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1F3D442E-56F3-4CB0-BA11-30A4783452E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12341043"/>
              </p:ext>
            </p:extLst>
          </p:nvPr>
        </p:nvGraphicFramePr>
        <p:xfrm>
          <a:off x="457200" y="2687320"/>
          <a:ext cx="8229600" cy="257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>
                  <a:extLst>
                    <a:ext uri="{9D8B030D-6E8A-4147-A177-3AD203B41FA5}">
                      <a16:colId xmlns:a16="http://schemas.microsoft.com/office/drawing/2014/main" val="2755850877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885860417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453757869"/>
                    </a:ext>
                  </a:extLst>
                </a:gridCol>
                <a:gridCol w="2362200">
                  <a:extLst>
                    <a:ext uri="{9D8B030D-6E8A-4147-A177-3AD203B41FA5}">
                      <a16:colId xmlns:a16="http://schemas.microsoft.com/office/drawing/2014/main" val="183712847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From this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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ym typeface="Symbol" panose="05050102010706020507" pitchFamily="18" charset="2"/>
                        </a:rPr>
                        <a:t>To this 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To this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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ym typeface="Symbol" panose="05050102010706020507" pitchFamily="18" charset="2"/>
                        </a:rPr>
                        <a:t>To this 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22263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Case form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Freq form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Table form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052624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lang="en-US" b="1" dirty="0"/>
                        <a:t>Case form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---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Z &lt;- </a:t>
                      </a:r>
                      <a:r>
                        <a:rPr lang="en-US" dirty="0" err="1"/>
                        <a:t>xtabs</a:t>
                      </a:r>
                      <a:r>
                        <a:rPr lang="en-US" dirty="0"/>
                        <a:t>(~ A+ B)</a:t>
                      </a:r>
                    </a:p>
                    <a:p>
                      <a:r>
                        <a:rPr lang="en-US" dirty="0"/>
                        <a:t>as.data.frame(Z)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table(A, B)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9112748"/>
                  </a:ext>
                </a:extLst>
              </a:tr>
              <a:tr h="513080">
                <a:tc>
                  <a:txBody>
                    <a:bodyPr/>
                    <a:lstStyle/>
                    <a:p>
                      <a:r>
                        <a:rPr lang="en-US" b="1" dirty="0"/>
                        <a:t>Freq form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expand.dft</a:t>
                      </a:r>
                      <a:r>
                        <a:rPr lang="en-US" dirty="0"/>
                        <a:t>(X)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---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xtabs</a:t>
                      </a:r>
                      <a:r>
                        <a:rPr lang="en-US" dirty="0"/>
                        <a:t>(Freq ~ A + B)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82488924"/>
                  </a:ext>
                </a:extLst>
              </a:tr>
              <a:tr h="675640">
                <a:tc>
                  <a:txBody>
                    <a:bodyPr/>
                    <a:lstStyle/>
                    <a:p>
                      <a:r>
                        <a:rPr lang="en-US" b="1" dirty="0"/>
                        <a:t>Table form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err="1"/>
                        <a:t>expand.dft</a:t>
                      </a:r>
                      <a:r>
                        <a:rPr lang="en-US" dirty="0"/>
                        <a:t>(X)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as.data.frame(X)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---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57233646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9A406FD2-75D7-4A20-842C-D07E500EB9E7}"/>
              </a:ext>
            </a:extLst>
          </p:cNvPr>
          <p:cNvSpPr txBox="1"/>
          <p:nvPr/>
        </p:nvSpPr>
        <p:spPr>
          <a:xfrm>
            <a:off x="457200" y="1219200"/>
            <a:ext cx="82296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 functions for CDA sometimes accept only tables (matrices), or data frames, in either case for frequency form.</a:t>
            </a:r>
          </a:p>
          <a:p>
            <a:r>
              <a:rPr lang="en-US" dirty="0"/>
              <a:t>You may have to convert your data from one form to another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0CDF729-6D13-E287-049E-6A324D375505}"/>
              </a:ext>
            </a:extLst>
          </p:cNvPr>
          <p:cNvSpPr txBox="1"/>
          <p:nvPr/>
        </p:nvSpPr>
        <p:spPr>
          <a:xfrm>
            <a:off x="457200" y="5486400"/>
            <a:ext cx="82296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Described in: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DDAR, Ch 2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 err="1"/>
              <a:t>vcdExtra</a:t>
            </a:r>
            <a:r>
              <a:rPr lang="en-CA" dirty="0"/>
              <a:t> vignette, </a:t>
            </a:r>
            <a:r>
              <a:rPr lang="en-CA" dirty="0">
                <a:hlinkClick r:id="rId2"/>
              </a:rPr>
              <a:t>Creating and manipulating frequency tables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24664108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0E872D-0A69-4683-BEED-3996F3A374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Categorical data analysis: Methods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9082EA-99FF-43E0-98D5-BF61E9B9AF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26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478167-0499-49E3-BA53-9F34AB5C8D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372" y="1970423"/>
            <a:ext cx="8171428" cy="434285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DDA9932-D9C9-4885-A2AA-5AEB143A17DC}"/>
              </a:ext>
            </a:extLst>
          </p:cNvPr>
          <p:cNvSpPr txBox="1"/>
          <p:nvPr/>
        </p:nvSpPr>
        <p:spPr>
          <a:xfrm>
            <a:off x="457200" y="1143000"/>
            <a:ext cx="82296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/>
              <a:t>Methods for categorical data analysis fall into two main categories</a:t>
            </a:r>
          </a:p>
        </p:txBody>
      </p:sp>
    </p:spTree>
    <p:extLst>
      <p:ext uri="{BB962C8B-B14F-4D97-AF65-F5344CB8AC3E}">
        <p14:creationId xmlns:p14="http://schemas.microsoft.com/office/powerpoint/2010/main" val="42433952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0E872D-0A69-4683-BEED-3996F3A374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Categorical data analysis: Methods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9082EA-99FF-43E0-98D5-BF61E9B9AF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27</a:t>
            </a:fld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B8A7A3B-FB7B-4C80-AE85-8D62BDEEEC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286" y="1520573"/>
            <a:ext cx="8171428" cy="4190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614885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BB4C9B-A462-D538-CB1E-BD3E08F7CC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Categorical data analysis: Methods</a:t>
            </a:r>
            <a:endParaRPr lang="en-CA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6A71EEF-2128-CF4C-3B29-CFADF7DD57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28</a:t>
            </a:fld>
            <a:endParaRPr lang="en-US"/>
          </a:p>
        </p:txBody>
      </p:sp>
      <p:pic>
        <p:nvPicPr>
          <p:cNvPr id="5" name="Picture 4" descr="A group of people walking down a street&#10;&#10;AI-generated content may be incorrect.">
            <a:extLst>
              <a:ext uri="{FF2B5EF4-FFF2-40B4-BE49-F238E27FC236}">
                <a16:creationId xmlns:a16="http://schemas.microsoft.com/office/drawing/2014/main" id="{D4D2B099-DE3C-6153-D7FC-2B929C31FB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6276" y="2120380"/>
            <a:ext cx="6691448" cy="443282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469DFAD-9D2A-78E1-D9A4-8AAFC73D57EB}"/>
              </a:ext>
            </a:extLst>
          </p:cNvPr>
          <p:cNvSpPr txBox="1"/>
          <p:nvPr/>
        </p:nvSpPr>
        <p:spPr>
          <a:xfrm>
            <a:off x="457200" y="1066800"/>
            <a:ext cx="82296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dirty="0"/>
              <a:t>The non-parametric methods are great for a first date!</a:t>
            </a:r>
          </a:p>
          <a:p>
            <a:r>
              <a:rPr lang="en-CA" sz="2400" dirty="0"/>
              <a:t>Model-based approaches make better lifetime partners</a:t>
            </a:r>
          </a:p>
        </p:txBody>
      </p:sp>
    </p:spTree>
    <p:extLst>
      <p:ext uri="{BB962C8B-B14F-4D97-AF65-F5344CB8AC3E}">
        <p14:creationId xmlns:p14="http://schemas.microsoft.com/office/powerpoint/2010/main" val="428882432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DA5B6C-B42F-4557-9C7F-3A457F33ED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Models: Response vs. Association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C748CC9-F60E-407B-8087-FFE034848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29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C583DC5-FEB1-4D4A-A4F2-7BE2DCC630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23017"/>
            <a:ext cx="8180952" cy="4933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30622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DA5B6C-B42F-4557-9C7F-3A457F33ED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Models: Response vs. Association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C748CC9-F60E-407B-8087-FFE034848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30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70921F0-EA43-4B2A-8482-F3909E16D7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23017"/>
            <a:ext cx="8171428" cy="4933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618024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7FD274-6645-42DC-89DE-7D2B0794A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Response models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F224D88-4573-40AD-9C24-E246275355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31</a:t>
            </a:fld>
            <a:endParaRPr lang="en-US"/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71BBBC57-76E2-4903-B282-FBABFFE898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984667"/>
              </p:ext>
            </p:extLst>
          </p:nvPr>
        </p:nvGraphicFramePr>
        <p:xfrm>
          <a:off x="609600" y="1889760"/>
          <a:ext cx="807720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>
                  <a:extLst>
                    <a:ext uri="{9D8B030D-6E8A-4147-A177-3AD203B41FA5}">
                      <a16:colId xmlns:a16="http://schemas.microsoft.com/office/drawing/2014/main" val="3862413569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1135099374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3418100555"/>
                    </a:ext>
                  </a:extLst>
                </a:gridCol>
              </a:tblGrid>
              <a:tr h="396240"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Quantitative outcome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Categorical outcome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7012012"/>
                  </a:ext>
                </a:extLst>
              </a:tr>
              <a:tr h="259505">
                <a:tc>
                  <a:txBody>
                    <a:bodyPr/>
                    <a:lstStyle/>
                    <a:p>
                      <a:r>
                        <a:rPr lang="en-US" sz="1600" b="1" dirty="0"/>
                        <a:t>Continuous predictor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Regression: </a:t>
                      </a:r>
                      <a:r>
                        <a:rPr lang="en-US" sz="1600" dirty="0" err="1"/>
                        <a:t>lm</a:t>
                      </a:r>
                      <a:r>
                        <a:rPr lang="en-US" sz="1600" dirty="0"/>
                        <a:t>(y ~ x1 + x2)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Logistic regression: </a:t>
                      </a:r>
                      <a:r>
                        <a:rPr lang="en-US" sz="1600" dirty="0" err="1"/>
                        <a:t>glm</a:t>
                      </a:r>
                      <a:r>
                        <a:rPr lang="en-US" sz="1600" dirty="0"/>
                        <a:t>()</a:t>
                      </a:r>
                    </a:p>
                    <a:p>
                      <a:r>
                        <a:rPr lang="en-US" sz="1600" dirty="0"/>
                        <a:t>Loglinear model: </a:t>
                      </a:r>
                      <a:r>
                        <a:rPr lang="en-US" sz="1600" dirty="0" err="1"/>
                        <a:t>loglm</a:t>
                      </a:r>
                      <a:r>
                        <a:rPr lang="en-US" sz="1600" dirty="0"/>
                        <a:t>()</a:t>
                      </a:r>
                    </a:p>
                    <a:p>
                      <a:r>
                        <a:rPr lang="en-US" sz="1600" dirty="0"/>
                        <a:t>Ordered: prop. odds model: </a:t>
                      </a:r>
                      <a:r>
                        <a:rPr lang="en-US" sz="1600" dirty="0" err="1"/>
                        <a:t>polr</a:t>
                      </a:r>
                      <a:r>
                        <a:rPr lang="en-US" sz="1600" dirty="0"/>
                        <a:t>()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1900951"/>
                  </a:ext>
                </a:extLst>
              </a:tr>
              <a:tr h="853440">
                <a:tc>
                  <a:txBody>
                    <a:bodyPr/>
                    <a:lstStyle/>
                    <a:p>
                      <a:r>
                        <a:rPr lang="en-US" sz="1600" b="1" dirty="0"/>
                        <a:t>Categorical predictor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ANOVA: </a:t>
                      </a:r>
                      <a:r>
                        <a:rPr lang="en-US" sz="1600" dirty="0" err="1"/>
                        <a:t>lm</a:t>
                      </a:r>
                      <a:r>
                        <a:rPr lang="en-US" sz="1600" dirty="0"/>
                        <a:t>(y ~ A + B)</a:t>
                      </a:r>
                    </a:p>
                    <a:p>
                      <a:r>
                        <a:rPr lang="en-US" sz="1600" dirty="0"/>
                        <a:t>Ordered: polynomial contrasts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l-GR" sz="1600" dirty="0"/>
                        <a:t>χ</a:t>
                      </a:r>
                      <a:r>
                        <a:rPr lang="en-US" sz="1600" baseline="30000" dirty="0"/>
                        <a:t>2</a:t>
                      </a:r>
                      <a:r>
                        <a:rPr lang="en-US" sz="1600" dirty="0"/>
                        <a:t> tests: </a:t>
                      </a:r>
                      <a:r>
                        <a:rPr lang="en-US" sz="1600" dirty="0" err="1"/>
                        <a:t>chisq.test</a:t>
                      </a:r>
                      <a:r>
                        <a:rPr lang="en-US" sz="1600" dirty="0"/>
                        <a:t>()</a:t>
                      </a:r>
                    </a:p>
                    <a:p>
                      <a:r>
                        <a:rPr lang="en-US" sz="1600" dirty="0"/>
                        <a:t>Ordered: CMH tests, </a:t>
                      </a:r>
                      <a:r>
                        <a:rPr lang="en-US" sz="1600" dirty="0" err="1"/>
                        <a:t>CMHtest</a:t>
                      </a:r>
                      <a:r>
                        <a:rPr lang="en-US" sz="1600" dirty="0"/>
                        <a:t>()</a:t>
                      </a:r>
                    </a:p>
                    <a:p>
                      <a:r>
                        <a:rPr lang="en-US" sz="1600" dirty="0"/>
                        <a:t>Loglinear model: </a:t>
                      </a:r>
                      <a:r>
                        <a:rPr lang="en-US" sz="1600" dirty="0" err="1"/>
                        <a:t>loglm</a:t>
                      </a:r>
                      <a:r>
                        <a:rPr lang="en-US" sz="1600" dirty="0"/>
                        <a:t>()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4305177"/>
                  </a:ext>
                </a:extLst>
              </a:tr>
              <a:tr h="536522">
                <a:tc>
                  <a:txBody>
                    <a:bodyPr/>
                    <a:lstStyle/>
                    <a:p>
                      <a:r>
                        <a:rPr lang="en-US" sz="1600" b="1" dirty="0"/>
                        <a:t>Both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ANCOVA: </a:t>
                      </a:r>
                      <a:r>
                        <a:rPr lang="en-US" sz="1600" dirty="0" err="1"/>
                        <a:t>lm</a:t>
                      </a:r>
                      <a:r>
                        <a:rPr lang="en-US" sz="1600" dirty="0"/>
                        <a:t>(y ~ A + B + X)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Logistic regression: </a:t>
                      </a:r>
                      <a:r>
                        <a:rPr lang="en-US" sz="1600" dirty="0" err="1"/>
                        <a:t>glm</a:t>
                      </a:r>
                      <a:r>
                        <a:rPr lang="en-US" sz="1600" dirty="0"/>
                        <a:t>()</a:t>
                      </a:r>
                    </a:p>
                    <a:p>
                      <a:r>
                        <a:rPr lang="en-US" sz="1600" dirty="0"/>
                        <a:t>Loglinear model: </a:t>
                      </a:r>
                      <a:r>
                        <a:rPr lang="en-US" sz="1600" dirty="0" err="1"/>
                        <a:t>loglm</a:t>
                      </a:r>
                      <a:r>
                        <a:rPr lang="en-US" sz="1600" dirty="0"/>
                        <a:t>()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89416174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EB7F31E9-993E-4EF1-B55C-F8FF284DF515}"/>
              </a:ext>
            </a:extLst>
          </p:cNvPr>
          <p:cNvSpPr txBox="1"/>
          <p:nvPr/>
        </p:nvSpPr>
        <p:spPr>
          <a:xfrm>
            <a:off x="457200" y="1143000"/>
            <a:ext cx="8229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Analysis methods for categorical outcome (response) variables have close parallels with those for quantitative outcomes</a:t>
            </a:r>
          </a:p>
        </p:txBody>
      </p:sp>
      <p:sp>
        <p:nvSpPr>
          <p:cNvPr id="7" name="Text Box 5">
            <a:extLst>
              <a:ext uri="{FF2B5EF4-FFF2-40B4-BE49-F238E27FC236}">
                <a16:creationId xmlns:a16="http://schemas.microsoft.com/office/drawing/2014/main" id="{6119710D-C74F-4F6B-B2AB-BDA2F6C4A90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5800" y="5280347"/>
            <a:ext cx="7848600" cy="111569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/>
        </p:spPr>
        <p:txBody>
          <a:bodyPr>
            <a:spAutoFit/>
          </a:bodyPr>
          <a:lstStyle/>
          <a:p>
            <a:pPr>
              <a:spcBef>
                <a:spcPct val="25000"/>
              </a:spcBef>
            </a:pPr>
            <a:r>
              <a:rPr lang="en-US" alt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lm(y ~ A)                         </a:t>
            </a:r>
            <a:r>
              <a:rPr lang="en-US" altLang="en-US" sz="14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one way ANOVA</a:t>
            </a:r>
          </a:p>
          <a:p>
            <a:pPr>
              <a:spcBef>
                <a:spcPct val="25000"/>
              </a:spcBef>
            </a:pPr>
            <a:r>
              <a:rPr lang="en-US" alt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lm(y ~ A*B)                       </a:t>
            </a:r>
            <a:r>
              <a:rPr lang="en-US" altLang="en-US" sz="14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two way: A + B + A:B</a:t>
            </a:r>
          </a:p>
          <a:p>
            <a:pPr>
              <a:spcBef>
                <a:spcPct val="25000"/>
              </a:spcBef>
            </a:pPr>
            <a:r>
              <a:rPr lang="en-US" alt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lm(y ~ X + A)                     </a:t>
            </a:r>
            <a:r>
              <a:rPr lang="en-US" altLang="en-US" sz="14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one-way ANCOVA</a:t>
            </a:r>
          </a:p>
          <a:p>
            <a:pPr>
              <a:spcBef>
                <a:spcPct val="25000"/>
              </a:spcBef>
            </a:pPr>
            <a:r>
              <a:rPr lang="en-US" alt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lm(y ~ (A+B+C)^2)                 </a:t>
            </a:r>
            <a:r>
              <a:rPr lang="en-US" altLang="en-US" sz="14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3-way ANOVA: A, B, C, A:B, A:C, B:C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032651B-CB2D-461C-B633-5EE2E5C98068}"/>
              </a:ext>
            </a:extLst>
          </p:cNvPr>
          <p:cNvSpPr txBox="1"/>
          <p:nvPr/>
        </p:nvSpPr>
        <p:spPr>
          <a:xfrm>
            <a:off x="609600" y="4800600"/>
            <a:ext cx="7696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All use similar model formulas:</a:t>
            </a:r>
          </a:p>
        </p:txBody>
      </p:sp>
    </p:spTree>
    <p:extLst>
      <p:ext uri="{BB962C8B-B14F-4D97-AF65-F5344CB8AC3E}">
        <p14:creationId xmlns:p14="http://schemas.microsoft.com/office/powerpoint/2010/main" val="32419657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91B1E0-AD01-46A3-A9C0-DF404E6FF5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Response models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10649B0-1BED-4EF3-81EF-CEF2823540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32</a:t>
            </a:fld>
            <a:endParaRPr lang="en-US"/>
          </a:p>
        </p:txBody>
      </p:sp>
      <p:sp>
        <p:nvSpPr>
          <p:cNvPr id="4" name="Text Box 5">
            <a:extLst>
              <a:ext uri="{FF2B5EF4-FFF2-40B4-BE49-F238E27FC236}">
                <a16:creationId xmlns:a16="http://schemas.microsoft.com/office/drawing/2014/main" id="{B0E74F64-93D0-4616-854E-EFBB7FCE2CC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7200" y="1868126"/>
            <a:ext cx="7848600" cy="1115690"/>
          </a:xfrm>
          <a:prstGeom prst="rect">
            <a:avLst/>
          </a:prstGeom>
          <a:solidFill>
            <a:schemeClr val="accent6">
              <a:lumMod val="20000"/>
              <a:lumOff val="80000"/>
              <a:alpha val="50000"/>
            </a:schemeClr>
          </a:solidFill>
          <a:ln>
            <a:noFill/>
          </a:ln>
          <a:effectLst/>
        </p:spPr>
        <p:txBody>
          <a:bodyPr>
            <a:spAutoFit/>
          </a:bodyPr>
          <a:lstStyle/>
          <a:p>
            <a:pPr>
              <a:spcBef>
                <a:spcPct val="25000"/>
              </a:spcBef>
            </a:pPr>
            <a:r>
              <a:rPr lang="en-US" alt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lm(y ~ A)                         </a:t>
            </a:r>
            <a:r>
              <a:rPr lang="en-US" altLang="en-US" sz="14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one way ANOVA</a:t>
            </a:r>
          </a:p>
          <a:p>
            <a:pPr>
              <a:spcBef>
                <a:spcPct val="25000"/>
              </a:spcBef>
            </a:pPr>
            <a:r>
              <a:rPr lang="en-US" alt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lm(y ~ A*B)                       </a:t>
            </a:r>
            <a:r>
              <a:rPr lang="en-US" altLang="en-US" sz="14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two way: A + B + A:B</a:t>
            </a:r>
          </a:p>
          <a:p>
            <a:pPr>
              <a:spcBef>
                <a:spcPct val="25000"/>
              </a:spcBef>
            </a:pPr>
            <a:r>
              <a:rPr lang="en-US" alt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lm(y ~ X + A)                     </a:t>
            </a:r>
            <a:r>
              <a:rPr lang="en-US" altLang="en-US" sz="14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one-way ANCOVA</a:t>
            </a:r>
          </a:p>
          <a:p>
            <a:pPr>
              <a:spcBef>
                <a:spcPct val="25000"/>
              </a:spcBef>
            </a:pPr>
            <a:r>
              <a:rPr lang="en-US" alt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lm(y ~ (A+B+C)^2)                 </a:t>
            </a:r>
            <a:r>
              <a:rPr lang="en-US" altLang="en-US" sz="14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3-way ANOVA: A, B, C, A:B, A:C, B:C</a:t>
            </a:r>
          </a:p>
        </p:txBody>
      </p:sp>
      <p:sp>
        <p:nvSpPr>
          <p:cNvPr id="5" name="Text Box 5">
            <a:extLst>
              <a:ext uri="{FF2B5EF4-FFF2-40B4-BE49-F238E27FC236}">
                <a16:creationId xmlns:a16="http://schemas.microsoft.com/office/drawing/2014/main" id="{EAEB000F-54F1-4426-AD99-5CF283A3881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7200" y="4444212"/>
            <a:ext cx="7848600" cy="1923604"/>
          </a:xfrm>
          <a:prstGeom prst="rect">
            <a:avLst/>
          </a:prstGeom>
          <a:solidFill>
            <a:schemeClr val="accent6">
              <a:lumMod val="20000"/>
              <a:lumOff val="80000"/>
              <a:alpha val="50000"/>
            </a:schemeClr>
          </a:solidFill>
          <a:ln>
            <a:noFill/>
          </a:ln>
          <a:effectLst/>
        </p:spPr>
        <p:txBody>
          <a:bodyPr>
            <a:spAutoFit/>
          </a:bodyPr>
          <a:lstStyle/>
          <a:p>
            <a:pPr>
              <a:spcBef>
                <a:spcPct val="25000"/>
              </a:spcBef>
            </a:pPr>
            <a:r>
              <a:rPr lang="en-US" alt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glm</a:t>
            </a:r>
            <a:r>
              <a:rPr lang="en-US" alt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(binary ~ X + A, family=“binomial”)   </a:t>
            </a:r>
            <a:r>
              <a:rPr lang="en-US" altLang="en-US" sz="14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logistic regression</a:t>
            </a:r>
          </a:p>
          <a:p>
            <a:pPr>
              <a:spcBef>
                <a:spcPct val="25000"/>
              </a:spcBef>
            </a:pPr>
            <a:r>
              <a:rPr lang="en-US" alt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glm</a:t>
            </a:r>
            <a:r>
              <a:rPr lang="en-US" alt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(Freq ~ X + A, family=“</a:t>
            </a:r>
            <a:r>
              <a:rPr lang="en-US" alt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poisson</a:t>
            </a:r>
            <a:r>
              <a:rPr lang="en-US" alt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”)      </a:t>
            </a:r>
            <a:r>
              <a:rPr lang="en-US" altLang="en-US" sz="14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en-US" altLang="en-US" sz="14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poisson</a:t>
            </a:r>
            <a:r>
              <a:rPr lang="en-US" altLang="en-US" sz="14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regression</a:t>
            </a:r>
            <a:endParaRPr lang="en-US" altLang="en-US" sz="1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spcBef>
                <a:spcPct val="25000"/>
              </a:spcBef>
            </a:pPr>
            <a:r>
              <a:rPr lang="en-US" alt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MASS::</a:t>
            </a:r>
            <a:r>
              <a:rPr lang="en-US" alt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polr</a:t>
            </a:r>
            <a:r>
              <a:rPr lang="en-US" alt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alt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multicat</a:t>
            </a:r>
            <a:r>
              <a:rPr lang="en-US" alt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~ X + A)             </a:t>
            </a:r>
            <a:r>
              <a:rPr lang="en-US" altLang="en-US" sz="14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ordinal regression</a:t>
            </a:r>
          </a:p>
          <a:p>
            <a:pPr>
              <a:spcBef>
                <a:spcPct val="25000"/>
              </a:spcBef>
            </a:pPr>
            <a:r>
              <a:rPr lang="en-US" alt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nnet</a:t>
            </a:r>
            <a:r>
              <a:rPr lang="en-US" alt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alt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multinom</a:t>
            </a:r>
            <a:r>
              <a:rPr lang="en-US" alt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alt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multicat</a:t>
            </a:r>
            <a:r>
              <a:rPr lang="en-US" alt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~ X + A)         </a:t>
            </a:r>
            <a:r>
              <a:rPr lang="en-US" altLang="en-US" sz="14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multinomial regression</a:t>
            </a:r>
          </a:p>
          <a:p>
            <a:pPr>
              <a:spcBef>
                <a:spcPct val="25000"/>
              </a:spcBef>
            </a:pPr>
            <a:r>
              <a:rPr lang="en-US" alt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loglin</a:t>
            </a:r>
            <a:r>
              <a:rPr lang="en-US" alt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(table, margins)                   </a:t>
            </a:r>
            <a:r>
              <a:rPr lang="en-US" altLang="en-US" sz="14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loglinear model</a:t>
            </a:r>
          </a:p>
          <a:p>
            <a:pPr>
              <a:spcBef>
                <a:spcPct val="25000"/>
              </a:spcBef>
            </a:pPr>
            <a:r>
              <a:rPr lang="en-US" alt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MASS::</a:t>
            </a:r>
            <a:r>
              <a:rPr lang="en-US" alt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loglm</a:t>
            </a:r>
            <a:r>
              <a:rPr lang="en-US" alt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(Freq ~ .)                    </a:t>
            </a:r>
            <a:r>
              <a:rPr lang="en-US" altLang="en-US" sz="14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loglinear model, . = A+B+C+ …</a:t>
            </a:r>
          </a:p>
          <a:p>
            <a:pPr>
              <a:spcBef>
                <a:spcPct val="25000"/>
              </a:spcBef>
            </a:pPr>
            <a:r>
              <a:rPr lang="en-US" alt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MASS::</a:t>
            </a:r>
            <a:r>
              <a:rPr lang="en-US" alt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loglm</a:t>
            </a:r>
            <a:r>
              <a:rPr lang="en-US" alt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(Freq ~ .^2)                  </a:t>
            </a:r>
            <a:r>
              <a:rPr lang="en-US" altLang="en-US" sz="14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 + all two-way associations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45311DE-9060-434A-B049-7975D90E56C5}"/>
              </a:ext>
            </a:extLst>
          </p:cNvPr>
          <p:cNvSpPr txBox="1"/>
          <p:nvPr/>
        </p:nvSpPr>
        <p:spPr>
          <a:xfrm>
            <a:off x="457200" y="1219200"/>
            <a:ext cx="8229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For </a:t>
            </a:r>
            <a:r>
              <a:rPr lang="en-US" sz="2400" dirty="0">
                <a:solidFill>
                  <a:srgbClr val="0070C0"/>
                </a:solidFill>
              </a:rPr>
              <a:t>quantitative</a:t>
            </a:r>
            <a:r>
              <a:rPr lang="en-US" sz="2400" dirty="0"/>
              <a:t> outcomes, </a:t>
            </a:r>
            <a:r>
              <a:rPr lang="en-US" sz="2400" dirty="0" err="1"/>
              <a:t>lm</a:t>
            </a:r>
            <a:r>
              <a:rPr lang="en-US" sz="2400" dirty="0"/>
              <a:t>() for everything, formula notation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9A3AA5-4CE3-4CB7-A734-64D5D5A15B74}"/>
              </a:ext>
            </a:extLst>
          </p:cNvPr>
          <p:cNvSpPr txBox="1"/>
          <p:nvPr/>
        </p:nvSpPr>
        <p:spPr>
          <a:xfrm>
            <a:off x="457200" y="3269400"/>
            <a:ext cx="82296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For </a:t>
            </a:r>
            <a:r>
              <a:rPr lang="en-US" sz="2400" dirty="0">
                <a:solidFill>
                  <a:srgbClr val="0070C0"/>
                </a:solidFill>
              </a:rPr>
              <a:t>categorical</a:t>
            </a:r>
            <a:r>
              <a:rPr lang="en-US" sz="2400" dirty="0"/>
              <a:t> outcomes, different modeling functions for different outcome types</a:t>
            </a:r>
          </a:p>
        </p:txBody>
      </p:sp>
    </p:spTree>
    <p:extLst>
      <p:ext uri="{BB962C8B-B14F-4D97-AF65-F5344CB8AC3E}">
        <p14:creationId xmlns:p14="http://schemas.microsoft.com/office/powerpoint/2010/main" val="16021465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CAE51F-8293-4736-885A-8DDC2760BF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Data display: Tables vs. Graphs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A6F781E-AF4B-45B8-AF85-8738923BA9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33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9EF3D78-1436-429D-B82C-8A1A3A2F23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000" y="1371674"/>
            <a:ext cx="8200000" cy="4685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68038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CC5E56-A304-4C9F-A9BA-ECA9E2FD2A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Graphical methods: Communication goals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0D75F2-82FC-4545-98AF-3832C56A8A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43000"/>
            <a:ext cx="8305800" cy="510540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Different graphs for different audiences</a:t>
            </a:r>
          </a:p>
          <a:p>
            <a:r>
              <a:rPr lang="en-US" sz="2000" b="1" dirty="0"/>
              <a:t>Presentation</a:t>
            </a:r>
            <a:r>
              <a:rPr lang="en-US" sz="2000" dirty="0"/>
              <a:t>: A carefully crafted graph to appeal to a wide audience</a:t>
            </a:r>
          </a:p>
          <a:p>
            <a:r>
              <a:rPr lang="en-US" sz="2000" b="1" dirty="0"/>
              <a:t>Exploration, analysis</a:t>
            </a:r>
            <a:r>
              <a:rPr lang="en-US" sz="2000" dirty="0"/>
              <a:t>: Possibly many related graphs, different perspectives, narrow audience (often: just you!)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6DACC9A-3553-49DB-A2D9-C15024B774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34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E27EE88-E53B-48D3-9FB9-F9E90A4E0C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9143" y="2857924"/>
            <a:ext cx="3542857" cy="339047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777B191-81DF-4807-9A01-967FEAAA88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3000" y="2857924"/>
            <a:ext cx="3542857" cy="3390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63478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5AAABA-A177-4A3B-AF2C-6B2C5FCAFB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Graphical methods: Presentation goals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6D46D1-D221-4858-8C35-EBAB5C831F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43000"/>
            <a:ext cx="8229600" cy="91440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Different presentation goals appeal to different design principles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53F249-0CB7-4912-87EE-BD00F60A62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35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37FCD5C-5DA6-4CA9-8A19-146DC7C845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2286000"/>
            <a:ext cx="6590476" cy="328571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BAA2E3C-F353-4BDA-8A93-606FA27D3C98}"/>
              </a:ext>
            </a:extLst>
          </p:cNvPr>
          <p:cNvSpPr txBox="1"/>
          <p:nvPr/>
        </p:nvSpPr>
        <p:spPr>
          <a:xfrm>
            <a:off x="838200" y="5867400"/>
            <a:ext cx="76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Think: What do I want to communicate? For what purpose?</a:t>
            </a:r>
          </a:p>
        </p:txBody>
      </p:sp>
    </p:spTree>
    <p:extLst>
      <p:ext uri="{BB962C8B-B14F-4D97-AF65-F5344CB8AC3E}">
        <p14:creationId xmlns:p14="http://schemas.microsoft.com/office/powerpoint/2010/main" val="352296867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B2782B-EA54-4FD5-AD73-A74151C567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Graphical methods: Quantitative data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0FAA09-8AE3-4A3E-9AE6-A1E486EB7A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36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53538B7-C465-4F6D-8992-7841C450B6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324" y="1371600"/>
            <a:ext cx="8190476" cy="4428571"/>
          </a:xfrm>
          <a:prstGeom prst="rect">
            <a:avLst/>
          </a:prstGeom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EFA4722E-CE30-1EBC-D53C-A7998A30DA8E}"/>
              </a:ext>
            </a:extLst>
          </p:cNvPr>
          <p:cNvCxnSpPr>
            <a:cxnSpLocks/>
          </p:cNvCxnSpPr>
          <p:nvPr/>
        </p:nvCxnSpPr>
        <p:spPr>
          <a:xfrm flipV="1">
            <a:off x="304800" y="2438400"/>
            <a:ext cx="0" cy="205740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89036B1-3358-22DB-0AB4-6F38BADC06FA}"/>
              </a:ext>
            </a:extLst>
          </p:cNvPr>
          <p:cNvCxnSpPr>
            <a:cxnSpLocks/>
          </p:cNvCxnSpPr>
          <p:nvPr/>
        </p:nvCxnSpPr>
        <p:spPr>
          <a:xfrm flipV="1">
            <a:off x="4724400" y="2438400"/>
            <a:ext cx="0" cy="205740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002309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F57D08-2AAA-4DCE-A8E0-BB4D2C99F7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Graphical methods: Categorical data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B75FC9C-AD3B-409B-9060-A67356B1ED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37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0178BC5-DE2F-415D-962E-251D2F468D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857" y="1145460"/>
            <a:ext cx="8114286" cy="48380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872F946-9CAE-40B0-B7EF-FC5F679F3A09}"/>
              </a:ext>
            </a:extLst>
          </p:cNvPr>
          <p:cNvSpPr txBox="1"/>
          <p:nvPr/>
        </p:nvSpPr>
        <p:spPr>
          <a:xfrm>
            <a:off x="457200" y="6208870"/>
            <a:ext cx="78486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Friendly, M. (1995). </a:t>
            </a:r>
            <a:r>
              <a:rPr lang="en-US" sz="1400" dirty="0">
                <a:hlinkClick r:id="rId3"/>
              </a:rPr>
              <a:t>Conceptual and visual models for categorical data</a:t>
            </a:r>
            <a:r>
              <a:rPr lang="en-US" sz="1400" dirty="0"/>
              <a:t>. </a:t>
            </a:r>
            <a:r>
              <a:rPr lang="en-US" sz="1400" i="1" dirty="0"/>
              <a:t>American Statistician</a:t>
            </a:r>
            <a:r>
              <a:rPr lang="en-US" sz="1400" dirty="0"/>
              <a:t>, </a:t>
            </a:r>
            <a:r>
              <a:rPr lang="en-US" sz="1400" b="1" dirty="0"/>
              <a:t>49</a:t>
            </a:r>
            <a:r>
              <a:rPr lang="en-US" sz="1400" dirty="0"/>
              <a:t>: 153-160. </a:t>
            </a:r>
          </a:p>
        </p:txBody>
      </p:sp>
    </p:spTree>
    <p:extLst>
      <p:ext uri="{BB962C8B-B14F-4D97-AF65-F5344CB8AC3E}">
        <p14:creationId xmlns:p14="http://schemas.microsoft.com/office/powerpoint/2010/main" val="297855647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8B3D6E-F424-B5B2-6D37-43D893F55F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CA" sz="3600" dirty="0"/>
              <a:t>Categorical data: Parallel coordinates plot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03D610F-7DBC-5BB0-3F37-1ABAA2E93C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38</a:t>
            </a:fld>
            <a:endParaRPr lang="en-US"/>
          </a:p>
        </p:txBody>
      </p:sp>
      <p:pic>
        <p:nvPicPr>
          <p:cNvPr id="5" name="Picture 4" descr="Chart&#10;&#10;Description automatically generated">
            <a:extLst>
              <a:ext uri="{FF2B5EF4-FFF2-40B4-BE49-F238E27FC236}">
                <a16:creationId xmlns:a16="http://schemas.microsoft.com/office/drawing/2014/main" id="{E3741306-7F19-363D-8785-8FBD275475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" y="2011362"/>
            <a:ext cx="6400800" cy="4572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5C1E5DA-8BBA-12FB-3DF3-B7E6304F305A}"/>
              </a:ext>
            </a:extLst>
          </p:cNvPr>
          <p:cNvSpPr txBox="1"/>
          <p:nvPr/>
        </p:nvSpPr>
        <p:spPr>
          <a:xfrm>
            <a:off x="6858000" y="2057400"/>
            <a:ext cx="1828800" cy="230832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600" dirty="0"/>
              <a:t>Survival on the Titanic, classified by: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600" dirty="0"/>
              <a:t>Class,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600" dirty="0"/>
              <a:t>Sex,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600" dirty="0"/>
              <a:t>Age,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600" dirty="0"/>
              <a:t>Survived</a:t>
            </a:r>
          </a:p>
          <a:p>
            <a:endParaRPr lang="en-CA" sz="1600" dirty="0"/>
          </a:p>
          <a:p>
            <a:r>
              <a:rPr lang="en-CA" sz="1600" dirty="0"/>
              <a:t>Band width ~ Freq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6DDC433-7F01-2CAC-7F87-54B8BA7C4D05}"/>
              </a:ext>
            </a:extLst>
          </p:cNvPr>
          <p:cNvSpPr txBox="1"/>
          <p:nvPr/>
        </p:nvSpPr>
        <p:spPr>
          <a:xfrm>
            <a:off x="457200" y="1143000"/>
            <a:ext cx="8229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Parallel coordinates plots show multiple variables, each along its’ own || axis</a:t>
            </a:r>
          </a:p>
          <a:p>
            <a:r>
              <a:rPr lang="en-CA" dirty="0"/>
              <a:t>The categorical version uses the width of the band to show frequency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076ACF7-67DC-2D42-8F68-749AA7493BC4}"/>
              </a:ext>
            </a:extLst>
          </p:cNvPr>
          <p:cNvSpPr txBox="1"/>
          <p:nvPr/>
        </p:nvSpPr>
        <p:spPr>
          <a:xfrm>
            <a:off x="6172200" y="4953000"/>
            <a:ext cx="2514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This plot was produced using the </a:t>
            </a:r>
            <a:r>
              <a:rPr lang="en-CA" dirty="0" err="1">
                <a:solidFill>
                  <a:schemeClr val="accent6">
                    <a:lumMod val="50000"/>
                  </a:schemeClr>
                </a:solidFill>
              </a:rPr>
              <a:t>ggpcp</a:t>
            </a:r>
            <a:r>
              <a:rPr lang="en-CA" dirty="0"/>
              <a:t> package</a:t>
            </a:r>
          </a:p>
        </p:txBody>
      </p:sp>
    </p:spTree>
    <p:extLst>
      <p:ext uri="{BB962C8B-B14F-4D97-AF65-F5344CB8AC3E}">
        <p14:creationId xmlns:p14="http://schemas.microsoft.com/office/powerpoint/2010/main" val="145956334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Effective data display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Make the data stand out</a:t>
            </a:r>
          </a:p>
          <a:p>
            <a:pPr lvl="1"/>
            <a:r>
              <a:rPr lang="en-US" sz="2000" dirty="0"/>
              <a:t>Fill the data region (axes, ranges)</a:t>
            </a:r>
          </a:p>
          <a:p>
            <a:pPr lvl="1"/>
            <a:r>
              <a:rPr lang="en-US" sz="2000" dirty="0"/>
              <a:t>Use </a:t>
            </a:r>
            <a:r>
              <a:rPr lang="en-US" sz="2000" dirty="0">
                <a:solidFill>
                  <a:srgbClr val="0070C0"/>
                </a:solidFill>
              </a:rPr>
              <a:t>visually distinct </a:t>
            </a:r>
            <a:r>
              <a:rPr lang="en-US" sz="2000" dirty="0"/>
              <a:t>symbols (shape, color) for different groups</a:t>
            </a:r>
          </a:p>
          <a:p>
            <a:pPr lvl="1"/>
            <a:r>
              <a:rPr lang="en-US" sz="2000" dirty="0"/>
              <a:t>Avoid </a:t>
            </a:r>
            <a:r>
              <a:rPr lang="en-US" sz="2000" dirty="0">
                <a:solidFill>
                  <a:srgbClr val="0070C0"/>
                </a:solidFill>
              </a:rPr>
              <a:t>chart junk</a:t>
            </a:r>
            <a:r>
              <a:rPr lang="en-US" sz="2000" dirty="0"/>
              <a:t>, heavy grid lines that detract from the data</a:t>
            </a:r>
          </a:p>
          <a:p>
            <a:r>
              <a:rPr lang="en-US" sz="2800" dirty="0"/>
              <a:t>Facilitate comparison</a:t>
            </a:r>
          </a:p>
          <a:p>
            <a:pPr lvl="1"/>
            <a:r>
              <a:rPr lang="en-US" sz="2000" dirty="0"/>
              <a:t>Emphasize the important comparisons </a:t>
            </a:r>
            <a:r>
              <a:rPr lang="en-US" sz="2000" dirty="0">
                <a:solidFill>
                  <a:srgbClr val="0070C0"/>
                </a:solidFill>
              </a:rPr>
              <a:t>visually</a:t>
            </a:r>
            <a:r>
              <a:rPr lang="en-US" sz="2000" dirty="0"/>
              <a:t> </a:t>
            </a:r>
          </a:p>
          <a:p>
            <a:pPr lvl="1"/>
            <a:r>
              <a:rPr lang="en-US" sz="2000" dirty="0">
                <a:solidFill>
                  <a:srgbClr val="0070C0"/>
                </a:solidFill>
              </a:rPr>
              <a:t>Side-by-side</a:t>
            </a:r>
            <a:r>
              <a:rPr lang="en-US" sz="2000" dirty="0"/>
              <a:t> easier than in separate panels</a:t>
            </a:r>
          </a:p>
          <a:p>
            <a:pPr lvl="1"/>
            <a:r>
              <a:rPr lang="en-US" sz="2000" dirty="0"/>
              <a:t>“data” vs. a “standard” easier against a </a:t>
            </a:r>
            <a:r>
              <a:rPr lang="en-US" sz="2000" dirty="0">
                <a:solidFill>
                  <a:srgbClr val="0070C0"/>
                </a:solidFill>
              </a:rPr>
              <a:t>horizontal</a:t>
            </a:r>
            <a:r>
              <a:rPr lang="en-US" sz="2000" dirty="0"/>
              <a:t> line</a:t>
            </a:r>
          </a:p>
          <a:p>
            <a:pPr lvl="1"/>
            <a:r>
              <a:rPr lang="en-US" sz="2000" dirty="0"/>
              <a:t>Show </a:t>
            </a:r>
            <a:r>
              <a:rPr lang="en-US" sz="2000" dirty="0">
                <a:solidFill>
                  <a:srgbClr val="0070C0"/>
                </a:solidFill>
              </a:rPr>
              <a:t>uncertainty</a:t>
            </a:r>
            <a:r>
              <a:rPr lang="en-US" sz="2000" dirty="0"/>
              <a:t> where possible</a:t>
            </a:r>
          </a:p>
          <a:p>
            <a:r>
              <a:rPr lang="en-US" dirty="0"/>
              <a:t>Effect ordering</a:t>
            </a:r>
          </a:p>
          <a:p>
            <a:pPr lvl="1"/>
            <a:r>
              <a:rPr lang="en-US" sz="2000" dirty="0"/>
              <a:t>For </a:t>
            </a:r>
            <a:r>
              <a:rPr lang="en-US" sz="2000" dirty="0">
                <a:solidFill>
                  <a:srgbClr val="0070C0"/>
                </a:solidFill>
              </a:rPr>
              <a:t>variables</a:t>
            </a:r>
            <a:r>
              <a:rPr lang="en-US" sz="2000" dirty="0"/>
              <a:t> and </a:t>
            </a:r>
            <a:r>
              <a:rPr lang="en-US" sz="2000" dirty="0">
                <a:solidFill>
                  <a:srgbClr val="0070C0"/>
                </a:solidFill>
              </a:rPr>
              <a:t>unordered</a:t>
            </a:r>
            <a:r>
              <a:rPr lang="en-US" sz="2000" dirty="0"/>
              <a:t> factors, arrange them according to the </a:t>
            </a:r>
            <a:r>
              <a:rPr lang="en-US" sz="2000" dirty="0">
                <a:solidFill>
                  <a:srgbClr val="FF0000"/>
                </a:solidFill>
              </a:rPr>
              <a:t>effects</a:t>
            </a:r>
            <a:r>
              <a:rPr lang="en-US" sz="2000" dirty="0"/>
              <a:t> to be seen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35BFA0-17C9-4887-B142-76D18401E0CE}" type="slidenum">
              <a:rPr lang="en-US" altLang="en-US" smtClean="0"/>
              <a:pPr/>
              <a:t>39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1572120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653EF43-660A-4B53-B73B-A2D2170059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Facilitate comparison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E3AB2-EB76-4842-8B2D-239F5FCE76F2}" type="slidenum">
              <a:rPr lang="en-US" altLang="en-US" smtClean="0"/>
              <a:pPr/>
              <a:t>40</a:t>
            </a:fld>
            <a:endParaRPr lang="en-US" altLang="en-US"/>
          </a:p>
        </p:txBody>
      </p:sp>
      <p:pic>
        <p:nvPicPr>
          <p:cNvPr id="12595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1513" y="1333500"/>
            <a:ext cx="7799387" cy="4762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54058353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87928170-BD88-4C0A-802D-E6CCFB6255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Make comparisons </a:t>
            </a:r>
            <a:r>
              <a:rPr lang="en-US" i="1" dirty="0"/>
              <a:t>direct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E3AB2-EB76-4842-8B2D-239F5FCE76F2}" type="slidenum">
              <a:rPr lang="en-US" altLang="en-US" smtClean="0"/>
              <a:pPr/>
              <a:t>41</a:t>
            </a:fld>
            <a:endParaRPr lang="en-US" altLang="en-US"/>
          </a:p>
        </p:txBody>
      </p:sp>
      <p:pic>
        <p:nvPicPr>
          <p:cNvPr id="3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4228" y="2743200"/>
            <a:ext cx="8032666" cy="26407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sp>
        <p:nvSpPr>
          <p:cNvPr id="4" name="AutoShape 2"/>
          <p:cNvSpPr>
            <a:spLocks noChangeArrowheads="1"/>
          </p:cNvSpPr>
          <p:nvPr/>
        </p:nvSpPr>
        <p:spPr bwMode="auto">
          <a:xfrm>
            <a:off x="537376" y="5943600"/>
            <a:ext cx="8382000" cy="495300"/>
          </a:xfrm>
          <a:custGeom>
            <a:avLst/>
            <a:gdLst/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r" b="b"/>
            <a:pathLst>
              <a:path w="21600" h="21600">
                <a:moveTo>
                  <a:pt x="0" y="0"/>
                </a:moveTo>
                <a:lnTo>
                  <a:pt x="0" y="21600"/>
                </a:lnTo>
                <a:lnTo>
                  <a:pt x="21600" y="21600"/>
                </a:lnTo>
                <a:lnTo>
                  <a:pt x="21600" y="0"/>
                </a:lnTo>
                <a:close/>
              </a:path>
            </a:pathLst>
          </a:cu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6800" rIns="90000" bIns="46800" anchor="b"/>
          <a:lstStyle>
            <a:lvl1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</a:tabLst>
              <a:defRPr sz="1400">
                <a:solidFill>
                  <a:srgbClr val="000000"/>
                </a:solidFill>
                <a:latin typeface="Arial" charset="0"/>
                <a:ea typeface="ＭＳ Ｐゴシック" charset="-128"/>
              </a:defRPr>
            </a:lvl1pPr>
            <a:lvl2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</a:tabLst>
              <a:defRPr sz="1400">
                <a:solidFill>
                  <a:srgbClr val="000000"/>
                </a:solidFill>
                <a:latin typeface="Arial" charset="0"/>
                <a:ea typeface="ＭＳ Ｐゴシック" charset="-128"/>
              </a:defRPr>
            </a:lvl2pPr>
            <a:lvl3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</a:tabLst>
              <a:defRPr sz="1400">
                <a:solidFill>
                  <a:srgbClr val="000000"/>
                </a:solidFill>
                <a:latin typeface="Arial" charset="0"/>
                <a:ea typeface="ＭＳ Ｐゴシック" charset="-128"/>
              </a:defRPr>
            </a:lvl3pPr>
            <a:lvl4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</a:tabLst>
              <a:defRPr sz="1400">
                <a:solidFill>
                  <a:srgbClr val="000000"/>
                </a:solidFill>
                <a:latin typeface="Arial" charset="0"/>
                <a:ea typeface="ＭＳ Ｐゴシック" charset="-128"/>
              </a:defRPr>
            </a:lvl4pPr>
            <a:lvl5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</a:tabLst>
              <a:defRPr sz="1400">
                <a:solidFill>
                  <a:srgbClr val="000000"/>
                </a:solidFill>
                <a:latin typeface="Arial" charset="0"/>
                <a:ea typeface="ＭＳ Ｐゴシック" charset="-128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</a:tabLst>
              <a:defRPr sz="1400">
                <a:solidFill>
                  <a:srgbClr val="000000"/>
                </a:solidFill>
                <a:latin typeface="Arial" charset="0"/>
                <a:ea typeface="ＭＳ Ｐゴシック" charset="-128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</a:tabLst>
              <a:defRPr sz="1400">
                <a:solidFill>
                  <a:srgbClr val="000000"/>
                </a:solidFill>
                <a:latin typeface="Arial" charset="0"/>
                <a:ea typeface="ＭＳ Ｐゴシック" charset="-128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</a:tabLst>
              <a:defRPr sz="1400">
                <a:solidFill>
                  <a:srgbClr val="000000"/>
                </a:solidFill>
                <a:latin typeface="Arial" charset="0"/>
                <a:ea typeface="ＭＳ Ｐゴシック" charset="-128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</a:tabLst>
              <a:defRPr sz="1400">
                <a:solidFill>
                  <a:srgbClr val="000000"/>
                </a:solidFill>
                <a:latin typeface="Arial" charset="0"/>
                <a:ea typeface="ＭＳ Ｐゴシック" charset="-128"/>
              </a:defRPr>
            </a:lvl9pPr>
          </a:lstStyle>
          <a:p>
            <a:r>
              <a:rPr lang="en-US" altLang="en-US" sz="700" dirty="0"/>
              <a:t>Published in: Ian Gordon; Sue Finch; </a:t>
            </a:r>
            <a:r>
              <a:rPr lang="en-US" altLang="en-US" sz="700" i="1" dirty="0"/>
              <a:t>Journal of Computational and Graphical Statistics</a:t>
            </a:r>
            <a:r>
              <a:rPr lang="en-US" altLang="en-US" sz="700" dirty="0"/>
              <a:t> </a:t>
            </a:r>
            <a:r>
              <a:rPr lang="en-US" altLang="en-US" sz="700" b="1" dirty="0"/>
              <a:t> 2015, </a:t>
            </a:r>
            <a:r>
              <a:rPr lang="en-US" altLang="en-US" sz="700" dirty="0"/>
              <a:t>24, 1210-1229.</a:t>
            </a:r>
          </a:p>
          <a:p>
            <a:r>
              <a:rPr lang="en-US" altLang="en-US" sz="700" dirty="0"/>
              <a:t>DOI: 10.1080/10618600.2014.989324</a:t>
            </a:r>
          </a:p>
          <a:p>
            <a:r>
              <a:rPr lang="en-US" altLang="en-US" sz="700" dirty="0"/>
              <a:t>Copyright © 2015 American Statistical Association, Institute of Mathematical Statistics, and Interface Foundation of North America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1946" y="1226403"/>
            <a:ext cx="802485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Use </a:t>
            </a:r>
            <a:r>
              <a:rPr lang="en-US" sz="1600" dirty="0">
                <a:solidFill>
                  <a:srgbClr val="0070C0"/>
                </a:solidFill>
              </a:rPr>
              <a:t>points</a:t>
            </a:r>
            <a:r>
              <a:rPr lang="en-US" sz="1600" dirty="0"/>
              <a:t> not bars (and don’t dynamite them with ineffective error bars!)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Connect similar circumstances to be compared by </a:t>
            </a:r>
            <a:r>
              <a:rPr lang="en-US" sz="1600" dirty="0">
                <a:solidFill>
                  <a:srgbClr val="0070C0"/>
                </a:solidFill>
              </a:rPr>
              <a:t>lines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0070C0"/>
                </a:solidFill>
              </a:rPr>
              <a:t>Same panel </a:t>
            </a:r>
            <a:r>
              <a:rPr lang="en-US" sz="1600" dirty="0"/>
              <a:t>comparisons easier than different panels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A386743-C239-420A-9CB2-5DBED70AB449}"/>
              </a:ext>
            </a:extLst>
          </p:cNvPr>
          <p:cNvSpPr txBox="1"/>
          <p:nvPr/>
        </p:nvSpPr>
        <p:spPr>
          <a:xfrm>
            <a:off x="631466" y="2209800"/>
            <a:ext cx="4397734" cy="36933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Q: Is there evidence of an interaction here?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DF40C47-9243-4998-960A-EDC1016C68F3}"/>
              </a:ext>
            </a:extLst>
          </p:cNvPr>
          <p:cNvSpPr txBox="1"/>
          <p:nvPr/>
        </p:nvSpPr>
        <p:spPr>
          <a:xfrm>
            <a:off x="2687541" y="5498068"/>
            <a:ext cx="83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???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EA4565E-8E6D-47EB-A0FC-F6142F6F5EA5}"/>
              </a:ext>
            </a:extLst>
          </p:cNvPr>
          <p:cNvSpPr/>
          <p:nvPr/>
        </p:nvSpPr>
        <p:spPr>
          <a:xfrm>
            <a:off x="6477000" y="5421868"/>
            <a:ext cx="7620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dirty="0"/>
              <a:t>YES</a:t>
            </a:r>
          </a:p>
        </p:txBody>
      </p:sp>
    </p:spTree>
    <p:extLst>
      <p:ext uri="{BB962C8B-B14F-4D97-AF65-F5344CB8AC3E}">
        <p14:creationId xmlns:p14="http://schemas.microsoft.com/office/powerpoint/2010/main" val="329492708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C3D94-AB9D-4D41-851A-459B2232B0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Direct labels vs. legends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300573C-3EBE-4266-921F-AC7D3897C6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42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FB6537-EF3F-470B-8D83-791957FBFDE3}"/>
              </a:ext>
            </a:extLst>
          </p:cNvPr>
          <p:cNvSpPr txBox="1"/>
          <p:nvPr/>
        </p:nvSpPr>
        <p:spPr>
          <a:xfrm>
            <a:off x="457200" y="1219200"/>
            <a:ext cx="822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Direct labels </a:t>
            </a:r>
            <a:r>
              <a:rPr lang="en-US" dirty="0"/>
              <a:t>for points, lines and regions are usually easier and faster than </a:t>
            </a:r>
            <a:r>
              <a:rPr lang="en-US" dirty="0">
                <a:solidFill>
                  <a:srgbClr val="0070C0"/>
                </a:solidFill>
              </a:rPr>
              <a:t>legends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E6458CE-0B09-481F-8219-4DE6F6265447}"/>
              </a:ext>
            </a:extLst>
          </p:cNvPr>
          <p:cNvSpPr txBox="1"/>
          <p:nvPr/>
        </p:nvSpPr>
        <p:spPr>
          <a:xfrm>
            <a:off x="457200" y="1712714"/>
            <a:ext cx="82296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en-US" sz="1600" dirty="0"/>
              <a:t>Give the names of the four groups shown in the line graph at left in </a:t>
            </a:r>
            <a:r>
              <a:rPr lang="en-US" altLang="en-US" sz="1600" dirty="0">
                <a:solidFill>
                  <a:srgbClr val="00B0F0"/>
                </a:solidFill>
              </a:rPr>
              <a:t>top-to-bottom</a:t>
            </a:r>
            <a:r>
              <a:rPr lang="en-US" altLang="en-US" sz="1600" dirty="0"/>
              <a:t> order. (Answer: b, d, a, c.)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Now do so for the graphs using </a:t>
            </a:r>
            <a:r>
              <a:rPr lang="en-US" sz="1600" dirty="0">
                <a:solidFill>
                  <a:srgbClr val="FF0000"/>
                </a:solidFill>
              </a:rPr>
              <a:t>c</a:t>
            </a:r>
            <a:r>
              <a:rPr lang="en-US" sz="1600" dirty="0">
                <a:solidFill>
                  <a:srgbClr val="0070C0"/>
                </a:solidFill>
              </a:rPr>
              <a:t>o</a:t>
            </a:r>
            <a:r>
              <a:rPr lang="en-US" sz="1600" dirty="0">
                <a:solidFill>
                  <a:schemeClr val="accent6">
                    <a:lumMod val="50000"/>
                  </a:schemeClr>
                </a:solidFill>
              </a:rPr>
              <a:t>l</a:t>
            </a:r>
            <a:r>
              <a:rPr lang="en-US" sz="1600" dirty="0">
                <a:solidFill>
                  <a:srgbClr val="00B050"/>
                </a:solidFill>
              </a:rPr>
              <a:t>o</a:t>
            </a:r>
            <a:r>
              <a:rPr lang="en-US" sz="16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r</a:t>
            </a:r>
            <a:r>
              <a:rPr lang="en-US" sz="1600" dirty="0"/>
              <a:t> or shape  legends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You need to look back and forth between the graph and legend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9394CA-478B-49FE-8577-96C49381EA67}"/>
              </a:ext>
            </a:extLst>
          </p:cNvPr>
          <p:cNvSpPr txBox="1"/>
          <p:nvPr/>
        </p:nvSpPr>
        <p:spPr>
          <a:xfrm>
            <a:off x="609600" y="6321623"/>
            <a:ext cx="46482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en-US" sz="1400" dirty="0"/>
              <a:t>Source: </a:t>
            </a:r>
            <a:r>
              <a:rPr lang="en-US" altLang="en-US" sz="1400" dirty="0" err="1"/>
              <a:t>Franconeri</a:t>
            </a:r>
            <a:r>
              <a:rPr lang="en-US" altLang="en-US" sz="1400" dirty="0"/>
              <a:t> </a:t>
            </a:r>
            <a:r>
              <a:rPr lang="en-US" altLang="en-US" sz="1400" dirty="0" err="1"/>
              <a:t>etal</a:t>
            </a:r>
            <a:r>
              <a:rPr lang="en-US" altLang="en-US" sz="1400" dirty="0"/>
              <a:t>. DOI:</a:t>
            </a:r>
            <a:r>
              <a:rPr lang="en-US" altLang="en-US" sz="1400" dirty="0">
                <a:hlinkClick r:id="rId2"/>
              </a:rPr>
              <a:t>10.1177/15291006211051956</a:t>
            </a:r>
            <a:endParaRPr lang="en-US" sz="14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C3F9962-3F28-4809-9B0F-A71A0F5514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800" y="3070833"/>
            <a:ext cx="2247619" cy="314285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94A82E4-4004-4760-B36D-5D54E2349F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86428" y="3070832"/>
            <a:ext cx="4257143" cy="3142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89735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Effect ordering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Information presentation is always </a:t>
            </a:r>
            <a:r>
              <a:rPr lang="en-US" dirty="0">
                <a:solidFill>
                  <a:srgbClr val="FF0000"/>
                </a:solidFill>
              </a:rPr>
              <a:t>ordered</a:t>
            </a:r>
          </a:p>
          <a:p>
            <a:pPr lvl="1"/>
            <a:r>
              <a:rPr lang="en-US" sz="1800" dirty="0"/>
              <a:t>in </a:t>
            </a:r>
            <a:r>
              <a:rPr lang="en-US" sz="1800" dirty="0">
                <a:solidFill>
                  <a:srgbClr val="0070C0"/>
                </a:solidFill>
              </a:rPr>
              <a:t>time</a:t>
            </a:r>
            <a:r>
              <a:rPr lang="en-US" sz="1800" dirty="0"/>
              <a:t> or sequence (a talk or written paper)</a:t>
            </a:r>
          </a:p>
          <a:p>
            <a:pPr lvl="1"/>
            <a:r>
              <a:rPr lang="en-US" sz="1800" dirty="0"/>
              <a:t>in </a:t>
            </a:r>
            <a:r>
              <a:rPr lang="en-US" sz="1800" dirty="0">
                <a:solidFill>
                  <a:srgbClr val="0070C0"/>
                </a:solidFill>
              </a:rPr>
              <a:t>space</a:t>
            </a:r>
            <a:r>
              <a:rPr lang="en-US" sz="1800" dirty="0"/>
              <a:t> (table or graph)</a:t>
            </a:r>
          </a:p>
          <a:p>
            <a:pPr lvl="1"/>
            <a:r>
              <a:rPr lang="en-US" sz="1800" dirty="0"/>
              <a:t>Constraints of time &amp; space are dominant– can conceal or reveal the important message</a:t>
            </a:r>
          </a:p>
          <a:p>
            <a:r>
              <a:rPr lang="en-US" dirty="0"/>
              <a:t>Effect ordering for data display</a:t>
            </a:r>
          </a:p>
          <a:p>
            <a:pPr lvl="1"/>
            <a:r>
              <a:rPr lang="en-US" sz="1800" dirty="0"/>
              <a:t>Sort the data by the </a:t>
            </a:r>
            <a:r>
              <a:rPr lang="en-US" sz="1800" dirty="0">
                <a:solidFill>
                  <a:srgbClr val="FF0000"/>
                </a:solidFill>
              </a:rPr>
              <a:t>effects to be seen</a:t>
            </a:r>
          </a:p>
          <a:p>
            <a:pPr lvl="1"/>
            <a:r>
              <a:rPr lang="en-US" sz="1800" dirty="0"/>
              <a:t>Order the data to </a:t>
            </a:r>
            <a:r>
              <a:rPr lang="en-US" sz="1800" dirty="0">
                <a:solidFill>
                  <a:srgbClr val="FF0000"/>
                </a:solidFill>
              </a:rPr>
              <a:t>facilitate the task </a:t>
            </a:r>
            <a:r>
              <a:rPr lang="en-US" sz="1800" dirty="0"/>
              <a:t>at hand</a:t>
            </a:r>
          </a:p>
          <a:p>
            <a:pPr lvl="2"/>
            <a:r>
              <a:rPr lang="en-US" sz="1600" dirty="0">
                <a:solidFill>
                  <a:srgbClr val="0070C0"/>
                </a:solidFill>
              </a:rPr>
              <a:t>lookup</a:t>
            </a:r>
            <a:r>
              <a:rPr lang="en-US" sz="1600" dirty="0"/>
              <a:t> – find a value</a:t>
            </a:r>
          </a:p>
          <a:p>
            <a:pPr lvl="2"/>
            <a:r>
              <a:rPr lang="en-US" sz="1600" dirty="0">
                <a:solidFill>
                  <a:srgbClr val="0070C0"/>
                </a:solidFill>
              </a:rPr>
              <a:t>comparison</a:t>
            </a:r>
            <a:r>
              <a:rPr lang="en-US" sz="1600" dirty="0"/>
              <a:t> – which is greater?</a:t>
            </a:r>
          </a:p>
          <a:p>
            <a:pPr lvl="2"/>
            <a:r>
              <a:rPr lang="en-US" sz="1600" dirty="0">
                <a:solidFill>
                  <a:srgbClr val="0070C0"/>
                </a:solidFill>
              </a:rPr>
              <a:t>detection</a:t>
            </a:r>
            <a:r>
              <a:rPr lang="en-US" sz="1600" dirty="0"/>
              <a:t> – find patterns, trends, anomalies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43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4720FE2-6F53-E49B-A839-288AC257341E}"/>
              </a:ext>
            </a:extLst>
          </p:cNvPr>
          <p:cNvSpPr txBox="1"/>
          <p:nvPr/>
        </p:nvSpPr>
        <p:spPr>
          <a:xfrm>
            <a:off x="609600" y="5943600"/>
            <a:ext cx="76962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/>
              <a:t>Friendly, M., &amp; Kwan, E. (2003). Effect Ordering for Data Displays. </a:t>
            </a:r>
            <a:r>
              <a:rPr lang="en-CA" sz="1400" i="1" dirty="0"/>
              <a:t>Computational Statistics and Data Analysis</a:t>
            </a:r>
            <a:r>
              <a:rPr lang="en-CA" sz="1400" dirty="0"/>
              <a:t>, </a:t>
            </a:r>
            <a:r>
              <a:rPr lang="en-CA" sz="1400" i="1" dirty="0"/>
              <a:t>43</a:t>
            </a:r>
            <a:r>
              <a:rPr lang="en-CA" sz="1400" dirty="0"/>
              <a:t>(4), 509–539. </a:t>
            </a:r>
            <a:r>
              <a:rPr lang="en-CA" sz="1400" dirty="0">
                <a:hlinkClick r:id="rId2"/>
              </a:rPr>
              <a:t>https://doi.org/10.1016/S0167-9473(02)00290-6</a:t>
            </a:r>
            <a:r>
              <a:rPr lang="en-CA" sz="14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2732538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830CB0-47E3-4358-A894-FC12FA5A56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Effect Ordering: Correlations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12634DB-B014-451A-B918-A01955024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44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E13B9EF-A076-457B-943F-0C99AB25B2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354119"/>
            <a:ext cx="7476190" cy="461904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35CE754-26FC-4987-A820-C206EBE346DD}"/>
              </a:ext>
            </a:extLst>
          </p:cNvPr>
          <p:cNvSpPr txBox="1"/>
          <p:nvPr/>
        </p:nvSpPr>
        <p:spPr>
          <a:xfrm>
            <a:off x="838200" y="6096000"/>
            <a:ext cx="747619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Friendly &amp; Kwan (2003). </a:t>
            </a:r>
            <a:r>
              <a:rPr lang="en-US" sz="1400" dirty="0" err="1">
                <a:hlinkClick r:id="rId3"/>
              </a:rPr>
              <a:t>Corrgrams</a:t>
            </a:r>
            <a:r>
              <a:rPr lang="en-US" sz="1400" dirty="0">
                <a:hlinkClick r:id="rId3"/>
              </a:rPr>
              <a:t>: Exploratory displays for correlation matrices</a:t>
            </a:r>
            <a:r>
              <a:rPr lang="en-US" sz="1400" dirty="0"/>
              <a:t>. </a:t>
            </a:r>
            <a:r>
              <a:rPr lang="en-US" sz="1400" i="1" dirty="0"/>
              <a:t>American Statistician</a:t>
            </a:r>
            <a:r>
              <a:rPr lang="en-US" sz="1400" dirty="0"/>
              <a:t>, </a:t>
            </a:r>
            <a:r>
              <a:rPr lang="en-US" sz="1400" b="1" dirty="0"/>
              <a:t>54</a:t>
            </a:r>
            <a:r>
              <a:rPr lang="en-US" sz="1400" dirty="0"/>
              <a:t>(4): 316-324.</a:t>
            </a:r>
          </a:p>
        </p:txBody>
      </p:sp>
    </p:spTree>
    <p:extLst>
      <p:ext uri="{BB962C8B-B14F-4D97-AF65-F5344CB8AC3E}">
        <p14:creationId xmlns:p14="http://schemas.microsoft.com/office/powerpoint/2010/main" val="145350859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Tabular displays: Alpha ordering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/>
              <a:t>Tables are often presented with rows/cols ordered </a:t>
            </a:r>
            <a:r>
              <a:rPr lang="en-US" sz="2000" dirty="0">
                <a:solidFill>
                  <a:srgbClr val="FF0000"/>
                </a:solidFill>
              </a:rPr>
              <a:t>alphabetically</a:t>
            </a:r>
          </a:p>
          <a:p>
            <a:pPr lvl="1"/>
            <a:r>
              <a:rPr lang="en-US" sz="1800" dirty="0"/>
              <a:t>good for lookup</a:t>
            </a:r>
          </a:p>
          <a:p>
            <a:pPr lvl="1"/>
            <a:r>
              <a:rPr lang="en-US" sz="1800" dirty="0"/>
              <a:t>bad for seeing patterns, trends, anomalies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45</a:t>
            </a:fld>
            <a:endParaRPr lang="en-US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1706" y="2362200"/>
            <a:ext cx="7409524" cy="4028572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76C2B16-C547-4D35-927C-8BD79367358D}"/>
              </a:ext>
            </a:extLst>
          </p:cNvPr>
          <p:cNvCxnSpPr/>
          <p:nvPr/>
        </p:nvCxnSpPr>
        <p:spPr>
          <a:xfrm>
            <a:off x="2590800" y="3124200"/>
            <a:ext cx="4648200" cy="0"/>
          </a:xfrm>
          <a:prstGeom prst="straightConnector1">
            <a:avLst/>
          </a:prstGeom>
          <a:ln w="25400">
            <a:solidFill>
              <a:srgbClr val="FF0000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69C834E-309C-4A6B-94D3-F861ED7D17CD}"/>
              </a:ext>
            </a:extLst>
          </p:cNvPr>
          <p:cNvCxnSpPr>
            <a:cxnSpLocks/>
          </p:cNvCxnSpPr>
          <p:nvPr/>
        </p:nvCxnSpPr>
        <p:spPr>
          <a:xfrm>
            <a:off x="2362200" y="3657600"/>
            <a:ext cx="0" cy="2133600"/>
          </a:xfrm>
          <a:prstGeom prst="straightConnector1">
            <a:avLst/>
          </a:prstGeom>
          <a:ln w="25400">
            <a:solidFill>
              <a:srgbClr val="FF0000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6C389D2C-8499-EB4D-B005-997F389AAE5D}"/>
              </a:ext>
            </a:extLst>
          </p:cNvPr>
          <p:cNvSpPr txBox="1"/>
          <p:nvPr/>
        </p:nvSpPr>
        <p:spPr>
          <a:xfrm>
            <a:off x="6566832" y="1683949"/>
            <a:ext cx="2106336" cy="584775"/>
          </a:xfrm>
          <a:prstGeom prst="rect">
            <a:avLst/>
          </a:prstGeom>
          <a:solidFill>
            <a:schemeClr val="accent3">
              <a:lumMod val="20000"/>
              <a:lumOff val="80000"/>
              <a:alpha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600" dirty="0"/>
              <a:t>Q: What was the yield of Peatland at Morris?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1B588B2B-7C1E-6D96-A55A-F4550E14C00E}"/>
              </a:ext>
            </a:extLst>
          </p:cNvPr>
          <p:cNvSpPr/>
          <p:nvPr/>
        </p:nvSpPr>
        <p:spPr>
          <a:xfrm>
            <a:off x="5257800" y="4800600"/>
            <a:ext cx="537970" cy="270221"/>
          </a:xfrm>
          <a:prstGeom prst="ellipse">
            <a:avLst/>
          </a:prstGeom>
          <a:solidFill>
            <a:schemeClr val="accent3">
              <a:lumMod val="20000"/>
              <a:lumOff val="80000"/>
              <a:alpha val="20000"/>
            </a:schemeClr>
          </a:solidFill>
          <a:ln w="19050">
            <a:solidFill>
              <a:srgbClr val="00B050">
                <a:alpha val="5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3240658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1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Tabular displays: Main effect ordering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/>
              <a:t>Better: sort rows/cols by </a:t>
            </a:r>
            <a:r>
              <a:rPr lang="en-US" sz="2000" dirty="0">
                <a:solidFill>
                  <a:srgbClr val="0070C0"/>
                </a:solidFill>
              </a:rPr>
              <a:t>means/medians</a:t>
            </a:r>
          </a:p>
          <a:p>
            <a:r>
              <a:rPr lang="en-US" sz="2000" dirty="0"/>
              <a:t>Shade cells according to </a:t>
            </a:r>
            <a:r>
              <a:rPr lang="en-US" sz="2000" dirty="0">
                <a:solidFill>
                  <a:srgbClr val="0070C0"/>
                </a:solidFill>
              </a:rPr>
              <a:t>residual</a:t>
            </a:r>
            <a:r>
              <a:rPr lang="en-US" sz="2000" dirty="0"/>
              <a:t> from additive model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46</a:t>
            </a:fld>
            <a:endParaRPr lang="en-US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2209800"/>
            <a:ext cx="7457143" cy="4209524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46ABAC9-93EA-4E7F-935D-BDA43C72F6E5}"/>
              </a:ext>
            </a:extLst>
          </p:cNvPr>
          <p:cNvCxnSpPr/>
          <p:nvPr/>
        </p:nvCxnSpPr>
        <p:spPr>
          <a:xfrm>
            <a:off x="2590800" y="6415313"/>
            <a:ext cx="4648200" cy="0"/>
          </a:xfrm>
          <a:prstGeom prst="straightConnector1">
            <a:avLst/>
          </a:prstGeom>
          <a:ln w="25400">
            <a:solidFill>
              <a:srgbClr val="FF0000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2DD085B-DEA4-467F-9802-A410ADDCBA82}"/>
              </a:ext>
            </a:extLst>
          </p:cNvPr>
          <p:cNvCxnSpPr>
            <a:cxnSpLocks/>
          </p:cNvCxnSpPr>
          <p:nvPr/>
        </p:nvCxnSpPr>
        <p:spPr>
          <a:xfrm>
            <a:off x="7543800" y="3733800"/>
            <a:ext cx="0" cy="2133600"/>
          </a:xfrm>
          <a:prstGeom prst="straightConnector1">
            <a:avLst/>
          </a:prstGeom>
          <a:ln w="25400">
            <a:solidFill>
              <a:srgbClr val="FF0000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C1118E69-94ED-7B68-C82B-BC145BEC23BE}"/>
              </a:ext>
            </a:extLst>
          </p:cNvPr>
          <p:cNvSpPr txBox="1"/>
          <p:nvPr/>
        </p:nvSpPr>
        <p:spPr>
          <a:xfrm>
            <a:off x="6629400" y="1143000"/>
            <a:ext cx="2057397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Q: What site had largest yield?</a:t>
            </a:r>
          </a:p>
          <a:p>
            <a:r>
              <a:rPr lang="en-CA" dirty="0"/>
              <a:t>What variety?</a:t>
            </a:r>
          </a:p>
        </p:txBody>
      </p:sp>
    </p:spTree>
    <p:extLst>
      <p:ext uri="{BB962C8B-B14F-4D97-AF65-F5344CB8AC3E}">
        <p14:creationId xmlns:p14="http://schemas.microsoft.com/office/powerpoint/2010/main" val="41234741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E5EC95-6DAC-4ACA-9B34-3BD6AF6108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Effect ordering: Frequency tables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906715C-BBA0-4A2C-AF84-616A7463F2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47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9BFDBEC-1ADA-4939-A047-001D24A209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762" y="1486143"/>
            <a:ext cx="6990476" cy="388571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2CB2DDF-9C08-457D-94C0-29AEF04009E0}"/>
              </a:ext>
            </a:extLst>
          </p:cNvPr>
          <p:cNvSpPr txBox="1"/>
          <p:nvPr/>
        </p:nvSpPr>
        <p:spPr>
          <a:xfrm>
            <a:off x="990600" y="5715000"/>
            <a:ext cx="7467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There is an association, but it is hard to see the general pattern</a:t>
            </a:r>
          </a:p>
        </p:txBody>
      </p:sp>
    </p:spTree>
    <p:extLst>
      <p:ext uri="{BB962C8B-B14F-4D97-AF65-F5344CB8AC3E}">
        <p14:creationId xmlns:p14="http://schemas.microsoft.com/office/powerpoint/2010/main" val="407694931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E5EC95-6DAC-4ACA-9B34-3BD6AF6108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Effect ordering: Frequency tables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906715C-BBA0-4A2C-AF84-616A7463F2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48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C7767A6-B70D-46C5-8D43-D400B5760A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762" y="1486143"/>
            <a:ext cx="6990476" cy="388571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C8090B1-584E-4B45-8C48-C46AE9BAF429}"/>
              </a:ext>
            </a:extLst>
          </p:cNvPr>
          <p:cNvSpPr txBox="1"/>
          <p:nvPr/>
        </p:nvSpPr>
        <p:spPr>
          <a:xfrm>
            <a:off x="990600" y="5715000"/>
            <a:ext cx="7467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pattern is clearer when the eye colors are </a:t>
            </a:r>
            <a:r>
              <a:rPr lang="en-US" dirty="0">
                <a:solidFill>
                  <a:srgbClr val="0070C0"/>
                </a:solidFill>
              </a:rPr>
              <a:t>permuted</a:t>
            </a:r>
            <a:r>
              <a:rPr lang="en-US" dirty="0"/>
              <a:t>: light hair goes with light eyes &amp; vice-versa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6775744-1913-D0A8-A119-35B1914072D5}"/>
              </a:ext>
            </a:extLst>
          </p:cNvPr>
          <p:cNvCxnSpPr/>
          <p:nvPr/>
        </p:nvCxnSpPr>
        <p:spPr>
          <a:xfrm>
            <a:off x="4572000" y="3048000"/>
            <a:ext cx="2438400" cy="99060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3650515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38B970-64B6-FC07-E7BA-5DC509ADC8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group of cats sitting on a table with a chart and a diagram&#10;&#10;AI-generated content may be incorrect.">
            <a:extLst>
              <a:ext uri="{FF2B5EF4-FFF2-40B4-BE49-F238E27FC236}">
                <a16:creationId xmlns:a16="http://schemas.microsoft.com/office/drawing/2014/main" id="{68A14D52-5A10-97F7-16B9-743E425486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44" r="9091" b="2974"/>
          <a:stretch>
            <a:fillRect/>
          </a:stretch>
        </p:blipFill>
        <p:spPr>
          <a:xfrm>
            <a:off x="20" y="10"/>
            <a:ext cx="9143980" cy="685799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4EED347-377D-55A3-51E1-C56E76CA7F57}"/>
              </a:ext>
            </a:extLst>
          </p:cNvPr>
          <p:cNvSpPr txBox="1"/>
          <p:nvPr/>
        </p:nvSpPr>
        <p:spPr>
          <a:xfrm>
            <a:off x="3581400" y="457200"/>
            <a:ext cx="5410200" cy="13716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7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Visual tables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2FBDED-1838-0805-4085-75D93C9109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80899" y="6356350"/>
            <a:ext cx="20574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  <a:defRPr/>
            </a:pPr>
            <a:fld id="{621225AB-15B9-4C79-A121-04D1DC7E2307}" type="slidenum">
              <a:rPr lang="en-US">
                <a:solidFill>
                  <a:schemeClr val="bg1"/>
                </a:solidFill>
                <a:latin typeface="Calibri" panose="020F0502020204030204"/>
              </a:rPr>
              <a:pPr>
                <a:spcAft>
                  <a:spcPts val="600"/>
                </a:spcAft>
                <a:defRPr/>
              </a:pPr>
              <a:t>49</a:t>
            </a:fld>
            <a:endParaRPr lang="en-US">
              <a:solidFill>
                <a:schemeClr val="bg1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64010794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Sometimes, don’t need numbers at all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0B7604-93B8-4136-B9BD-D1CE89EE20B0}" type="slidenum">
              <a:rPr lang="en-US" smtClean="0"/>
              <a:t>50</a:t>
            </a:fld>
            <a:endParaRPr lang="en-US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9496" y="1676400"/>
            <a:ext cx="5182777" cy="414410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143000"/>
            <a:ext cx="8305800" cy="38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COVID transmission risk </a:t>
            </a:r>
            <a:r>
              <a:rPr lang="en-US" dirty="0"/>
              <a:t>~ Occupancy * Ventilation * Activity * Mask? * </a:t>
            </a:r>
            <a:r>
              <a:rPr lang="en-US" dirty="0" err="1"/>
              <a:t>Contact.time</a:t>
            </a:r>
            <a:r>
              <a:rPr lang="en-US" dirty="0"/>
              <a:t>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6172200"/>
            <a:ext cx="7848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From:  N.R. Jones et-al (2020). Two metres or one: what is the evidence for physical distancing in covid-19? </a:t>
            </a:r>
            <a:r>
              <a:rPr lang="en-US" sz="1200" i="1" dirty="0"/>
              <a:t>BMJ</a:t>
            </a:r>
            <a:r>
              <a:rPr lang="en-US" sz="1200" dirty="0"/>
              <a:t> 2020;370:m3223, </a:t>
            </a:r>
            <a:r>
              <a:rPr lang="en-US" sz="1200" i="1" dirty="0" err="1"/>
              <a:t>doi</a:t>
            </a:r>
            <a:r>
              <a:rPr lang="en-US" sz="1200" i="1" dirty="0"/>
              <a:t>: </a:t>
            </a:r>
            <a:r>
              <a:rPr lang="en-US" sz="1200" i="1" dirty="0">
                <a:hlinkClick r:id="rId3"/>
              </a:rPr>
              <a:t>https://doi.org/10.1136/bmj.m3223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1905000"/>
            <a:ext cx="274320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 complex 5-way table, whose message is clearly shown w/o numbers</a:t>
            </a:r>
          </a:p>
          <a:p>
            <a:endParaRPr lang="en-US" dirty="0"/>
          </a:p>
          <a:p>
            <a:r>
              <a:rPr lang="en-US" dirty="0"/>
              <a:t>A semi-graphic table shows the </a:t>
            </a:r>
            <a:r>
              <a:rPr lang="en-US" dirty="0">
                <a:solidFill>
                  <a:srgbClr val="FF0000"/>
                </a:solidFill>
              </a:rPr>
              <a:t>patterns</a:t>
            </a:r>
            <a:r>
              <a:rPr lang="en-US" dirty="0"/>
              <a:t> in the data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There are 1+ unusual cells here.  Can you see them?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FC5F598A-FB5C-4F91-BD11-60F86AAC0934}"/>
              </a:ext>
            </a:extLst>
          </p:cNvPr>
          <p:cNvSpPr/>
          <p:nvPr/>
        </p:nvSpPr>
        <p:spPr>
          <a:xfrm>
            <a:off x="5374536" y="3478509"/>
            <a:ext cx="1219200" cy="461665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5C6CBF4B-7DB8-4FFF-A418-167D655357C0}"/>
              </a:ext>
            </a:extLst>
          </p:cNvPr>
          <p:cNvSpPr/>
          <p:nvPr/>
        </p:nvSpPr>
        <p:spPr>
          <a:xfrm>
            <a:off x="6172200" y="2965360"/>
            <a:ext cx="1219200" cy="461665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08405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cture containing graphical user interface, application, table&#10;&#10;Description automatically generated">
            <a:extLst>
              <a:ext uri="{FF2B5EF4-FFF2-40B4-BE49-F238E27FC236}">
                <a16:creationId xmlns:a16="http://schemas.microsoft.com/office/drawing/2014/main" id="{25386479-30BD-46A6-AA0D-C660D04B6C0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31691" y="1826912"/>
            <a:ext cx="5312000" cy="4712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074BC76-3B0A-4057-AD8B-55B75A4955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Visual table ideas: Heatmap shading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2E9F700-1E00-42F2-9C1B-7FE09053F9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0B7604-93B8-4136-B9BD-D1CE89EE20B0}" type="slidenum">
              <a:rPr lang="en-US" smtClean="0"/>
              <a:t>51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976BD6D-AE67-457E-9B5D-FA12D4A09F98}"/>
              </a:ext>
            </a:extLst>
          </p:cNvPr>
          <p:cNvSpPr txBox="1"/>
          <p:nvPr/>
        </p:nvSpPr>
        <p:spPr>
          <a:xfrm>
            <a:off x="457200" y="1143000"/>
            <a:ext cx="822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Heatmap shading</a:t>
            </a:r>
            <a:r>
              <a:rPr lang="en-US" dirty="0"/>
              <a:t>: Shade the </a:t>
            </a:r>
            <a:r>
              <a:rPr lang="en-US" dirty="0">
                <a:highlight>
                  <a:srgbClr val="FFFF00"/>
                </a:highlight>
              </a:rPr>
              <a:t>background</a:t>
            </a:r>
            <a:r>
              <a:rPr lang="en-US" dirty="0"/>
              <a:t> of each cell according to some criterion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5536707-74E8-4A0A-BCA9-0BEAC0F4CB51}"/>
              </a:ext>
            </a:extLst>
          </p:cNvPr>
          <p:cNvSpPr txBox="1"/>
          <p:nvPr/>
        </p:nvSpPr>
        <p:spPr>
          <a:xfrm>
            <a:off x="457200" y="1981200"/>
            <a:ext cx="266700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trends in the US and Canada are made obvious</a:t>
            </a:r>
          </a:p>
          <a:p>
            <a:endParaRPr lang="en-US" dirty="0"/>
          </a:p>
          <a:p>
            <a:r>
              <a:rPr lang="en-US" dirty="0"/>
              <a:t>NB: Table rows are sorted by Jan. value, lending coherence</a:t>
            </a:r>
          </a:p>
          <a:p>
            <a:endParaRPr lang="en-US" dirty="0"/>
          </a:p>
          <a:p>
            <a:r>
              <a:rPr lang="en-US" dirty="0">
                <a:highlight>
                  <a:srgbClr val="FFFF00"/>
                </a:highlight>
              </a:rPr>
              <a:t>Background</a:t>
            </a:r>
            <a:r>
              <a:rPr lang="en-US" dirty="0"/>
              <a:t> shading ~ value:</a:t>
            </a:r>
          </a:p>
          <a:p>
            <a:r>
              <a:rPr lang="en-US" dirty="0"/>
              <a:t>US &amp; Canada are made to stand out.</a:t>
            </a:r>
          </a:p>
          <a:p>
            <a:endParaRPr lang="en-US" dirty="0"/>
          </a:p>
          <a:p>
            <a:r>
              <a:rPr lang="en-US" dirty="0"/>
              <a:t>Tech note: use </a:t>
            </a:r>
            <a:r>
              <a:rPr lang="en-US" dirty="0">
                <a:solidFill>
                  <a:schemeClr val="bg1"/>
                </a:solidFill>
                <a:highlight>
                  <a:srgbClr val="0000FF"/>
                </a:highlight>
              </a:rPr>
              <a:t>light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/>
              <a:t>text on a darker background</a:t>
            </a:r>
          </a:p>
        </p:txBody>
      </p:sp>
    </p:spTree>
    <p:extLst>
      <p:ext uri="{BB962C8B-B14F-4D97-AF65-F5344CB8AC3E}">
        <p14:creationId xmlns:p14="http://schemas.microsoft.com/office/powerpoint/2010/main" val="89770949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26434E77-FEB3-422D-815C-9DDB81FEC40D}"/>
              </a:ext>
            </a:extLst>
          </p:cNvPr>
          <p:cNvGrpSpPr/>
          <p:nvPr/>
        </p:nvGrpSpPr>
        <p:grpSpPr>
          <a:xfrm>
            <a:off x="4572000" y="909689"/>
            <a:ext cx="3706980" cy="2799442"/>
            <a:chOff x="4572000" y="909689"/>
            <a:chExt cx="3706980" cy="2799442"/>
          </a:xfrm>
        </p:grpSpPr>
        <p:pic>
          <p:nvPicPr>
            <p:cNvPr id="7" name="Picture 6" descr="A picture containing diagram&#10;&#10;Description automatically generated">
              <a:extLst>
                <a:ext uri="{FF2B5EF4-FFF2-40B4-BE49-F238E27FC236}">
                  <a16:creationId xmlns:a16="http://schemas.microsoft.com/office/drawing/2014/main" id="{1863F0BD-9785-4C3B-9F0B-C35621F7BA6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572000" y="909689"/>
              <a:ext cx="3292143" cy="2799442"/>
            </a:xfrm>
            <a:prstGeom prst="rect">
              <a:avLst/>
            </a:prstGeom>
          </p:spPr>
        </p:pic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882FC819-A0A9-4FA1-AD5B-1ED9D900BA53}"/>
                </a:ext>
              </a:extLst>
            </p:cNvPr>
            <p:cNvSpPr txBox="1"/>
            <p:nvPr/>
          </p:nvSpPr>
          <p:spPr>
            <a:xfrm>
              <a:off x="5105400" y="1273278"/>
              <a:ext cx="31735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encode values by size &amp; shape</a:t>
              </a: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61DEE01D-CCFC-46CD-A4D4-D967C15EAFBA}"/>
              </a:ext>
            </a:extLst>
          </p:cNvPr>
          <p:cNvGrpSpPr/>
          <p:nvPr/>
        </p:nvGrpSpPr>
        <p:grpSpPr>
          <a:xfrm>
            <a:off x="733768" y="914400"/>
            <a:ext cx="3277779" cy="2759075"/>
            <a:chOff x="733768" y="914400"/>
            <a:chExt cx="3277779" cy="2759075"/>
          </a:xfrm>
        </p:grpSpPr>
        <p:pic>
          <p:nvPicPr>
            <p:cNvPr id="5" name="Picture 4" descr="Table&#10;&#10;Description automatically generated">
              <a:extLst>
                <a:ext uri="{FF2B5EF4-FFF2-40B4-BE49-F238E27FC236}">
                  <a16:creationId xmlns:a16="http://schemas.microsoft.com/office/drawing/2014/main" id="{D3CE8616-93D4-4425-8C49-D8F56F2AB4C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33768" y="914400"/>
              <a:ext cx="3277779" cy="2759075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74A5D078-7A88-42E8-931F-3F45E608CD56}"/>
                </a:ext>
              </a:extLst>
            </p:cNvPr>
            <p:cNvSpPr txBox="1"/>
            <p:nvPr/>
          </p:nvSpPr>
          <p:spPr>
            <a:xfrm>
              <a:off x="1066800" y="1273278"/>
              <a:ext cx="28194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attitudes &amp; attributes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8460E21B-15E7-4D3D-9EBD-4A17D1254A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Bertifier</a:t>
            </a:r>
            <a:r>
              <a:rPr lang="en-US" dirty="0"/>
              <a:t>: Turning tables into graphs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2493E69-6E2B-474A-85C0-14A3D64B43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52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067871C-227E-4943-AFD5-B4B71710CD4A}"/>
              </a:ext>
            </a:extLst>
          </p:cNvPr>
          <p:cNvSpPr txBox="1"/>
          <p:nvPr/>
        </p:nvSpPr>
        <p:spPr>
          <a:xfrm>
            <a:off x="457200" y="4114800"/>
            <a:ext cx="39624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lphaLcParenBoth"/>
            </a:pPr>
            <a:r>
              <a:rPr lang="en-US" sz="1600" dirty="0"/>
              <a:t>Table: attitudes and attributes by country</a:t>
            </a:r>
          </a:p>
          <a:p>
            <a:pPr marL="342900" indent="-342900">
              <a:buAutoNum type="alphaLcParenBoth"/>
            </a:pPr>
            <a:r>
              <a:rPr lang="en-US" sz="1600" dirty="0"/>
              <a:t>Visual: encode values by size, shape</a:t>
            </a:r>
          </a:p>
          <a:p>
            <a:pPr marL="342900" indent="-342900">
              <a:buAutoNum type="alphaLcParenBoth"/>
            </a:pPr>
            <a:r>
              <a:rPr lang="en-US" sz="1600" dirty="0"/>
              <a:t>Sort &amp; group by themes, country regions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5965964-7893-4CFB-A4A5-A6FE713422AD}"/>
              </a:ext>
            </a:extLst>
          </p:cNvPr>
          <p:cNvSpPr txBox="1"/>
          <p:nvPr/>
        </p:nvSpPr>
        <p:spPr>
          <a:xfrm>
            <a:off x="457200" y="5410200"/>
            <a:ext cx="3810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Bertifier</a:t>
            </a:r>
            <a:r>
              <a:rPr lang="en-US" dirty="0"/>
              <a:t>: </a:t>
            </a:r>
            <a:r>
              <a:rPr lang="en-US" dirty="0" err="1"/>
              <a:t>Bertin’s</a:t>
            </a:r>
            <a:r>
              <a:rPr lang="en-US" dirty="0"/>
              <a:t> reorderable matrix</a:t>
            </a:r>
          </a:p>
          <a:p>
            <a:r>
              <a:rPr lang="en-US" dirty="0"/>
              <a:t>See: </a:t>
            </a:r>
            <a:r>
              <a:rPr lang="en-US" dirty="0">
                <a:hlinkClick r:id="rId4"/>
              </a:rPr>
              <a:t>http://www.aviz.fr/bertifier</a:t>
            </a:r>
            <a:r>
              <a:rPr lang="en-US" dirty="0"/>
              <a:t> 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8001DA6F-9DDE-45B1-A443-FF7A3FD5FC8D}"/>
              </a:ext>
            </a:extLst>
          </p:cNvPr>
          <p:cNvGrpSpPr/>
          <p:nvPr/>
        </p:nvGrpSpPr>
        <p:grpSpPr>
          <a:xfrm>
            <a:off x="4572000" y="4037356"/>
            <a:ext cx="3802956" cy="2546005"/>
            <a:chOff x="4572000" y="4037356"/>
            <a:chExt cx="3802956" cy="2546005"/>
          </a:xfrm>
        </p:grpSpPr>
        <p:pic>
          <p:nvPicPr>
            <p:cNvPr id="9" name="Picture 8" descr="Diagram&#10;&#10;Description automatically generated">
              <a:extLst>
                <a:ext uri="{FF2B5EF4-FFF2-40B4-BE49-F238E27FC236}">
                  <a16:creationId xmlns:a16="http://schemas.microsoft.com/office/drawing/2014/main" id="{F65D280E-4B30-4EFB-8115-08F73BB5699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572000" y="4037356"/>
              <a:ext cx="3706980" cy="2546005"/>
            </a:xfrm>
            <a:prstGeom prst="rect">
              <a:avLst/>
            </a:prstGeom>
          </p:spPr>
        </p:pic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C75DB57D-403B-4C31-BB89-A776DAEC51D2}"/>
                </a:ext>
              </a:extLst>
            </p:cNvPr>
            <p:cNvSpPr/>
            <p:nvPr/>
          </p:nvSpPr>
          <p:spPr>
            <a:xfrm flipV="1">
              <a:off x="7600336" y="4809953"/>
              <a:ext cx="774620" cy="1493837"/>
            </a:xfrm>
            <a:custGeom>
              <a:avLst/>
              <a:gdLst>
                <a:gd name="connsiteX0" fmla="*/ 0 w 774620"/>
                <a:gd name="connsiteY0" fmla="*/ 0 h 1493837"/>
                <a:gd name="connsiteX1" fmla="*/ 379564 w 774620"/>
                <a:gd name="connsiteY1" fmla="*/ 0 h 1493837"/>
                <a:gd name="connsiteX2" fmla="*/ 774620 w 774620"/>
                <a:gd name="connsiteY2" fmla="*/ 0 h 1493837"/>
                <a:gd name="connsiteX3" fmla="*/ 774620 w 774620"/>
                <a:gd name="connsiteY3" fmla="*/ 527822 h 1493837"/>
                <a:gd name="connsiteX4" fmla="*/ 774620 w 774620"/>
                <a:gd name="connsiteY4" fmla="*/ 1025768 h 1493837"/>
                <a:gd name="connsiteX5" fmla="*/ 774620 w 774620"/>
                <a:gd name="connsiteY5" fmla="*/ 1493837 h 1493837"/>
                <a:gd name="connsiteX6" fmla="*/ 402802 w 774620"/>
                <a:gd name="connsiteY6" fmla="*/ 1493837 h 1493837"/>
                <a:gd name="connsiteX7" fmla="*/ 0 w 774620"/>
                <a:gd name="connsiteY7" fmla="*/ 1493837 h 1493837"/>
                <a:gd name="connsiteX8" fmla="*/ 0 w 774620"/>
                <a:gd name="connsiteY8" fmla="*/ 966015 h 1493837"/>
                <a:gd name="connsiteX9" fmla="*/ 0 w 774620"/>
                <a:gd name="connsiteY9" fmla="*/ 438192 h 1493837"/>
                <a:gd name="connsiteX10" fmla="*/ 0 w 774620"/>
                <a:gd name="connsiteY10" fmla="*/ 0 h 14938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74620" h="1493837" extrusionOk="0">
                  <a:moveTo>
                    <a:pt x="0" y="0"/>
                  </a:moveTo>
                  <a:cubicBezTo>
                    <a:pt x="148776" y="-18435"/>
                    <a:pt x="212512" y="11295"/>
                    <a:pt x="379564" y="0"/>
                  </a:cubicBezTo>
                  <a:cubicBezTo>
                    <a:pt x="546616" y="-11295"/>
                    <a:pt x="630410" y="33113"/>
                    <a:pt x="774620" y="0"/>
                  </a:cubicBezTo>
                  <a:cubicBezTo>
                    <a:pt x="828642" y="233063"/>
                    <a:pt x="725233" y="411826"/>
                    <a:pt x="774620" y="527822"/>
                  </a:cubicBezTo>
                  <a:cubicBezTo>
                    <a:pt x="824007" y="643818"/>
                    <a:pt x="764017" y="867933"/>
                    <a:pt x="774620" y="1025768"/>
                  </a:cubicBezTo>
                  <a:cubicBezTo>
                    <a:pt x="785223" y="1183603"/>
                    <a:pt x="773797" y="1327214"/>
                    <a:pt x="774620" y="1493837"/>
                  </a:cubicBezTo>
                  <a:cubicBezTo>
                    <a:pt x="665632" y="1505717"/>
                    <a:pt x="485147" y="1482586"/>
                    <a:pt x="402802" y="1493837"/>
                  </a:cubicBezTo>
                  <a:cubicBezTo>
                    <a:pt x="320457" y="1505088"/>
                    <a:pt x="142383" y="1449828"/>
                    <a:pt x="0" y="1493837"/>
                  </a:cubicBezTo>
                  <a:cubicBezTo>
                    <a:pt x="-27185" y="1319232"/>
                    <a:pt x="38835" y="1204134"/>
                    <a:pt x="0" y="966015"/>
                  </a:cubicBezTo>
                  <a:cubicBezTo>
                    <a:pt x="-38835" y="727896"/>
                    <a:pt x="15017" y="578891"/>
                    <a:pt x="0" y="438192"/>
                  </a:cubicBezTo>
                  <a:cubicBezTo>
                    <a:pt x="-15017" y="297493"/>
                    <a:pt x="43348" y="207164"/>
                    <a:pt x="0" y="0"/>
                  </a:cubicBezTo>
                  <a:close/>
                </a:path>
              </a:pathLst>
            </a:custGeom>
            <a:noFill/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2" name="Rectangle 11">
            <a:extLst>
              <a:ext uri="{FF2B5EF4-FFF2-40B4-BE49-F238E27FC236}">
                <a16:creationId xmlns:a16="http://schemas.microsoft.com/office/drawing/2014/main" id="{13DB6BE3-0C80-4528-8703-54A9D36C4872}"/>
              </a:ext>
            </a:extLst>
          </p:cNvPr>
          <p:cNvSpPr/>
          <p:nvPr/>
        </p:nvSpPr>
        <p:spPr>
          <a:xfrm>
            <a:off x="5958348" y="3932237"/>
            <a:ext cx="1676400" cy="365125"/>
          </a:xfrm>
          <a:custGeom>
            <a:avLst/>
            <a:gdLst>
              <a:gd name="connsiteX0" fmla="*/ 0 w 1676400"/>
              <a:gd name="connsiteY0" fmla="*/ 0 h 365125"/>
              <a:gd name="connsiteX1" fmla="*/ 542036 w 1676400"/>
              <a:gd name="connsiteY1" fmla="*/ 0 h 365125"/>
              <a:gd name="connsiteX2" fmla="*/ 1050544 w 1676400"/>
              <a:gd name="connsiteY2" fmla="*/ 0 h 365125"/>
              <a:gd name="connsiteX3" fmla="*/ 1676400 w 1676400"/>
              <a:gd name="connsiteY3" fmla="*/ 0 h 365125"/>
              <a:gd name="connsiteX4" fmla="*/ 1676400 w 1676400"/>
              <a:gd name="connsiteY4" fmla="*/ 365125 h 365125"/>
              <a:gd name="connsiteX5" fmla="*/ 1151128 w 1676400"/>
              <a:gd name="connsiteY5" fmla="*/ 365125 h 365125"/>
              <a:gd name="connsiteX6" fmla="*/ 558800 w 1676400"/>
              <a:gd name="connsiteY6" fmla="*/ 365125 h 365125"/>
              <a:gd name="connsiteX7" fmla="*/ 0 w 1676400"/>
              <a:gd name="connsiteY7" fmla="*/ 365125 h 365125"/>
              <a:gd name="connsiteX8" fmla="*/ 0 w 1676400"/>
              <a:gd name="connsiteY8" fmla="*/ 0 h 3651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676400" h="365125" extrusionOk="0">
                <a:moveTo>
                  <a:pt x="0" y="0"/>
                </a:moveTo>
                <a:cubicBezTo>
                  <a:pt x="136711" y="-43517"/>
                  <a:pt x="304396" y="56387"/>
                  <a:pt x="542036" y="0"/>
                </a:cubicBezTo>
                <a:cubicBezTo>
                  <a:pt x="779676" y="-56387"/>
                  <a:pt x="936948" y="2850"/>
                  <a:pt x="1050544" y="0"/>
                </a:cubicBezTo>
                <a:cubicBezTo>
                  <a:pt x="1164140" y="-2850"/>
                  <a:pt x="1477286" y="17066"/>
                  <a:pt x="1676400" y="0"/>
                </a:cubicBezTo>
                <a:cubicBezTo>
                  <a:pt x="1677447" y="144445"/>
                  <a:pt x="1670345" y="264184"/>
                  <a:pt x="1676400" y="365125"/>
                </a:cubicBezTo>
                <a:cubicBezTo>
                  <a:pt x="1568192" y="377486"/>
                  <a:pt x="1270533" y="315721"/>
                  <a:pt x="1151128" y="365125"/>
                </a:cubicBezTo>
                <a:cubicBezTo>
                  <a:pt x="1031723" y="414529"/>
                  <a:pt x="851921" y="316330"/>
                  <a:pt x="558800" y="365125"/>
                </a:cubicBezTo>
                <a:cubicBezTo>
                  <a:pt x="265679" y="413920"/>
                  <a:pt x="217471" y="339278"/>
                  <a:pt x="0" y="365125"/>
                </a:cubicBezTo>
                <a:cubicBezTo>
                  <a:pt x="-39276" y="265253"/>
                  <a:pt x="19396" y="83758"/>
                  <a:pt x="0" y="0"/>
                </a:cubicBezTo>
                <a:close/>
              </a:path>
            </a:pathLst>
          </a:custGeom>
          <a:noFill/>
          <a:ln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54187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D05432-FC84-C3B5-C819-5BB0B0B41F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Example: Household tasks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D9E7C5B-A12B-6CDB-192F-561C81BB5B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53</a:t>
            </a:fld>
            <a:endParaRPr lang="en-US"/>
          </a:p>
        </p:txBody>
      </p:sp>
      <p:pic>
        <p:nvPicPr>
          <p:cNvPr id="7" name="Picture 6" descr="Table&#10;&#10;Description automatically generated">
            <a:extLst>
              <a:ext uri="{FF2B5EF4-FFF2-40B4-BE49-F238E27FC236}">
                <a16:creationId xmlns:a16="http://schemas.microsoft.com/office/drawing/2014/main" id="{3E9CDB7E-4F7D-0F47-7620-3DB6C52444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24400" y="1964008"/>
            <a:ext cx="3993037" cy="439234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9FA5547-1870-B327-B300-4DBCC26C0222}"/>
              </a:ext>
            </a:extLst>
          </p:cNvPr>
          <p:cNvSpPr txBox="1"/>
          <p:nvPr/>
        </p:nvSpPr>
        <p:spPr>
          <a:xfrm>
            <a:off x="457199" y="1143000"/>
            <a:ext cx="41148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dirty="0"/>
              <a:t>Who does what in households?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2DF20F6-7A6C-4686-7A2F-F903DE0E9813}"/>
              </a:ext>
            </a:extLst>
          </p:cNvPr>
          <p:cNvSpPr txBox="1"/>
          <p:nvPr/>
        </p:nvSpPr>
        <p:spPr>
          <a:xfrm>
            <a:off x="4876800" y="1143000"/>
            <a:ext cx="38406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Size of symbols in a </a:t>
            </a:r>
            <a:r>
              <a:rPr lang="en-CA" dirty="0">
                <a:solidFill>
                  <a:srgbClr val="0070C0"/>
                </a:solidFill>
              </a:rPr>
              <a:t>balloon plot </a:t>
            </a:r>
            <a:r>
              <a:rPr lang="en-CA" dirty="0"/>
              <a:t>shows the frequencies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15BD359-E81B-55D4-F489-322361022257}"/>
              </a:ext>
            </a:extLst>
          </p:cNvPr>
          <p:cNvSpPr txBox="1"/>
          <p:nvPr/>
        </p:nvSpPr>
        <p:spPr>
          <a:xfrm>
            <a:off x="533400" y="2209800"/>
            <a:ext cx="3993037" cy="2631490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en-CA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Who_does_it</a:t>
            </a:r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? </a:t>
            </a:r>
          </a:p>
          <a:p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Alternating Husband Jointly Wife</a:t>
            </a:r>
          </a:p>
          <a:p>
            <a:r>
              <a:rPr lang="en-CA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Breakfeast</a:t>
            </a:r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36      15       7   82</a:t>
            </a:r>
          </a:p>
          <a:p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Dinner              11       7      13   77</a:t>
            </a:r>
          </a:p>
          <a:p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Dishes              24       4      53   32</a:t>
            </a:r>
          </a:p>
          <a:p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Driving             51      75       3   10</a:t>
            </a:r>
          </a:p>
          <a:p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Finances            13      21      66   13</a:t>
            </a:r>
          </a:p>
          <a:p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Holidays             1       6     153    0</a:t>
            </a:r>
          </a:p>
          <a:p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Insurance            1      53      77    8</a:t>
            </a:r>
          </a:p>
          <a:p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Laundry             14       2       4  156</a:t>
            </a:r>
          </a:p>
          <a:p>
            <a:r>
              <a:rPr lang="en-CA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Main_meal</a:t>
            </a:r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20       5       4  124</a:t>
            </a:r>
          </a:p>
          <a:p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Official            46      23      15   12</a:t>
            </a:r>
          </a:p>
          <a:p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Repairs              3     160       2    0</a:t>
            </a:r>
          </a:p>
          <a:p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Shopping            23       9      55   33</a:t>
            </a:r>
          </a:p>
          <a:p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Tidying             11       1      57   53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DA2B819-4D03-EA38-D543-E19D63F0603E}"/>
              </a:ext>
            </a:extLst>
          </p:cNvPr>
          <p:cNvSpPr txBox="1"/>
          <p:nvPr/>
        </p:nvSpPr>
        <p:spPr>
          <a:xfrm>
            <a:off x="533400" y="5181600"/>
            <a:ext cx="39930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Rows and columns were permuted to show the relationship more clearly</a:t>
            </a:r>
          </a:p>
        </p:txBody>
      </p:sp>
    </p:spTree>
    <p:extLst>
      <p:ext uri="{BB962C8B-B14F-4D97-AF65-F5344CB8AC3E}">
        <p14:creationId xmlns:p14="http://schemas.microsoft.com/office/powerpoint/2010/main" val="1215948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6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CA2E70-D298-CE43-3CF7-484D03863F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group of cats sitting on a table with a chart and a diagram&#10;&#10;AI-generated content may be incorrect.">
            <a:extLst>
              <a:ext uri="{FF2B5EF4-FFF2-40B4-BE49-F238E27FC236}">
                <a16:creationId xmlns:a16="http://schemas.microsoft.com/office/drawing/2014/main" id="{6FACE8AA-3C07-713C-5DA2-29D8E5B429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44" r="9091" b="2974"/>
          <a:stretch>
            <a:fillRect/>
          </a:stretch>
        </p:blipFill>
        <p:spPr>
          <a:xfrm>
            <a:off x="20" y="10"/>
            <a:ext cx="9143980" cy="685799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51BD0E3-D519-3536-2B5E-B58677C5107A}"/>
              </a:ext>
            </a:extLst>
          </p:cNvPr>
          <p:cNvSpPr txBox="1"/>
          <p:nvPr/>
        </p:nvSpPr>
        <p:spPr>
          <a:xfrm>
            <a:off x="3581400" y="457200"/>
            <a:ext cx="5410200" cy="2514600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85000" lnSpcReduction="10000"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7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Graphical ideas for categorical data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EC5623-620E-55EE-341E-63F43EDB5D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80899" y="6356350"/>
            <a:ext cx="20574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  <a:defRPr/>
            </a:pPr>
            <a:fld id="{621225AB-15B9-4C79-A121-04D1DC7E2307}" type="slidenum">
              <a:rPr lang="en-US">
                <a:solidFill>
                  <a:schemeClr val="bg1"/>
                </a:solidFill>
                <a:latin typeface="Calibri" panose="020F0502020204030204"/>
              </a:rPr>
              <a:pPr>
                <a:spcAft>
                  <a:spcPts val="600"/>
                </a:spcAft>
                <a:defRPr/>
              </a:pPr>
              <a:t>54</a:t>
            </a:fld>
            <a:endParaRPr lang="en-US">
              <a:solidFill>
                <a:schemeClr val="bg1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22674627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aph of chocolate bars&#10;&#10;AI-generated content may be incorrect.">
            <a:extLst>
              <a:ext uri="{FF2B5EF4-FFF2-40B4-BE49-F238E27FC236}">
                <a16:creationId xmlns:a16="http://schemas.microsoft.com/office/drawing/2014/main" id="{63C2EB39-5740-28EF-4675-26F138D5D8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43200" y="2053806"/>
            <a:ext cx="5791200" cy="457559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58CACF8-8218-B282-982F-3CC46D6550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Novel graphic ideas: Likert scales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3B2DA2D-D00D-848E-50E8-2DAF18BAF8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55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40B400A-A4DF-2908-0E6B-8412A0BD589C}"/>
              </a:ext>
            </a:extLst>
          </p:cNvPr>
          <p:cNvSpPr txBox="1"/>
          <p:nvPr/>
        </p:nvSpPr>
        <p:spPr>
          <a:xfrm>
            <a:off x="457200" y="1143000"/>
            <a:ext cx="8229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Likert scale data is often difficult to display</a:t>
            </a:r>
          </a:p>
          <a:p>
            <a:r>
              <a:rPr lang="en-CA" dirty="0"/>
              <a:t>Making them dynamic or interactive lets viewers compare response categories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4B89056-7B48-06F0-0E42-E83243D936F6}"/>
              </a:ext>
            </a:extLst>
          </p:cNvPr>
          <p:cNvSpPr txBox="1"/>
          <p:nvPr/>
        </p:nvSpPr>
        <p:spPr>
          <a:xfrm>
            <a:off x="381000" y="2086014"/>
            <a:ext cx="19812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600" dirty="0"/>
              <a:t>Note: chart titles, subtitles, … help make this self-explanatory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D3F760C-6BE7-E6BC-0FD3-7B2EA723F05A}"/>
              </a:ext>
            </a:extLst>
          </p:cNvPr>
          <p:cNvCxnSpPr/>
          <p:nvPr/>
        </p:nvCxnSpPr>
        <p:spPr>
          <a:xfrm flipV="1">
            <a:off x="2057400" y="2209800"/>
            <a:ext cx="609600" cy="15240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C34CBC1-796D-E91F-5B2F-2FE1FBDB5CA8}"/>
              </a:ext>
            </a:extLst>
          </p:cNvPr>
          <p:cNvCxnSpPr/>
          <p:nvPr/>
        </p:nvCxnSpPr>
        <p:spPr>
          <a:xfrm>
            <a:off x="2057400" y="2514600"/>
            <a:ext cx="609600" cy="22860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5509160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05B2E3-12AF-B8EB-BA00-CF9989E6EE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Likert scales: Show the trend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E8DEBFA-E2EF-AF76-3435-3B361B0A6C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56</a:t>
            </a:fld>
            <a:endParaRPr lang="en-US"/>
          </a:p>
        </p:txBody>
      </p:sp>
      <p:pic>
        <p:nvPicPr>
          <p:cNvPr id="5" name="Picture 4" descr="A graph with red and blue bars&#10;&#10;AI-generated content may be incorrect.">
            <a:extLst>
              <a:ext uri="{FF2B5EF4-FFF2-40B4-BE49-F238E27FC236}">
                <a16:creationId xmlns:a16="http://schemas.microsoft.com/office/drawing/2014/main" id="{322AD29F-B0E6-C9E4-0F42-466225062C4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1981200"/>
            <a:ext cx="7239000" cy="378599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2843146-F9D9-E319-DA4C-2D9FBF5A4430}"/>
              </a:ext>
            </a:extLst>
          </p:cNvPr>
          <p:cNvSpPr txBox="1"/>
          <p:nvPr/>
        </p:nvSpPr>
        <p:spPr>
          <a:xfrm>
            <a:off x="457200" y="1143000"/>
            <a:ext cx="8229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100% stacked bar charts of racial resentment survey vs. age (binned: 5 years)</a:t>
            </a:r>
          </a:p>
          <a:p>
            <a:r>
              <a:rPr lang="en-CA" dirty="0"/>
              <a:t>An overlaid smoother of the responses encoded to 0-1 scale shows trend w/ age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A62FB7A-1CE9-C1FC-B3AF-5B9991A07C41}"/>
              </a:ext>
            </a:extLst>
          </p:cNvPr>
          <p:cNvSpPr txBox="1"/>
          <p:nvPr/>
        </p:nvSpPr>
        <p:spPr>
          <a:xfrm>
            <a:off x="609600" y="5837843"/>
            <a:ext cx="79248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/>
              <a:t>Image source: </a:t>
            </a:r>
            <a:r>
              <a:rPr lang="en-CA" sz="1400" dirty="0">
                <a:hlinkClick r:id="rId3"/>
              </a:rPr>
              <a:t>https://bsky.app/profile/xangregg.bsky.social/post/3m7dttgtggs2a</a:t>
            </a:r>
            <a:endParaRPr lang="en-CA" sz="1400" dirty="0"/>
          </a:p>
          <a:p>
            <a:r>
              <a:rPr lang="en-CA" sz="1400" dirty="0"/>
              <a:t>Data source:  </a:t>
            </a:r>
            <a:r>
              <a:rPr lang="en-CA" sz="1400" dirty="0">
                <a:hlinkClick r:id="rId4"/>
              </a:rPr>
              <a:t>https://tischcollege.tufts.edu/research-faculty/research-centers/cooperative-election-study</a:t>
            </a:r>
            <a:r>
              <a:rPr lang="en-CA" sz="1400" dirty="0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C156D9-6894-2971-BC5E-57D8EECEDD65}"/>
              </a:ext>
            </a:extLst>
          </p:cNvPr>
          <p:cNvSpPr txBox="1"/>
          <p:nvPr/>
        </p:nvSpPr>
        <p:spPr>
          <a:xfrm>
            <a:off x="6553200" y="3962400"/>
            <a:ext cx="21336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600" dirty="0"/>
              <a:t>Q: How much does the smoothed curve add to understanding?</a:t>
            </a:r>
          </a:p>
        </p:txBody>
      </p:sp>
    </p:spTree>
    <p:extLst>
      <p:ext uri="{BB962C8B-B14F-4D97-AF65-F5344CB8AC3E}">
        <p14:creationId xmlns:p14="http://schemas.microsoft.com/office/powerpoint/2010/main" val="147598181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AB0E44-E244-F2B4-7EBC-031EDDAECE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Graphical annotation?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A6840B0-7F06-014A-3825-F7FB7A98EB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57</a:t>
            </a:fld>
            <a:endParaRPr lang="en-US"/>
          </a:p>
        </p:txBody>
      </p:sp>
      <p:pic>
        <p:nvPicPr>
          <p:cNvPr id="5" name="Picture 4" descr="A diagram of a graph&#10;&#10;AI-generated content may be incorrect.">
            <a:extLst>
              <a:ext uri="{FF2B5EF4-FFF2-40B4-BE49-F238E27FC236}">
                <a16:creationId xmlns:a16="http://schemas.microsoft.com/office/drawing/2014/main" id="{9DF8B59C-931D-072E-27FC-DF43DC7AB6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90900" y="1908549"/>
            <a:ext cx="5295900" cy="441584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BFCD944-9609-5063-56EC-B2FD9E28A6A0}"/>
              </a:ext>
            </a:extLst>
          </p:cNvPr>
          <p:cNvSpPr txBox="1"/>
          <p:nvPr/>
        </p:nvSpPr>
        <p:spPr>
          <a:xfrm>
            <a:off x="3581400" y="1264908"/>
            <a:ext cx="5105400" cy="369332"/>
          </a:xfrm>
          <a:prstGeom prst="rect">
            <a:avLst/>
          </a:prstGeom>
          <a:solidFill>
            <a:schemeClr val="accent6">
              <a:lumMod val="20000"/>
              <a:lumOff val="80000"/>
              <a:alpha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 err="1"/>
              <a:t>ggstatsplot</a:t>
            </a:r>
            <a:r>
              <a:rPr lang="en-CA" dirty="0"/>
              <a:t>::</a:t>
            </a:r>
            <a:r>
              <a:rPr lang="en-CA" dirty="0" err="1"/>
              <a:t>ggbetweenstats</a:t>
            </a:r>
            <a:r>
              <a:rPr lang="en-CA" dirty="0"/>
              <a:t>(ISLR::Wage, race, wage)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AC25AF4-1349-7367-983B-6F3B2BC036CD}"/>
              </a:ext>
            </a:extLst>
          </p:cNvPr>
          <p:cNvSpPr txBox="1"/>
          <p:nvPr/>
        </p:nvSpPr>
        <p:spPr>
          <a:xfrm>
            <a:off x="457200" y="1371600"/>
            <a:ext cx="2590800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Statistical tests usually presented in tables</a:t>
            </a:r>
          </a:p>
          <a:p>
            <a:endParaRPr lang="en-CA" dirty="0"/>
          </a:p>
          <a:p>
            <a:r>
              <a:rPr lang="en-CA" dirty="0"/>
              <a:t>But sometimes can add this info to a graphic</a:t>
            </a:r>
          </a:p>
          <a:p>
            <a:endParaRPr lang="en-CA" dirty="0"/>
          </a:p>
          <a:p>
            <a:r>
              <a:rPr lang="en-CA" dirty="0"/>
              <a:t>Should I call this beast a "</a:t>
            </a:r>
            <a:r>
              <a:rPr lang="en-CA" dirty="0" err="1"/>
              <a:t>grable</a:t>
            </a:r>
            <a:r>
              <a:rPr lang="en-CA" dirty="0"/>
              <a:t>"? or a "</a:t>
            </a:r>
            <a:r>
              <a:rPr lang="en-CA" dirty="0" err="1"/>
              <a:t>taphic</a:t>
            </a:r>
            <a:r>
              <a:rPr lang="en-CA" dirty="0"/>
              <a:t>"?</a:t>
            </a:r>
          </a:p>
          <a:p>
            <a:endParaRPr lang="en-CA" dirty="0"/>
          </a:p>
          <a:p>
            <a:r>
              <a:rPr lang="en-CA" dirty="0"/>
              <a:t>Does this try to do too much?</a:t>
            </a:r>
          </a:p>
          <a:p>
            <a:endParaRPr lang="en-CA" dirty="0"/>
          </a:p>
          <a:p>
            <a:r>
              <a:rPr lang="en-CA" dirty="0"/>
              <a:t>Would you ever want to publish something like this?</a:t>
            </a:r>
          </a:p>
        </p:txBody>
      </p:sp>
    </p:spTree>
    <p:extLst>
      <p:ext uri="{BB962C8B-B14F-4D97-AF65-F5344CB8AC3E}">
        <p14:creationId xmlns:p14="http://schemas.microsoft.com/office/powerpoint/2010/main" val="47380500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52EEAA-0EC7-9FA2-BAE4-11BBC06B61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Pies with too many slices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EA5DBDD-FC46-7994-4299-8B35F579EF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58</a:t>
            </a:fld>
            <a:endParaRPr lang="en-US"/>
          </a:p>
        </p:txBody>
      </p:sp>
      <p:pic>
        <p:nvPicPr>
          <p:cNvPr id="5" name="Picture 4" descr="A pie chart with text and words&#10;&#10;AI-generated content may be incorrect.">
            <a:extLst>
              <a:ext uri="{FF2B5EF4-FFF2-40B4-BE49-F238E27FC236}">
                <a16:creationId xmlns:a16="http://schemas.microsoft.com/office/drawing/2014/main" id="{9B4298A2-02A7-2108-E36D-A6BD8A5997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64615" y="1809655"/>
            <a:ext cx="5822185" cy="384081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E36423E-B228-6B2B-099D-4FD60DD55393}"/>
              </a:ext>
            </a:extLst>
          </p:cNvPr>
          <p:cNvSpPr txBox="1"/>
          <p:nvPr/>
        </p:nvSpPr>
        <p:spPr>
          <a:xfrm>
            <a:off x="457200" y="1143000"/>
            <a:ext cx="8229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Pie charts are often used to show frequencies of a variable</a:t>
            </a:r>
          </a:p>
          <a:p>
            <a:r>
              <a:rPr lang="en-CA" dirty="0"/>
              <a:t>When there are many categories, you can rescue with </a:t>
            </a:r>
            <a:r>
              <a:rPr lang="en-CA" dirty="0">
                <a:solidFill>
                  <a:schemeClr val="tx2">
                    <a:lumMod val="60000"/>
                    <a:lumOff val="40000"/>
                  </a:schemeClr>
                </a:solidFill>
              </a:rPr>
              <a:t>better labels </a:t>
            </a:r>
            <a:r>
              <a:rPr lang="en-CA" dirty="0"/>
              <a:t>&amp; </a:t>
            </a:r>
            <a:r>
              <a:rPr lang="en-CA" dirty="0">
                <a:solidFill>
                  <a:schemeClr val="tx2">
                    <a:lumMod val="60000"/>
                    <a:lumOff val="40000"/>
                  </a:schemeClr>
                </a:solidFill>
              </a:rPr>
              <a:t>interactivity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EC1D3A6-0AB3-B26D-FD47-C439A75C6311}"/>
              </a:ext>
            </a:extLst>
          </p:cNvPr>
          <p:cNvSpPr txBox="1"/>
          <p:nvPr/>
        </p:nvSpPr>
        <p:spPr>
          <a:xfrm>
            <a:off x="609599" y="6172200"/>
            <a:ext cx="76509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/>
              <a:t>Source: </a:t>
            </a:r>
            <a:r>
              <a:rPr lang="en-CA" sz="1400" dirty="0">
                <a:hlinkClick r:id="rId3"/>
              </a:rPr>
              <a:t>https://www.reddit.com/r/writing/comments/3vf1g1/causes_of_death_in_shakespeares_plays/</a:t>
            </a:r>
            <a:r>
              <a:rPr lang="en-CA" sz="1400" dirty="0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4DB67E3-1E2B-CF7F-B3A0-B1D31F369382}"/>
              </a:ext>
            </a:extLst>
          </p:cNvPr>
          <p:cNvSpPr txBox="1"/>
          <p:nvPr/>
        </p:nvSpPr>
        <p:spPr>
          <a:xfrm>
            <a:off x="457200" y="2514600"/>
            <a:ext cx="228600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/>
              <a:t>Even better, classify these into broader categories:</a:t>
            </a:r>
          </a:p>
          <a:p>
            <a:endParaRPr lang="en-CA" sz="1400" dirty="0"/>
          </a:p>
          <a:p>
            <a:r>
              <a:rPr lang="en-CA" sz="1400" dirty="0"/>
              <a:t>Common (hanging, drowning, …)</a:t>
            </a:r>
          </a:p>
          <a:p>
            <a:endParaRPr lang="en-CA" sz="1400" dirty="0"/>
          </a:p>
          <a:p>
            <a:r>
              <a:rPr lang="en-CA" sz="1400" dirty="0"/>
              <a:t>Emotional (grief, shame, madness, …)</a:t>
            </a:r>
          </a:p>
          <a:p>
            <a:endParaRPr lang="en-CA" sz="1400" dirty="0"/>
          </a:p>
          <a:p>
            <a:r>
              <a:rPr lang="en-CA" sz="1400" dirty="0"/>
              <a:t>Political (assassination, …)</a:t>
            </a:r>
          </a:p>
        </p:txBody>
      </p:sp>
    </p:spTree>
    <p:extLst>
      <p:ext uri="{BB962C8B-B14F-4D97-AF65-F5344CB8AC3E}">
        <p14:creationId xmlns:p14="http://schemas.microsoft.com/office/powerpoint/2010/main" val="51810125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D658AE-B811-FE1A-6AA6-700D982F15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Hierarchical data: Sankey diagram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3B92C57-E71C-6465-BB77-41FC1FF806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59</a:t>
            </a:fld>
            <a:endParaRPr lang="en-US"/>
          </a:p>
        </p:txBody>
      </p:sp>
      <p:pic>
        <p:nvPicPr>
          <p:cNvPr id="5" name="Picture 4" descr="A diagram of a plastic recycling process&#10;&#10;AI-generated content may be incorrect.">
            <a:extLst>
              <a:ext uri="{FF2B5EF4-FFF2-40B4-BE49-F238E27FC236}">
                <a16:creationId xmlns:a16="http://schemas.microsoft.com/office/drawing/2014/main" id="{AE8CC0D3-7767-86D1-773C-48AA6EC6AB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1235631"/>
            <a:ext cx="4114800" cy="51435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207FEB8-47EF-50A3-A492-7A4019A019EF}"/>
              </a:ext>
            </a:extLst>
          </p:cNvPr>
          <p:cNvSpPr txBox="1"/>
          <p:nvPr/>
        </p:nvSpPr>
        <p:spPr>
          <a:xfrm>
            <a:off x="4876800" y="1235631"/>
            <a:ext cx="373380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A Sankey diagram shows how a total of the 8.3 billion tonnes of plastic ever produced by humanity has ended up either being totally </a:t>
            </a:r>
            <a:r>
              <a:rPr lang="en-CA" dirty="0">
                <a:solidFill>
                  <a:schemeClr val="accent6">
                    <a:lumMod val="75000"/>
                  </a:schemeClr>
                </a:solidFill>
              </a:rPr>
              <a:t>discarded</a:t>
            </a:r>
            <a:r>
              <a:rPr lang="en-CA" dirty="0"/>
              <a:t>, </a:t>
            </a:r>
            <a:r>
              <a:rPr lang="en-CA" dirty="0">
                <a:solidFill>
                  <a:srgbClr val="FFC000"/>
                </a:solidFill>
              </a:rPr>
              <a:t>incinerated</a:t>
            </a:r>
            <a:r>
              <a:rPr lang="en-CA" dirty="0"/>
              <a:t> or </a:t>
            </a:r>
            <a:r>
              <a:rPr lang="en-CA" dirty="0">
                <a:solidFill>
                  <a:srgbClr val="00B0F0"/>
                </a:solidFill>
              </a:rPr>
              <a:t>still in use</a:t>
            </a:r>
            <a:r>
              <a:rPr lang="en-CA" dirty="0"/>
              <a:t>. </a:t>
            </a:r>
          </a:p>
          <a:p>
            <a:endParaRPr lang="en-CA" dirty="0"/>
          </a:p>
          <a:p>
            <a:r>
              <a:rPr lang="en-CA" dirty="0"/>
              <a:t>This graphic form allows to show how larger categories are split, e.g., </a:t>
            </a:r>
            <a:r>
              <a:rPr lang="en-CA" dirty="0">
                <a:highlight>
                  <a:srgbClr val="FFFF00"/>
                </a:highlight>
              </a:rPr>
              <a:t>used once </a:t>
            </a:r>
            <a:r>
              <a:rPr lang="en-CA" dirty="0"/>
              <a:t>-&gt; </a:t>
            </a:r>
            <a:r>
              <a:rPr lang="en-CA" dirty="0">
                <a:solidFill>
                  <a:schemeClr val="accent6">
                    <a:lumMod val="75000"/>
                  </a:schemeClr>
                </a:solidFill>
              </a:rPr>
              <a:t>discarded</a:t>
            </a:r>
            <a:r>
              <a:rPr lang="en-CA" dirty="0"/>
              <a:t>, </a:t>
            </a:r>
            <a:r>
              <a:rPr lang="en-CA" dirty="0">
                <a:solidFill>
                  <a:srgbClr val="FFC000"/>
                </a:solidFill>
              </a:rPr>
              <a:t>incinerated, </a:t>
            </a:r>
            <a:r>
              <a:rPr lang="en-CA" dirty="0">
                <a:solidFill>
                  <a:srgbClr val="00B050"/>
                </a:solidFill>
              </a:rPr>
              <a:t>recycled</a:t>
            </a:r>
            <a:r>
              <a:rPr lang="en-CA" dirty="0"/>
              <a:t>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A039309-93E7-8D7B-1FB3-0A5E8B66B69E}"/>
              </a:ext>
            </a:extLst>
          </p:cNvPr>
          <p:cNvSpPr txBox="1"/>
          <p:nvPr/>
        </p:nvSpPr>
        <p:spPr>
          <a:xfrm>
            <a:off x="5029200" y="5867400"/>
            <a:ext cx="3657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200" dirty="0"/>
              <a:t>Source: </a:t>
            </a:r>
            <a:r>
              <a:rPr lang="en-CA" sz="1200" dirty="0">
                <a:hlinkClick r:id="rId3"/>
              </a:rPr>
              <a:t>https://bsky.app/profile/infobeautiful.bsky.social/post/3m7ispw2gyh2j</a:t>
            </a:r>
            <a:r>
              <a:rPr lang="en-CA" sz="1200" dirty="0"/>
              <a:t> 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26E7ADE-1698-CC25-3818-E89A084ABAB0}"/>
              </a:ext>
            </a:extLst>
          </p:cNvPr>
          <p:cNvSpPr txBox="1"/>
          <p:nvPr/>
        </p:nvSpPr>
        <p:spPr>
          <a:xfrm>
            <a:off x="5029200" y="4343400"/>
            <a:ext cx="3657600" cy="64633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Q: Can you see how to “read” this chart?</a:t>
            </a:r>
          </a:p>
        </p:txBody>
      </p:sp>
    </p:spTree>
    <p:extLst>
      <p:ext uri="{BB962C8B-B14F-4D97-AF65-F5344CB8AC3E}">
        <p14:creationId xmlns:p14="http://schemas.microsoft.com/office/powerpoint/2010/main" val="195059929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215DF1-152A-6167-B288-AE689B8A93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Comparisons charts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5D6F17F-E2B0-B0B7-793D-CE289060E2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60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44D3270-7E67-72FC-85AF-172BF1D40578}"/>
              </a:ext>
            </a:extLst>
          </p:cNvPr>
          <p:cNvSpPr txBox="1"/>
          <p:nvPr/>
        </p:nvSpPr>
        <p:spPr>
          <a:xfrm>
            <a:off x="457200" y="1066800"/>
            <a:ext cx="8229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Stacked bar charts often used to show comparisons of categories under different circumstances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025915EB-5574-F902-CC21-56FD13DF6820}"/>
              </a:ext>
            </a:extLst>
          </p:cNvPr>
          <p:cNvGrpSpPr/>
          <p:nvPr/>
        </p:nvGrpSpPr>
        <p:grpSpPr>
          <a:xfrm>
            <a:off x="457200" y="1905000"/>
            <a:ext cx="6324600" cy="4460161"/>
            <a:chOff x="685800" y="2123201"/>
            <a:chExt cx="6324600" cy="4460161"/>
          </a:xfrm>
        </p:grpSpPr>
        <p:pic>
          <p:nvPicPr>
            <p:cNvPr id="5" name="Picture 4" descr="A close-up of several different colored boxes&#10;&#10;AI-generated content may be incorrect.">
              <a:extLst>
                <a:ext uri="{FF2B5EF4-FFF2-40B4-BE49-F238E27FC236}">
                  <a16:creationId xmlns:a16="http://schemas.microsoft.com/office/drawing/2014/main" id="{F01BA260-231E-1855-ACF4-745663CB5DB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5800" y="2123201"/>
              <a:ext cx="6324600" cy="4460161"/>
            </a:xfrm>
            <a:prstGeom prst="rect">
              <a:avLst/>
            </a:prstGeom>
          </p:spPr>
        </p:pic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E5E5186D-A05A-CD52-B3A8-8FA783B4DC1C}"/>
                </a:ext>
              </a:extLst>
            </p:cNvPr>
            <p:cNvCxnSpPr/>
            <p:nvPr/>
          </p:nvCxnSpPr>
          <p:spPr>
            <a:xfrm>
              <a:off x="2362200" y="3048000"/>
              <a:ext cx="685800" cy="0"/>
            </a:xfrm>
            <a:prstGeom prst="line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75FC1456-72AE-6933-ADD4-B88656A4AEA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62200" y="3124200"/>
              <a:ext cx="685800" cy="790281"/>
            </a:xfrm>
            <a:prstGeom prst="line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67D7B067-5FB2-C1C2-B584-3CC4CD021960}"/>
              </a:ext>
            </a:extLst>
          </p:cNvPr>
          <p:cNvSpPr txBox="1"/>
          <p:nvPr/>
        </p:nvSpPr>
        <p:spPr>
          <a:xfrm>
            <a:off x="685800" y="6324600"/>
            <a:ext cx="74676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>
                <a:hlinkClick r:id="rId3"/>
              </a:rPr>
              <a:t>https://ourworldindata.org/does-the-news-reflect-what-we-die-from</a:t>
            </a:r>
            <a:r>
              <a:rPr lang="en-CA" sz="1400" dirty="0"/>
              <a:t>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0024237-F1D1-F899-6022-01478F9FACCB}"/>
              </a:ext>
            </a:extLst>
          </p:cNvPr>
          <p:cNvSpPr txBox="1"/>
          <p:nvPr/>
        </p:nvSpPr>
        <p:spPr>
          <a:xfrm>
            <a:off x="6553200" y="2905999"/>
            <a:ext cx="2133600" cy="1077218"/>
          </a:xfrm>
          <a:prstGeom prst="rect">
            <a:avLst/>
          </a:prstGeom>
          <a:solidFill>
            <a:schemeClr val="accent3">
              <a:lumMod val="20000"/>
              <a:lumOff val="80000"/>
              <a:alpha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600" dirty="0"/>
              <a:t>Q: Can you understand this chart?</a:t>
            </a:r>
          </a:p>
          <a:p>
            <a:r>
              <a:rPr lang="en-CA" sz="1600" dirty="0"/>
              <a:t>What’s nice?</a:t>
            </a:r>
          </a:p>
          <a:p>
            <a:r>
              <a:rPr lang="en-CA" sz="1600" dirty="0"/>
              <a:t>What’s obscure?</a:t>
            </a:r>
          </a:p>
        </p:txBody>
      </p:sp>
    </p:spTree>
    <p:extLst>
      <p:ext uri="{BB962C8B-B14F-4D97-AF65-F5344CB8AC3E}">
        <p14:creationId xmlns:p14="http://schemas.microsoft.com/office/powerpoint/2010/main" val="356545974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F40D4A-30B0-9D69-BBBA-2497E81F12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Fancy, semi-graphic tables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B1FC16B-933A-B7F0-5AFC-2ACF5FCDD1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61</a:t>
            </a:fld>
            <a:endParaRPr lang="en-US"/>
          </a:p>
        </p:txBody>
      </p:sp>
      <p:pic>
        <p:nvPicPr>
          <p:cNvPr id="7" name="Picture 6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DBBE6C69-3166-0E07-D7BA-3907A9F7E4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3336" y="1669985"/>
            <a:ext cx="5835783" cy="450221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8242074-1833-D025-A343-F9A230D724DA}"/>
              </a:ext>
            </a:extLst>
          </p:cNvPr>
          <p:cNvSpPr txBox="1"/>
          <p:nvPr/>
        </p:nvSpPr>
        <p:spPr>
          <a:xfrm>
            <a:off x="457200" y="1143000"/>
            <a:ext cx="822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R packages, like </a:t>
            </a:r>
            <a:r>
              <a:rPr lang="en-CA" b="1" dirty="0" err="1">
                <a:solidFill>
                  <a:schemeClr val="accent2">
                    <a:lumMod val="75000"/>
                  </a:schemeClr>
                </a:solidFill>
              </a:rPr>
              <a:t>gt</a:t>
            </a:r>
            <a:r>
              <a:rPr lang="en-CA" dirty="0"/>
              <a:t> and </a:t>
            </a:r>
            <a:r>
              <a:rPr lang="en-CA" b="1" dirty="0" err="1">
                <a:solidFill>
                  <a:schemeClr val="accent2">
                    <a:lumMod val="75000"/>
                  </a:schemeClr>
                </a:solidFill>
              </a:rPr>
              <a:t>tinytable</a:t>
            </a:r>
            <a:r>
              <a:rPr lang="en-CA" dirty="0"/>
              <a:t> make it easy to use graphic features in tables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CA73942-7737-9D1C-4FFE-07BFD5876E1D}"/>
              </a:ext>
            </a:extLst>
          </p:cNvPr>
          <p:cNvSpPr txBox="1"/>
          <p:nvPr/>
        </p:nvSpPr>
        <p:spPr>
          <a:xfrm>
            <a:off x="493336" y="6248400"/>
            <a:ext cx="64408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/>
              <a:t>From: </a:t>
            </a:r>
            <a:r>
              <a:rPr lang="en-CA" sz="1400" dirty="0">
                <a:hlinkClick r:id="rId3"/>
              </a:rPr>
              <a:t>https://github.com/juleswg23/baseball</a:t>
            </a:r>
            <a:r>
              <a:rPr lang="en-CA" sz="14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545523081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/>
          <p:cNvSpPr>
            <a:spLocks noGrp="1" noChangeArrowheads="1"/>
          </p:cNvSpPr>
          <p:nvPr>
            <p:ph type="title" idx="4294967295"/>
          </p:nvPr>
        </p:nvSpPr>
        <p:spPr>
          <a:xfrm>
            <a:off x="381000" y="228600"/>
            <a:ext cx="8229600" cy="639763"/>
          </a:xfrm>
          <a:solidFill>
            <a:srgbClr val="0000CC"/>
          </a:solidFill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 sz="4000">
                <a:solidFill>
                  <a:schemeClr val="bg1"/>
                </a:solidFill>
              </a:rPr>
              <a:t>Data, pictures, models &amp; stories</a:t>
            </a:r>
          </a:p>
        </p:txBody>
      </p:sp>
      <p:grpSp>
        <p:nvGrpSpPr>
          <p:cNvPr id="37891" name="Group 3"/>
          <p:cNvGrpSpPr>
            <a:grpSpLocks/>
          </p:cNvGrpSpPr>
          <p:nvPr/>
        </p:nvGrpSpPr>
        <p:grpSpPr bwMode="auto">
          <a:xfrm>
            <a:off x="762000" y="1981200"/>
            <a:ext cx="1524000" cy="762000"/>
            <a:chOff x="480" y="1248"/>
            <a:chExt cx="960" cy="480"/>
          </a:xfrm>
        </p:grpSpPr>
        <p:pic>
          <p:nvPicPr>
            <p:cNvPr id="2057" name="Picture 4" descr="data_table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80" y="1248"/>
              <a:ext cx="480" cy="4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058" name="Text Box 5"/>
            <p:cNvSpPr txBox="1">
              <a:spLocks noChangeArrowheads="1"/>
            </p:cNvSpPr>
            <p:nvPr/>
          </p:nvSpPr>
          <p:spPr bwMode="auto">
            <a:xfrm>
              <a:off x="1008" y="1296"/>
              <a:ext cx="43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 algn="l"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800"/>
                <a:t>data</a:t>
              </a:r>
            </a:p>
          </p:txBody>
        </p:sp>
      </p:grpSp>
      <p:grpSp>
        <p:nvGrpSpPr>
          <p:cNvPr id="37894" name="Group 6"/>
          <p:cNvGrpSpPr>
            <a:grpSpLocks/>
          </p:cNvGrpSpPr>
          <p:nvPr/>
        </p:nvGrpSpPr>
        <p:grpSpPr bwMode="auto">
          <a:xfrm>
            <a:off x="3200400" y="4724400"/>
            <a:ext cx="1581150" cy="1712913"/>
            <a:chOff x="2304" y="2976"/>
            <a:chExt cx="996" cy="1079"/>
          </a:xfrm>
        </p:grpSpPr>
        <p:pic>
          <p:nvPicPr>
            <p:cNvPr id="2055" name="Picture 7"/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304" y="3168"/>
              <a:ext cx="996" cy="88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2056" name="Text Box 8"/>
            <p:cNvSpPr txBox="1">
              <a:spLocks noChangeArrowheads="1"/>
            </p:cNvSpPr>
            <p:nvPr/>
          </p:nvSpPr>
          <p:spPr bwMode="auto">
            <a:xfrm>
              <a:off x="2400" y="2976"/>
              <a:ext cx="43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 algn="l"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800"/>
                <a:t>story</a:t>
              </a:r>
            </a:p>
          </p:txBody>
        </p:sp>
      </p:grpSp>
      <p:sp>
        <p:nvSpPr>
          <p:cNvPr id="37903" name="Line 15"/>
          <p:cNvSpPr>
            <a:spLocks noChangeShapeType="1"/>
          </p:cNvSpPr>
          <p:nvPr/>
        </p:nvSpPr>
        <p:spPr bwMode="auto">
          <a:xfrm>
            <a:off x="1676400" y="2590800"/>
            <a:ext cx="1905000" cy="2133600"/>
          </a:xfrm>
          <a:prstGeom prst="line">
            <a:avLst/>
          </a:prstGeom>
          <a:noFill/>
          <a:ln w="22225">
            <a:solidFill>
              <a:srgbClr val="FF0000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054" name="Text Box 22"/>
          <p:cNvSpPr txBox="1">
            <a:spLocks noChangeArrowheads="1"/>
          </p:cNvSpPr>
          <p:nvPr/>
        </p:nvSpPr>
        <p:spPr bwMode="auto">
          <a:xfrm>
            <a:off x="1524000" y="914400"/>
            <a:ext cx="6096000" cy="9540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22225" algn="ctr">
                <a:solidFill>
                  <a:srgbClr val="FF0000"/>
                </a:solidFill>
                <a:miter lim="800000"/>
                <a:headEnd/>
                <a:tailEnd type="none" w="lg" len="lg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algn="l"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2800"/>
              <a:t>Goal: Tell a credible story about some real data problem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1219200" y="3429000"/>
            <a:ext cx="21336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Gender bias</a:t>
            </a:r>
          </a:p>
          <a:p>
            <a:r>
              <a:rPr lang="en-US" dirty="0"/>
              <a:t>Measles vaccination</a:t>
            </a:r>
          </a:p>
          <a:p>
            <a:r>
              <a:rPr lang="en-US" dirty="0"/>
              <a:t>Global warming</a:t>
            </a:r>
          </a:p>
          <a:p>
            <a:r>
              <a:rPr lang="en-US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23887051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9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9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903" grpId="0" animBg="1"/>
      <p:bldP spid="37903" grpId="1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 idx="4294967295"/>
          </p:nvPr>
        </p:nvSpPr>
        <p:spPr>
          <a:xfrm>
            <a:off x="381000" y="228600"/>
            <a:ext cx="8229600" cy="639763"/>
          </a:xfrm>
          <a:solidFill>
            <a:srgbClr val="0000CC"/>
          </a:solidFill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 sz="4000">
                <a:solidFill>
                  <a:schemeClr val="bg1"/>
                </a:solidFill>
              </a:rPr>
              <a:t>Data, pictures, models &amp; stories</a:t>
            </a:r>
          </a:p>
        </p:txBody>
      </p:sp>
      <p:grpSp>
        <p:nvGrpSpPr>
          <p:cNvPr id="31747" name="Group 3"/>
          <p:cNvGrpSpPr>
            <a:grpSpLocks/>
          </p:cNvGrpSpPr>
          <p:nvPr/>
        </p:nvGrpSpPr>
        <p:grpSpPr bwMode="auto">
          <a:xfrm>
            <a:off x="762000" y="1981200"/>
            <a:ext cx="1524000" cy="762000"/>
            <a:chOff x="480" y="1248"/>
            <a:chExt cx="960" cy="480"/>
          </a:xfrm>
        </p:grpSpPr>
        <p:pic>
          <p:nvPicPr>
            <p:cNvPr id="5144" name="Picture 4" descr="data_table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80" y="1248"/>
              <a:ext cx="480" cy="4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5145" name="Text Box 5"/>
            <p:cNvSpPr txBox="1">
              <a:spLocks noChangeArrowheads="1"/>
            </p:cNvSpPr>
            <p:nvPr/>
          </p:nvSpPr>
          <p:spPr bwMode="auto">
            <a:xfrm>
              <a:off x="1008" y="1296"/>
              <a:ext cx="43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 algn="l"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800"/>
                <a:t>data</a:t>
              </a:r>
            </a:p>
          </p:txBody>
        </p:sp>
      </p:grpSp>
      <p:grpSp>
        <p:nvGrpSpPr>
          <p:cNvPr id="31750" name="Group 6"/>
          <p:cNvGrpSpPr>
            <a:grpSpLocks/>
          </p:cNvGrpSpPr>
          <p:nvPr/>
        </p:nvGrpSpPr>
        <p:grpSpPr bwMode="auto">
          <a:xfrm>
            <a:off x="3200400" y="4724400"/>
            <a:ext cx="1581150" cy="1712913"/>
            <a:chOff x="2304" y="2976"/>
            <a:chExt cx="996" cy="1079"/>
          </a:xfrm>
        </p:grpSpPr>
        <p:pic>
          <p:nvPicPr>
            <p:cNvPr id="5142" name="Picture 7"/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304" y="3168"/>
              <a:ext cx="996" cy="88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5143" name="Text Box 8"/>
            <p:cNvSpPr txBox="1">
              <a:spLocks noChangeArrowheads="1"/>
            </p:cNvSpPr>
            <p:nvPr/>
          </p:nvSpPr>
          <p:spPr bwMode="auto">
            <a:xfrm>
              <a:off x="2400" y="2976"/>
              <a:ext cx="43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 algn="l"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800"/>
                <a:t>story</a:t>
              </a:r>
            </a:p>
          </p:txBody>
        </p:sp>
      </p:grpSp>
      <p:grpSp>
        <p:nvGrpSpPr>
          <p:cNvPr id="31753" name="Group 9"/>
          <p:cNvGrpSpPr>
            <a:grpSpLocks/>
          </p:cNvGrpSpPr>
          <p:nvPr/>
        </p:nvGrpSpPr>
        <p:grpSpPr bwMode="auto">
          <a:xfrm>
            <a:off x="3962400" y="1676400"/>
            <a:ext cx="1720850" cy="1122363"/>
            <a:chOff x="4176" y="1056"/>
            <a:chExt cx="1084" cy="707"/>
          </a:xfrm>
        </p:grpSpPr>
        <p:pic>
          <p:nvPicPr>
            <p:cNvPr id="5140" name="Picture 10" descr="model-dekker"/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176" y="1104"/>
              <a:ext cx="1014" cy="65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5141" name="Rectangle 11"/>
            <p:cNvSpPr>
              <a:spLocks noChangeArrowheads="1"/>
            </p:cNvSpPr>
            <p:nvPr/>
          </p:nvSpPr>
          <p:spPr bwMode="auto">
            <a:xfrm>
              <a:off x="4752" y="1056"/>
              <a:ext cx="508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algn="l"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800"/>
                <a:t>model</a:t>
              </a:r>
            </a:p>
          </p:txBody>
        </p:sp>
      </p:grpSp>
      <p:grpSp>
        <p:nvGrpSpPr>
          <p:cNvPr id="31756" name="Group 12"/>
          <p:cNvGrpSpPr>
            <a:grpSpLocks/>
          </p:cNvGrpSpPr>
          <p:nvPr/>
        </p:nvGrpSpPr>
        <p:grpSpPr bwMode="auto">
          <a:xfrm>
            <a:off x="1524000" y="2971800"/>
            <a:ext cx="1447800" cy="1674813"/>
            <a:chOff x="1200" y="1872"/>
            <a:chExt cx="912" cy="1055"/>
          </a:xfrm>
        </p:grpSpPr>
        <p:pic>
          <p:nvPicPr>
            <p:cNvPr id="5138" name="Picture 13"/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200" y="2112"/>
              <a:ext cx="906" cy="81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5139" name="Text Box 14"/>
            <p:cNvSpPr txBox="1">
              <a:spLocks noChangeArrowheads="1"/>
            </p:cNvSpPr>
            <p:nvPr/>
          </p:nvSpPr>
          <p:spPr bwMode="auto">
            <a:xfrm>
              <a:off x="1200" y="1872"/>
              <a:ext cx="91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 algn="l"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800"/>
                <a:t>visualization</a:t>
              </a:r>
            </a:p>
          </p:txBody>
        </p:sp>
      </p:grpSp>
      <p:grpSp>
        <p:nvGrpSpPr>
          <p:cNvPr id="31759" name="Group 15"/>
          <p:cNvGrpSpPr>
            <a:grpSpLocks/>
          </p:cNvGrpSpPr>
          <p:nvPr/>
        </p:nvGrpSpPr>
        <p:grpSpPr bwMode="auto">
          <a:xfrm>
            <a:off x="4953000" y="2971800"/>
            <a:ext cx="2286000" cy="1254125"/>
            <a:chOff x="3120" y="1872"/>
            <a:chExt cx="1440" cy="790"/>
          </a:xfrm>
        </p:grpSpPr>
        <p:pic>
          <p:nvPicPr>
            <p:cNvPr id="5136" name="Picture 16" descr="summary-F2"/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120" y="2112"/>
              <a:ext cx="1440" cy="5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5137" name="Text Box 17"/>
            <p:cNvSpPr txBox="1">
              <a:spLocks noChangeArrowheads="1"/>
            </p:cNvSpPr>
            <p:nvPr/>
          </p:nvSpPr>
          <p:spPr bwMode="auto">
            <a:xfrm>
              <a:off x="3552" y="1872"/>
              <a:ext cx="720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 algn="l"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800"/>
                <a:t>summary</a:t>
              </a:r>
            </a:p>
          </p:txBody>
        </p:sp>
      </p:grpSp>
      <p:sp>
        <p:nvSpPr>
          <p:cNvPr id="31763" name="Line 19"/>
          <p:cNvSpPr>
            <a:spLocks noChangeShapeType="1"/>
          </p:cNvSpPr>
          <p:nvPr/>
        </p:nvSpPr>
        <p:spPr bwMode="auto">
          <a:xfrm>
            <a:off x="2362200" y="2209800"/>
            <a:ext cx="1676400" cy="0"/>
          </a:xfrm>
          <a:prstGeom prst="line">
            <a:avLst/>
          </a:prstGeom>
          <a:noFill/>
          <a:ln w="22225">
            <a:solidFill>
              <a:srgbClr val="FF0000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1764" name="Line 20"/>
          <p:cNvSpPr>
            <a:spLocks noChangeShapeType="1"/>
          </p:cNvSpPr>
          <p:nvPr/>
        </p:nvSpPr>
        <p:spPr bwMode="auto">
          <a:xfrm>
            <a:off x="5562600" y="2362200"/>
            <a:ext cx="609600" cy="685800"/>
          </a:xfrm>
          <a:prstGeom prst="line">
            <a:avLst/>
          </a:prstGeom>
          <a:noFill/>
          <a:ln w="22225">
            <a:solidFill>
              <a:srgbClr val="FF0000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1765" name="Line 21"/>
          <p:cNvSpPr>
            <a:spLocks noChangeShapeType="1"/>
          </p:cNvSpPr>
          <p:nvPr/>
        </p:nvSpPr>
        <p:spPr bwMode="auto">
          <a:xfrm>
            <a:off x="1219200" y="2819400"/>
            <a:ext cx="304800" cy="457200"/>
          </a:xfrm>
          <a:prstGeom prst="line">
            <a:avLst/>
          </a:prstGeom>
          <a:noFill/>
          <a:ln w="22225">
            <a:solidFill>
              <a:srgbClr val="FF0000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1766" name="Line 22"/>
          <p:cNvSpPr>
            <a:spLocks noChangeShapeType="1"/>
          </p:cNvSpPr>
          <p:nvPr/>
        </p:nvSpPr>
        <p:spPr bwMode="auto">
          <a:xfrm>
            <a:off x="2133600" y="4648200"/>
            <a:ext cx="990600" cy="838200"/>
          </a:xfrm>
          <a:prstGeom prst="line">
            <a:avLst/>
          </a:prstGeom>
          <a:noFill/>
          <a:ln w="22225">
            <a:solidFill>
              <a:srgbClr val="FF0000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1767" name="Line 23"/>
          <p:cNvSpPr>
            <a:spLocks noChangeShapeType="1"/>
          </p:cNvSpPr>
          <p:nvPr/>
        </p:nvSpPr>
        <p:spPr bwMode="auto">
          <a:xfrm flipV="1">
            <a:off x="3048000" y="2667000"/>
            <a:ext cx="914400" cy="533400"/>
          </a:xfrm>
          <a:prstGeom prst="line">
            <a:avLst/>
          </a:prstGeom>
          <a:noFill/>
          <a:ln w="22225">
            <a:solidFill>
              <a:srgbClr val="FF0000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1769" name="Text Box 25"/>
          <p:cNvSpPr txBox="1">
            <a:spLocks noChangeArrowheads="1"/>
          </p:cNvSpPr>
          <p:nvPr/>
        </p:nvSpPr>
        <p:spPr bwMode="auto">
          <a:xfrm rot="2700000">
            <a:off x="304800" y="4419600"/>
            <a:ext cx="2286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22225" algn="ctr">
                <a:solidFill>
                  <a:srgbClr val="FF0000"/>
                </a:solidFill>
                <a:miter lim="800000"/>
                <a:headEnd/>
                <a:tailEnd type="none" w="lg" len="lg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algn="l"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2400">
                <a:solidFill>
                  <a:srgbClr val="0000CC"/>
                </a:solidFill>
              </a:rPr>
              <a:t>Exploratory</a:t>
            </a:r>
          </a:p>
        </p:txBody>
      </p:sp>
      <p:sp>
        <p:nvSpPr>
          <p:cNvPr id="31770" name="Text Box 26"/>
          <p:cNvSpPr txBox="1">
            <a:spLocks noChangeArrowheads="1"/>
          </p:cNvSpPr>
          <p:nvPr/>
        </p:nvSpPr>
        <p:spPr bwMode="auto">
          <a:xfrm rot="2700000">
            <a:off x="6019800" y="2819400"/>
            <a:ext cx="2590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22225" algn="ctr">
                <a:solidFill>
                  <a:srgbClr val="FF0000"/>
                </a:solidFill>
                <a:miter lim="800000"/>
                <a:headEnd/>
                <a:tailEnd type="none" w="lg" len="lg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algn="l"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2400">
                <a:solidFill>
                  <a:srgbClr val="0000CC"/>
                </a:solidFill>
              </a:rPr>
              <a:t>Model-based</a:t>
            </a:r>
          </a:p>
        </p:txBody>
      </p:sp>
      <p:sp>
        <p:nvSpPr>
          <p:cNvPr id="5135" name="Text Box 27"/>
          <p:cNvSpPr txBox="1">
            <a:spLocks noChangeArrowheads="1"/>
          </p:cNvSpPr>
          <p:nvPr/>
        </p:nvSpPr>
        <p:spPr bwMode="auto">
          <a:xfrm>
            <a:off x="1943100" y="914400"/>
            <a:ext cx="5105400" cy="5191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22225" algn="ctr">
                <a:solidFill>
                  <a:srgbClr val="FF0000"/>
                </a:solidFill>
                <a:miter lim="800000"/>
                <a:headEnd/>
                <a:tailEnd type="none" w="lg" len="lg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algn="l"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2800"/>
              <a:t>Two paths to enlightenment</a:t>
            </a:r>
          </a:p>
        </p:txBody>
      </p:sp>
    </p:spTree>
    <p:extLst>
      <p:ext uri="{BB962C8B-B14F-4D97-AF65-F5344CB8AC3E}">
        <p14:creationId xmlns:p14="http://schemas.microsoft.com/office/powerpoint/2010/main" val="39235953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17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17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317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317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763" grpId="0" animBg="1"/>
      <p:bldP spid="31764" grpId="0" animBg="1"/>
      <p:bldP spid="31765" grpId="0" animBg="1"/>
      <p:bldP spid="31766" grpId="0" animBg="1"/>
      <p:bldP spid="31767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title" idx="4294967295"/>
          </p:nvPr>
        </p:nvSpPr>
        <p:spPr>
          <a:xfrm>
            <a:off x="381000" y="228600"/>
            <a:ext cx="8229600" cy="639763"/>
          </a:xfrm>
          <a:solidFill>
            <a:srgbClr val="0000CC"/>
          </a:solidFill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 sz="4000">
                <a:solidFill>
                  <a:schemeClr val="bg1"/>
                </a:solidFill>
              </a:rPr>
              <a:t>Data, pictures, models &amp; stories</a:t>
            </a:r>
          </a:p>
        </p:txBody>
      </p:sp>
      <p:grpSp>
        <p:nvGrpSpPr>
          <p:cNvPr id="13326" name="Group 14"/>
          <p:cNvGrpSpPr>
            <a:grpSpLocks/>
          </p:cNvGrpSpPr>
          <p:nvPr/>
        </p:nvGrpSpPr>
        <p:grpSpPr bwMode="auto">
          <a:xfrm>
            <a:off x="762000" y="1981200"/>
            <a:ext cx="1524000" cy="762000"/>
            <a:chOff x="480" y="1248"/>
            <a:chExt cx="960" cy="480"/>
          </a:xfrm>
        </p:grpSpPr>
        <p:pic>
          <p:nvPicPr>
            <p:cNvPr id="7199" name="Picture 3" descr="data_table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80" y="1248"/>
              <a:ext cx="480" cy="4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7200" name="Text Box 5"/>
            <p:cNvSpPr txBox="1">
              <a:spLocks noChangeArrowheads="1"/>
            </p:cNvSpPr>
            <p:nvPr/>
          </p:nvSpPr>
          <p:spPr bwMode="auto">
            <a:xfrm>
              <a:off x="1008" y="1296"/>
              <a:ext cx="43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 algn="l"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800"/>
                <a:t>data</a:t>
              </a:r>
            </a:p>
          </p:txBody>
        </p:sp>
      </p:grpSp>
      <p:grpSp>
        <p:nvGrpSpPr>
          <p:cNvPr id="13327" name="Group 15"/>
          <p:cNvGrpSpPr>
            <a:grpSpLocks/>
          </p:cNvGrpSpPr>
          <p:nvPr/>
        </p:nvGrpSpPr>
        <p:grpSpPr bwMode="auto">
          <a:xfrm>
            <a:off x="3200400" y="4724400"/>
            <a:ext cx="1581150" cy="1712913"/>
            <a:chOff x="2304" y="2976"/>
            <a:chExt cx="996" cy="1079"/>
          </a:xfrm>
        </p:grpSpPr>
        <p:pic>
          <p:nvPicPr>
            <p:cNvPr id="7197" name="Picture 4"/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304" y="3168"/>
              <a:ext cx="996" cy="88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7198" name="Text Box 6"/>
            <p:cNvSpPr txBox="1">
              <a:spLocks noChangeArrowheads="1"/>
            </p:cNvSpPr>
            <p:nvPr/>
          </p:nvSpPr>
          <p:spPr bwMode="auto">
            <a:xfrm>
              <a:off x="2400" y="2976"/>
              <a:ext cx="43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 algn="l"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800"/>
                <a:t>story</a:t>
              </a:r>
            </a:p>
          </p:txBody>
        </p:sp>
      </p:grpSp>
      <p:grpSp>
        <p:nvGrpSpPr>
          <p:cNvPr id="13328" name="Group 16"/>
          <p:cNvGrpSpPr>
            <a:grpSpLocks/>
          </p:cNvGrpSpPr>
          <p:nvPr/>
        </p:nvGrpSpPr>
        <p:grpSpPr bwMode="auto">
          <a:xfrm>
            <a:off x="3962400" y="1676400"/>
            <a:ext cx="1720850" cy="1122363"/>
            <a:chOff x="4176" y="1056"/>
            <a:chExt cx="1084" cy="707"/>
          </a:xfrm>
        </p:grpSpPr>
        <p:pic>
          <p:nvPicPr>
            <p:cNvPr id="7195" name="Picture 7" descr="model-dekker"/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176" y="1104"/>
              <a:ext cx="1014" cy="65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7196" name="Rectangle 10"/>
            <p:cNvSpPr>
              <a:spLocks noChangeArrowheads="1"/>
            </p:cNvSpPr>
            <p:nvPr/>
          </p:nvSpPr>
          <p:spPr bwMode="auto">
            <a:xfrm>
              <a:off x="4752" y="1056"/>
              <a:ext cx="508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algn="l"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800"/>
                <a:t>model</a:t>
              </a:r>
            </a:p>
          </p:txBody>
        </p:sp>
      </p:grpSp>
      <p:grpSp>
        <p:nvGrpSpPr>
          <p:cNvPr id="13323" name="Group 11"/>
          <p:cNvGrpSpPr>
            <a:grpSpLocks/>
          </p:cNvGrpSpPr>
          <p:nvPr/>
        </p:nvGrpSpPr>
        <p:grpSpPr bwMode="auto">
          <a:xfrm>
            <a:off x="1524000" y="2971800"/>
            <a:ext cx="1447800" cy="1674813"/>
            <a:chOff x="1200" y="1872"/>
            <a:chExt cx="912" cy="1055"/>
          </a:xfrm>
        </p:grpSpPr>
        <p:pic>
          <p:nvPicPr>
            <p:cNvPr id="7193" name="Picture 12"/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200" y="2112"/>
              <a:ext cx="906" cy="81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7194" name="Text Box 13"/>
            <p:cNvSpPr txBox="1">
              <a:spLocks noChangeArrowheads="1"/>
            </p:cNvSpPr>
            <p:nvPr/>
          </p:nvSpPr>
          <p:spPr bwMode="auto">
            <a:xfrm>
              <a:off x="1200" y="1872"/>
              <a:ext cx="91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 algn="l"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800"/>
                <a:t>visualization</a:t>
              </a:r>
            </a:p>
          </p:txBody>
        </p:sp>
      </p:grpSp>
      <p:grpSp>
        <p:nvGrpSpPr>
          <p:cNvPr id="13340" name="Group 28"/>
          <p:cNvGrpSpPr>
            <a:grpSpLocks/>
          </p:cNvGrpSpPr>
          <p:nvPr/>
        </p:nvGrpSpPr>
        <p:grpSpPr bwMode="auto">
          <a:xfrm>
            <a:off x="4953000" y="2971800"/>
            <a:ext cx="2286000" cy="1254125"/>
            <a:chOff x="3120" y="1872"/>
            <a:chExt cx="1440" cy="790"/>
          </a:xfrm>
        </p:grpSpPr>
        <p:pic>
          <p:nvPicPr>
            <p:cNvPr id="7191" name="Picture 8" descr="summary-F2"/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120" y="2112"/>
              <a:ext cx="1440" cy="5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7192" name="Text Box 17"/>
            <p:cNvSpPr txBox="1">
              <a:spLocks noChangeArrowheads="1"/>
            </p:cNvSpPr>
            <p:nvPr/>
          </p:nvSpPr>
          <p:spPr bwMode="auto">
            <a:xfrm>
              <a:off x="3552" y="1872"/>
              <a:ext cx="720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 algn="l"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800"/>
                <a:t>summary</a:t>
              </a:r>
            </a:p>
          </p:txBody>
        </p:sp>
      </p:grpSp>
      <p:grpSp>
        <p:nvGrpSpPr>
          <p:cNvPr id="13341" name="Group 29"/>
          <p:cNvGrpSpPr>
            <a:grpSpLocks/>
          </p:cNvGrpSpPr>
          <p:nvPr/>
        </p:nvGrpSpPr>
        <p:grpSpPr bwMode="auto">
          <a:xfrm>
            <a:off x="5791200" y="4724400"/>
            <a:ext cx="2667000" cy="1698625"/>
            <a:chOff x="3648" y="2976"/>
            <a:chExt cx="1680" cy="1070"/>
          </a:xfrm>
        </p:grpSpPr>
        <p:pic>
          <p:nvPicPr>
            <p:cNvPr id="7189" name="Picture 9" descr="inference-SDT_diagram"/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648" y="3168"/>
              <a:ext cx="1632" cy="87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7190" name="Text Box 18"/>
            <p:cNvSpPr txBox="1">
              <a:spLocks noChangeArrowheads="1"/>
            </p:cNvSpPr>
            <p:nvPr/>
          </p:nvSpPr>
          <p:spPr bwMode="auto">
            <a:xfrm>
              <a:off x="4560" y="2976"/>
              <a:ext cx="768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 algn="l"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800"/>
                <a:t>inference</a:t>
              </a:r>
            </a:p>
          </p:txBody>
        </p:sp>
      </p:grpSp>
      <p:sp>
        <p:nvSpPr>
          <p:cNvPr id="13331" name="Line 19"/>
          <p:cNvSpPr>
            <a:spLocks noChangeShapeType="1"/>
          </p:cNvSpPr>
          <p:nvPr/>
        </p:nvSpPr>
        <p:spPr bwMode="auto">
          <a:xfrm>
            <a:off x="1676400" y="2590800"/>
            <a:ext cx="1905000" cy="2133600"/>
          </a:xfrm>
          <a:prstGeom prst="line">
            <a:avLst/>
          </a:prstGeom>
          <a:noFill/>
          <a:ln w="22225">
            <a:solidFill>
              <a:srgbClr val="FF0000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32" name="Line 20"/>
          <p:cNvSpPr>
            <a:spLocks noChangeShapeType="1"/>
          </p:cNvSpPr>
          <p:nvPr/>
        </p:nvSpPr>
        <p:spPr bwMode="auto">
          <a:xfrm>
            <a:off x="2362200" y="2209800"/>
            <a:ext cx="1676400" cy="0"/>
          </a:xfrm>
          <a:prstGeom prst="line">
            <a:avLst/>
          </a:prstGeom>
          <a:noFill/>
          <a:ln w="22225">
            <a:solidFill>
              <a:srgbClr val="FF0000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33" name="Line 21"/>
          <p:cNvSpPr>
            <a:spLocks noChangeShapeType="1"/>
          </p:cNvSpPr>
          <p:nvPr/>
        </p:nvSpPr>
        <p:spPr bwMode="auto">
          <a:xfrm>
            <a:off x="5562600" y="2362200"/>
            <a:ext cx="609600" cy="685800"/>
          </a:xfrm>
          <a:prstGeom prst="line">
            <a:avLst/>
          </a:prstGeom>
          <a:noFill/>
          <a:ln w="22225">
            <a:solidFill>
              <a:srgbClr val="FF0000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34" name="Line 22"/>
          <p:cNvSpPr>
            <a:spLocks noChangeShapeType="1"/>
          </p:cNvSpPr>
          <p:nvPr/>
        </p:nvSpPr>
        <p:spPr bwMode="auto">
          <a:xfrm>
            <a:off x="6096000" y="4267200"/>
            <a:ext cx="457200" cy="685800"/>
          </a:xfrm>
          <a:prstGeom prst="line">
            <a:avLst/>
          </a:prstGeom>
          <a:noFill/>
          <a:ln w="22225">
            <a:solidFill>
              <a:srgbClr val="FF0000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35" name="Line 23"/>
          <p:cNvSpPr>
            <a:spLocks noChangeShapeType="1"/>
          </p:cNvSpPr>
          <p:nvPr/>
        </p:nvSpPr>
        <p:spPr bwMode="auto">
          <a:xfrm flipH="1">
            <a:off x="4800600" y="5638800"/>
            <a:ext cx="1219200" cy="0"/>
          </a:xfrm>
          <a:prstGeom prst="line">
            <a:avLst/>
          </a:prstGeom>
          <a:noFill/>
          <a:ln w="22225">
            <a:solidFill>
              <a:srgbClr val="FF0000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36" name="Line 24"/>
          <p:cNvSpPr>
            <a:spLocks noChangeShapeType="1"/>
          </p:cNvSpPr>
          <p:nvPr/>
        </p:nvSpPr>
        <p:spPr bwMode="auto">
          <a:xfrm>
            <a:off x="1219200" y="2819400"/>
            <a:ext cx="304800" cy="457200"/>
          </a:xfrm>
          <a:prstGeom prst="line">
            <a:avLst/>
          </a:prstGeom>
          <a:noFill/>
          <a:ln w="22225">
            <a:solidFill>
              <a:srgbClr val="FF0000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37" name="Line 25"/>
          <p:cNvSpPr>
            <a:spLocks noChangeShapeType="1"/>
          </p:cNvSpPr>
          <p:nvPr/>
        </p:nvSpPr>
        <p:spPr bwMode="auto">
          <a:xfrm>
            <a:off x="2133600" y="4648200"/>
            <a:ext cx="990600" cy="838200"/>
          </a:xfrm>
          <a:prstGeom prst="line">
            <a:avLst/>
          </a:prstGeom>
          <a:noFill/>
          <a:ln w="22225">
            <a:solidFill>
              <a:srgbClr val="FF0000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38" name="Line 26"/>
          <p:cNvSpPr>
            <a:spLocks noChangeShapeType="1"/>
          </p:cNvSpPr>
          <p:nvPr/>
        </p:nvSpPr>
        <p:spPr bwMode="auto">
          <a:xfrm flipV="1">
            <a:off x="3048000" y="2667000"/>
            <a:ext cx="914400" cy="533400"/>
          </a:xfrm>
          <a:prstGeom prst="line">
            <a:avLst/>
          </a:prstGeom>
          <a:noFill/>
          <a:ln w="22225">
            <a:solidFill>
              <a:srgbClr val="FF0000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39" name="Line 27"/>
          <p:cNvSpPr>
            <a:spLocks noChangeShapeType="1"/>
          </p:cNvSpPr>
          <p:nvPr/>
        </p:nvSpPr>
        <p:spPr bwMode="auto">
          <a:xfrm flipH="1">
            <a:off x="3048000" y="3733800"/>
            <a:ext cx="1752600" cy="0"/>
          </a:xfrm>
          <a:prstGeom prst="line">
            <a:avLst/>
          </a:prstGeom>
          <a:noFill/>
          <a:ln w="22225">
            <a:solidFill>
              <a:srgbClr val="FF0000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42" name="Text Box 30"/>
          <p:cNvSpPr txBox="1">
            <a:spLocks noChangeArrowheads="1"/>
          </p:cNvSpPr>
          <p:nvPr/>
        </p:nvSpPr>
        <p:spPr bwMode="auto">
          <a:xfrm rot="2700000">
            <a:off x="304800" y="4419600"/>
            <a:ext cx="2286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22225" algn="ctr">
                <a:solidFill>
                  <a:srgbClr val="FF0000"/>
                </a:solidFill>
                <a:miter lim="800000"/>
                <a:headEnd/>
                <a:tailEnd type="none" w="lg" len="lg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algn="l"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2400">
                <a:solidFill>
                  <a:srgbClr val="0000CC"/>
                </a:solidFill>
              </a:rPr>
              <a:t>Exploratory</a:t>
            </a:r>
          </a:p>
        </p:txBody>
      </p:sp>
      <p:sp>
        <p:nvSpPr>
          <p:cNvPr id="13343" name="Text Box 31"/>
          <p:cNvSpPr txBox="1">
            <a:spLocks noChangeArrowheads="1"/>
          </p:cNvSpPr>
          <p:nvPr/>
        </p:nvSpPr>
        <p:spPr bwMode="auto">
          <a:xfrm rot="2700000">
            <a:off x="6019800" y="2819400"/>
            <a:ext cx="2590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22225" algn="ctr">
                <a:solidFill>
                  <a:srgbClr val="FF0000"/>
                </a:solidFill>
                <a:miter lim="800000"/>
                <a:headEnd/>
                <a:tailEnd type="none" w="lg" len="lg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algn="l"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2400">
                <a:solidFill>
                  <a:srgbClr val="0000CC"/>
                </a:solidFill>
              </a:rPr>
              <a:t>Model-based</a:t>
            </a:r>
          </a:p>
        </p:txBody>
      </p:sp>
      <p:sp>
        <p:nvSpPr>
          <p:cNvPr id="7188" name="Text Box 32"/>
          <p:cNvSpPr txBox="1">
            <a:spLocks noChangeArrowheads="1"/>
          </p:cNvSpPr>
          <p:nvPr/>
        </p:nvSpPr>
        <p:spPr bwMode="auto">
          <a:xfrm>
            <a:off x="1943100" y="914400"/>
            <a:ext cx="5105400" cy="5191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22225" algn="ctr">
                <a:solidFill>
                  <a:srgbClr val="FF0000"/>
                </a:solidFill>
                <a:miter lim="800000"/>
                <a:headEnd/>
                <a:tailEnd type="none" w="lg" len="lg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algn="l"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2800"/>
              <a:t>Now, tell the story!</a:t>
            </a:r>
          </a:p>
        </p:txBody>
      </p:sp>
    </p:spTree>
    <p:extLst>
      <p:ext uri="{BB962C8B-B14F-4D97-AF65-F5344CB8AC3E}">
        <p14:creationId xmlns:p14="http://schemas.microsoft.com/office/powerpoint/2010/main" val="4368968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4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334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334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33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33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 nodeType="clickPar">
                      <p:stCondLst>
                        <p:cond delay="indefinite"/>
                      </p:stCondLst>
                      <p:childTnLst>
                        <p:par>
                          <p:cTn id="4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331" grpId="0" animBg="1"/>
      <p:bldP spid="13331" grpId="1" animBg="1"/>
      <p:bldP spid="13332" grpId="0" animBg="1"/>
      <p:bldP spid="13333" grpId="0" animBg="1"/>
      <p:bldP spid="13334" grpId="0" animBg="1"/>
      <p:bldP spid="13335" grpId="0" animBg="1"/>
      <p:bldP spid="13336" grpId="0" animBg="1"/>
      <p:bldP spid="13337" grpId="0" animBg="1"/>
      <p:bldP spid="13338" grpId="0" animBg="1"/>
      <p:bldP spid="13339" grpId="0" animBg="1"/>
      <p:bldP spid="13339" grpId="1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FBB0B608-09F4-4FAE-B952-F2EA4B67C1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Gender Bias at UC Berkeley?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B36C39-2C61-4715-B02B-B6656DE046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65</a:t>
            </a:fld>
            <a:endParaRPr lang="en-US"/>
          </a:p>
        </p:txBody>
      </p:sp>
      <p:pic>
        <p:nvPicPr>
          <p:cNvPr id="7" name="Picture 6" descr="Graphical user interface, text, application&#10;&#10;Description automatically generated">
            <a:extLst>
              <a:ext uri="{FF2B5EF4-FFF2-40B4-BE49-F238E27FC236}">
                <a16:creationId xmlns:a16="http://schemas.microsoft.com/office/drawing/2014/main" id="{F5F6DE3D-4EDC-4A2F-B3B6-B1592D8A8CF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1282495"/>
            <a:ext cx="7796736" cy="507385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D1AE72F-D3AE-473C-8517-78606B01CBC0}"/>
              </a:ext>
            </a:extLst>
          </p:cNvPr>
          <p:cNvSpPr txBox="1"/>
          <p:nvPr/>
        </p:nvSpPr>
        <p:spPr>
          <a:xfrm>
            <a:off x="762000" y="1351319"/>
            <a:ext cx="32004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i="1" dirty="0"/>
              <a:t>Science</a:t>
            </a:r>
            <a:r>
              <a:rPr lang="en-US" sz="1600" dirty="0"/>
              <a:t>, 1975, </a:t>
            </a:r>
            <a:r>
              <a:rPr lang="en-US" sz="1600" b="1" dirty="0"/>
              <a:t>187:</a:t>
            </a:r>
            <a:r>
              <a:rPr lang="en-US" sz="1600" dirty="0"/>
              <a:t> 398--403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48ED357-BDE4-4ECF-93A7-4F7C9314CB6D}"/>
              </a:ext>
            </a:extLst>
          </p:cNvPr>
          <p:cNvSpPr/>
          <p:nvPr/>
        </p:nvSpPr>
        <p:spPr>
          <a:xfrm>
            <a:off x="4114800" y="5257800"/>
            <a:ext cx="3048000" cy="609600"/>
          </a:xfrm>
          <a:prstGeom prst="rect">
            <a:avLst/>
          </a:prstGeom>
          <a:solidFill>
            <a:srgbClr val="FFFF00">
              <a:alpha val="10000"/>
            </a:srgbClr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0819845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270E141-34DC-4D2A-8223-1EC4A1A5E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2 × 2 Frequency Tables: Fourfold displays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62DCE8-A80E-4E85-8457-41EFFE9B23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66</a:t>
            </a:fld>
            <a:endParaRPr lang="en-US"/>
          </a:p>
        </p:txBody>
      </p:sp>
      <p:pic>
        <p:nvPicPr>
          <p:cNvPr id="6" name="Picture 5" descr="Table&#10;&#10;Description automatically generated">
            <a:extLst>
              <a:ext uri="{FF2B5EF4-FFF2-40B4-BE49-F238E27FC236}">
                <a16:creationId xmlns:a16="http://schemas.microsoft.com/office/drawing/2014/main" id="{A0003716-82A6-42CE-A13F-3FE83DC4A3E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1" y="1447801"/>
            <a:ext cx="5105400" cy="116261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3A69596-6F28-4C7B-9D2C-C0C6B96ECFEB}"/>
              </a:ext>
            </a:extLst>
          </p:cNvPr>
          <p:cNvSpPr txBox="1"/>
          <p:nvPr/>
        </p:nvSpPr>
        <p:spPr>
          <a:xfrm>
            <a:off x="457200" y="3554163"/>
            <a:ext cx="35052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Males nearly </a:t>
            </a:r>
            <a:r>
              <a:rPr lang="en-US" dirty="0">
                <a:highlight>
                  <a:srgbClr val="FFFF00"/>
                </a:highlight>
              </a:rPr>
              <a:t>twice</a:t>
            </a:r>
            <a:r>
              <a:rPr lang="en-US" dirty="0"/>
              <a:t> as likely to be admitted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Is this a “significant” association?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Is it evidence for gender bias?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How to measure strength of association?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How to visualize?</a:t>
            </a:r>
          </a:p>
        </p:txBody>
      </p:sp>
      <p:pic>
        <p:nvPicPr>
          <p:cNvPr id="8" name="Picture 7" descr="Chart, pie chart&#10;&#10;Description automatically generated">
            <a:extLst>
              <a:ext uri="{FF2B5EF4-FFF2-40B4-BE49-F238E27FC236}">
                <a16:creationId xmlns:a16="http://schemas.microsoft.com/office/drawing/2014/main" id="{332EC77A-0916-4E9E-A333-65DE3D9602C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7400" y="1495967"/>
            <a:ext cx="2754302" cy="277408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D8345E1-09FA-47FB-8411-74FC5E2F83EB}"/>
              </a:ext>
            </a:extLst>
          </p:cNvPr>
          <p:cNvSpPr txBox="1"/>
          <p:nvPr/>
        </p:nvSpPr>
        <p:spPr>
          <a:xfrm>
            <a:off x="5257800" y="4572000"/>
            <a:ext cx="37338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Fourfold display: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dirty="0"/>
              <a:t>quarter circles, area ~ frequency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dirty="0"/>
              <a:t>ratio of areas: odds ratio (</a:t>
            </a:r>
            <a:r>
              <a:rPr lang="el-GR" sz="1600" dirty="0"/>
              <a:t>θ</a:t>
            </a:r>
            <a:r>
              <a:rPr lang="en-US" sz="1600" dirty="0"/>
              <a:t>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dirty="0"/>
              <a:t>confidence bands: overlap </a:t>
            </a:r>
            <a:r>
              <a:rPr lang="en-US" sz="1600" dirty="0" err="1"/>
              <a:t>iff</a:t>
            </a:r>
            <a:r>
              <a:rPr lang="en-US" sz="1600" dirty="0"/>
              <a:t> </a:t>
            </a:r>
            <a:r>
              <a:rPr lang="el-GR" sz="1600" dirty="0"/>
              <a:t>θ</a:t>
            </a:r>
            <a:r>
              <a:rPr lang="en-US" sz="1600" dirty="0"/>
              <a:t> </a:t>
            </a:r>
            <a:r>
              <a:rPr lang="el-GR" sz="1600" dirty="0">
                <a:sym typeface="Symbol" panose="05050102010706020507" pitchFamily="18" charset="2"/>
              </a:rPr>
              <a:t></a:t>
            </a:r>
            <a:r>
              <a:rPr lang="en-US" sz="1600" dirty="0">
                <a:sym typeface="Symbol" panose="05050102010706020507" pitchFamily="18" charset="2"/>
              </a:rPr>
              <a:t> 1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dirty="0"/>
              <a:t>visualize significance!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9EF9DB0-DF24-49EE-BD58-0DB00B99D377}"/>
              </a:ext>
            </a:extLst>
          </p:cNvPr>
          <p:cNvSpPr txBox="1"/>
          <p:nvPr/>
        </p:nvSpPr>
        <p:spPr>
          <a:xfrm>
            <a:off x="3505200" y="2677754"/>
            <a:ext cx="21336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odds ratio (</a:t>
            </a:r>
            <a:r>
              <a:rPr lang="el-GR" sz="1600" dirty="0"/>
              <a:t>θ</a:t>
            </a:r>
            <a:r>
              <a:rPr lang="en-US" sz="1600" dirty="0"/>
              <a:t>) = 1.84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E1DE4D23-8AD1-494F-9121-D68BC55F5B25}"/>
              </a:ext>
            </a:extLst>
          </p:cNvPr>
          <p:cNvSpPr/>
          <p:nvPr/>
        </p:nvSpPr>
        <p:spPr>
          <a:xfrm>
            <a:off x="4876801" y="2703266"/>
            <a:ext cx="685800" cy="287529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38081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74CDC0-1932-444A-A3E2-28CA573AC6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6096000" cy="715962"/>
          </a:xfrm>
        </p:spPr>
        <p:txBody>
          <a:bodyPr>
            <a:normAutofit fontScale="90000"/>
          </a:bodyPr>
          <a:lstStyle/>
          <a:p>
            <a:r>
              <a:rPr lang="en-US" dirty="0"/>
              <a:t>2 × 2 × k Stratified tables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DE50042-9F77-4009-BDBC-FFA00DDDA0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67</a:t>
            </a:fld>
            <a:endParaRPr lang="en-US"/>
          </a:p>
        </p:txBody>
      </p:sp>
      <p:pic>
        <p:nvPicPr>
          <p:cNvPr id="4" name="Picture 3" descr="A picture containing text, toiletry, cosmetic&#10;&#10;Description automatically generated">
            <a:extLst>
              <a:ext uri="{FF2B5EF4-FFF2-40B4-BE49-F238E27FC236}">
                <a16:creationId xmlns:a16="http://schemas.microsoft.com/office/drawing/2014/main" id="{D2A04264-4FC1-490D-88C3-6971008DBAB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81400" y="1515884"/>
            <a:ext cx="5309471" cy="382623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1B1CCBF-EE0A-46F3-A78F-E54EF527C4D3}"/>
              </a:ext>
            </a:extLst>
          </p:cNvPr>
          <p:cNvSpPr txBox="1"/>
          <p:nvPr/>
        </p:nvSpPr>
        <p:spPr>
          <a:xfrm>
            <a:off x="457200" y="1676400"/>
            <a:ext cx="2743200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data arose from 6 graduate departments</a:t>
            </a:r>
          </a:p>
          <a:p>
            <a:endParaRPr lang="en-US" dirty="0"/>
          </a:p>
          <a:p>
            <a:r>
              <a:rPr lang="en-US" dirty="0"/>
              <a:t>No difference between males &amp; females, except in Dept A where </a:t>
            </a:r>
            <a:r>
              <a:rPr lang="en-US" dirty="0">
                <a:solidFill>
                  <a:srgbClr val="FF0000"/>
                </a:solidFill>
              </a:rPr>
              <a:t>women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more</a:t>
            </a:r>
            <a:r>
              <a:rPr lang="en-US" dirty="0"/>
              <a:t> likely to be admitted!</a:t>
            </a:r>
          </a:p>
          <a:p>
            <a:endParaRPr lang="en-US" dirty="0"/>
          </a:p>
          <a:p>
            <a:r>
              <a:rPr lang="en-US" dirty="0"/>
              <a:t>Design: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small multiples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encode direction by color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encode </a:t>
            </a:r>
            <a:r>
              <a:rPr lang="en-US" sz="1600" dirty="0" err="1"/>
              <a:t>signif</a:t>
            </a:r>
            <a:r>
              <a:rPr lang="en-US" sz="1600" dirty="0"/>
              <a:t>. by shading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2303573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76DF95-D20E-4C67-8413-D251951EA5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36525"/>
            <a:ext cx="8534400" cy="854075"/>
          </a:xfrm>
        </p:spPr>
        <p:txBody>
          <a:bodyPr>
            <a:normAutofit/>
          </a:bodyPr>
          <a:lstStyle/>
          <a:p>
            <a:r>
              <a:rPr lang="en-US" dirty="0"/>
              <a:t>Mosaic matrices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09C3AC8-0B98-4D9E-A9D1-199B4D072D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68</a:t>
            </a:fld>
            <a:endParaRPr lang="en-US"/>
          </a:p>
        </p:txBody>
      </p:sp>
      <p:pic>
        <p:nvPicPr>
          <p:cNvPr id="5" name="Picture 4" descr="Chart, bar chart, treemap chart&#10;&#10;Description automatically generated">
            <a:extLst>
              <a:ext uri="{FF2B5EF4-FFF2-40B4-BE49-F238E27FC236}">
                <a16:creationId xmlns:a16="http://schemas.microsoft.com/office/drawing/2014/main" id="{20B33AE6-D60B-411B-9BBF-391ED6479F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" y="1219200"/>
            <a:ext cx="5331663" cy="527894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007A517-C4E7-4C77-819A-907E7AC14992}"/>
              </a:ext>
            </a:extLst>
          </p:cNvPr>
          <p:cNvSpPr txBox="1"/>
          <p:nvPr/>
        </p:nvSpPr>
        <p:spPr>
          <a:xfrm>
            <a:off x="5791200" y="2286000"/>
            <a:ext cx="3124200" cy="35702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Scatterplot matrix analog for categorical data</a:t>
            </a:r>
          </a:p>
          <a:p>
            <a:endParaRPr lang="en-US" dirty="0"/>
          </a:p>
          <a:p>
            <a:r>
              <a:rPr lang="en-US" dirty="0"/>
              <a:t>All pairwise views</a:t>
            </a:r>
          </a:p>
          <a:p>
            <a:r>
              <a:rPr lang="en-US" dirty="0"/>
              <a:t>Small multiples </a:t>
            </a:r>
            <a:r>
              <a:rPr lang="en-US" dirty="0">
                <a:sym typeface="Symbol" panose="05050102010706020507" pitchFamily="18" charset="2"/>
              </a:rPr>
              <a:t></a:t>
            </a:r>
            <a:r>
              <a:rPr lang="en-US" dirty="0"/>
              <a:t> comparison</a:t>
            </a:r>
          </a:p>
          <a:p>
            <a:endParaRPr lang="en-US" dirty="0"/>
          </a:p>
          <a:p>
            <a:r>
              <a:rPr lang="en-US" dirty="0"/>
              <a:t>The answer: </a:t>
            </a:r>
            <a:r>
              <a:rPr lang="en-US" dirty="0">
                <a:solidFill>
                  <a:srgbClr val="FF0000"/>
                </a:solidFill>
              </a:rPr>
              <a:t>Simpson’s Paradox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Depts A, B were easiest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Applicants to A, B mostly male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ym typeface="Symbol" panose="05050102010706020507" pitchFamily="18" charset="2"/>
              </a:rPr>
              <a:t>Males more likely to be admitted </a:t>
            </a:r>
            <a:r>
              <a:rPr lang="en-US" sz="1600" dirty="0">
                <a:solidFill>
                  <a:srgbClr val="FF0000"/>
                </a:solidFill>
                <a:sym typeface="Symbol" panose="05050102010706020507" pitchFamily="18" charset="2"/>
              </a:rPr>
              <a:t>overall</a:t>
            </a:r>
            <a:endParaRPr lang="en-US" sz="1600" dirty="0">
              <a:solidFill>
                <a:srgbClr val="FF0000"/>
              </a:solidFill>
            </a:endParaRPr>
          </a:p>
          <a:p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AF3FB08-175F-4904-996F-C7AF57243085}"/>
              </a:ext>
            </a:extLst>
          </p:cNvPr>
          <p:cNvSpPr/>
          <p:nvPr/>
        </p:nvSpPr>
        <p:spPr>
          <a:xfrm>
            <a:off x="3962400" y="1143000"/>
            <a:ext cx="1674063" cy="177603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77D7706-6BD3-4066-BD21-5D6C514D22DE}"/>
              </a:ext>
            </a:extLst>
          </p:cNvPr>
          <p:cNvSpPr/>
          <p:nvPr/>
        </p:nvSpPr>
        <p:spPr>
          <a:xfrm>
            <a:off x="3962399" y="2932556"/>
            <a:ext cx="1674063" cy="177603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4C3FAA6-94BF-4D5B-ADB2-75E290592B30}"/>
              </a:ext>
            </a:extLst>
          </p:cNvPr>
          <p:cNvSpPr/>
          <p:nvPr/>
        </p:nvSpPr>
        <p:spPr>
          <a:xfrm>
            <a:off x="2133599" y="1143000"/>
            <a:ext cx="1674063" cy="177603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39621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7" grpId="0" animBg="1"/>
      <p:bldP spid="8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04394D-E57B-727A-404F-F7570FB7D4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Measures &amp; models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4D3E3F1-321B-D3E6-FD94-6EA5FB5117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69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42498F-B315-BE68-9EE2-2BACDCEA07D0}"/>
              </a:ext>
            </a:extLst>
          </p:cNvPr>
          <p:cNvSpPr txBox="1"/>
          <p:nvPr/>
        </p:nvSpPr>
        <p:spPr>
          <a:xfrm>
            <a:off x="457200" y="1295400"/>
            <a:ext cx="8229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If the focus is on the association between </a:t>
            </a:r>
            <a:r>
              <a:rPr lang="en-CA" dirty="0">
                <a:solidFill>
                  <a:srgbClr val="0070C0"/>
                </a:solidFill>
              </a:rPr>
              <a:t>gender</a:t>
            </a:r>
            <a:r>
              <a:rPr lang="en-CA" dirty="0"/>
              <a:t> and </a:t>
            </a:r>
            <a:r>
              <a:rPr lang="en-CA" dirty="0">
                <a:solidFill>
                  <a:srgbClr val="0070C0"/>
                </a:solidFill>
              </a:rPr>
              <a:t>admission</a:t>
            </a:r>
            <a:r>
              <a:rPr lang="en-CA" dirty="0"/>
              <a:t> for each department</a:t>
            </a:r>
          </a:p>
          <a:p>
            <a:r>
              <a:rPr lang="en-CA" dirty="0"/>
              <a:t>the </a:t>
            </a:r>
            <a:r>
              <a:rPr lang="en-CA" dirty="0">
                <a:solidFill>
                  <a:srgbClr val="0070C0"/>
                </a:solidFill>
              </a:rPr>
              <a:t>odds ratio</a:t>
            </a:r>
            <a:r>
              <a:rPr lang="en-CA" dirty="0"/>
              <a:t>: odds(</a:t>
            </a:r>
            <a:r>
              <a:rPr lang="en-CA" dirty="0" err="1"/>
              <a:t>Admit|Male</a:t>
            </a:r>
            <a:r>
              <a:rPr lang="en-CA" dirty="0"/>
              <a:t>) / odds(</a:t>
            </a:r>
            <a:r>
              <a:rPr lang="en-CA" dirty="0" err="1"/>
              <a:t>Admit|Female</a:t>
            </a:r>
            <a:r>
              <a:rPr lang="en-CA" dirty="0"/>
              <a:t>) is a good summary</a:t>
            </a:r>
          </a:p>
        </p:txBody>
      </p:sp>
      <p:pic>
        <p:nvPicPr>
          <p:cNvPr id="5" name="Picture 4" descr="Chart, line chart&#10;&#10;Description automatically generated">
            <a:extLst>
              <a:ext uri="{FF2B5EF4-FFF2-40B4-BE49-F238E27FC236}">
                <a16:creationId xmlns:a16="http://schemas.microsoft.com/office/drawing/2014/main" id="{694E1F75-C151-3880-05E1-5DF3F356EE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400" y="2132837"/>
            <a:ext cx="4288242" cy="422351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C8C5503-AAB2-1E7C-62B9-A7CC3DAAF9BC}"/>
              </a:ext>
            </a:extLst>
          </p:cNvPr>
          <p:cNvSpPr txBox="1"/>
          <p:nvPr/>
        </p:nvSpPr>
        <p:spPr>
          <a:xfrm>
            <a:off x="4827560" y="2379325"/>
            <a:ext cx="3783040" cy="3539430"/>
          </a:xfrm>
          <a:prstGeom prst="rect">
            <a:avLst/>
          </a:prstGeom>
          <a:pattFill prst="pct25">
            <a:fgClr>
              <a:srgbClr val="FFC000"/>
            </a:fgClr>
            <a:bgClr>
              <a:schemeClr val="bg1"/>
            </a:bgClr>
          </a:pattFill>
        </p:spPr>
        <p:txBody>
          <a:bodyPr wrap="square" rtlCol="0">
            <a:spAutoFit/>
          </a:bodyPr>
          <a:lstStyle/>
          <a:p>
            <a:r>
              <a:rPr lang="en-CA" sz="1600" dirty="0"/>
              <a:t>odds = </a:t>
            </a:r>
            <a:r>
              <a:rPr lang="en-CA" sz="1600" dirty="0" err="1"/>
              <a:t>Pr</a:t>
            </a:r>
            <a:r>
              <a:rPr lang="en-CA" sz="1600" dirty="0"/>
              <a:t>(Admit) / </a:t>
            </a:r>
            <a:r>
              <a:rPr lang="en-CA" sz="1600" dirty="0" err="1"/>
              <a:t>Pr</a:t>
            </a:r>
            <a:r>
              <a:rPr lang="en-CA" sz="1600" dirty="0"/>
              <a:t> (Reject)</a:t>
            </a:r>
          </a:p>
          <a:p>
            <a:r>
              <a:rPr lang="en-CA" sz="1600" dirty="0"/>
              <a:t>OR = odds(</a:t>
            </a:r>
            <a:r>
              <a:rPr lang="en-CA" sz="1600" dirty="0" err="1"/>
              <a:t>Admit|M</a:t>
            </a:r>
            <a:r>
              <a:rPr lang="en-CA" sz="1600" dirty="0"/>
              <a:t>) / odds(</a:t>
            </a:r>
            <a:r>
              <a:rPr lang="en-CA" sz="1600" dirty="0" err="1"/>
              <a:t>Admit|F</a:t>
            </a:r>
            <a:r>
              <a:rPr lang="en-CA" sz="1600" dirty="0"/>
              <a:t>)</a:t>
            </a:r>
          </a:p>
          <a:p>
            <a:endParaRPr lang="en-CA" sz="1600" dirty="0"/>
          </a:p>
          <a:p>
            <a:r>
              <a:rPr lang="en-CA" sz="1600" dirty="0"/>
              <a:t>     </a:t>
            </a:r>
            <a:r>
              <a:rPr lang="en-CA" sz="1600" b="1" dirty="0"/>
              <a:t>OR = 1 </a:t>
            </a:r>
            <a:r>
              <a:rPr lang="en-CA" sz="1600" dirty="0">
                <a:sym typeface="Symbol" panose="05050102010706020507" pitchFamily="18" charset="2"/>
              </a:rPr>
              <a:t></a:t>
            </a:r>
            <a:r>
              <a:rPr lang="en-CA" sz="1600" dirty="0"/>
              <a:t> M/F equally likely admitted</a:t>
            </a:r>
          </a:p>
          <a:p>
            <a:endParaRPr lang="en-CA" sz="1600" dirty="0"/>
          </a:p>
          <a:p>
            <a:r>
              <a:rPr lang="en-CA" sz="1600" dirty="0"/>
              <a:t>     LOR = </a:t>
            </a:r>
            <a:r>
              <a:rPr lang="en-CA" sz="1600" b="1" dirty="0"/>
              <a:t>log(OR): 0 </a:t>
            </a:r>
            <a:r>
              <a:rPr lang="en-CA" sz="1600" dirty="0">
                <a:sym typeface="Symbol" panose="05050102010706020507" pitchFamily="18" charset="2"/>
              </a:rPr>
              <a:t></a:t>
            </a:r>
            <a:r>
              <a:rPr lang="en-CA" sz="1600" dirty="0"/>
              <a:t> M/F equally likely </a:t>
            </a:r>
          </a:p>
          <a:p>
            <a:r>
              <a:rPr lang="en-CA" sz="1600" dirty="0"/>
              <a:t>                admitted</a:t>
            </a:r>
          </a:p>
          <a:p>
            <a:endParaRPr lang="en-CA" sz="1600" dirty="0"/>
          </a:p>
          <a:p>
            <a:r>
              <a:rPr lang="en-CA" sz="1600" dirty="0"/>
              <a:t>Std errors &amp; CIs provide individual </a:t>
            </a:r>
            <a:r>
              <a:rPr lang="en-CA" sz="1600" dirty="0" err="1"/>
              <a:t>signif</a:t>
            </a:r>
            <a:r>
              <a:rPr lang="en-CA" sz="1600" dirty="0"/>
              <a:t> tests</a:t>
            </a:r>
          </a:p>
          <a:p>
            <a:endParaRPr lang="en-CA" sz="1600" dirty="0"/>
          </a:p>
          <a:p>
            <a:r>
              <a:rPr lang="en-CA" sz="1600" dirty="0"/>
              <a:t>Models provide a comprehensive summary</a:t>
            </a:r>
          </a:p>
          <a:p>
            <a:endParaRPr lang="en-CA" sz="1600" dirty="0"/>
          </a:p>
          <a:p>
            <a:r>
              <a:rPr lang="en-CA" sz="1600" dirty="0"/>
              <a:t>Now, we can tell the story ! </a:t>
            </a:r>
          </a:p>
        </p:txBody>
      </p:sp>
    </p:spTree>
    <p:extLst>
      <p:ext uri="{BB962C8B-B14F-4D97-AF65-F5344CB8AC3E}">
        <p14:creationId xmlns:p14="http://schemas.microsoft.com/office/powerpoint/2010/main" val="42210005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80FD2-2A9B-45B1-B56B-34BCFAD9B1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Graphical methods for categorical data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57AA84C-45C9-4F14-9CE7-CD1EA43611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70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D1F8E00-8E81-47AE-BA11-479D30E1CB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153" y="2030353"/>
            <a:ext cx="8209524" cy="161904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B9399D0-7CF6-4C9A-A8BB-4D7EB2FF30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524" y="4084615"/>
            <a:ext cx="8180952" cy="132381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BF456F3-7472-45E1-9ADE-9FB35EEC2F59}"/>
              </a:ext>
            </a:extLst>
          </p:cNvPr>
          <p:cNvSpPr txBox="1"/>
          <p:nvPr/>
        </p:nvSpPr>
        <p:spPr>
          <a:xfrm>
            <a:off x="457200" y="1143000"/>
            <a:ext cx="8229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These share similar ideas &amp; scope with methods for quantitative data</a:t>
            </a:r>
          </a:p>
        </p:txBody>
      </p:sp>
    </p:spTree>
    <p:extLst>
      <p:ext uri="{BB962C8B-B14F-4D97-AF65-F5344CB8AC3E}">
        <p14:creationId xmlns:p14="http://schemas.microsoft.com/office/powerpoint/2010/main" val="17295274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3C5F33-38DD-220B-3C91-DE72066B9E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Plots: Data, Model, </a:t>
            </a:r>
            <a:r>
              <a:rPr lang="en-CA" dirty="0" err="1"/>
              <a:t>Data+Model</a:t>
            </a:r>
            <a:endParaRPr lang="en-CA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7347F6C-6F2A-7AA9-1761-A6FD0E0754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CA" sz="2400" b="1" dirty="0">
                <a:solidFill>
                  <a:srgbClr val="0070C0"/>
                </a:solidFill>
              </a:rPr>
              <a:t>Data plots</a:t>
            </a:r>
            <a:r>
              <a:rPr lang="en-CA" sz="2400" dirty="0"/>
              <a:t>: well-known. Help to answer:</a:t>
            </a:r>
          </a:p>
          <a:p>
            <a:pPr lvl="1"/>
            <a:r>
              <a:rPr lang="en-CA" sz="2000" b="0" i="0" u="none" strike="noStrike" baseline="0" dirty="0">
                <a:latin typeface="NimbusSanL-Regu"/>
              </a:rPr>
              <a:t>What do the </a:t>
            </a:r>
            <a:r>
              <a:rPr lang="en-CA" sz="2000" b="1" i="0" u="none" strike="noStrike" baseline="0" dirty="0">
                <a:latin typeface="NimbusSanL-Regu"/>
              </a:rPr>
              <a:t>data</a:t>
            </a:r>
            <a:r>
              <a:rPr lang="en-CA" sz="2000" b="0" i="0" u="none" strike="noStrike" baseline="0" dirty="0">
                <a:latin typeface="NimbusSanL-Regu"/>
              </a:rPr>
              <a:t> look like?</a:t>
            </a:r>
          </a:p>
          <a:p>
            <a:pPr lvl="1"/>
            <a:r>
              <a:rPr lang="en-CA" sz="2000" dirty="0"/>
              <a:t>Are there unusual features? (outliers, non-linear relations)</a:t>
            </a:r>
          </a:p>
          <a:p>
            <a:pPr lvl="1"/>
            <a:r>
              <a:rPr lang="en-CA" sz="2000" dirty="0"/>
              <a:t>What kinds of summaries would be useful?</a:t>
            </a:r>
          </a:p>
          <a:p>
            <a:r>
              <a:rPr lang="en-CA" sz="2400" b="1" dirty="0">
                <a:solidFill>
                  <a:srgbClr val="0070C0"/>
                </a:solidFill>
              </a:rPr>
              <a:t>Model plots</a:t>
            </a:r>
          </a:p>
          <a:p>
            <a:pPr lvl="1"/>
            <a:r>
              <a:rPr lang="en-CA" sz="2000" dirty="0"/>
              <a:t>What does the </a:t>
            </a:r>
            <a:r>
              <a:rPr lang="en-CA" sz="2000" b="1" dirty="0"/>
              <a:t>model</a:t>
            </a:r>
            <a:r>
              <a:rPr lang="en-CA" sz="2000" dirty="0"/>
              <a:t> look like? (plot predicted values)</a:t>
            </a:r>
          </a:p>
          <a:p>
            <a:pPr lvl="1"/>
            <a:r>
              <a:rPr lang="en-CA" sz="2000" dirty="0"/>
              <a:t>How does the model change when parameters change? (plot competing models)</a:t>
            </a:r>
          </a:p>
          <a:p>
            <a:pPr lvl="1"/>
            <a:r>
              <a:rPr lang="en-CA" sz="2000" dirty="0"/>
              <a:t>How does the model change when the data is changed? (influence plots)</a:t>
            </a:r>
          </a:p>
          <a:p>
            <a:r>
              <a:rPr lang="en-CA" sz="2400" b="1" dirty="0" err="1">
                <a:solidFill>
                  <a:srgbClr val="0070C0"/>
                </a:solidFill>
              </a:rPr>
              <a:t>Data+Model</a:t>
            </a:r>
            <a:r>
              <a:rPr lang="en-CA" sz="2400" b="1" dirty="0">
                <a:solidFill>
                  <a:srgbClr val="0070C0"/>
                </a:solidFill>
              </a:rPr>
              <a:t> plots</a:t>
            </a:r>
          </a:p>
          <a:p>
            <a:pPr lvl="1"/>
            <a:r>
              <a:rPr lang="en-CA" sz="2000" dirty="0"/>
              <a:t>How well does model </a:t>
            </a:r>
            <a:r>
              <a:rPr lang="en-CA" sz="2000" b="1" dirty="0"/>
              <a:t>fit</a:t>
            </a:r>
            <a:r>
              <a:rPr lang="en-CA" sz="2000" dirty="0"/>
              <a:t> the data? (focus on residuals)</a:t>
            </a:r>
          </a:p>
          <a:p>
            <a:pPr lvl="1"/>
            <a:r>
              <a:rPr lang="en-CA" sz="2000" dirty="0"/>
              <a:t>Does model fit uniformly good/bad, or just in some regions?</a:t>
            </a:r>
          </a:p>
          <a:p>
            <a:pPr lvl="1"/>
            <a:r>
              <a:rPr lang="en-CA" sz="2000" dirty="0"/>
              <a:t>Model </a:t>
            </a:r>
            <a:r>
              <a:rPr lang="en-CA" sz="2000" b="1" dirty="0"/>
              <a:t>uncertainty</a:t>
            </a:r>
            <a:r>
              <a:rPr lang="en-CA" sz="2000" dirty="0"/>
              <a:t>: show confidence regions</a:t>
            </a:r>
          </a:p>
          <a:p>
            <a:pPr lvl="1"/>
            <a:r>
              <a:rPr lang="en-CA" sz="2000" dirty="0"/>
              <a:t>Data support: where is data too thin to make a difference?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5C17650-B17A-A52E-B362-2E78785A42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96796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1000" fill="hold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1000" fill="hold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7C5B4-6FAE-4F4C-82AC-02DE3D3E65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Summary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3917C25-B2AC-4956-ABDD-330428334BFC}"/>
              </a:ext>
            </a:extLst>
          </p:cNvPr>
          <p:cNvSpPr>
            <a:spLocks noGrp="1"/>
          </p:cNvSpPr>
          <p:nvPr>
            <p:ph idx="1"/>
          </p:nvPr>
        </p:nvSpPr>
        <p:spPr>
          <a:solidFill>
            <a:schemeClr val="accent5">
              <a:lumMod val="20000"/>
              <a:lumOff val="80000"/>
            </a:schemeClr>
          </a:solidFill>
        </p:spPr>
        <p:txBody>
          <a:bodyPr>
            <a:normAutofit lnSpcReduction="10000"/>
          </a:bodyPr>
          <a:lstStyle/>
          <a:p>
            <a:r>
              <a:rPr lang="en-US" dirty="0"/>
              <a:t>Categorical data involves some new ideas</a:t>
            </a:r>
          </a:p>
          <a:p>
            <a:pPr lvl="1"/>
            <a:r>
              <a:rPr lang="en-US" dirty="0"/>
              <a:t>Discrete variables: </a:t>
            </a:r>
            <a:r>
              <a:rPr lang="en-US" dirty="0">
                <a:solidFill>
                  <a:srgbClr val="0070C0"/>
                </a:solidFill>
              </a:rPr>
              <a:t>unordered</a:t>
            </a:r>
            <a:r>
              <a:rPr lang="en-US" dirty="0"/>
              <a:t> or </a:t>
            </a:r>
            <a:r>
              <a:rPr lang="en-US" dirty="0">
                <a:solidFill>
                  <a:srgbClr val="0070C0"/>
                </a:solidFill>
              </a:rPr>
              <a:t>ordered</a:t>
            </a:r>
          </a:p>
          <a:p>
            <a:pPr lvl="1"/>
            <a:r>
              <a:rPr lang="en-US" dirty="0"/>
              <a:t>Counts, frequencies as outcomes</a:t>
            </a:r>
          </a:p>
          <a:p>
            <a:r>
              <a:rPr lang="en-US" dirty="0"/>
              <a:t>New / different data structures &amp; functions</a:t>
            </a:r>
          </a:p>
          <a:p>
            <a:pPr lvl="1"/>
            <a:r>
              <a:rPr lang="en-US" dirty="0"/>
              <a:t>tables – 1-way, 2-way, 3-way, …  </a:t>
            </a:r>
            <a:r>
              <a:rPr lang="en-US" sz="20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table(), </a:t>
            </a:r>
            <a:r>
              <a:rPr lang="en-US" sz="2000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xtabs</a:t>
            </a:r>
            <a:r>
              <a:rPr lang="en-US" sz="20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dirty="0"/>
              <a:t>similar in matrices or arrays        </a:t>
            </a:r>
            <a:r>
              <a:rPr lang="en-US" sz="20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matrix(), array()</a:t>
            </a:r>
          </a:p>
          <a:p>
            <a:pPr lvl="1"/>
            <a:r>
              <a:rPr lang="en-US" dirty="0"/>
              <a:t>datasets:</a:t>
            </a:r>
          </a:p>
          <a:p>
            <a:pPr lvl="2"/>
            <a:r>
              <a:rPr lang="en-US" dirty="0"/>
              <a:t>frequency form</a:t>
            </a:r>
          </a:p>
          <a:p>
            <a:pPr lvl="2"/>
            <a:r>
              <a:rPr lang="en-US" dirty="0"/>
              <a:t>case form</a:t>
            </a:r>
          </a:p>
          <a:p>
            <a:r>
              <a:rPr lang="en-US" dirty="0"/>
              <a:t>Graphical methods: often use area ~ Freq</a:t>
            </a:r>
          </a:p>
          <a:p>
            <a:pPr lvl="1"/>
            <a:r>
              <a:rPr lang="en-US" dirty="0"/>
              <a:t>Consider: graphical comparisons, effect order</a:t>
            </a:r>
          </a:p>
          <a:p>
            <a:r>
              <a:rPr lang="en-US" dirty="0"/>
              <a:t>Models: Most are </a:t>
            </a:r>
            <a:r>
              <a:rPr lang="en-US" dirty="0">
                <a:sym typeface="Symbol" panose="05050102010706020507" pitchFamily="18" charset="2"/>
              </a:rPr>
              <a:t> </a:t>
            </a:r>
            <a:r>
              <a:rPr lang="en-US" dirty="0"/>
              <a:t>natural extensions of </a:t>
            </a:r>
            <a:r>
              <a:rPr lang="en-US" dirty="0" err="1"/>
              <a:t>lm</a:t>
            </a:r>
            <a:r>
              <a:rPr lang="en-US" dirty="0"/>
              <a:t>()</a:t>
            </a:r>
          </a:p>
          <a:p>
            <a:pPr lvl="1"/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9A88EB6-F677-41DA-A4CB-C57D5EBE38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28393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lnDef>
      <a:spPr>
        <a:ln w="25400">
          <a:solidFill>
            <a:srgbClr val="FF0000"/>
          </a:solidFill>
          <a:tailEnd type="stealth" w="lg" len="lg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15302</TotalTime>
  <Words>4773</Words>
  <Application>Microsoft Office PowerPoint</Application>
  <PresentationFormat>On-screen Show (4:3)</PresentationFormat>
  <Paragraphs>706</Paragraphs>
  <Slides>72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72</vt:i4>
      </vt:variant>
    </vt:vector>
  </HeadingPairs>
  <TitlesOfParts>
    <vt:vector size="79" baseType="lpstr">
      <vt:lpstr>Arial</vt:lpstr>
      <vt:lpstr>Calibri</vt:lpstr>
      <vt:lpstr>Courier New</vt:lpstr>
      <vt:lpstr>NimbusSanL-Regu</vt:lpstr>
      <vt:lpstr>Symbol</vt:lpstr>
      <vt:lpstr>Wingdings</vt:lpstr>
      <vt:lpstr>1_Office Theme</vt:lpstr>
      <vt:lpstr>Categorical Data Analysis Course overview</vt:lpstr>
      <vt:lpstr>Course goals</vt:lpstr>
      <vt:lpstr>Course outline</vt:lpstr>
      <vt:lpstr>Schedule</vt:lpstr>
      <vt:lpstr>Textbooks</vt:lpstr>
      <vt:lpstr>Textbooks</vt:lpstr>
      <vt:lpstr>Expectations &amp; grading</vt:lpstr>
      <vt:lpstr>The R you need</vt:lpstr>
      <vt:lpstr>Make your life easier: my6136</vt:lpstr>
      <vt:lpstr>PowerPoint Presentation</vt:lpstr>
      <vt:lpstr>Categorical data analysis: History</vt:lpstr>
      <vt:lpstr>What are categorical variables?</vt:lpstr>
      <vt:lpstr>Categorical data: Structures</vt:lpstr>
      <vt:lpstr>1-way tables: Unordered</vt:lpstr>
      <vt:lpstr>1-way tables</vt:lpstr>
      <vt:lpstr>1-way tables: Ordered</vt:lpstr>
      <vt:lpstr>1-way tables: graphs</vt:lpstr>
      <vt:lpstr>2-way tables: 2 × 2 × …</vt:lpstr>
      <vt:lpstr>Larger tables: r × c × …</vt:lpstr>
      <vt:lpstr>Larger tables</vt:lpstr>
      <vt:lpstr>Table form</vt:lpstr>
      <vt:lpstr>Table form: Tools</vt:lpstr>
      <vt:lpstr>Datasets: frequency form</vt:lpstr>
      <vt:lpstr>Datasets: case form</vt:lpstr>
      <vt:lpstr>Converting data forms</vt:lpstr>
      <vt:lpstr>Categorical data analysis: Methods</vt:lpstr>
      <vt:lpstr>Categorical data analysis: Methods</vt:lpstr>
      <vt:lpstr>Categorical data analysis: Methods</vt:lpstr>
      <vt:lpstr>Models: Response vs. Association</vt:lpstr>
      <vt:lpstr>Models: Response vs. Association</vt:lpstr>
      <vt:lpstr>Response models</vt:lpstr>
      <vt:lpstr>Response models</vt:lpstr>
      <vt:lpstr>Data display: Tables vs. Graphs</vt:lpstr>
      <vt:lpstr>Graphical methods: Communication goals</vt:lpstr>
      <vt:lpstr>Graphical methods: Presentation goals</vt:lpstr>
      <vt:lpstr>Graphical methods: Quantitative data</vt:lpstr>
      <vt:lpstr>Graphical methods: Categorical data</vt:lpstr>
      <vt:lpstr>Categorical data: Parallel coordinates plot</vt:lpstr>
      <vt:lpstr>Effective data display</vt:lpstr>
      <vt:lpstr>Facilitate comparison</vt:lpstr>
      <vt:lpstr>Make comparisons direct</vt:lpstr>
      <vt:lpstr>Direct labels vs. legends</vt:lpstr>
      <vt:lpstr>Effect ordering</vt:lpstr>
      <vt:lpstr>Effect Ordering: Correlations</vt:lpstr>
      <vt:lpstr>Tabular displays: Alpha ordering</vt:lpstr>
      <vt:lpstr>Tabular displays: Main effect ordering</vt:lpstr>
      <vt:lpstr>Effect ordering: Frequency tables</vt:lpstr>
      <vt:lpstr>Effect ordering: Frequency tables</vt:lpstr>
      <vt:lpstr>PowerPoint Presentation</vt:lpstr>
      <vt:lpstr>Sometimes, don’t need numbers at all</vt:lpstr>
      <vt:lpstr>Visual table ideas: Heatmap shading</vt:lpstr>
      <vt:lpstr>Bertifier: Turning tables into graphs</vt:lpstr>
      <vt:lpstr>Example: Household tasks</vt:lpstr>
      <vt:lpstr>PowerPoint Presentation</vt:lpstr>
      <vt:lpstr>Novel graphic ideas: Likert scales</vt:lpstr>
      <vt:lpstr>Likert scales: Show the trend</vt:lpstr>
      <vt:lpstr>Graphical annotation?</vt:lpstr>
      <vt:lpstr>Pies with too many slices</vt:lpstr>
      <vt:lpstr>Hierarchical data: Sankey diagram</vt:lpstr>
      <vt:lpstr>Comparisons charts</vt:lpstr>
      <vt:lpstr>Fancy, semi-graphic tables</vt:lpstr>
      <vt:lpstr>Data, pictures, models &amp; stories</vt:lpstr>
      <vt:lpstr>Data, pictures, models &amp; stories</vt:lpstr>
      <vt:lpstr>Data, pictures, models &amp; stories</vt:lpstr>
      <vt:lpstr>Gender Bias at UC Berkeley?</vt:lpstr>
      <vt:lpstr>2 × 2 Frequency Tables: Fourfold displays</vt:lpstr>
      <vt:lpstr>2 × 2 × k Stratified tables</vt:lpstr>
      <vt:lpstr>Mosaic matrices</vt:lpstr>
      <vt:lpstr>Measures &amp; models</vt:lpstr>
      <vt:lpstr>Graphical methods for categorical data</vt:lpstr>
      <vt:lpstr>Plots: Data, Model, Data+Model</vt:lpstr>
      <vt:lpstr>Summary</vt:lpstr>
    </vt:vector>
  </TitlesOfParts>
  <Company>YORK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01-Overview</dc:title>
  <dc:creator>Michael Friendly</dc:creator>
  <cp:lastModifiedBy>Michael L Friendly</cp:lastModifiedBy>
  <cp:revision>155</cp:revision>
  <dcterms:created xsi:type="dcterms:W3CDTF">2017-10-14T20:35:56Z</dcterms:created>
  <dcterms:modified xsi:type="dcterms:W3CDTF">2026-01-08T16:10:25Z</dcterms:modified>
</cp:coreProperties>
</file>