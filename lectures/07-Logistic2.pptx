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handoutMasterIdLst>
    <p:handoutMasterId r:id="rId66"/>
  </p:handoutMasterIdLst>
  <p:sldIdLst>
    <p:sldId id="256" r:id="rId2"/>
    <p:sldId id="257" r:id="rId3"/>
    <p:sldId id="258" r:id="rId4"/>
    <p:sldId id="259" r:id="rId5"/>
    <p:sldId id="260" r:id="rId6"/>
    <p:sldId id="314" r:id="rId7"/>
    <p:sldId id="313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322" r:id="rId19"/>
    <p:sldId id="311" r:id="rId20"/>
    <p:sldId id="274" r:id="rId21"/>
    <p:sldId id="272" r:id="rId22"/>
    <p:sldId id="273" r:id="rId23"/>
    <p:sldId id="275" r:id="rId24"/>
    <p:sldId id="276" r:id="rId25"/>
    <p:sldId id="277" r:id="rId26"/>
    <p:sldId id="278" r:id="rId27"/>
    <p:sldId id="282" r:id="rId28"/>
    <p:sldId id="279" r:id="rId29"/>
    <p:sldId id="280" r:id="rId30"/>
    <p:sldId id="281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300" r:id="rId43"/>
    <p:sldId id="294" r:id="rId44"/>
    <p:sldId id="295" r:id="rId45"/>
    <p:sldId id="296" r:id="rId46"/>
    <p:sldId id="315" r:id="rId47"/>
    <p:sldId id="316" r:id="rId48"/>
    <p:sldId id="318" r:id="rId49"/>
    <p:sldId id="317" r:id="rId50"/>
    <p:sldId id="319" r:id="rId51"/>
    <p:sldId id="297" r:id="rId52"/>
    <p:sldId id="298" r:id="rId53"/>
    <p:sldId id="299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50DC24-E3DB-41A4-A511-D271B8B9CAE5}">
          <p14:sldIdLst>
            <p14:sldId id="256"/>
            <p14:sldId id="257"/>
            <p14:sldId id="258"/>
            <p14:sldId id="259"/>
            <p14:sldId id="260"/>
          </p14:sldIdLst>
        </p14:section>
        <p14:section name="Fitting-graphing" id="{70BD3037-E328-4ED9-B036-2FE74A1D1CED}">
          <p14:sldIdLst>
            <p14:sldId id="314"/>
            <p14:sldId id="313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Polytomous responses" id="{A5C92633-AE48-4FD0-8BB6-F3A2279F7AF7}">
          <p14:sldIdLst>
            <p14:sldId id="322"/>
            <p14:sldId id="311"/>
            <p14:sldId id="274"/>
            <p14:sldId id="272"/>
            <p14:sldId id="273"/>
            <p14:sldId id="275"/>
            <p14:sldId id="276"/>
            <p14:sldId id="277"/>
            <p14:sldId id="278"/>
            <p14:sldId id="282"/>
            <p14:sldId id="279"/>
            <p14:sldId id="280"/>
            <p14:sldId id="281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Nested dichotomies" id="{99165A99-0DC7-4206-BBD6-CFCB430DFE52}">
          <p14:sldIdLst>
            <p14:sldId id="289"/>
            <p14:sldId id="290"/>
            <p14:sldId id="291"/>
            <p14:sldId id="292"/>
            <p14:sldId id="293"/>
            <p14:sldId id="300"/>
            <p14:sldId id="294"/>
            <p14:sldId id="295"/>
            <p14:sldId id="296"/>
          </p14:sldIdLst>
        </p14:section>
        <p14:section name="nestedLogit" id="{ADED7A43-F061-4D71-8F4E-74C51637865D}">
          <p14:sldIdLst>
            <p14:sldId id="315"/>
            <p14:sldId id="316"/>
            <p14:sldId id="318"/>
            <p14:sldId id="317"/>
            <p14:sldId id="319"/>
          </p14:sldIdLst>
        </p14:section>
        <p14:section name="Multinomial" id="{03AA7566-CE9A-44CE-880F-845BA9401705}">
          <p14:sldIdLst>
            <p14:sldId id="297"/>
            <p14:sldId id="298"/>
            <p14:sldId id="299"/>
            <p14:sldId id="301"/>
            <p14:sldId id="302"/>
            <p14:sldId id="303"/>
            <p14:sldId id="304"/>
          </p14:sldIdLst>
        </p14:section>
        <p14:section name="BEPS example" id="{90B719CF-33A9-449A-9A9F-7A0C3259DD7B}">
          <p14:sldIdLst>
            <p14:sldId id="305"/>
            <p14:sldId id="306"/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79" autoAdjust="0"/>
  </p:normalViewPr>
  <p:slideViewPr>
    <p:cSldViewPr>
      <p:cViewPr varScale="1">
        <p:scale>
          <a:sx n="86" d="100"/>
          <a:sy n="86" d="100"/>
        </p:scale>
        <p:origin x="89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30F5D-10B8-4238-BD6F-EA68B288CB94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8FFF3-B273-4201-928A-4A714C8B27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657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This is a case study, designed to illustrate the ideas behind logistic regression I covered in the last lecture</a:t>
            </a:r>
          </a:p>
          <a:p>
            <a:endParaRPr lang="en-CA" dirty="0"/>
          </a:p>
          <a:p>
            <a:r>
              <a:rPr lang="en-CA" dirty="0"/>
              <a:t>It is the story of a group of families, led by George Donner, who set out in 1846 to seek their fortune in the American West.</a:t>
            </a:r>
          </a:p>
          <a:p>
            <a:r>
              <a:rPr lang="en-CA" dirty="0"/>
              <a:t>87 people travelled across the open plains in 23 covered wagons.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FFF3-B273-4201-928A-4A714C8B273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2701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route to CA through the Sierra Nevada mountains was largely unknown. They relied on Lansford Hasting to guide them, a choice that proved disastrous.</a:t>
            </a:r>
          </a:p>
          <a:p>
            <a:endParaRPr lang="en-CA" dirty="0"/>
          </a:p>
          <a:p>
            <a:r>
              <a:rPr lang="en-CA" dirty="0"/>
              <a:t>In October 1846 the worst recorded blizzard struck and they were stranded, just below what is now called the Donner Pass near Lake Tahoe &amp; Reno NV.</a:t>
            </a:r>
          </a:p>
          <a:p>
            <a:endParaRPr lang="en-CA" dirty="0"/>
          </a:p>
          <a:p>
            <a:r>
              <a:rPr lang="en-CA" dirty="0"/>
              <a:t>By the time they were finally rescued in in the following March, 47 had died, and there was evidence that the 42 who survived had resorted to cannibalism.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FFF3-B273-4201-928A-4A714C8B273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462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mod1 and mod2 are both linear in age.</a:t>
            </a:r>
          </a:p>
          <a:p>
            <a:r>
              <a:rPr lang="en-CA" dirty="0"/>
              <a:t>Mod3 and mod4 are both quadratic in 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FFF3-B273-4201-928A-4A714C8B273E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5800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 should have done a full range of diagnostic plots, but with a modest sample size it is particularly important to check for influential observations.</a:t>
            </a:r>
          </a:p>
          <a:p>
            <a:endParaRPr lang="en-CA" dirty="0"/>
          </a:p>
          <a:p>
            <a:r>
              <a:rPr lang="en-CA" dirty="0"/>
              <a:t>I should also have done this with mod4, not mod3 (a slip)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FFF3-B273-4201-928A-4A714C8B273E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004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FFF3-B273-4201-928A-4A714C8B273E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6958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FFF3-B273-4201-928A-4A714C8B273E}" type="slidenum">
              <a:rPr lang="en-CA" smtClean="0"/>
              <a:t>58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13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psy6136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psy6136/R/wlf-nested.R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nestedLogit/articles/plotting-ggplot.html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76600"/>
            <a:ext cx="7772400" cy="860425"/>
          </a:xfrm>
        </p:spPr>
        <p:txBody>
          <a:bodyPr/>
          <a:lstStyle/>
          <a:p>
            <a:r>
              <a:rPr lang="en-US" dirty="0"/>
              <a:t>Logistic regression: Extensions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F9EAF6B1-2A4E-8EEF-4AD7-7B5AD28031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57200"/>
            <a:ext cx="8412480" cy="24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F435-D84C-4CC9-9308-9F0283D3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Donner party: A graphic tale of survival &amp; influence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440A-CE96-4139-8B04-85D93318A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21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History:</a:t>
            </a:r>
          </a:p>
          <a:p>
            <a:r>
              <a:rPr lang="en-US" sz="2000" dirty="0"/>
              <a:t>Apr—May, 1846: Donner/Reed families set out from Springfield, IL to CA</a:t>
            </a:r>
          </a:p>
          <a:p>
            <a:r>
              <a:rPr lang="en-US" sz="2000" dirty="0"/>
              <a:t>July: Reach Bridger’s Fort WY: 87 people, 23 wagons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D83EF-F62F-478E-A277-38B7B558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DDB19F-DAFA-4BE9-803B-196EC3C9A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384898"/>
            <a:ext cx="6705600" cy="453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6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F435-D84C-4CC9-9308-9F0283D3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Donner party: A graphic tale of survival &amp; influence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440A-CE96-4139-8B04-85D93318A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831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History:</a:t>
            </a:r>
          </a:p>
          <a:p>
            <a:r>
              <a:rPr lang="en-US" sz="2000" dirty="0"/>
              <a:t>“Hastings cutoff”: an untried route through Salt Lake desert (90 people)</a:t>
            </a:r>
          </a:p>
          <a:p>
            <a:r>
              <a:rPr lang="en-US" sz="2000" dirty="0"/>
              <a:t>Worst recorded winter: Oct 31 blizzard; stranded at Truckee Lake (nr Reno)</a:t>
            </a:r>
          </a:p>
          <a:p>
            <a:pPr lvl="1"/>
            <a:r>
              <a:rPr lang="en-US" sz="1600" dirty="0"/>
              <a:t>Rescue parties sent out (“Dire necessity”, “</a:t>
            </a:r>
            <a:r>
              <a:rPr lang="en-US" sz="1600" dirty="0" err="1"/>
              <a:t>Forelorn</a:t>
            </a:r>
            <a:r>
              <a:rPr lang="en-US" sz="1600" dirty="0"/>
              <a:t> hope”, …)</a:t>
            </a:r>
          </a:p>
          <a:p>
            <a:pPr lvl="1"/>
            <a:r>
              <a:rPr lang="en-US" sz="1600" dirty="0"/>
              <a:t>Relief parties from CA: 42 survivors (Mar—Apr 1847)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D83EF-F62F-478E-A277-38B7B558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DDB19F-DAFA-4BE9-803B-196EC3C9A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249124"/>
            <a:ext cx="5333999" cy="36088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1AA058-CDFC-4FD6-B829-919B60AF755B}"/>
              </a:ext>
            </a:extLst>
          </p:cNvPr>
          <p:cNvSpPr txBox="1"/>
          <p:nvPr/>
        </p:nvSpPr>
        <p:spPr>
          <a:xfrm>
            <a:off x="6477000" y="3505200"/>
            <a:ext cx="2133600" cy="1477328"/>
          </a:xfrm>
          <a:custGeom>
            <a:avLst/>
            <a:gdLst>
              <a:gd name="csX0" fmla="*/ 0 w 2133600"/>
              <a:gd name="csY0" fmla="*/ 0 h 1477328"/>
              <a:gd name="csX1" fmla="*/ 576072 w 2133600"/>
              <a:gd name="csY1" fmla="*/ 0 h 1477328"/>
              <a:gd name="csX2" fmla="*/ 1130808 w 2133600"/>
              <a:gd name="csY2" fmla="*/ 0 h 1477328"/>
              <a:gd name="csX3" fmla="*/ 2133600 w 2133600"/>
              <a:gd name="csY3" fmla="*/ 0 h 1477328"/>
              <a:gd name="csX4" fmla="*/ 2133600 w 2133600"/>
              <a:gd name="csY4" fmla="*/ 448123 h 1477328"/>
              <a:gd name="csX5" fmla="*/ 2133600 w 2133600"/>
              <a:gd name="csY5" fmla="*/ 970112 h 1477328"/>
              <a:gd name="csX6" fmla="*/ 2133600 w 2133600"/>
              <a:gd name="csY6" fmla="*/ 1477328 h 1477328"/>
              <a:gd name="csX7" fmla="*/ 1642872 w 2133600"/>
              <a:gd name="csY7" fmla="*/ 1477328 h 1477328"/>
              <a:gd name="csX8" fmla="*/ 1130808 w 2133600"/>
              <a:gd name="csY8" fmla="*/ 1477328 h 1477328"/>
              <a:gd name="csX9" fmla="*/ 661416 w 2133600"/>
              <a:gd name="csY9" fmla="*/ 1477328 h 1477328"/>
              <a:gd name="csX10" fmla="*/ 0 w 2133600"/>
              <a:gd name="csY10" fmla="*/ 1477328 h 1477328"/>
              <a:gd name="csX11" fmla="*/ 0 w 2133600"/>
              <a:gd name="csY11" fmla="*/ 970112 h 1477328"/>
              <a:gd name="csX12" fmla="*/ 0 w 2133600"/>
              <a:gd name="csY12" fmla="*/ 521989 h 1477328"/>
              <a:gd name="csX13" fmla="*/ 0 w 2133600"/>
              <a:gd name="csY13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33600" h="1477328" fill="none" extrusionOk="0">
                <a:moveTo>
                  <a:pt x="0" y="0"/>
                </a:moveTo>
                <a:cubicBezTo>
                  <a:pt x="180657" y="-18429"/>
                  <a:pt x="439903" y="44959"/>
                  <a:pt x="576072" y="0"/>
                </a:cubicBezTo>
                <a:cubicBezTo>
                  <a:pt x="712241" y="-44959"/>
                  <a:pt x="914709" y="33074"/>
                  <a:pt x="1130808" y="0"/>
                </a:cubicBezTo>
                <a:cubicBezTo>
                  <a:pt x="1346907" y="-33074"/>
                  <a:pt x="1905333" y="44573"/>
                  <a:pt x="2133600" y="0"/>
                </a:cubicBezTo>
                <a:cubicBezTo>
                  <a:pt x="2165303" y="150156"/>
                  <a:pt x="2096098" y="339151"/>
                  <a:pt x="2133600" y="448123"/>
                </a:cubicBezTo>
                <a:cubicBezTo>
                  <a:pt x="2171102" y="557095"/>
                  <a:pt x="2111122" y="817030"/>
                  <a:pt x="2133600" y="970112"/>
                </a:cubicBezTo>
                <a:cubicBezTo>
                  <a:pt x="2156078" y="1123194"/>
                  <a:pt x="2113114" y="1249934"/>
                  <a:pt x="2133600" y="1477328"/>
                </a:cubicBezTo>
                <a:cubicBezTo>
                  <a:pt x="1903478" y="1530289"/>
                  <a:pt x="1870650" y="1442134"/>
                  <a:pt x="1642872" y="1477328"/>
                </a:cubicBezTo>
                <a:cubicBezTo>
                  <a:pt x="1415094" y="1512522"/>
                  <a:pt x="1258962" y="1469061"/>
                  <a:pt x="1130808" y="1477328"/>
                </a:cubicBezTo>
                <a:cubicBezTo>
                  <a:pt x="1002654" y="1485595"/>
                  <a:pt x="806968" y="1427082"/>
                  <a:pt x="661416" y="1477328"/>
                </a:cubicBezTo>
                <a:cubicBezTo>
                  <a:pt x="515864" y="1527574"/>
                  <a:pt x="311161" y="1412974"/>
                  <a:pt x="0" y="1477328"/>
                </a:cubicBezTo>
                <a:cubicBezTo>
                  <a:pt x="-3136" y="1325210"/>
                  <a:pt x="52452" y="1088800"/>
                  <a:pt x="0" y="970112"/>
                </a:cubicBezTo>
                <a:cubicBezTo>
                  <a:pt x="-52452" y="851424"/>
                  <a:pt x="18721" y="729221"/>
                  <a:pt x="0" y="521989"/>
                </a:cubicBezTo>
                <a:cubicBezTo>
                  <a:pt x="-18721" y="314757"/>
                  <a:pt x="16402" y="167408"/>
                  <a:pt x="0" y="0"/>
                </a:cubicBezTo>
                <a:close/>
              </a:path>
              <a:path w="2133600" h="1477328" stroke="0" extrusionOk="0">
                <a:moveTo>
                  <a:pt x="0" y="0"/>
                </a:moveTo>
                <a:cubicBezTo>
                  <a:pt x="147793" y="-53575"/>
                  <a:pt x="366857" y="44195"/>
                  <a:pt x="512064" y="0"/>
                </a:cubicBezTo>
                <a:cubicBezTo>
                  <a:pt x="657271" y="-44195"/>
                  <a:pt x="803525" y="40401"/>
                  <a:pt x="981456" y="0"/>
                </a:cubicBezTo>
                <a:cubicBezTo>
                  <a:pt x="1159387" y="-40401"/>
                  <a:pt x="1295124" y="52911"/>
                  <a:pt x="1557528" y="0"/>
                </a:cubicBezTo>
                <a:cubicBezTo>
                  <a:pt x="1819932" y="-52911"/>
                  <a:pt x="1891227" y="44002"/>
                  <a:pt x="2133600" y="0"/>
                </a:cubicBezTo>
                <a:cubicBezTo>
                  <a:pt x="2177073" y="161838"/>
                  <a:pt x="2112885" y="314693"/>
                  <a:pt x="2133600" y="477669"/>
                </a:cubicBezTo>
                <a:cubicBezTo>
                  <a:pt x="2154315" y="640645"/>
                  <a:pt x="2105786" y="778956"/>
                  <a:pt x="2133600" y="940565"/>
                </a:cubicBezTo>
                <a:cubicBezTo>
                  <a:pt x="2161414" y="1102174"/>
                  <a:pt x="2124317" y="1260170"/>
                  <a:pt x="2133600" y="1477328"/>
                </a:cubicBezTo>
                <a:cubicBezTo>
                  <a:pt x="1928145" y="1488207"/>
                  <a:pt x="1856732" y="1424021"/>
                  <a:pt x="1600200" y="1477328"/>
                </a:cubicBezTo>
                <a:cubicBezTo>
                  <a:pt x="1343668" y="1530635"/>
                  <a:pt x="1251883" y="1435601"/>
                  <a:pt x="1130808" y="1477328"/>
                </a:cubicBezTo>
                <a:cubicBezTo>
                  <a:pt x="1009733" y="1519055"/>
                  <a:pt x="839039" y="1449330"/>
                  <a:pt x="597408" y="1477328"/>
                </a:cubicBezTo>
                <a:cubicBezTo>
                  <a:pt x="355777" y="1505326"/>
                  <a:pt x="275343" y="1424010"/>
                  <a:pt x="0" y="1477328"/>
                </a:cubicBezTo>
                <a:cubicBezTo>
                  <a:pt x="-12584" y="1303871"/>
                  <a:pt x="18280" y="1135968"/>
                  <a:pt x="0" y="999659"/>
                </a:cubicBezTo>
                <a:cubicBezTo>
                  <a:pt x="-18280" y="863350"/>
                  <a:pt x="19781" y="664233"/>
                  <a:pt x="0" y="521989"/>
                </a:cubicBezTo>
                <a:cubicBezTo>
                  <a:pt x="-19781" y="379745"/>
                  <a:pt x="31329" y="207288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Who lived? Who died?</a:t>
            </a:r>
          </a:p>
          <a:p>
            <a:endParaRPr lang="en-US" dirty="0"/>
          </a:p>
          <a:p>
            <a:r>
              <a:rPr lang="en-US" dirty="0"/>
              <a:t>Can we explain w/ logistic regression?</a:t>
            </a:r>
          </a:p>
        </p:txBody>
      </p:sp>
    </p:spTree>
    <p:extLst>
      <p:ext uri="{BB962C8B-B14F-4D97-AF65-F5344CB8AC3E}">
        <p14:creationId xmlns:p14="http://schemas.microsoft.com/office/powerpoint/2010/main" val="251246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B007D8-21ED-4C3C-A63B-A61484B5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Donner party: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72B7C-CFB3-439C-8E7D-DEE023F8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EA71A-A9EB-4195-89F8-B238CE1FFC0F}"/>
              </a:ext>
            </a:extLst>
          </p:cNvPr>
          <p:cNvSpPr txBox="1"/>
          <p:nvPr/>
        </p:nvSpPr>
        <p:spPr>
          <a:xfrm>
            <a:off x="457200" y="1295400"/>
            <a:ext cx="82296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data("Donner", package="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Donner$survived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factor(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Donner$survived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        labels=c("no", "yes"))</a:t>
            </a:r>
          </a:p>
          <a:p>
            <a:endParaRPr lang="en-US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car::some(Donner, 8)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  family age    sex survived      death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Breen, Peter           Breen   3   Male      yes       &lt;NA&gt;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Donner, Jacob         Donner  65   Male       no 1846-12-21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Foster, Jeremiah 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MurFosPik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1   Male       no 1847-03-13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Graves, Nancy         Graves   9 Female      yes       &lt;NA&gt;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McCutchen, Harriet McCutchen   1 Female       no 1847-02-02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Reed, James             Reed  46   Male      yes       &lt;NA&gt;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Reinhardt, Joseph      Other  30   Male       no 1846-12-21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Wolfinger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Doris  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FosdWolf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20 Female      yes       &lt;NA&gt;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009FE1-FEEB-42C3-3418-144B2BDA4769}"/>
              </a:ext>
            </a:extLst>
          </p:cNvPr>
          <p:cNvSpPr txBox="1"/>
          <p:nvPr/>
        </p:nvSpPr>
        <p:spPr>
          <a:xfrm>
            <a:off x="533400" y="5399782"/>
            <a:ext cx="81534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xtabs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(~fam)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fam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Breen    Donner     Other    Graves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MurFosPik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Reed 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9        14        38        10        12         7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8D788-C53B-98F4-4D4C-05230CD5849D}"/>
              </a:ext>
            </a:extLst>
          </p:cNvPr>
          <p:cNvSpPr txBox="1"/>
          <p:nvPr/>
        </p:nvSpPr>
        <p:spPr>
          <a:xfrm>
            <a:off x="533400" y="49530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 recoded some families</a:t>
            </a:r>
          </a:p>
        </p:txBody>
      </p:sp>
    </p:spTree>
    <p:extLst>
      <p:ext uri="{BB962C8B-B14F-4D97-AF65-F5344CB8AC3E}">
        <p14:creationId xmlns:p14="http://schemas.microsoft.com/office/powerpoint/2010/main" val="2044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9D44-A638-439F-A229-EDC044E5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Overview: a </a:t>
            </a:r>
            <a:r>
              <a:rPr lang="en-US" dirty="0" err="1"/>
              <a:t>gpairs</a:t>
            </a:r>
            <a:r>
              <a:rPr lang="en-US" dirty="0"/>
              <a:t>()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8AB31-84BC-4C0F-8D0B-F4B897DE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8D758-DC33-43BE-AC01-9E29A45675AB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generalized pairs plot </a:t>
            </a:r>
            <a:r>
              <a:rPr lang="en-US" dirty="0"/>
              <a:t>uses different plot types for pairs of continuous, discrete variables. This plot uses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ggpairs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gpairs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9FD56-4BB7-4740-ACA3-9AA47BB12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226238"/>
            <a:ext cx="4389120" cy="4262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0EC5EE-91AD-4F03-AC30-28189F108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249" y="2514600"/>
            <a:ext cx="4028127" cy="207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3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3094E-0DEC-68B6-5332-6112C49A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C9B2C3B-3B62-E226-CB90-DF540E52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28600"/>
            <a:ext cx="4419601" cy="1676400"/>
          </a:xfrm>
        </p:spPr>
        <p:txBody>
          <a:bodyPr>
            <a:normAutofit/>
          </a:bodyPr>
          <a:lstStyle/>
          <a:p>
            <a:r>
              <a:rPr lang="en-CA" dirty="0"/>
              <a:t>The Age-old Question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26301-80D3-584A-14E4-5A71B4E5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615BDD-9AEC-AD2E-DA09-E0DBD1E79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57" y="228600"/>
            <a:ext cx="3590476" cy="2685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CAB85F-7F9E-77C8-0761-84D385D37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276" y="3200400"/>
            <a:ext cx="3609524" cy="2695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74B2EF-CADE-B8FF-87BF-3187E981B679}"/>
              </a:ext>
            </a:extLst>
          </p:cNvPr>
          <p:cNvSpPr txBox="1"/>
          <p:nvPr/>
        </p:nvSpPr>
        <p:spPr>
          <a:xfrm>
            <a:off x="381000" y="2438400"/>
            <a:ext cx="4572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No need to choose: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Graphing data and fitting models is an iterative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We can do both together with suitable displays</a:t>
            </a:r>
          </a:p>
        </p:txBody>
      </p:sp>
    </p:spTree>
    <p:extLst>
      <p:ext uri="{BB962C8B-B14F-4D97-AF65-F5344CB8AC3E}">
        <p14:creationId xmlns:p14="http://schemas.microsoft.com/office/powerpoint/2010/main" val="425687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95D95-C5B9-B2F3-1205-A8E611E3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27C6-5452-F3CF-53DB-DBFA1845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Overview: a </a:t>
            </a:r>
            <a:r>
              <a:rPr lang="en-US" dirty="0" err="1"/>
              <a:t>ggpairs</a:t>
            </a:r>
            <a:r>
              <a:rPr lang="en-US" dirty="0"/>
              <a:t>()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90506D-C237-5C94-4DF1-D6B3F8ADE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00C83-DFCE-DC3A-C4E1-4C11C366183D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generalized pairs plot </a:t>
            </a:r>
            <a:r>
              <a:rPr lang="en-US" dirty="0"/>
              <a:t>uses different plot types for pairs of continuous, discrete variables. This plot uses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GGally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ggpairs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7559EE-60C4-42C7-A3F8-8346BF54A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246420"/>
            <a:ext cx="6828965" cy="42924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DE8A2D-A706-2944-EDDF-B9F61FA20F50}"/>
              </a:ext>
            </a:extLst>
          </p:cNvPr>
          <p:cNvSpPr/>
          <p:nvPr/>
        </p:nvSpPr>
        <p:spPr>
          <a:xfrm>
            <a:off x="990600" y="2246420"/>
            <a:ext cx="6828965" cy="118258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9341C9-265B-CD4D-5486-004FCEA8F761}"/>
              </a:ext>
            </a:extLst>
          </p:cNvPr>
          <p:cNvSpPr txBox="1"/>
          <p:nvPr/>
        </p:nvSpPr>
        <p:spPr>
          <a:xfrm>
            <a:off x="6515100" y="1676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focus on survival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712F72-3057-95B8-2FCF-F249F08D8226}"/>
              </a:ext>
            </a:extLst>
          </p:cNvPr>
          <p:cNvCxnSpPr>
            <a:stCxn id="6" idx="1"/>
          </p:cNvCxnSpPr>
          <p:nvPr/>
        </p:nvCxnSpPr>
        <p:spPr>
          <a:xfrm flipH="1">
            <a:off x="4800600" y="1861066"/>
            <a:ext cx="1714500" cy="27253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345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CB7C-A860-49CF-A0BC-FC318B94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Exploratory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6C160F-4C83-48BF-B3B9-07A67B8F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B9C9EDD-3E73-4692-A33E-1633F9EDB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18519"/>
            <a:ext cx="4763165" cy="5239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6B4E06-63C0-4EB6-B62D-7931394BABBE}"/>
              </a:ext>
            </a:extLst>
          </p:cNvPr>
          <p:cNvSpPr txBox="1"/>
          <p:nvPr/>
        </p:nvSpPr>
        <p:spPr>
          <a:xfrm>
            <a:off x="457200" y="1053734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fitting models, it is useful to explore the data with conditional </a:t>
            </a:r>
            <a:r>
              <a:rPr lang="en-US" dirty="0" err="1"/>
              <a:t>ggplots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E0F4A-DBCA-46DF-B3BA-A9C76A4B48F8}"/>
              </a:ext>
            </a:extLst>
          </p:cNvPr>
          <p:cNvSpPr txBox="1"/>
          <p:nvPr/>
        </p:nvSpPr>
        <p:spPr>
          <a:xfrm>
            <a:off x="5410200" y="1769696"/>
            <a:ext cx="3276600" cy="2862322"/>
          </a:xfrm>
          <a:custGeom>
            <a:avLst/>
            <a:gdLst>
              <a:gd name="csX0" fmla="*/ 0 w 3276600"/>
              <a:gd name="csY0" fmla="*/ 0 h 2862322"/>
              <a:gd name="csX1" fmla="*/ 611632 w 3276600"/>
              <a:gd name="csY1" fmla="*/ 0 h 2862322"/>
              <a:gd name="csX2" fmla="*/ 1190498 w 3276600"/>
              <a:gd name="csY2" fmla="*/ 0 h 2862322"/>
              <a:gd name="csX3" fmla="*/ 1736598 w 3276600"/>
              <a:gd name="csY3" fmla="*/ 0 h 2862322"/>
              <a:gd name="csX4" fmla="*/ 2282698 w 3276600"/>
              <a:gd name="csY4" fmla="*/ 0 h 2862322"/>
              <a:gd name="csX5" fmla="*/ 3276600 w 3276600"/>
              <a:gd name="csY5" fmla="*/ 0 h 2862322"/>
              <a:gd name="csX6" fmla="*/ 3276600 w 3276600"/>
              <a:gd name="csY6" fmla="*/ 601088 h 2862322"/>
              <a:gd name="csX7" fmla="*/ 3276600 w 3276600"/>
              <a:gd name="csY7" fmla="*/ 1116306 h 2862322"/>
              <a:gd name="csX8" fmla="*/ 3276600 w 3276600"/>
              <a:gd name="csY8" fmla="*/ 1717393 h 2862322"/>
              <a:gd name="csX9" fmla="*/ 3276600 w 3276600"/>
              <a:gd name="csY9" fmla="*/ 2203988 h 2862322"/>
              <a:gd name="csX10" fmla="*/ 3276600 w 3276600"/>
              <a:gd name="csY10" fmla="*/ 2862322 h 2862322"/>
              <a:gd name="csX11" fmla="*/ 2796032 w 3276600"/>
              <a:gd name="csY11" fmla="*/ 2862322 h 2862322"/>
              <a:gd name="csX12" fmla="*/ 2184400 w 3276600"/>
              <a:gd name="csY12" fmla="*/ 2862322 h 2862322"/>
              <a:gd name="csX13" fmla="*/ 1671066 w 3276600"/>
              <a:gd name="csY13" fmla="*/ 2862322 h 2862322"/>
              <a:gd name="csX14" fmla="*/ 1059434 w 3276600"/>
              <a:gd name="csY14" fmla="*/ 2862322 h 2862322"/>
              <a:gd name="csX15" fmla="*/ 578866 w 3276600"/>
              <a:gd name="csY15" fmla="*/ 2862322 h 2862322"/>
              <a:gd name="csX16" fmla="*/ 0 w 3276600"/>
              <a:gd name="csY16" fmla="*/ 2862322 h 2862322"/>
              <a:gd name="csX17" fmla="*/ 0 w 3276600"/>
              <a:gd name="csY17" fmla="*/ 2375727 h 2862322"/>
              <a:gd name="csX18" fmla="*/ 0 w 3276600"/>
              <a:gd name="csY18" fmla="*/ 1889133 h 2862322"/>
              <a:gd name="csX19" fmla="*/ 0 w 3276600"/>
              <a:gd name="csY19" fmla="*/ 1402538 h 2862322"/>
              <a:gd name="csX20" fmla="*/ 0 w 3276600"/>
              <a:gd name="csY20" fmla="*/ 772827 h 2862322"/>
              <a:gd name="csX21" fmla="*/ 0 w 3276600"/>
              <a:gd name="csY21" fmla="*/ 0 h 28623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276600" h="2862322" fill="none" extrusionOk="0">
                <a:moveTo>
                  <a:pt x="0" y="0"/>
                </a:moveTo>
                <a:cubicBezTo>
                  <a:pt x="147967" y="-5138"/>
                  <a:pt x="426388" y="54825"/>
                  <a:pt x="611632" y="0"/>
                </a:cubicBezTo>
                <a:cubicBezTo>
                  <a:pt x="796876" y="-54825"/>
                  <a:pt x="956928" y="17582"/>
                  <a:pt x="1190498" y="0"/>
                </a:cubicBezTo>
                <a:cubicBezTo>
                  <a:pt x="1424068" y="-17582"/>
                  <a:pt x="1477115" y="35568"/>
                  <a:pt x="1736598" y="0"/>
                </a:cubicBezTo>
                <a:cubicBezTo>
                  <a:pt x="1996081" y="-35568"/>
                  <a:pt x="2114958" y="41859"/>
                  <a:pt x="2282698" y="0"/>
                </a:cubicBezTo>
                <a:cubicBezTo>
                  <a:pt x="2450438" y="-41859"/>
                  <a:pt x="2941200" y="43748"/>
                  <a:pt x="3276600" y="0"/>
                </a:cubicBezTo>
                <a:cubicBezTo>
                  <a:pt x="3327141" y="122179"/>
                  <a:pt x="3227871" y="444226"/>
                  <a:pt x="3276600" y="601088"/>
                </a:cubicBezTo>
                <a:cubicBezTo>
                  <a:pt x="3325329" y="757950"/>
                  <a:pt x="3227433" y="974385"/>
                  <a:pt x="3276600" y="1116306"/>
                </a:cubicBezTo>
                <a:cubicBezTo>
                  <a:pt x="3325767" y="1258227"/>
                  <a:pt x="3267385" y="1502370"/>
                  <a:pt x="3276600" y="1717393"/>
                </a:cubicBezTo>
                <a:cubicBezTo>
                  <a:pt x="3285815" y="1932416"/>
                  <a:pt x="3247528" y="2009743"/>
                  <a:pt x="3276600" y="2203988"/>
                </a:cubicBezTo>
                <a:cubicBezTo>
                  <a:pt x="3305672" y="2398234"/>
                  <a:pt x="3243925" y="2664197"/>
                  <a:pt x="3276600" y="2862322"/>
                </a:cubicBezTo>
                <a:cubicBezTo>
                  <a:pt x="3079280" y="2862643"/>
                  <a:pt x="2951557" y="2858463"/>
                  <a:pt x="2796032" y="2862322"/>
                </a:cubicBezTo>
                <a:cubicBezTo>
                  <a:pt x="2640507" y="2866181"/>
                  <a:pt x="2449820" y="2791672"/>
                  <a:pt x="2184400" y="2862322"/>
                </a:cubicBezTo>
                <a:cubicBezTo>
                  <a:pt x="1918980" y="2932972"/>
                  <a:pt x="1826852" y="2848296"/>
                  <a:pt x="1671066" y="2862322"/>
                </a:cubicBezTo>
                <a:cubicBezTo>
                  <a:pt x="1515280" y="2876348"/>
                  <a:pt x="1358342" y="2828163"/>
                  <a:pt x="1059434" y="2862322"/>
                </a:cubicBezTo>
                <a:cubicBezTo>
                  <a:pt x="760526" y="2896481"/>
                  <a:pt x="740111" y="2856126"/>
                  <a:pt x="578866" y="2862322"/>
                </a:cubicBezTo>
                <a:cubicBezTo>
                  <a:pt x="417621" y="2868518"/>
                  <a:pt x="206545" y="2822398"/>
                  <a:pt x="0" y="2862322"/>
                </a:cubicBezTo>
                <a:cubicBezTo>
                  <a:pt x="-46302" y="2747031"/>
                  <a:pt x="42926" y="2490517"/>
                  <a:pt x="0" y="2375727"/>
                </a:cubicBezTo>
                <a:cubicBezTo>
                  <a:pt x="-42926" y="2260938"/>
                  <a:pt x="2128" y="2034331"/>
                  <a:pt x="0" y="1889133"/>
                </a:cubicBezTo>
                <a:cubicBezTo>
                  <a:pt x="-2128" y="1743935"/>
                  <a:pt x="56845" y="1565784"/>
                  <a:pt x="0" y="1402538"/>
                </a:cubicBezTo>
                <a:cubicBezTo>
                  <a:pt x="-56845" y="1239293"/>
                  <a:pt x="60187" y="987642"/>
                  <a:pt x="0" y="772827"/>
                </a:cubicBezTo>
                <a:cubicBezTo>
                  <a:pt x="-60187" y="558012"/>
                  <a:pt x="92287" y="359073"/>
                  <a:pt x="0" y="0"/>
                </a:cubicBezTo>
                <a:close/>
              </a:path>
              <a:path w="3276600" h="2862322" stroke="0" extrusionOk="0">
                <a:moveTo>
                  <a:pt x="0" y="0"/>
                </a:moveTo>
                <a:cubicBezTo>
                  <a:pt x="133589" y="-25534"/>
                  <a:pt x="358069" y="21244"/>
                  <a:pt x="513334" y="0"/>
                </a:cubicBezTo>
                <a:cubicBezTo>
                  <a:pt x="668599" y="-21244"/>
                  <a:pt x="777816" y="9190"/>
                  <a:pt x="961136" y="0"/>
                </a:cubicBezTo>
                <a:cubicBezTo>
                  <a:pt x="1144456" y="-9190"/>
                  <a:pt x="1303767" y="35842"/>
                  <a:pt x="1572768" y="0"/>
                </a:cubicBezTo>
                <a:cubicBezTo>
                  <a:pt x="1841769" y="-35842"/>
                  <a:pt x="1913250" y="32999"/>
                  <a:pt x="2086102" y="0"/>
                </a:cubicBezTo>
                <a:cubicBezTo>
                  <a:pt x="2258954" y="-32999"/>
                  <a:pt x="2384331" y="58351"/>
                  <a:pt x="2599436" y="0"/>
                </a:cubicBezTo>
                <a:cubicBezTo>
                  <a:pt x="2814541" y="-58351"/>
                  <a:pt x="3039297" y="12700"/>
                  <a:pt x="3276600" y="0"/>
                </a:cubicBezTo>
                <a:cubicBezTo>
                  <a:pt x="3289091" y="248246"/>
                  <a:pt x="3259510" y="316384"/>
                  <a:pt x="3276600" y="515218"/>
                </a:cubicBezTo>
                <a:cubicBezTo>
                  <a:pt x="3293690" y="714052"/>
                  <a:pt x="3253327" y="854907"/>
                  <a:pt x="3276600" y="1087682"/>
                </a:cubicBezTo>
                <a:cubicBezTo>
                  <a:pt x="3299873" y="1320457"/>
                  <a:pt x="3226305" y="1446272"/>
                  <a:pt x="3276600" y="1602900"/>
                </a:cubicBezTo>
                <a:cubicBezTo>
                  <a:pt x="3326895" y="1759528"/>
                  <a:pt x="3229310" y="1975010"/>
                  <a:pt x="3276600" y="2118118"/>
                </a:cubicBezTo>
                <a:cubicBezTo>
                  <a:pt x="3323890" y="2261226"/>
                  <a:pt x="3216561" y="2490859"/>
                  <a:pt x="3276600" y="2862322"/>
                </a:cubicBezTo>
                <a:cubicBezTo>
                  <a:pt x="3137884" y="2870574"/>
                  <a:pt x="2854203" y="2856267"/>
                  <a:pt x="2697734" y="2862322"/>
                </a:cubicBezTo>
                <a:cubicBezTo>
                  <a:pt x="2541265" y="2868377"/>
                  <a:pt x="2319371" y="2858898"/>
                  <a:pt x="2086102" y="2862322"/>
                </a:cubicBezTo>
                <a:cubicBezTo>
                  <a:pt x="1852833" y="2865746"/>
                  <a:pt x="1766722" y="2831941"/>
                  <a:pt x="1474470" y="2862322"/>
                </a:cubicBezTo>
                <a:cubicBezTo>
                  <a:pt x="1182218" y="2892703"/>
                  <a:pt x="1232506" y="2852104"/>
                  <a:pt x="993902" y="2862322"/>
                </a:cubicBezTo>
                <a:cubicBezTo>
                  <a:pt x="755298" y="2872540"/>
                  <a:pt x="278921" y="2750433"/>
                  <a:pt x="0" y="2862322"/>
                </a:cubicBezTo>
                <a:cubicBezTo>
                  <a:pt x="-66106" y="2661146"/>
                  <a:pt x="33614" y="2424790"/>
                  <a:pt x="0" y="2232611"/>
                </a:cubicBezTo>
                <a:cubicBezTo>
                  <a:pt x="-33614" y="2040432"/>
                  <a:pt x="21392" y="1863857"/>
                  <a:pt x="0" y="1746016"/>
                </a:cubicBezTo>
                <a:cubicBezTo>
                  <a:pt x="-21392" y="1628176"/>
                  <a:pt x="24638" y="1462454"/>
                  <a:pt x="0" y="1230798"/>
                </a:cubicBezTo>
                <a:cubicBezTo>
                  <a:pt x="-24638" y="999142"/>
                  <a:pt x="54810" y="966466"/>
                  <a:pt x="0" y="715580"/>
                </a:cubicBezTo>
                <a:cubicBezTo>
                  <a:pt x="-54810" y="464694"/>
                  <a:pt x="38559" y="345193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Survival decreases with age for both men and women</a:t>
            </a:r>
          </a:p>
          <a:p>
            <a:endParaRPr lang="en-US" dirty="0"/>
          </a:p>
          <a:p>
            <a:r>
              <a:rPr lang="en-US" dirty="0"/>
              <a:t>Women more likely to survive, particularly the young</a:t>
            </a:r>
          </a:p>
          <a:p>
            <a:endParaRPr lang="en-US" dirty="0"/>
          </a:p>
          <a:p>
            <a:r>
              <a:rPr lang="en-US" dirty="0"/>
              <a:t>Conf. bands show the data is thin at older ages</a:t>
            </a:r>
          </a:p>
          <a:p>
            <a:endParaRPr lang="en-US" dirty="0"/>
          </a:p>
          <a:p>
            <a:r>
              <a:rPr lang="en-US" dirty="0"/>
              <a:t>Jittered points show the data</a:t>
            </a:r>
          </a:p>
        </p:txBody>
      </p:sp>
    </p:spTree>
    <p:extLst>
      <p:ext uri="{BB962C8B-B14F-4D97-AF65-F5344CB8AC3E}">
        <p14:creationId xmlns:p14="http://schemas.microsoft.com/office/powerpoint/2010/main" val="2565825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AE46-3241-45A3-B5F8-24F715C5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</a:t>
            </a:r>
            <a:r>
              <a:rPr lang="en-US" dirty="0" err="1"/>
              <a:t>ggplot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036C5A-8D63-4D71-8F83-F4B6A764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13B75-4134-4ECA-83C8-D9A86B4F3E8B}"/>
              </a:ext>
            </a:extLst>
          </p:cNvPr>
          <p:cNvSpPr txBox="1"/>
          <p:nvPr/>
        </p:nvSpPr>
        <p:spPr>
          <a:xfrm>
            <a:off x="457200" y="1676400"/>
            <a:ext cx="8229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gg &lt;-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ggplot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(Donner,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(age,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as.numeric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(survived=="yes"), </a:t>
            </a:r>
            <a:r>
              <a:rPr lang="en-US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color=sex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)) +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ylab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("Survived") +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geom_jitter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(height = 0.02, width = 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7FAB0-FC0D-475B-ABC2-24595BE37B39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plot: survived vs. age, </a:t>
            </a:r>
            <a:r>
              <a:rPr lang="en-US" dirty="0">
                <a:solidFill>
                  <a:srgbClr val="0070C0"/>
                </a:solidFill>
              </a:rPr>
              <a:t>colored by sex</a:t>
            </a:r>
            <a:r>
              <a:rPr lang="en-US" dirty="0"/>
              <a:t>, with jittered points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88AB1A-E35E-4BAC-9ABD-8C1E678E7766}"/>
              </a:ext>
            </a:extLst>
          </p:cNvPr>
          <p:cNvSpPr txBox="1"/>
          <p:nvPr/>
        </p:nvSpPr>
        <p:spPr>
          <a:xfrm>
            <a:off x="533400" y="335280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this we can add </a:t>
            </a:r>
            <a:r>
              <a:rPr lang="en-US" dirty="0">
                <a:solidFill>
                  <a:srgbClr val="0070C0"/>
                </a:solidFill>
              </a:rPr>
              <a:t>conditional logistic fits</a:t>
            </a:r>
            <a:r>
              <a:rPr lang="en-US" dirty="0"/>
              <a:t> using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stat_smooth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(method=“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r>
              <a:rPr lang="en-US" dirty="0">
                <a:cs typeface="Courier New" panose="02070309020205020404" pitchFamily="49" charset="0"/>
              </a:rPr>
              <a:t>This is plotted on the probability scale, but reflects a 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linear relation </a:t>
            </a:r>
            <a:r>
              <a:rPr lang="en-US" dirty="0">
                <a:cs typeface="Courier New" panose="02070309020205020404" pitchFamily="49" charset="0"/>
              </a:rPr>
              <a:t>with log odds.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8943E-F5C0-4F63-9558-DAADB16C66AB}"/>
              </a:ext>
            </a:extLst>
          </p:cNvPr>
          <p:cNvSpPr txBox="1"/>
          <p:nvPr/>
        </p:nvSpPr>
        <p:spPr>
          <a:xfrm>
            <a:off x="533400" y="4297740"/>
            <a:ext cx="80772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gg +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stat_smooth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(method = "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 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method.args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= list(</a:t>
            </a:r>
            <a:r>
              <a:rPr lang="en-US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family = binomial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formula = </a:t>
            </a:r>
            <a:r>
              <a:rPr lang="en-US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y ~ x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alpha = 0.2, size=2,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(fill = sex)) +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theme_bw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base_size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= 16) +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theme(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legend.position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= c(.85, .85))</a:t>
            </a:r>
          </a:p>
        </p:txBody>
      </p:sp>
    </p:spTree>
    <p:extLst>
      <p:ext uri="{BB962C8B-B14F-4D97-AF65-F5344CB8AC3E}">
        <p14:creationId xmlns:p14="http://schemas.microsoft.com/office/powerpoint/2010/main" val="3519445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A743-215A-4D19-B9E1-C3ADFA2A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C35CC-21CE-46E3-8B4E-EC1CCAB78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Is the relation of survival to age well expressed as a </a:t>
            </a:r>
            <a:r>
              <a:rPr lang="en-US" sz="2400" dirty="0">
                <a:solidFill>
                  <a:srgbClr val="0070C0"/>
                </a:solidFill>
              </a:rPr>
              <a:t>linear</a:t>
            </a:r>
            <a:r>
              <a:rPr lang="en-US" sz="2400" dirty="0"/>
              <a:t> logistic regression model?</a:t>
            </a:r>
          </a:p>
          <a:p>
            <a:pPr lvl="1"/>
            <a:r>
              <a:rPr lang="en-US" sz="2000" dirty="0"/>
              <a:t>Allow a quadratic or higher power using poly(age,2), poly(age,3) 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r>
              <a:rPr lang="en-US" sz="2000" dirty="0"/>
              <a:t>Use </a:t>
            </a:r>
            <a:r>
              <a:rPr lang="en-US" sz="2000" dirty="0">
                <a:solidFill>
                  <a:srgbClr val="0070C0"/>
                </a:solidFill>
              </a:rPr>
              <a:t>natural spline </a:t>
            </a:r>
            <a:r>
              <a:rPr lang="en-US" sz="2000" dirty="0"/>
              <a:t>functions: ns(age, </a:t>
            </a:r>
            <a:r>
              <a:rPr lang="en-US" sz="2000" dirty="0" err="1"/>
              <a:t>df</a:t>
            </a:r>
            <a:r>
              <a:rPr lang="en-US" sz="2000" dirty="0"/>
              <a:t>) – more flexible shape, with control of number of </a:t>
            </a:r>
            <a:r>
              <a:rPr lang="en-US" sz="2000" dirty="0" err="1"/>
              <a:t>df</a:t>
            </a:r>
            <a:endParaRPr lang="en-US" sz="2000" dirty="0"/>
          </a:p>
          <a:p>
            <a:pPr lvl="1"/>
            <a:r>
              <a:rPr lang="en-US" sz="2000" dirty="0"/>
              <a:t>Use </a:t>
            </a:r>
            <a:r>
              <a:rPr lang="en-US" sz="2000" dirty="0">
                <a:solidFill>
                  <a:srgbClr val="0070C0"/>
                </a:solidFill>
              </a:rPr>
              <a:t>non-parametric</a:t>
            </a:r>
            <a:r>
              <a:rPr lang="en-US" sz="2000" dirty="0"/>
              <a:t> smooths: loess(age, span, degree)</a:t>
            </a:r>
          </a:p>
          <a:p>
            <a:r>
              <a:rPr lang="en-US" sz="2400" dirty="0"/>
              <a:t>Is the relation the same for men &amp; women?</a:t>
            </a:r>
          </a:p>
          <a:p>
            <a:pPr lvl="1"/>
            <a:r>
              <a:rPr lang="en-US" sz="2000" dirty="0"/>
              <a:t>Allow an </a:t>
            </a:r>
            <a:r>
              <a:rPr lang="en-US" sz="2000" dirty="0">
                <a:solidFill>
                  <a:srgbClr val="0070C0"/>
                </a:solidFill>
              </a:rPr>
              <a:t>interaction</a:t>
            </a:r>
            <a:r>
              <a:rPr lang="en-US" sz="2000" dirty="0"/>
              <a:t> of sex * age or sex * f(age)</a:t>
            </a:r>
          </a:p>
          <a:p>
            <a:pPr lvl="1"/>
            <a:r>
              <a:rPr lang="en-US" sz="2000" dirty="0"/>
              <a:t>Test goodness of fit relative to the main effects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E4CEB6-6ECF-41E0-BE95-6238448D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D0205-D04C-42D7-B220-EB24CE879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564765"/>
            <a:ext cx="430530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6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F283F877-F70D-444C-A694-80C957BF2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03914"/>
            <a:ext cx="4763165" cy="523948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A35E-8503-42EF-B937-0895E79E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CEC39-0D76-4B3B-9450-FFCA309A34E5}"/>
              </a:ext>
            </a:extLst>
          </p:cNvPr>
          <p:cNvSpPr txBox="1"/>
          <p:nvPr/>
        </p:nvSpPr>
        <p:spPr>
          <a:xfrm>
            <a:off x="533400" y="411480"/>
            <a:ext cx="8153400" cy="9233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gg + </a:t>
            </a:r>
            <a:r>
              <a:rPr lang="en-US" dirty="0" err="1"/>
              <a:t>stat_smooth</a:t>
            </a:r>
            <a:r>
              <a:rPr lang="en-US" dirty="0"/>
              <a:t>(</a:t>
            </a:r>
            <a:r>
              <a:rPr lang="en-US" b="1" dirty="0"/>
              <a:t>method = "</a:t>
            </a:r>
            <a:r>
              <a:rPr lang="en-US" b="1" dirty="0" err="1"/>
              <a:t>glm</a:t>
            </a:r>
            <a:r>
              <a:rPr lang="en-US" b="1" dirty="0"/>
              <a:t>", </a:t>
            </a:r>
          </a:p>
          <a:p>
            <a:r>
              <a:rPr lang="en-US" dirty="0"/>
              <a:t>                 </a:t>
            </a:r>
            <a:r>
              <a:rPr lang="en-US" dirty="0" err="1"/>
              <a:t>method.args</a:t>
            </a:r>
            <a:r>
              <a:rPr lang="en-US" dirty="0"/>
              <a:t> = list(</a:t>
            </a:r>
            <a:r>
              <a:rPr lang="en-US" b="1" dirty="0"/>
              <a:t>family = binomial</a:t>
            </a:r>
            <a:r>
              <a:rPr lang="en-US" dirty="0"/>
              <a:t>), </a:t>
            </a:r>
          </a:p>
          <a:p>
            <a:r>
              <a:rPr lang="en-US" dirty="0"/>
              <a:t>                 formula = </a:t>
            </a:r>
            <a:r>
              <a:rPr lang="en-US" b="1" dirty="0"/>
              <a:t>y ~ poly(x,2), </a:t>
            </a:r>
            <a:r>
              <a:rPr lang="en-US" dirty="0"/>
              <a:t>alpha = 0.2, size=2, </a:t>
            </a:r>
            <a:r>
              <a:rPr lang="en-US" dirty="0" err="1"/>
              <a:t>aes</a:t>
            </a:r>
            <a:r>
              <a:rPr lang="en-US" dirty="0"/>
              <a:t>(fill = sex)) +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5B70A-45FC-42B0-87E4-06C58A205BC4}"/>
              </a:ext>
            </a:extLst>
          </p:cNvPr>
          <p:cNvSpPr txBox="1"/>
          <p:nvPr/>
        </p:nvSpPr>
        <p:spPr>
          <a:xfrm>
            <a:off x="533400" y="1981200"/>
            <a:ext cx="274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separate quadratics for M &amp; F</a:t>
            </a:r>
          </a:p>
          <a:p>
            <a:endParaRPr lang="en-US" dirty="0"/>
          </a:p>
          <a:p>
            <a:r>
              <a:rPr lang="en-US" dirty="0"/>
              <a:t>This highlights the very high survival among young women (but not infants)</a:t>
            </a:r>
          </a:p>
          <a:p>
            <a:endParaRPr lang="en-US" dirty="0"/>
          </a:p>
          <a:p>
            <a:r>
              <a:rPr lang="en-US" dirty="0"/>
              <a:t>Using library(splines) and formula=</a:t>
            </a:r>
            <a:r>
              <a:rPr lang="en-US" b="1" dirty="0"/>
              <a:t>y ~ ns(x,2) </a:t>
            </a:r>
            <a:r>
              <a:rPr lang="en-US" dirty="0"/>
              <a:t>gives nearly identical results</a:t>
            </a:r>
          </a:p>
        </p:txBody>
      </p:sp>
    </p:spTree>
    <p:extLst>
      <p:ext uri="{BB962C8B-B14F-4D97-AF65-F5344CB8AC3E}">
        <p14:creationId xmlns:p14="http://schemas.microsoft.com/office/powerpoint/2010/main" val="1713880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7D7FD475-5548-46A1-A744-407532642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03279"/>
            <a:ext cx="4763165" cy="52394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B53466-A17B-4E7B-A108-C941D46B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3ABCC-1EF0-4994-8B2D-6986D3BD1A5B}"/>
              </a:ext>
            </a:extLst>
          </p:cNvPr>
          <p:cNvSpPr txBox="1"/>
          <p:nvPr/>
        </p:nvSpPr>
        <p:spPr>
          <a:xfrm>
            <a:off x="533400" y="411480"/>
            <a:ext cx="8153400" cy="9233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gg + </a:t>
            </a:r>
            <a:r>
              <a:rPr lang="en-US" dirty="0" err="1"/>
              <a:t>stat_smooth</a:t>
            </a:r>
            <a:r>
              <a:rPr lang="en-US" dirty="0"/>
              <a:t>(</a:t>
            </a:r>
            <a:r>
              <a:rPr lang="en-US" b="1" dirty="0"/>
              <a:t>method = "loess", span=0.9</a:t>
            </a:r>
            <a:r>
              <a:rPr lang="en-US" dirty="0"/>
              <a:t>, </a:t>
            </a:r>
          </a:p>
          <a:p>
            <a:r>
              <a:rPr lang="en-US" dirty="0"/>
              <a:t>                 alpha = 0.2, size=2, </a:t>
            </a:r>
          </a:p>
          <a:p>
            <a:r>
              <a:rPr lang="en-US" dirty="0"/>
              <a:t>                 </a:t>
            </a:r>
            <a:r>
              <a:rPr lang="en-US" dirty="0" err="1"/>
              <a:t>aes</a:t>
            </a:r>
            <a:r>
              <a:rPr lang="en-US" dirty="0"/>
              <a:t>(fill = sex)) + </a:t>
            </a:r>
            <a:r>
              <a:rPr lang="en-US" dirty="0" err="1"/>
              <a:t>coord_cartesian</a:t>
            </a:r>
            <a:r>
              <a:rPr lang="en-US" dirty="0"/>
              <a:t>(</a:t>
            </a:r>
            <a:r>
              <a:rPr lang="en-US" dirty="0" err="1"/>
              <a:t>ylim</a:t>
            </a:r>
            <a:r>
              <a:rPr lang="en-US" dirty="0"/>
              <a:t>=c(-.05,1.05))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6B809-7EE7-45BB-9B15-A1D248CC44B4}"/>
              </a:ext>
            </a:extLst>
          </p:cNvPr>
          <p:cNvSpPr txBox="1"/>
          <p:nvPr/>
        </p:nvSpPr>
        <p:spPr>
          <a:xfrm>
            <a:off x="533400" y="1981200"/>
            <a:ext cx="3124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separate loess smooths for M &amp; F. </a:t>
            </a:r>
            <a:r>
              <a:rPr lang="en-US" b="1" dirty="0">
                <a:solidFill>
                  <a:srgbClr val="00B0F0"/>
                </a:solidFill>
              </a:rPr>
              <a:t>span</a:t>
            </a:r>
            <a:r>
              <a:rPr lang="en-US" dirty="0"/>
              <a:t> controls how smooth</a:t>
            </a:r>
          </a:p>
          <a:p>
            <a:endParaRPr lang="en-US" dirty="0"/>
          </a:p>
          <a:p>
            <a:r>
              <a:rPr lang="en-US" dirty="0"/>
              <a:t>For males, the result is not as smooth as the poly(age,2) suggests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All</a:t>
            </a:r>
            <a:r>
              <a:rPr lang="en-US" dirty="0">
                <a:solidFill>
                  <a:srgbClr val="0070C0"/>
                </a:solidFill>
              </a:rPr>
              <a:t> fitted models </a:t>
            </a:r>
            <a:r>
              <a:rPr lang="en-US" dirty="0"/>
              <a:t>give a smoothing of the binary outcome!</a:t>
            </a:r>
          </a:p>
        </p:txBody>
      </p:sp>
    </p:spTree>
    <p:extLst>
      <p:ext uri="{BB962C8B-B14F-4D97-AF65-F5344CB8AC3E}">
        <p14:creationId xmlns:p14="http://schemas.microsoft.com/office/powerpoint/2010/main" val="3634483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8BBEB0-85B7-46CB-A5C9-9EAFE583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models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54D43-75E3-4D3F-BE75-09238B79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FA6F99-A75F-4B84-AD71-050849AD673F}"/>
              </a:ext>
            </a:extLst>
          </p:cNvPr>
          <p:cNvSpPr txBox="1"/>
          <p:nvPr/>
        </p:nvSpPr>
        <p:spPr>
          <a:xfrm>
            <a:off x="457200" y="12954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Models with </a:t>
            </a:r>
            <a:r>
              <a:rPr lang="en-US" sz="2400" dirty="0">
                <a:solidFill>
                  <a:srgbClr val="0070C0"/>
                </a:solidFill>
              </a:rPr>
              <a:t>linear</a:t>
            </a:r>
            <a:r>
              <a:rPr lang="en-US" sz="2400" dirty="0"/>
              <a:t> effect of age, w/, w/o </a:t>
            </a:r>
            <a:r>
              <a:rPr lang="en-US" sz="2400" dirty="0">
                <a:solidFill>
                  <a:srgbClr val="0070C0"/>
                </a:solidFill>
              </a:rPr>
              <a:t>interaction</a:t>
            </a:r>
            <a:r>
              <a:rPr lang="en-US" sz="2400" dirty="0"/>
              <a:t> age*sex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BB128-98EE-41D2-8510-FC5BA5558039}"/>
              </a:ext>
            </a:extLst>
          </p:cNvPr>
          <p:cNvSpPr txBox="1"/>
          <p:nvPr/>
        </p:nvSpPr>
        <p:spPr>
          <a:xfrm>
            <a:off x="457200" y="2209800"/>
            <a:ext cx="82296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donner.mod1 &lt;-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(survived ~ </a:t>
            </a:r>
            <a:r>
              <a:rPr lang="en-US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age + sex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data=Donner, family=binomial)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donner.mod2 &lt;-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(survived ~ </a:t>
            </a:r>
            <a:r>
              <a:rPr lang="en-US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age * sex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 data=Donner, family=binomial)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(donner.mod2)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survived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LR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  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age         5.52  1     0.0188 *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sex         6.73  1     0.0095 **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age:sex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0.40  1     0.5269  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200342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8BBEB0-85B7-46CB-A5C9-9EAFE583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models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54D43-75E3-4D3F-BE75-09238B79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FA6F99-A75F-4B84-AD71-050849AD673F}"/>
              </a:ext>
            </a:extLst>
          </p:cNvPr>
          <p:cNvSpPr txBox="1"/>
          <p:nvPr/>
        </p:nvSpPr>
        <p:spPr>
          <a:xfrm>
            <a:off x="457200" y="12954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Models with </a:t>
            </a:r>
            <a:r>
              <a:rPr lang="en-US" sz="2400" dirty="0">
                <a:solidFill>
                  <a:srgbClr val="0070C0"/>
                </a:solidFill>
              </a:rPr>
              <a:t>quadratic</a:t>
            </a:r>
            <a:r>
              <a:rPr lang="en-US" sz="2400" dirty="0"/>
              <a:t> effect of 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BB128-98EE-41D2-8510-FC5BA5558039}"/>
              </a:ext>
            </a:extLst>
          </p:cNvPr>
          <p:cNvSpPr txBox="1"/>
          <p:nvPr/>
        </p:nvSpPr>
        <p:spPr>
          <a:xfrm>
            <a:off x="457200" y="2209800"/>
            <a:ext cx="82296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donner.mod3 &lt;-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(survived ~ </a:t>
            </a:r>
            <a:r>
              <a:rPr lang="en-US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poly(age,2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 + sex,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 data=Donner, family=binomial)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donner.mod4 &lt;-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(survived ~ </a:t>
            </a:r>
            <a:r>
              <a:rPr lang="en-US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poly(age,2) 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* sex,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 data=Donner, family=binomial)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(donner.mod4)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survived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LR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  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poly(age, 2)         9.91  2     0.0070 **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sex                  8.09  1     0.0044 **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poly(age, 2):sex     8.93  2     0.0115 *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1166529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C3908-BEEF-4BE5-AE41-23AAF95A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32323-E397-4F32-AEA8-66744371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DA921-923E-4A42-B452-289FB16C3F65}"/>
              </a:ext>
            </a:extLst>
          </p:cNvPr>
          <p:cNvSpPr txBox="1"/>
          <p:nvPr/>
        </p:nvSpPr>
        <p:spPr>
          <a:xfrm>
            <a:off x="457200" y="1649990"/>
            <a:ext cx="82296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library(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(donner.mod1, donner.mod2, donner.mod3, donner.mod4)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AIC BIC LR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 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donner.mod1 117 125    111.1 87      0.042 *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donner.mod2 119 129    110.7 86      0.038 *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donner.mod3 115 125    106.7 86      0.064 .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donner.mod4 110 125     97.8 84      0.144 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2A917-991B-4D68-8A85-8D2DA0B65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11040"/>
            <a:ext cx="6933333" cy="171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85E097-7A4E-4D19-A26E-48665D906A7E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models are only nested in </a:t>
            </a:r>
            <a:r>
              <a:rPr lang="en-US" sz="2000" dirty="0">
                <a:solidFill>
                  <a:srgbClr val="0070C0"/>
                </a:solidFill>
              </a:rPr>
              <a:t>pairs</a:t>
            </a:r>
            <a:r>
              <a:rPr lang="en-US" sz="2000" dirty="0"/>
              <a:t>. We can compare them using AIC &amp; </a:t>
            </a:r>
            <a:r>
              <a:rPr lang="en-US" sz="2000" dirty="0">
                <a:sym typeface="Symbol" panose="05050102010706020507" pitchFamily="18" charset="2"/>
              </a:rPr>
              <a:t></a:t>
            </a:r>
            <a:r>
              <a:rPr lang="el-GR" sz="2000" dirty="0">
                <a:sym typeface="Symbol" panose="05050102010706020507" pitchFamily="18" charset="2"/>
              </a:rPr>
              <a:t>χ</a:t>
            </a:r>
            <a:r>
              <a:rPr lang="en-US" sz="2000" baseline="30000" dirty="0">
                <a:sym typeface="Symbol" panose="05050102010706020507" pitchFamily="18" charset="2"/>
              </a:rPr>
              <a:t>2</a:t>
            </a:r>
            <a:endParaRPr lang="en-US" sz="2000" baseline="30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C76BF-2256-4208-9109-2BDECE563E67}"/>
              </a:ext>
            </a:extLst>
          </p:cNvPr>
          <p:cNvSpPr txBox="1"/>
          <p:nvPr/>
        </p:nvSpPr>
        <p:spPr>
          <a:xfrm>
            <a:off x="7741920" y="4830846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6FD42-2DF5-4606-A351-B1E5B06537D6}"/>
              </a:ext>
            </a:extLst>
          </p:cNvPr>
          <p:cNvSpPr txBox="1"/>
          <p:nvPr/>
        </p:nvSpPr>
        <p:spPr>
          <a:xfrm>
            <a:off x="6019800" y="3348335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 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B39CA-581E-4B25-BCA6-7498FAE5F723}"/>
              </a:ext>
            </a:extLst>
          </p:cNvPr>
          <p:cNvSpPr txBox="1"/>
          <p:nvPr/>
        </p:nvSpPr>
        <p:spPr>
          <a:xfrm>
            <a:off x="7741920" y="5137350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0A41FC-A865-43EF-820E-B4DE62478EF2}"/>
              </a:ext>
            </a:extLst>
          </p:cNvPr>
          <p:cNvSpPr txBox="1"/>
          <p:nvPr/>
        </p:nvSpPr>
        <p:spPr>
          <a:xfrm>
            <a:off x="4744720" y="6164366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143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00F9-1A50-4219-8772-E0F8BBBE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was influential?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15070-FDD8-4F44-B614-B4605388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FCE5C9BA-2334-4604-87E3-DA2156293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6227"/>
            <a:ext cx="8138160" cy="4687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24E697-3DC5-45CE-9E7E-5F446499E210}"/>
              </a:ext>
            </a:extLst>
          </p:cNvPr>
          <p:cNvSpPr txBox="1"/>
          <p:nvPr/>
        </p:nvSpPr>
        <p:spPr>
          <a:xfrm>
            <a:off x="457200" y="1219200"/>
            <a:ext cx="8229600" cy="30777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influencePlot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(donner.mod3, id = list(col="blue", n=2), scale=8)</a:t>
            </a:r>
          </a:p>
        </p:txBody>
      </p:sp>
    </p:spTree>
    <p:extLst>
      <p:ext uri="{BB962C8B-B14F-4D97-AF65-F5344CB8AC3E}">
        <p14:creationId xmlns:p14="http://schemas.microsoft.com/office/powerpoint/2010/main" val="2137090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16F7-3E97-4789-91A8-F76E4512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were they influential?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9923E0-5D70-4973-A1A7-F30F3025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D6E1B-1AEA-4C98-92DB-CABB0EC0DDFC}"/>
              </a:ext>
            </a:extLst>
          </p:cNvPr>
          <p:cNvSpPr txBox="1"/>
          <p:nvPr/>
        </p:nvSpPr>
        <p:spPr>
          <a:xfrm>
            <a:off x="457200" y="1295400"/>
            <a:ext cx="82296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idx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which(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rownames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(Donner) %in%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rownames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(res))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>
                <a:solidFill>
                  <a:srgbClr val="00B050"/>
                </a:solidFill>
                <a:latin typeface="Aptos Mono" panose="020B0009020202020204" pitchFamily="49" charset="0"/>
                <a:cs typeface="Courier New" panose="02070309020205020404" pitchFamily="49" charset="0"/>
              </a:rPr>
              <a:t># show data together with diagnostics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cbind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(Donner[idx,2:4], res)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 age    sex survived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StudRes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Hat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CookD</a:t>
            </a:r>
            <a:endParaRPr lang="en-US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Breen, Patrick        51   Male      yes    2.50 0.0915 0.3235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Donner, Elizabeth     45 Female       no   -1.11 0.1354 0.0341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Graves, Elizabeth C.  47 Female       no   -1.02 0.1632 0.0342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Reed, James           46   Male      yes    2.10 0.0816 0.1436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E34CE-A802-4E3F-9FB0-871DB9F0A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41983"/>
            <a:ext cx="8171428" cy="590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6F8255-742F-483C-9666-7BAFC7C4B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8171428" cy="160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59216B-B11E-BD22-FFE8-9A351F204353}"/>
              </a:ext>
            </a:extLst>
          </p:cNvPr>
          <p:cNvSpPr/>
          <p:nvPr/>
        </p:nvSpPr>
        <p:spPr>
          <a:xfrm>
            <a:off x="4419600" y="2057400"/>
            <a:ext cx="2057400" cy="13001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CA9F24-C071-5CA0-2F4F-C4EE3E1F70A0}"/>
              </a:ext>
            </a:extLst>
          </p:cNvPr>
          <p:cNvSpPr/>
          <p:nvPr/>
        </p:nvSpPr>
        <p:spPr>
          <a:xfrm>
            <a:off x="914400" y="3581400"/>
            <a:ext cx="7714228" cy="6510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711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FF5945-C8C1-2474-6881-EC0AF674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46110-BB44-F4C2-997E-D6D0FA8DF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186"/>
            <a:ext cx="9144000" cy="510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57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1FC1-C3E2-AF19-00D4-F68C2119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Polytomous responses: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D07CA-6FEE-1924-A3CD-0E42CD627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Polytomous responses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i="1" dirty="0"/>
              <a:t>m</a:t>
            </a:r>
            <a:r>
              <a:rPr lang="en-US" dirty="0"/>
              <a:t> categories </a:t>
            </a:r>
            <a:r>
              <a:rPr lang="en-US" dirty="0">
                <a:sym typeface="Symbol" panose="05050102010706020507" pitchFamily="18" charset="2"/>
              </a:rPr>
              <a:t> (</a:t>
            </a:r>
            <a:r>
              <a:rPr lang="en-US" i="1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-1) independent comparisons (logits)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>
                <a:sym typeface="Symbol" panose="05050102010706020507" pitchFamily="18" charset="2"/>
              </a:rPr>
              <a:t>One part of the model for each logit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>
                <a:sym typeface="Symbol" panose="05050102010706020507" pitchFamily="18" charset="2"/>
              </a:rPr>
              <a:t>Similar to ANOVA where an </a:t>
            </a:r>
            <a:r>
              <a:rPr lang="en-US" i="1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-level factor  (</a:t>
            </a:r>
            <a:r>
              <a:rPr lang="en-US" i="1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-1) contrasts (</a:t>
            </a:r>
            <a:r>
              <a:rPr lang="en-US" dirty="0" err="1">
                <a:sym typeface="Symbol" panose="05050102010706020507" pitchFamily="18" charset="2"/>
              </a:rPr>
              <a:t>df</a:t>
            </a:r>
            <a:r>
              <a:rPr lang="en-US" dirty="0">
                <a:sym typeface="Symbol" panose="05050102010706020507" pitchFamily="18" charset="2"/>
              </a:rPr>
              <a:t>)</a:t>
            </a:r>
          </a:p>
          <a:p>
            <a:pPr marL="285750"/>
            <a:r>
              <a:rPr lang="en-US" dirty="0">
                <a:sym typeface="Symbol" panose="05050102010706020507" pitchFamily="18" charset="2"/>
              </a:rPr>
              <a:t>Methods differ according to whether the response categories are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ordered</a:t>
            </a:r>
            <a:r>
              <a:rPr lang="en-US" dirty="0">
                <a:sym typeface="Symbol" panose="05050102010706020507" pitchFamily="18" charset="2"/>
              </a:rPr>
              <a:t> or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unordered</a:t>
            </a:r>
          </a:p>
          <a:p>
            <a:pPr marL="685800" lvl="1"/>
            <a:r>
              <a:rPr lang="en-US" dirty="0">
                <a:sym typeface="Symbol" panose="05050102010706020507" pitchFamily="18" charset="2"/>
              </a:rPr>
              <a:t>proportional odds model</a:t>
            </a:r>
          </a:p>
          <a:p>
            <a:pPr marL="685800" lvl="1"/>
            <a:r>
              <a:rPr lang="en-US" dirty="0">
                <a:sym typeface="Symbol" panose="05050102010706020507" pitchFamily="18" charset="2"/>
              </a:rPr>
              <a:t>Nested dichotomies</a:t>
            </a:r>
          </a:p>
          <a:p>
            <a:pPr marL="685800" lvl="1"/>
            <a:r>
              <a:rPr lang="en-US" dirty="0"/>
              <a:t>Generalized multinomial logistic model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6F33EB-7FE3-8924-CB34-30DD479D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3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C09AE8-D63E-4980-9B4F-305841A3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AA046-6A4B-47FD-90AA-E78AAA78E999}"/>
              </a:ext>
            </a:extLst>
          </p:cNvPr>
          <p:cNvSpPr txBox="1"/>
          <p:nvPr/>
        </p:nvSpPr>
        <p:spPr>
          <a:xfrm>
            <a:off x="2895600" y="1115458"/>
            <a:ext cx="1600200" cy="4616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Ordered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6743F-545A-4270-967E-5C09E73F4075}"/>
              </a:ext>
            </a:extLst>
          </p:cNvPr>
          <p:cNvSpPr txBox="1"/>
          <p:nvPr/>
        </p:nvSpPr>
        <p:spPr>
          <a:xfrm>
            <a:off x="5257800" y="1115458"/>
            <a:ext cx="1600200" cy="4616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Unordered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EF2D3-BC19-4F49-A795-AF0E7F703108}"/>
              </a:ext>
            </a:extLst>
          </p:cNvPr>
          <p:cNvSpPr txBox="1"/>
          <p:nvPr/>
        </p:nvSpPr>
        <p:spPr>
          <a:xfrm>
            <a:off x="1104900" y="1007736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response categories 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04930-1711-4791-9D78-7E08738761C6}"/>
              </a:ext>
            </a:extLst>
          </p:cNvPr>
          <p:cNvSpPr txBox="1"/>
          <p:nvPr/>
        </p:nvSpPr>
        <p:spPr>
          <a:xfrm>
            <a:off x="2895600" y="1877458"/>
            <a:ext cx="160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 improvement</a:t>
            </a:r>
          </a:p>
          <a:p>
            <a:r>
              <a:rPr lang="en-US" sz="1400" dirty="0"/>
              <a:t>Some</a:t>
            </a:r>
          </a:p>
          <a:p>
            <a:r>
              <a:rPr lang="en-US" sz="1400" dirty="0"/>
              <a:t>Marked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8CB21-F487-4505-8F5D-6B0A256C5DCA}"/>
              </a:ext>
            </a:extLst>
          </p:cNvPr>
          <p:cNvSpPr txBox="1"/>
          <p:nvPr/>
        </p:nvSpPr>
        <p:spPr>
          <a:xfrm>
            <a:off x="5257800" y="1877458"/>
            <a:ext cx="1600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NDP</a:t>
            </a:r>
          </a:p>
          <a:p>
            <a:r>
              <a:rPr lang="en-US" sz="1400" dirty="0"/>
              <a:t>Liberal</a:t>
            </a:r>
          </a:p>
          <a:p>
            <a:r>
              <a:rPr lang="en-US" sz="1400" dirty="0"/>
              <a:t>Conservative</a:t>
            </a:r>
          </a:p>
          <a:p>
            <a:r>
              <a:rPr lang="en-US" sz="1400" dirty="0"/>
              <a:t>Green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F702C-82AF-45B6-86C1-CA6468EE8215}"/>
              </a:ext>
            </a:extLst>
          </p:cNvPr>
          <p:cNvSpPr txBox="1"/>
          <p:nvPr/>
        </p:nvSpPr>
        <p:spPr>
          <a:xfrm>
            <a:off x="5638800" y="3172858"/>
            <a:ext cx="2133600" cy="646331"/>
          </a:xfrm>
          <a:prstGeom prst="rect">
            <a:avLst/>
          </a:prstGeom>
          <a:solidFill>
            <a:schemeClr val="accent3">
              <a:lumMod val="40000"/>
              <a:lumOff val="60000"/>
              <a:alpha val="8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Multinomial logistic regression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8BD525-4DF0-4E66-A7A2-A77F850F44A4}"/>
              </a:ext>
            </a:extLst>
          </p:cNvPr>
          <p:cNvSpPr txBox="1"/>
          <p:nvPr/>
        </p:nvSpPr>
        <p:spPr>
          <a:xfrm>
            <a:off x="2148840" y="3553858"/>
            <a:ext cx="1828800" cy="646331"/>
          </a:xfrm>
          <a:prstGeom prst="rect">
            <a:avLst/>
          </a:prstGeom>
          <a:solidFill>
            <a:schemeClr val="accent3">
              <a:lumMod val="40000"/>
              <a:lumOff val="60000"/>
              <a:alpha val="80000"/>
            </a:schemeClr>
          </a:solidFill>
          <a:ln w="19050">
            <a:solidFill>
              <a:schemeClr val="accent3">
                <a:lumMod val="75000"/>
                <a:alpha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Proportional odds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87C54E-CE3D-4278-A22F-F07FF4B62E83}"/>
              </a:ext>
            </a:extLst>
          </p:cNvPr>
          <p:cNvSpPr txBox="1"/>
          <p:nvPr/>
        </p:nvSpPr>
        <p:spPr>
          <a:xfrm>
            <a:off x="3810000" y="4315391"/>
            <a:ext cx="1828800" cy="646331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Nested dichotomies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4644E-C69D-49FC-AB2B-893784BDAC6D}"/>
              </a:ext>
            </a:extLst>
          </p:cNvPr>
          <p:cNvSpPr txBox="1"/>
          <p:nvPr/>
        </p:nvSpPr>
        <p:spPr>
          <a:xfrm>
            <a:off x="1104900" y="2010877"/>
            <a:ext cx="173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For 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E5330-19E2-4B1E-990F-D5AD30469E17}"/>
              </a:ext>
            </a:extLst>
          </p:cNvPr>
          <p:cNvSpPr txBox="1"/>
          <p:nvPr/>
        </p:nvSpPr>
        <p:spPr>
          <a:xfrm>
            <a:off x="1104900" y="3091578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analysis can use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323133-D18E-4BC8-8B1A-F4A9736B4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668" y="5457924"/>
            <a:ext cx="2057143" cy="7904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71C6FA-6ECA-443E-BF09-B4481DF72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143" y="5457924"/>
            <a:ext cx="1942857" cy="7714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E76265E-F84F-4BEA-AC7B-B6190770849D}"/>
              </a:ext>
            </a:extLst>
          </p:cNvPr>
          <p:cNvSpPr txBox="1"/>
          <p:nvPr/>
        </p:nvSpPr>
        <p:spPr>
          <a:xfrm>
            <a:off x="1181100" y="4925458"/>
            <a:ext cx="2171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model these logits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11880AC-FE48-4EBE-98D2-42FF60101FAB}"/>
              </a:ext>
            </a:extLst>
          </p:cNvPr>
          <p:cNvSpPr/>
          <p:nvPr/>
        </p:nvSpPr>
        <p:spPr>
          <a:xfrm>
            <a:off x="2675052" y="1420259"/>
            <a:ext cx="454228" cy="2077720"/>
          </a:xfrm>
          <a:custGeom>
            <a:avLst/>
            <a:gdLst>
              <a:gd name="connsiteX0" fmla="*/ 220548 w 454228"/>
              <a:gd name="connsiteY0" fmla="*/ 9569 h 1828209"/>
              <a:gd name="connsiteX1" fmla="*/ 7188 w 454228"/>
              <a:gd name="connsiteY1" fmla="*/ 273729 h 1828209"/>
              <a:gd name="connsiteX2" fmla="*/ 454228 w 454228"/>
              <a:gd name="connsiteY2" fmla="*/ 1828209 h 1828209"/>
              <a:gd name="connsiteX3" fmla="*/ 454228 w 454228"/>
              <a:gd name="connsiteY3" fmla="*/ 1828209 h 1828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228" h="1828209">
                <a:moveTo>
                  <a:pt x="220548" y="9569"/>
                </a:moveTo>
                <a:cubicBezTo>
                  <a:pt x="94394" y="-9905"/>
                  <a:pt x="-31759" y="-29378"/>
                  <a:pt x="7188" y="273729"/>
                </a:cubicBezTo>
                <a:cubicBezTo>
                  <a:pt x="46135" y="576836"/>
                  <a:pt x="454228" y="1828209"/>
                  <a:pt x="454228" y="1828209"/>
                </a:cubicBezTo>
                <a:lnTo>
                  <a:pt x="454228" y="1828209"/>
                </a:ln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AF231C-39CC-43ED-B219-78B33D20B9D7}"/>
              </a:ext>
            </a:extLst>
          </p:cNvPr>
          <p:cNvSpPr/>
          <p:nvPr/>
        </p:nvSpPr>
        <p:spPr>
          <a:xfrm>
            <a:off x="4480560" y="1331592"/>
            <a:ext cx="315725" cy="2867426"/>
          </a:xfrm>
          <a:custGeom>
            <a:avLst/>
            <a:gdLst>
              <a:gd name="connsiteX0" fmla="*/ 71120 w 315725"/>
              <a:gd name="connsiteY0" fmla="*/ 42946 h 2867426"/>
              <a:gd name="connsiteX1" fmla="*/ 314960 w 315725"/>
              <a:gd name="connsiteY1" fmla="*/ 388386 h 2867426"/>
              <a:gd name="connsiteX2" fmla="*/ 0 w 315725"/>
              <a:gd name="connsiteY2" fmla="*/ 2867426 h 2867426"/>
              <a:gd name="connsiteX3" fmla="*/ 0 w 315725"/>
              <a:gd name="connsiteY3" fmla="*/ 2867426 h 2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725" h="2867426">
                <a:moveTo>
                  <a:pt x="71120" y="42946"/>
                </a:moveTo>
                <a:cubicBezTo>
                  <a:pt x="198966" y="-19708"/>
                  <a:pt x="326813" y="-82361"/>
                  <a:pt x="314960" y="388386"/>
                </a:cubicBezTo>
                <a:cubicBezTo>
                  <a:pt x="303107" y="859133"/>
                  <a:pt x="0" y="2867426"/>
                  <a:pt x="0" y="2867426"/>
                </a:cubicBezTo>
                <a:lnTo>
                  <a:pt x="0" y="2867426"/>
                </a:ln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3EFCF3-DFF0-452E-8158-3DBDB536ACD1}"/>
              </a:ext>
            </a:extLst>
          </p:cNvPr>
          <p:cNvSpPr/>
          <p:nvPr/>
        </p:nvSpPr>
        <p:spPr>
          <a:xfrm>
            <a:off x="6837680" y="1394858"/>
            <a:ext cx="376546" cy="1696720"/>
          </a:xfrm>
          <a:custGeom>
            <a:avLst/>
            <a:gdLst>
              <a:gd name="connsiteX0" fmla="*/ 71120 w 376546"/>
              <a:gd name="connsiteY0" fmla="*/ 0 h 1696720"/>
              <a:gd name="connsiteX1" fmla="*/ 375920 w 376546"/>
              <a:gd name="connsiteY1" fmla="*/ 314960 h 1696720"/>
              <a:gd name="connsiteX2" fmla="*/ 0 w 376546"/>
              <a:gd name="connsiteY2" fmla="*/ 1696720 h 169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6546" h="1696720">
                <a:moveTo>
                  <a:pt x="71120" y="0"/>
                </a:moveTo>
                <a:cubicBezTo>
                  <a:pt x="229446" y="16086"/>
                  <a:pt x="387773" y="32173"/>
                  <a:pt x="375920" y="314960"/>
                </a:cubicBezTo>
                <a:cubicBezTo>
                  <a:pt x="364067" y="597747"/>
                  <a:pt x="182033" y="1147233"/>
                  <a:pt x="0" y="169672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29AB2C-9429-46CF-A284-A7C898BCF683}"/>
              </a:ext>
            </a:extLst>
          </p:cNvPr>
          <p:cNvCxnSpPr/>
          <p:nvPr/>
        </p:nvCxnSpPr>
        <p:spPr>
          <a:xfrm>
            <a:off x="3352800" y="4315391"/>
            <a:ext cx="0" cy="106726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691C556-BA0F-4FF4-A408-DBE8A0F7D979}"/>
              </a:ext>
            </a:extLst>
          </p:cNvPr>
          <p:cNvCxnSpPr>
            <a:cxnSpLocks/>
          </p:cNvCxnSpPr>
          <p:nvPr/>
        </p:nvCxnSpPr>
        <p:spPr>
          <a:xfrm>
            <a:off x="5181599" y="4736327"/>
            <a:ext cx="1" cy="646331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1108E166-B8A5-4A5B-9910-6D138ECD2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730313"/>
            <a:ext cx="1942857" cy="592054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EEB97E-E3CD-BC09-14AB-9484BE63F45F}"/>
              </a:ext>
            </a:extLst>
          </p:cNvPr>
          <p:cNvCxnSpPr>
            <a:cxnSpLocks/>
          </p:cNvCxnSpPr>
          <p:nvPr/>
        </p:nvCxnSpPr>
        <p:spPr>
          <a:xfrm>
            <a:off x="7176489" y="3751527"/>
            <a:ext cx="0" cy="97878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12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 animBg="1"/>
      <p:bldP spid="10" grpId="0" animBg="1"/>
      <p:bldP spid="11" grpId="0" animBg="1"/>
      <p:bldP spid="19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EF34-1EBC-4558-AB59-31FB5FE4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Polytomous responses: Ordered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758CE2-9248-486F-93ED-9429A461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BA3B2-2F99-4BFB-8D0C-AEE5B788C03D}"/>
              </a:ext>
            </a:extLst>
          </p:cNvPr>
          <p:cNvSpPr txBox="1"/>
          <p:nvPr/>
        </p:nvSpPr>
        <p:spPr>
          <a:xfrm>
            <a:off x="457200" y="255457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Ordered</a:t>
            </a:r>
            <a:r>
              <a:rPr lang="en-US" sz="2400" dirty="0"/>
              <a:t> response categories, e.g., None, Some, Marked improvement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F3F8C-4681-4005-8CBA-9B4020A9B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581400"/>
            <a:ext cx="7542857" cy="1409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279B15-C612-44B1-8F61-2A02CB415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066620"/>
            <a:ext cx="7523809" cy="1285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3F969B-DFF7-48A7-B44A-7F24F3CFF2D3}"/>
              </a:ext>
            </a:extLst>
          </p:cNvPr>
          <p:cNvSpPr txBox="1"/>
          <p:nvPr/>
        </p:nvSpPr>
        <p:spPr>
          <a:xfrm>
            <a:off x="457200" y="1127892"/>
            <a:ext cx="8229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Polytomous responses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i="1" dirty="0"/>
              <a:t>m</a:t>
            </a:r>
            <a:r>
              <a:rPr lang="en-US" dirty="0"/>
              <a:t> categories </a:t>
            </a:r>
            <a:r>
              <a:rPr lang="en-US" dirty="0">
                <a:sym typeface="Symbol" panose="05050102010706020507" pitchFamily="18" charset="2"/>
              </a:rPr>
              <a:t> (</a:t>
            </a:r>
            <a:r>
              <a:rPr lang="en-US" i="1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-1) comparisons (logits)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sym typeface="Symbol" panose="05050102010706020507" pitchFamily="18" charset="2"/>
              </a:rPr>
              <a:t>One part of the model for each logit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sym typeface="Symbol" panose="05050102010706020507" pitchFamily="18" charset="2"/>
              </a:rPr>
              <a:t>Similar to ANOVA where an </a:t>
            </a:r>
            <a:r>
              <a:rPr lang="en-US" i="1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-level factor  (</a:t>
            </a:r>
            <a:r>
              <a:rPr lang="en-US" i="1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-1) contrasts (df)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863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397E-6263-4C14-8D28-3690DCBB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Polytomous responses: Unordered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66430B-4C68-423F-9299-AD5142FA7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CF2E0-FBFB-416A-8398-CB3A919E69FE}"/>
              </a:ext>
            </a:extLst>
          </p:cNvPr>
          <p:cNvSpPr txBox="1"/>
          <p:nvPr/>
        </p:nvSpPr>
        <p:spPr>
          <a:xfrm>
            <a:off x="381000" y="14478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Unordered</a:t>
            </a:r>
            <a:r>
              <a:rPr lang="en-US" sz="2400" dirty="0"/>
              <a:t> response categories, e.g., vote: NDP, Liberal, Green, 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58E9C-6337-4B80-9F96-4AF1B1783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95" y="2478237"/>
            <a:ext cx="7523809" cy="239047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3BC4D5B-C6BF-F957-1F7A-122375A8BF34}"/>
              </a:ext>
            </a:extLst>
          </p:cNvPr>
          <p:cNvGrpSpPr/>
          <p:nvPr/>
        </p:nvGrpSpPr>
        <p:grpSpPr>
          <a:xfrm>
            <a:off x="1905000" y="4953000"/>
            <a:ext cx="3276600" cy="1412796"/>
            <a:chOff x="2286000" y="4953000"/>
            <a:chExt cx="3276600" cy="141279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F719EAD-70C5-65DA-B6C9-325F55202D7C}"/>
                </a:ext>
              </a:extLst>
            </p:cNvPr>
            <p:cNvSpPr txBox="1"/>
            <p:nvPr/>
          </p:nvSpPr>
          <p:spPr>
            <a:xfrm>
              <a:off x="2286000" y="4953000"/>
              <a:ext cx="2286000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dirty="0"/>
                <a:t>NDP   Liberal     Green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DDD28F-4180-9DC4-F6E8-02BCDC454B07}"/>
                </a:ext>
              </a:extLst>
            </p:cNvPr>
            <p:cNvSpPr txBox="1"/>
            <p:nvPr/>
          </p:nvSpPr>
          <p:spPr>
            <a:xfrm>
              <a:off x="4953000" y="4953000"/>
              <a:ext cx="609600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dirty="0"/>
                <a:t>Tory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310464-E415-69E6-445E-600EDC5D9D79}"/>
                </a:ext>
              </a:extLst>
            </p:cNvPr>
            <p:cNvSpPr txBox="1"/>
            <p:nvPr/>
          </p:nvSpPr>
          <p:spPr>
            <a:xfrm>
              <a:off x="2286000" y="5474732"/>
              <a:ext cx="1371600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dirty="0"/>
                <a:t>NDP   Liberal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089635-2F66-FA98-1897-328B2115C888}"/>
                </a:ext>
              </a:extLst>
            </p:cNvPr>
            <p:cNvSpPr txBox="1"/>
            <p:nvPr/>
          </p:nvSpPr>
          <p:spPr>
            <a:xfrm>
              <a:off x="3810000" y="5474732"/>
              <a:ext cx="762000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dirty="0"/>
                <a:t>Green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353BA2-065C-AB68-6E52-9F0940A5D9CA}"/>
                </a:ext>
              </a:extLst>
            </p:cNvPr>
            <p:cNvSpPr txBox="1"/>
            <p:nvPr/>
          </p:nvSpPr>
          <p:spPr>
            <a:xfrm>
              <a:off x="2286000" y="5987018"/>
              <a:ext cx="609600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dirty="0"/>
                <a:t>NDP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936ED6-35BF-5FCA-9A3A-CEDD4BA7DB6A}"/>
                </a:ext>
              </a:extLst>
            </p:cNvPr>
            <p:cNvSpPr txBox="1"/>
            <p:nvPr/>
          </p:nvSpPr>
          <p:spPr>
            <a:xfrm>
              <a:off x="2952750" y="5996464"/>
              <a:ext cx="857250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dirty="0"/>
                <a:t>Liberal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589CBF5-20EF-B56A-EB79-E74A4B206F43}"/>
              </a:ext>
            </a:extLst>
          </p:cNvPr>
          <p:cNvSpPr txBox="1"/>
          <p:nvPr/>
        </p:nvSpPr>
        <p:spPr>
          <a:xfrm>
            <a:off x="5715002" y="4771072"/>
            <a:ext cx="29717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These contrasts are </a:t>
            </a:r>
            <a:r>
              <a:rPr lang="en-CA" dirty="0">
                <a:solidFill>
                  <a:srgbClr val="0070C0"/>
                </a:solidFill>
              </a:rPr>
              <a:t>orthogonal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Models are </a:t>
            </a:r>
            <a:r>
              <a:rPr lang="en-CA" dirty="0">
                <a:solidFill>
                  <a:srgbClr val="0070C0"/>
                </a:solidFill>
              </a:rPr>
              <a:t>independent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</a:t>
            </a:r>
            <a:r>
              <a:rPr lang="en-CA" baseline="30000" dirty="0"/>
              <a:t>2</a:t>
            </a:r>
            <a:r>
              <a:rPr lang="en-CA" dirty="0"/>
              <a:t> s add to that for combined model</a:t>
            </a:r>
          </a:p>
        </p:txBody>
      </p:sp>
    </p:spTree>
    <p:extLst>
      <p:ext uri="{BB962C8B-B14F-4D97-AF65-F5344CB8AC3E}">
        <p14:creationId xmlns:p14="http://schemas.microsoft.com/office/powerpoint/2010/main" val="2792620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C0802-A479-4F60-A25C-842ACE40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Proportional odds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E29BF-7244-4448-BAEE-5ECA5ED6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4AF6A-968B-40F9-B0A4-483655535325}"/>
              </a:ext>
            </a:extLst>
          </p:cNvPr>
          <p:cNvSpPr txBox="1"/>
          <p:nvPr/>
        </p:nvSpPr>
        <p:spPr>
          <a:xfrm>
            <a:off x="457200" y="1524000"/>
            <a:ext cx="82296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Improvement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Sex   Treatment    None    Some   Marked    Total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---   ---------    ---------------------    -----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F     Active        6       5      16        27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F     Placebo      19       7       6        32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M     Active        7       2       5        14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M     Placebo      10       0       1       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2AF4C-417F-46C7-9002-51AE2337F0A0}"/>
              </a:ext>
            </a:extLst>
          </p:cNvPr>
          <p:cNvSpPr txBox="1"/>
          <p:nvPr/>
        </p:nvSpPr>
        <p:spPr>
          <a:xfrm>
            <a:off x="457200" y="11430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Arthritis treatment data: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16CCE-0F51-44C3-BAFE-DED82A7002F1}"/>
              </a:ext>
            </a:extLst>
          </p:cNvPr>
          <p:cNvSpPr txBox="1"/>
          <p:nvPr/>
        </p:nvSpPr>
        <p:spPr>
          <a:xfrm>
            <a:off x="457200" y="3886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proportional odds </a:t>
            </a:r>
            <a:r>
              <a:rPr lang="en-US" dirty="0"/>
              <a:t>model uses logits for (m-1) = 2 </a:t>
            </a:r>
            <a:r>
              <a:rPr lang="en-US" b="1" dirty="0">
                <a:solidFill>
                  <a:srgbClr val="0070C0"/>
                </a:solidFill>
              </a:rPr>
              <a:t>adjacent category </a:t>
            </a:r>
            <a:r>
              <a:rPr lang="en-US" dirty="0"/>
              <a:t>cut-points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BF86C9-0F67-44D1-A23B-34EC4AA3D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01" y="4504278"/>
            <a:ext cx="6647619" cy="1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09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EA122B-F9AD-4E1B-BB66-55C39725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344B1F-205C-4C9D-8629-7ABBD06AA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8" y="605190"/>
            <a:ext cx="8057143" cy="5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19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90A91D-ED8E-4F91-8956-6E57C9CC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Proportional odds: Latent variable interpretation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FF2DFE-8F9C-42F3-8C24-5D259581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210FB-4357-42B6-BC94-91F12059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2046"/>
            <a:ext cx="8000000" cy="49428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9A2363-C978-44A3-9E67-A4E35B9B2463}"/>
              </a:ext>
            </a:extLst>
          </p:cNvPr>
          <p:cNvSpPr/>
          <p:nvPr/>
        </p:nvSpPr>
        <p:spPr>
          <a:xfrm>
            <a:off x="1219200" y="4038600"/>
            <a:ext cx="685800" cy="1143000"/>
          </a:xfrm>
          <a:prstGeom prst="rect">
            <a:avLst/>
          </a:prstGeom>
          <a:solidFill>
            <a:schemeClr val="accent2">
              <a:lumMod val="20000"/>
              <a:lumOff val="80000"/>
              <a:alpha val="90000"/>
            </a:schemeClr>
          </a:solidFill>
          <a:ln w="127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0EDACE-9C94-4E74-BBD9-F0531CEBD25F}"/>
              </a:ext>
            </a:extLst>
          </p:cNvPr>
          <p:cNvSpPr/>
          <p:nvPr/>
        </p:nvSpPr>
        <p:spPr>
          <a:xfrm>
            <a:off x="2082800" y="4053840"/>
            <a:ext cx="685800" cy="1143000"/>
          </a:xfrm>
          <a:prstGeom prst="rect">
            <a:avLst/>
          </a:prstGeom>
          <a:solidFill>
            <a:schemeClr val="accent2">
              <a:lumMod val="20000"/>
              <a:lumOff val="80000"/>
              <a:alpha val="90000"/>
            </a:schemeClr>
          </a:solidFill>
          <a:ln w="127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BF3A6-096B-4905-97E4-9628EBECF057}"/>
              </a:ext>
            </a:extLst>
          </p:cNvPr>
          <p:cNvSpPr txBox="1"/>
          <p:nvPr/>
        </p:nvSpPr>
        <p:spPr>
          <a:xfrm>
            <a:off x="1536700" y="4163675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15396-E239-4E9F-8AB3-D12860B638ED}"/>
              </a:ext>
            </a:extLst>
          </p:cNvPr>
          <p:cNvSpPr txBox="1"/>
          <p:nvPr/>
        </p:nvSpPr>
        <p:spPr>
          <a:xfrm>
            <a:off x="2362200" y="4163675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393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077E-E487-4BEC-8502-368910A3B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prstClr val="white"/>
                </a:solidFill>
              </a:rPr>
              <a:t>Proportional odds: Latent variable interpretation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7401F-8D0F-40E9-8472-A500291F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974351-1D06-45AD-9584-0E24CB3A3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71428" cy="41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44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8C98-715B-4E6E-97CE-9FB8BCFB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prstClr val="white"/>
                </a:solidFill>
              </a:rPr>
              <a:t>Proportional odds: Latent variable interpretation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082228-EE35-49C9-A550-EA4805BBD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62199F18-2407-4950-B94C-DEF6044C6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25535"/>
            <a:ext cx="7315200" cy="4832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546D2-A10D-456D-BE6A-E9E217CD4AA0}"/>
              </a:ext>
            </a:extLst>
          </p:cNvPr>
          <p:cNvSpPr txBox="1"/>
          <p:nvPr/>
        </p:nvSpPr>
        <p:spPr>
          <a:xfrm>
            <a:off x="533400" y="1605280"/>
            <a:ext cx="8153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plot(effect("Age", mod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arth.polr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latent = TRUE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66E81-B6CC-4BDE-A8E9-D1342132059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the effect of Age on the latent variable scale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E57CD-A1FC-4FD8-BCF8-A57BAE568266}"/>
              </a:ext>
            </a:extLst>
          </p:cNvPr>
          <p:cNvSpPr txBox="1"/>
          <p:nvPr/>
        </p:nvSpPr>
        <p:spPr>
          <a:xfrm>
            <a:off x="6553200" y="353718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Marked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2E71A-4E5B-42B8-9BD4-7E60A90EFCDF}"/>
              </a:ext>
            </a:extLst>
          </p:cNvPr>
          <p:cNvSpPr txBox="1"/>
          <p:nvPr/>
        </p:nvSpPr>
        <p:spPr>
          <a:xfrm>
            <a:off x="6553200" y="42672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983A41-63A9-447C-BD63-FEE05D57D742}"/>
              </a:ext>
            </a:extLst>
          </p:cNvPr>
          <p:cNvSpPr txBox="1"/>
          <p:nvPr/>
        </p:nvSpPr>
        <p:spPr>
          <a:xfrm>
            <a:off x="6553200" y="4896326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765F3-1ECA-9B9B-AC55-A12F7353D9EC}"/>
              </a:ext>
            </a:extLst>
          </p:cNvPr>
          <p:cNvSpPr txBox="1"/>
          <p:nvPr/>
        </p:nvSpPr>
        <p:spPr>
          <a:xfrm rot="-5400000">
            <a:off x="-1072634" y="396542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Latent variable</a:t>
            </a:r>
          </a:p>
        </p:txBody>
      </p:sp>
    </p:spTree>
    <p:extLst>
      <p:ext uri="{BB962C8B-B14F-4D97-AF65-F5344CB8AC3E}">
        <p14:creationId xmlns:p14="http://schemas.microsoft.com/office/powerpoint/2010/main" val="539028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BECC-4BDD-445E-8FFA-C80BC385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the proportional odds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F9A81D-E3F2-4E74-A1AD-7189DEBE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93D8C-0509-4421-B002-7ADF473B57A4}"/>
              </a:ext>
            </a:extLst>
          </p:cNvPr>
          <p:cNvSpPr txBox="1"/>
          <p:nvPr/>
        </p:nvSpPr>
        <p:spPr>
          <a:xfrm>
            <a:off x="457200" y="1742182"/>
            <a:ext cx="8229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data(Arthritis, package =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head(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Arthritis$Improved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Some   None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Marked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Levels: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 &lt; Some &lt; Marked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5A9F7-2B85-4F95-AE7F-FCF163EC35FF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NB: The response Improved has been defined as an </a:t>
            </a:r>
            <a:r>
              <a:rPr lang="en-US" sz="2000" dirty="0">
                <a:solidFill>
                  <a:srgbClr val="0070C0"/>
                </a:solidFill>
              </a:rPr>
              <a:t>ordered</a:t>
            </a:r>
            <a:r>
              <a:rPr lang="en-US" sz="2000" dirty="0"/>
              <a:t> factor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87BFAD-0F04-40CC-BF8D-1DA48D7F5392}"/>
              </a:ext>
            </a:extLst>
          </p:cNvPr>
          <p:cNvSpPr txBox="1"/>
          <p:nvPr/>
        </p:nvSpPr>
        <p:spPr>
          <a:xfrm>
            <a:off x="457200" y="32766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Fit the model with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polr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AB346-B518-43C4-9E36-06620A9ED431}"/>
              </a:ext>
            </a:extLst>
          </p:cNvPr>
          <p:cNvSpPr txBox="1"/>
          <p:nvPr/>
        </p:nvSpPr>
        <p:spPr>
          <a:xfrm>
            <a:off x="533400" y="3934361"/>
            <a:ext cx="81534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arth.polr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polr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Improved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~ Sex + Treatment + Age,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data = Arthritis)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arth.polr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for coefficients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arth.polr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Type II tests</a:t>
            </a:r>
          </a:p>
        </p:txBody>
      </p:sp>
    </p:spTree>
    <p:extLst>
      <p:ext uri="{BB962C8B-B14F-4D97-AF65-F5344CB8AC3E}">
        <p14:creationId xmlns:p14="http://schemas.microsoft.com/office/powerpoint/2010/main" val="642531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E781B-D99B-44EB-A8E1-E132EC9F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10B76-4F14-45DC-8222-3EB5F54ABEB9}"/>
              </a:ext>
            </a:extLst>
          </p:cNvPr>
          <p:cNvSpPr txBox="1"/>
          <p:nvPr/>
        </p:nvSpPr>
        <p:spPr>
          <a:xfrm>
            <a:off x="533400" y="1132840"/>
            <a:ext cx="8001000" cy="39703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arth.polr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# for coefficients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polr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Improved ~ Sex + Treatment + Age, data = Arthritis)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Value Std. Error t value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SexMale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-1.2517     0.5464   -2.29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TreatmentTreated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1.7453     0.4759    3.67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Age               0.0382     0.0184    2.07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Intercepts: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Value  Std. Error t value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None|Some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2.532  1.057      2.395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Some|Marked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3.431  1.091      3.144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Deviance: 145.46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AIC: 155.46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66897-E019-4CF4-BFE1-EE31E5F2CA40}"/>
              </a:ext>
            </a:extLst>
          </p:cNvPr>
          <p:cNvSpPr txBox="1"/>
          <p:nvPr/>
        </p:nvSpPr>
        <p:spPr>
          <a:xfrm>
            <a:off x="533400" y="457200"/>
            <a:ext cx="8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summary() </a:t>
            </a:r>
            <a:r>
              <a:rPr lang="en-US" sz="2400" dirty="0"/>
              <a:t>gives the standard statistical results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9A87DA-08D8-9568-C32D-751311336F36}"/>
              </a:ext>
            </a:extLst>
          </p:cNvPr>
          <p:cNvGrpSpPr/>
          <p:nvPr/>
        </p:nvGrpSpPr>
        <p:grpSpPr>
          <a:xfrm>
            <a:off x="3149601" y="5274355"/>
            <a:ext cx="4470399" cy="1071293"/>
            <a:chOff x="2552701" y="5274355"/>
            <a:chExt cx="4470399" cy="107129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3D4B896-D235-CF7A-5C8A-45FE545F030B}"/>
                </a:ext>
              </a:extLst>
            </p:cNvPr>
            <p:cNvGrpSpPr/>
            <p:nvPr/>
          </p:nvGrpSpPr>
          <p:grpSpPr>
            <a:xfrm>
              <a:off x="2552701" y="5488964"/>
              <a:ext cx="4470399" cy="856684"/>
              <a:chOff x="2552701" y="5370980"/>
              <a:chExt cx="4470399" cy="856684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9A4A854-3D1E-4E71-B4A6-7BB3F16AD309}"/>
                  </a:ext>
                </a:extLst>
              </p:cNvPr>
              <p:cNvGrpSpPr/>
              <p:nvPr/>
            </p:nvGrpSpPr>
            <p:grpSpPr>
              <a:xfrm>
                <a:off x="2743200" y="5786120"/>
                <a:ext cx="4114800" cy="152400"/>
                <a:chOff x="2743200" y="5633720"/>
                <a:chExt cx="4114800" cy="152400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260E948A-4A07-4BA9-A3E6-2F66F036D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3200" y="5638800"/>
                  <a:ext cx="4114800" cy="0"/>
                </a:xfrm>
                <a:prstGeom prst="straightConnector1">
                  <a:avLst/>
                </a:prstGeom>
                <a:ln w="31750"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78352A88-23D2-48FB-B280-AD19AD4E5C59}"/>
                    </a:ext>
                  </a:extLst>
                </p:cNvPr>
                <p:cNvCxnSpPr/>
                <p:nvPr/>
              </p:nvCxnSpPr>
              <p:spPr>
                <a:xfrm>
                  <a:off x="2743200" y="5633720"/>
                  <a:ext cx="0" cy="15240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531CFF9E-A233-41BD-BD93-F215C7B85188}"/>
                    </a:ext>
                  </a:extLst>
                </p:cNvPr>
                <p:cNvCxnSpPr/>
                <p:nvPr/>
              </p:nvCxnSpPr>
              <p:spPr>
                <a:xfrm>
                  <a:off x="3657600" y="5633720"/>
                  <a:ext cx="0" cy="15240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AB5ED8B-D085-471E-B3D2-26EA5F55753F}"/>
                    </a:ext>
                  </a:extLst>
                </p:cNvPr>
                <p:cNvCxnSpPr/>
                <p:nvPr/>
              </p:nvCxnSpPr>
              <p:spPr>
                <a:xfrm>
                  <a:off x="4572000" y="5633720"/>
                  <a:ext cx="0" cy="15240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F8EE5A2-0A24-4717-835B-06CFE62B90D7}"/>
                    </a:ext>
                  </a:extLst>
                </p:cNvPr>
                <p:cNvCxnSpPr/>
                <p:nvPr/>
              </p:nvCxnSpPr>
              <p:spPr>
                <a:xfrm>
                  <a:off x="5486400" y="5633720"/>
                  <a:ext cx="0" cy="15240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44086B62-C096-4CD0-A70F-A1F3A2405724}"/>
                    </a:ext>
                  </a:extLst>
                </p:cNvPr>
                <p:cNvCxnSpPr/>
                <p:nvPr/>
              </p:nvCxnSpPr>
              <p:spPr>
                <a:xfrm>
                  <a:off x="6400800" y="5633720"/>
                  <a:ext cx="0" cy="15240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06E7DE1-BCF9-40F4-A755-E8566F8BE586}"/>
                  </a:ext>
                </a:extLst>
              </p:cNvPr>
              <p:cNvCxnSpPr/>
              <p:nvPr/>
            </p:nvCxnSpPr>
            <p:spPr>
              <a:xfrm>
                <a:off x="5943600" y="5400040"/>
                <a:ext cx="0" cy="53848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E0B6755-1689-4849-953B-A6B5D7085096}"/>
                  </a:ext>
                </a:extLst>
              </p:cNvPr>
              <p:cNvCxnSpPr/>
              <p:nvPr/>
            </p:nvCxnSpPr>
            <p:spPr>
              <a:xfrm>
                <a:off x="5105400" y="5400040"/>
                <a:ext cx="0" cy="53848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1C5A0B-60A3-4436-97C7-AF86F445179C}"/>
                  </a:ext>
                </a:extLst>
              </p:cNvPr>
              <p:cNvSpPr txBox="1"/>
              <p:nvPr/>
            </p:nvSpPr>
            <p:spPr>
              <a:xfrm>
                <a:off x="3886201" y="5370980"/>
                <a:ext cx="990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None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30F0D7-4575-48B8-A716-98D22D4A683F}"/>
                  </a:ext>
                </a:extLst>
              </p:cNvPr>
              <p:cNvSpPr txBox="1"/>
              <p:nvPr/>
            </p:nvSpPr>
            <p:spPr>
              <a:xfrm>
                <a:off x="5105400" y="5397798"/>
                <a:ext cx="990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Some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284382-D653-4F6E-9074-B6161422BA56}"/>
                  </a:ext>
                </a:extLst>
              </p:cNvPr>
              <p:cNvSpPr txBox="1"/>
              <p:nvPr/>
            </p:nvSpPr>
            <p:spPr>
              <a:xfrm>
                <a:off x="6032500" y="5420142"/>
                <a:ext cx="990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Marked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AE48A7-15B2-41DD-99B2-946D2DF6A47B}"/>
                  </a:ext>
                </a:extLst>
              </p:cNvPr>
              <p:cNvSpPr txBox="1"/>
              <p:nvPr/>
            </p:nvSpPr>
            <p:spPr>
              <a:xfrm>
                <a:off x="2552701" y="5919887"/>
                <a:ext cx="3809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7B0925-A825-4AF5-BF5C-9A1A3D722BD6}"/>
                  </a:ext>
                </a:extLst>
              </p:cNvPr>
              <p:cNvSpPr txBox="1"/>
              <p:nvPr/>
            </p:nvSpPr>
            <p:spPr>
              <a:xfrm>
                <a:off x="4373881" y="5883026"/>
                <a:ext cx="3809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6FCFC43-92ED-4D3C-ABB0-979FAB8A4DB6}"/>
                  </a:ext>
                </a:extLst>
              </p:cNvPr>
              <p:cNvSpPr txBox="1"/>
              <p:nvPr/>
            </p:nvSpPr>
            <p:spPr>
              <a:xfrm>
                <a:off x="3467097" y="5919886"/>
                <a:ext cx="3809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3AFA1D-5F55-4357-AB66-828F4D387C2F}"/>
                  </a:ext>
                </a:extLst>
              </p:cNvPr>
              <p:cNvSpPr txBox="1"/>
              <p:nvPr/>
            </p:nvSpPr>
            <p:spPr>
              <a:xfrm>
                <a:off x="6217929" y="5889405"/>
                <a:ext cx="3809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4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40B5F4-B0E7-4CEB-B063-E25FC434B6E0}"/>
                  </a:ext>
                </a:extLst>
              </p:cNvPr>
              <p:cNvSpPr txBox="1"/>
              <p:nvPr/>
            </p:nvSpPr>
            <p:spPr>
              <a:xfrm>
                <a:off x="5295905" y="5889406"/>
                <a:ext cx="3809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3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8C8ED55-9787-80DD-0B17-1D7B7EC6CB8C}"/>
                </a:ext>
              </a:extLst>
            </p:cNvPr>
            <p:cNvSpPr txBox="1"/>
            <p:nvPr/>
          </p:nvSpPr>
          <p:spPr>
            <a:xfrm>
              <a:off x="4807975" y="5274355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dirty="0"/>
                <a:t>2.53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4E37EC-9ECF-EBD2-7C8F-E1B4C302DC81}"/>
                </a:ext>
              </a:extLst>
            </p:cNvPr>
            <p:cNvSpPr txBox="1"/>
            <p:nvPr/>
          </p:nvSpPr>
          <p:spPr>
            <a:xfrm>
              <a:off x="5638800" y="5274355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dirty="0"/>
                <a:t>3.43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C39B1F2-A646-4960-9D9D-7533CDD593DA}"/>
              </a:ext>
            </a:extLst>
          </p:cNvPr>
          <p:cNvSpPr txBox="1"/>
          <p:nvPr/>
        </p:nvSpPr>
        <p:spPr>
          <a:xfrm>
            <a:off x="901701" y="5584292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Interpretation of intercepts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A6EA0E-750E-27A8-C46D-0D7150D7B1FB}"/>
              </a:ext>
            </a:extLst>
          </p:cNvPr>
          <p:cNvSpPr txBox="1"/>
          <p:nvPr/>
        </p:nvSpPr>
        <p:spPr>
          <a:xfrm>
            <a:off x="4413117" y="6275066"/>
            <a:ext cx="2768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Degree of improvement</a:t>
            </a:r>
          </a:p>
        </p:txBody>
      </p:sp>
    </p:spTree>
    <p:extLst>
      <p:ext uri="{BB962C8B-B14F-4D97-AF65-F5344CB8AC3E}">
        <p14:creationId xmlns:p14="http://schemas.microsoft.com/office/powerpoint/2010/main" val="19262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3059BE-4A86-41C6-9949-FA647226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032F2-B0E2-411A-ABB8-EB42F7629BE7}"/>
              </a:ext>
            </a:extLst>
          </p:cNvPr>
          <p:cNvSpPr txBox="1"/>
          <p:nvPr/>
        </p:nvSpPr>
        <p:spPr>
          <a:xfrm>
            <a:off x="685800" y="1447800"/>
            <a:ext cx="78486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arth.polr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 # Type II tests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Response: Improved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LR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Sex           5.69  1    0.01708 *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 14.71  1    0.00013 ***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Age           4.57  1    0.03251 *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AAFA0-CEC8-4FC3-9107-916ABAEAC908}"/>
              </a:ext>
            </a:extLst>
          </p:cNvPr>
          <p:cNvSpPr txBox="1"/>
          <p:nvPr/>
        </p:nvSpPr>
        <p:spPr>
          <a:xfrm>
            <a:off x="685800" y="4572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car::</a:t>
            </a:r>
            <a:r>
              <a:rPr lang="en-US" sz="22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gives hypothesis tests for the model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D6247-EED9-4E59-8753-C295891E576D}"/>
              </a:ext>
            </a:extLst>
          </p:cNvPr>
          <p:cNvSpPr txBox="1"/>
          <p:nvPr/>
        </p:nvSpPr>
        <p:spPr>
          <a:xfrm>
            <a:off x="685800" y="4495800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II tests are </a:t>
            </a:r>
            <a:r>
              <a:rPr lang="en-US" dirty="0">
                <a:solidFill>
                  <a:srgbClr val="0070C0"/>
                </a:solidFill>
              </a:rPr>
              <a:t>partial</a:t>
            </a:r>
            <a:r>
              <a:rPr lang="en-US" dirty="0"/>
              <a:t> tests, controlling for the effects of all other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e.g., G</a:t>
            </a:r>
            <a:r>
              <a:rPr lang="en-US" baseline="30000" dirty="0"/>
              <a:t>2</a:t>
            </a:r>
            <a:r>
              <a:rPr lang="en-US" dirty="0"/>
              <a:t> (Sex | Treatment, Age), G</a:t>
            </a:r>
            <a:r>
              <a:rPr lang="en-US" baseline="30000" dirty="0"/>
              <a:t>2</a:t>
            </a:r>
            <a:r>
              <a:rPr lang="en-US" dirty="0"/>
              <a:t> (Treatment | Age, Sex)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NB: </a:t>
            </a:r>
            <a:r>
              <a:rPr lang="en-US" dirty="0" err="1"/>
              <a:t>anova</a:t>
            </a:r>
            <a:r>
              <a:rPr lang="en-US" dirty="0"/>
              <a:t>() gives only Type I (</a:t>
            </a:r>
            <a:r>
              <a:rPr lang="en-US" dirty="0">
                <a:solidFill>
                  <a:srgbClr val="0070C0"/>
                </a:solidFill>
              </a:rPr>
              <a:t>sequential</a:t>
            </a:r>
            <a:r>
              <a:rPr lang="en-US" dirty="0"/>
              <a:t>) tests – not usually useful</a:t>
            </a:r>
          </a:p>
        </p:txBody>
      </p:sp>
    </p:spTree>
    <p:extLst>
      <p:ext uri="{BB962C8B-B14F-4D97-AF65-F5344CB8AC3E}">
        <p14:creationId xmlns:p14="http://schemas.microsoft.com/office/powerpoint/2010/main" val="2395677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34FD42-EE99-4B65-8AB7-A732B109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Testing the proportional odds assumption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EE8B7B-1970-41DA-B449-FBFD220D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21A436-7C60-4315-8E22-8CAFF41C5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66667" cy="1876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4EBD0-CDE3-4B3B-9943-78F8AD569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28" y="3572021"/>
            <a:ext cx="8257143" cy="2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32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34FD42-EE99-4B65-8AB7-A732B109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Testing the proportional odds assumption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EE8B7B-1970-41DA-B449-FBFD220D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55BCB-003C-4328-8AD9-C205DB624F17}"/>
              </a:ext>
            </a:extLst>
          </p:cNvPr>
          <p:cNvSpPr txBox="1"/>
          <p:nvPr/>
        </p:nvSpPr>
        <p:spPr>
          <a:xfrm>
            <a:off x="457200" y="111252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VGAM, the PO model is fit using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family = cumulative(parallel=TRUE)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6EA6A-A1AE-48C0-B1AB-E55AB980E026}"/>
              </a:ext>
            </a:extLst>
          </p:cNvPr>
          <p:cNvSpPr txBox="1"/>
          <p:nvPr/>
        </p:nvSpPr>
        <p:spPr>
          <a:xfrm>
            <a:off x="457200" y="1625600"/>
            <a:ext cx="82296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library(VGAM)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(Improved ~ Sex + Treatment + Age, data=Arthritis,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family = cumulative(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parallel=TRUE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4DBCB-301A-4506-8598-D481919ECC04}"/>
              </a:ext>
            </a:extLst>
          </p:cNvPr>
          <p:cNvSpPr txBox="1"/>
          <p:nvPr/>
        </p:nvSpPr>
        <p:spPr>
          <a:xfrm>
            <a:off x="457200" y="263144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more general NPO model is fit using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parallel=FALSE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AA324-D49A-4158-A6B6-6FA149374092}"/>
              </a:ext>
            </a:extLst>
          </p:cNvPr>
          <p:cNvSpPr txBox="1"/>
          <p:nvPr/>
        </p:nvSpPr>
        <p:spPr>
          <a:xfrm>
            <a:off x="533400" y="3190240"/>
            <a:ext cx="81534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arth.npo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(Improved ~ Sex + Treatment + Age, data=Arthritis,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family = cumulative(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parallel=FALSE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DEA2E4-84BD-43AB-A27F-570DC125C519}"/>
              </a:ext>
            </a:extLst>
          </p:cNvPr>
          <p:cNvSpPr txBox="1"/>
          <p:nvPr/>
        </p:nvSpPr>
        <p:spPr>
          <a:xfrm>
            <a:off x="533400" y="393700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LR test indicates that the proportional odds model is OK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0D909-755D-4BE3-BADC-80CBF09EE907}"/>
              </a:ext>
            </a:extLst>
          </p:cNvPr>
          <p:cNvSpPr txBox="1"/>
          <p:nvPr/>
        </p:nvSpPr>
        <p:spPr>
          <a:xfrm>
            <a:off x="609600" y="4389120"/>
            <a:ext cx="80772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VGAM::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arth.npo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test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Model 1: Improved ~ Sex + Treatment + Age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Model 2: Improved ~ Sex + Treatment + Age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#Df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LogLik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1 160  -71.8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2 163  -72.7  3  1.88        0.6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A3F94-AD01-5138-DCF2-472CDFE6A848}"/>
              </a:ext>
            </a:extLst>
          </p:cNvPr>
          <p:cNvSpPr txBox="1"/>
          <p:nvPr/>
        </p:nvSpPr>
        <p:spPr>
          <a:xfrm>
            <a:off x="4800600" y="6020602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69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1E59-12F5-4EFF-ABBA-E1002807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Plotting effects in the PO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FFF7D-AC64-4C0F-AA6F-A11D1219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F97AE901-CC74-4B83-8BA6-F2755AB99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20" y="1245235"/>
            <a:ext cx="5097718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25BCDB-D817-43F9-91EA-F33CF35FD329}"/>
              </a:ext>
            </a:extLst>
          </p:cNvPr>
          <p:cNvSpPr txBox="1"/>
          <p:nvPr/>
        </p:nvSpPr>
        <p:spPr>
          <a:xfrm>
            <a:off x="5715000" y="1495385"/>
            <a:ext cx="2971800" cy="9233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library(effects)</a:t>
            </a:r>
          </a:p>
          <a:p>
            <a:r>
              <a:rPr lang="en-US" dirty="0"/>
              <a:t>plot(effect("</a:t>
            </a:r>
            <a:r>
              <a:rPr lang="en-US" b="1" dirty="0" err="1"/>
              <a:t>Treatment:Age</a:t>
            </a:r>
            <a:r>
              <a:rPr lang="en-US" dirty="0"/>
              <a:t>", </a:t>
            </a:r>
          </a:p>
          <a:p>
            <a:r>
              <a:rPr lang="en-US" dirty="0"/>
              <a:t>         </a:t>
            </a:r>
            <a:r>
              <a:rPr lang="en-US" dirty="0" err="1"/>
              <a:t>arth.polr</a:t>
            </a:r>
            <a:r>
              <a:rPr lang="en-US" dirty="0"/>
              <a:t>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43D7F-4B4A-4D53-98C3-4A4B2DBAAAF8}"/>
              </a:ext>
            </a:extLst>
          </p:cNvPr>
          <p:cNvSpPr txBox="1"/>
          <p:nvPr/>
        </p:nvSpPr>
        <p:spPr>
          <a:xfrm>
            <a:off x="5715000" y="3886200"/>
            <a:ext cx="297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default style shows separate curves for the response categories</a:t>
            </a:r>
          </a:p>
          <a:p>
            <a:endParaRPr lang="en-US" dirty="0"/>
          </a:p>
          <a:p>
            <a:r>
              <a:rPr lang="en-US" dirty="0"/>
              <a:t>Difficult to compare these in different panels</a:t>
            </a:r>
          </a:p>
        </p:txBody>
      </p:sp>
    </p:spTree>
    <p:extLst>
      <p:ext uri="{BB962C8B-B14F-4D97-AF65-F5344CB8AC3E}">
        <p14:creationId xmlns:p14="http://schemas.microsoft.com/office/powerpoint/2010/main" val="2830790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778595-6E52-408C-ADBD-D52310F3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8CA28717-EC1C-46EA-B6CD-584E462C6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828800"/>
            <a:ext cx="6858000" cy="4983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8B597A-4519-4FFB-B19F-52AE75F17A45}"/>
              </a:ext>
            </a:extLst>
          </p:cNvPr>
          <p:cNvSpPr txBox="1"/>
          <p:nvPr/>
        </p:nvSpPr>
        <p:spPr>
          <a:xfrm>
            <a:off x="762000" y="4572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comparisons are easier when the response levels are “stacked”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32D3A-1A66-4C94-81B5-6A00CAF5F6C1}"/>
              </a:ext>
            </a:extLst>
          </p:cNvPr>
          <p:cNvSpPr txBox="1"/>
          <p:nvPr/>
        </p:nvSpPr>
        <p:spPr>
          <a:xfrm>
            <a:off x="762000" y="960120"/>
            <a:ext cx="76962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plot(effect("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Treatment:Age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arth.polr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style='stacked’,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colors=scales::alpha("blue", alpha = (1:3)/8) )</a:t>
            </a:r>
          </a:p>
        </p:txBody>
      </p:sp>
    </p:spTree>
    <p:extLst>
      <p:ext uri="{BB962C8B-B14F-4D97-AF65-F5344CB8AC3E}">
        <p14:creationId xmlns:p14="http://schemas.microsoft.com/office/powerpoint/2010/main" val="1115156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778595-6E52-408C-ADBD-D52310F3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B597A-4519-4FFB-B19F-52AE75F17A45}"/>
              </a:ext>
            </a:extLst>
          </p:cNvPr>
          <p:cNvSpPr txBox="1"/>
          <p:nvPr/>
        </p:nvSpPr>
        <p:spPr>
          <a:xfrm>
            <a:off x="762000" y="4572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comparisons are easier when the response levels are “stacked”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32D3A-1A66-4C94-81B5-6A00CAF5F6C1}"/>
              </a:ext>
            </a:extLst>
          </p:cNvPr>
          <p:cNvSpPr txBox="1"/>
          <p:nvPr/>
        </p:nvSpPr>
        <p:spPr>
          <a:xfrm>
            <a:off x="762000" y="960120"/>
            <a:ext cx="76962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plot(effect("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Sex:Age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arth.polr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style='stacked’,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colors=scales::alpha("blue", alpha = (1:3)/8) )</a:t>
            </a:r>
          </a:p>
        </p:txBody>
      </p:sp>
      <p:pic>
        <p:nvPicPr>
          <p:cNvPr id="9" name="Picture 8" descr="Chart, histogram&#10;&#10;Description automatically generated">
            <a:extLst>
              <a:ext uri="{FF2B5EF4-FFF2-40B4-BE49-F238E27FC236}">
                <a16:creationId xmlns:a16="http://schemas.microsoft.com/office/drawing/2014/main" id="{A1D69D00-72A6-4C52-93BB-0647E94B1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828800"/>
            <a:ext cx="6858000" cy="49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50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FD2F382C-3DC2-49B7-9FF0-4E3D543E4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78" y="1879542"/>
            <a:ext cx="8430802" cy="49632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A964B2-B05F-4004-B930-CA1C0E003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31789-E0F7-46E3-A9FB-7FB7E760D35A}"/>
              </a:ext>
            </a:extLst>
          </p:cNvPr>
          <p:cNvSpPr txBox="1"/>
          <p:nvPr/>
        </p:nvSpPr>
        <p:spPr>
          <a:xfrm>
            <a:off x="685800" y="5334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plots are even simpler on the logit scale, using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latent = TRUE </a:t>
            </a:r>
            <a:r>
              <a:rPr lang="en-US" dirty="0"/>
              <a:t>to show the </a:t>
            </a:r>
            <a:r>
              <a:rPr lang="en-US" dirty="0" err="1"/>
              <a:t>cutpoints</a:t>
            </a:r>
            <a:r>
              <a:rPr lang="en-US" dirty="0"/>
              <a:t> between adjacent categories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AAAF1-75AA-419B-9169-D8CB02DEEA3B}"/>
              </a:ext>
            </a:extLst>
          </p:cNvPr>
          <p:cNvSpPr txBox="1"/>
          <p:nvPr/>
        </p:nvSpPr>
        <p:spPr>
          <a:xfrm>
            <a:off x="685800" y="1371600"/>
            <a:ext cx="80010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plot(effect("</a:t>
            </a:r>
            <a:r>
              <a:rPr lang="en-US" dirty="0" err="1"/>
              <a:t>Treatment:Age</a:t>
            </a:r>
            <a:r>
              <a:rPr lang="en-US" dirty="0"/>
              <a:t>", </a:t>
            </a:r>
            <a:r>
              <a:rPr lang="en-US" dirty="0" err="1"/>
              <a:t>arth.polr</a:t>
            </a:r>
            <a:r>
              <a:rPr lang="en-US" dirty="0"/>
              <a:t>, </a:t>
            </a:r>
            <a:r>
              <a:rPr lang="en-US" b="1" dirty="0"/>
              <a:t>latent = TRUE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678796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F146109C-F763-4174-AC5F-13BAF3A73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" y="3600450"/>
            <a:ext cx="8315325" cy="2876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5BBD4C-F58A-4C45-BAE2-1E2CDF075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1295400"/>
            <a:ext cx="8171428" cy="203809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121F18-9809-4993-9B44-7496D7E7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dichotomies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91C929-90E8-4C0F-B549-C348226D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3C962-67D5-D6EB-1822-8B7928F5FA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6005"/>
            <a:ext cx="728777" cy="83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A71A7-9047-477C-8600-B25A220D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dichotomies: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B33307-C004-4F03-937F-B8E16F58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E20B676-71B9-4A3F-BD72-16240A3640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7800"/>
            <a:ext cx="7696200" cy="433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780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E50B-3374-424F-9388-2088175F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Women’s </a:t>
            </a:r>
            <a:r>
              <a:rPr lang="en-US" sz="3200" dirty="0" err="1"/>
              <a:t>Labour</a:t>
            </a:r>
            <a:r>
              <a:rPr lang="en-US" sz="3200" dirty="0"/>
              <a:t>-force participation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2FA32D-2C68-4FE4-89B3-C79DAF6A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2B444-D4A2-48D2-BEDD-1C494880D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71600"/>
            <a:ext cx="8171428" cy="2647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66592A-904E-4F96-AE4C-348C8AA01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72" y="4172114"/>
            <a:ext cx="8171428" cy="131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56FA48-1E4E-420B-B2ED-72E7A942B0D2}"/>
              </a:ext>
            </a:extLst>
          </p:cNvPr>
          <p:cNvSpPr txBox="1"/>
          <p:nvPr/>
        </p:nvSpPr>
        <p:spPr>
          <a:xfrm>
            <a:off x="5715000" y="4172114"/>
            <a:ext cx="32004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children  region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31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13  present Ontario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51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parttime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10  present Prairie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74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17  present Ontario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108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19  present Ontario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131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parttime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19  present Ontario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161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15  present Ontario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178 fulltime      13   absent Ontario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66B25-4DF2-DF9D-EB91-9EF36B8AFFBC}"/>
              </a:ext>
            </a:extLst>
          </p:cNvPr>
          <p:cNvSpPr txBox="1"/>
          <p:nvPr/>
        </p:nvSpPr>
        <p:spPr>
          <a:xfrm>
            <a:off x="762000" y="58674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I’ll fit these “manually” first, then use the </a:t>
            </a:r>
            <a:r>
              <a:rPr lang="en-CA" dirty="0" err="1"/>
              <a:t>nestedLogit</a:t>
            </a:r>
            <a:r>
              <a:rPr lang="en-CA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285289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772E-0328-427C-B40A-42FBBC4FE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dichotomies: Recoding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3B044-6D98-46C6-8294-2C4D18CA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78BF7-F2A6-472F-AB4C-A0B12C16A530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R, need to create new variables,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working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fulltime</a:t>
            </a:r>
            <a:r>
              <a:rPr lang="en-US" sz="2400" dirty="0"/>
              <a:t>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0487A-9D26-4F9B-BE97-EAF4ED910DAD}"/>
              </a:ext>
            </a:extLst>
          </p:cNvPr>
          <p:cNvSpPr txBox="1"/>
          <p:nvPr/>
        </p:nvSpPr>
        <p:spPr>
          <a:xfrm>
            <a:off x="457200" y="1817906"/>
            <a:ext cx="8229600" cy="427809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Womenlf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Womenlf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|&gt;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mutate(working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ifelse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0, 1)) |&gt;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mutate(fulltime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case_when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working &amp;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"fulltime" ~ 1,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working &amp;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parttime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~ 0)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some(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Womenlf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8)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children   region working fulltime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76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parttime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38  present  Ontario       1      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93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parttime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9  present  Ontario       1      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101 fulltime      11   absent Atlantic       1       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107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13  present  Prairie       0       NA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109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19  present Atlantic       0       NA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157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parttime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15  present       BC       1      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220 fulltime      16   absent   Quebec       1       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249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23   absent   Quebec       0       NA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6D00A9-327F-387F-7010-DEC7D9EED232}"/>
              </a:ext>
            </a:extLst>
          </p:cNvPr>
          <p:cNvSpPr/>
          <p:nvPr/>
        </p:nvSpPr>
        <p:spPr>
          <a:xfrm>
            <a:off x="5257800" y="3657600"/>
            <a:ext cx="2209800" cy="2438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0692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179D-A104-4777-895C-076139A5D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dichotomies: Fitting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82E49A-C794-4DAA-AF69-37854072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3EF77-E2FF-443D-91EC-4160503CEF4C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Then, fit separate models for each dichotomy: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42FF2-3D43-4A68-98D4-7FDBD3C2EB4F}"/>
              </a:ext>
            </a:extLst>
          </p:cNvPr>
          <p:cNvSpPr txBox="1"/>
          <p:nvPr/>
        </p:nvSpPr>
        <p:spPr>
          <a:xfrm>
            <a:off x="457200" y="16002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cs typeface="Courier New" panose="02070309020205020404" pitchFamily="49" charset="0"/>
              </a:rPr>
              <a:t>Womenlf</a:t>
            </a:r>
            <a:r>
              <a:rPr lang="en-US" sz="1600" dirty="0">
                <a:cs typeface="Courier New" panose="02070309020205020404" pitchFamily="49" charset="0"/>
              </a:rPr>
              <a:t> &lt;- within(</a:t>
            </a:r>
            <a:r>
              <a:rPr lang="en-US" sz="1600" dirty="0" err="1">
                <a:cs typeface="Courier New" panose="02070309020205020404" pitchFamily="49" charset="0"/>
              </a:rPr>
              <a:t>Womenlf</a:t>
            </a:r>
            <a:r>
              <a:rPr lang="en-US" sz="1600" dirty="0">
                <a:cs typeface="Courier New" panose="02070309020205020404" pitchFamily="49" charset="0"/>
              </a:rPr>
              <a:t>, contrasts(children)&lt;- '</a:t>
            </a:r>
            <a:r>
              <a:rPr lang="en-US" sz="1600" dirty="0" err="1">
                <a:cs typeface="Courier New" panose="02070309020205020404" pitchFamily="49" charset="0"/>
              </a:rPr>
              <a:t>contr.treatment</a:t>
            </a:r>
            <a:r>
              <a:rPr lang="en-US" sz="1600" dirty="0">
                <a:cs typeface="Courier New" panose="02070309020205020404" pitchFamily="49" charset="0"/>
              </a:rPr>
              <a:t>')</a:t>
            </a:r>
          </a:p>
          <a:p>
            <a:r>
              <a:rPr lang="en-US" sz="1600" dirty="0" err="1">
                <a:cs typeface="Courier New" panose="02070309020205020404" pitchFamily="49" charset="0"/>
              </a:rPr>
              <a:t>mod.working</a:t>
            </a:r>
            <a:r>
              <a:rPr lang="en-US" sz="1600" dirty="0"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cs typeface="Courier New" panose="02070309020205020404" pitchFamily="49" charset="0"/>
              </a:rPr>
              <a:t>glm</a:t>
            </a:r>
            <a:r>
              <a:rPr lang="en-US" sz="1600" dirty="0">
                <a:cs typeface="Courier New" panose="02070309020205020404" pitchFamily="49" charset="0"/>
              </a:rPr>
              <a:t>(working ~ </a:t>
            </a:r>
            <a:r>
              <a:rPr lang="en-US" sz="1600" dirty="0" err="1">
                <a:cs typeface="Courier New" panose="02070309020205020404" pitchFamily="49" charset="0"/>
              </a:rPr>
              <a:t>hincome</a:t>
            </a:r>
            <a:r>
              <a:rPr lang="en-US" sz="1600" dirty="0">
                <a:cs typeface="Courier New" panose="02070309020205020404" pitchFamily="49" charset="0"/>
              </a:rPr>
              <a:t> + children, family=binomial, data=</a:t>
            </a:r>
            <a:r>
              <a:rPr lang="en-US" sz="1600" dirty="0" err="1">
                <a:cs typeface="Courier New" panose="02070309020205020404" pitchFamily="49" charset="0"/>
              </a:rPr>
              <a:t>Womenlf</a:t>
            </a:r>
            <a:r>
              <a:rPr lang="en-US" sz="1600" dirty="0"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 err="1">
                <a:cs typeface="Courier New" panose="02070309020205020404" pitchFamily="49" charset="0"/>
              </a:rPr>
              <a:t>mod.fulltime</a:t>
            </a:r>
            <a:r>
              <a:rPr lang="en-US" sz="1600" dirty="0"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cs typeface="Courier New" panose="02070309020205020404" pitchFamily="49" charset="0"/>
              </a:rPr>
              <a:t>glm</a:t>
            </a:r>
            <a:r>
              <a:rPr lang="en-US" sz="1600" dirty="0">
                <a:cs typeface="Courier New" panose="02070309020205020404" pitchFamily="49" charset="0"/>
              </a:rPr>
              <a:t>(fulltime ~ </a:t>
            </a:r>
            <a:r>
              <a:rPr lang="en-US" sz="1600" dirty="0" err="1">
                <a:cs typeface="Courier New" panose="02070309020205020404" pitchFamily="49" charset="0"/>
              </a:rPr>
              <a:t>hincome</a:t>
            </a:r>
            <a:r>
              <a:rPr lang="en-US" sz="1600" dirty="0">
                <a:cs typeface="Courier New" panose="02070309020205020404" pitchFamily="49" charset="0"/>
              </a:rPr>
              <a:t> + children, family=binomial, data=</a:t>
            </a:r>
            <a:r>
              <a:rPr lang="en-US" sz="1600" dirty="0" err="1">
                <a:cs typeface="Courier New" panose="02070309020205020404" pitchFamily="49" charset="0"/>
              </a:rPr>
              <a:t>Womenlf</a:t>
            </a:r>
            <a:r>
              <a:rPr lang="en-US" sz="1600" dirty="0"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A2235-D89D-47C6-8DC6-738B26BB4A2C}"/>
              </a:ext>
            </a:extLst>
          </p:cNvPr>
          <p:cNvSpPr txBox="1"/>
          <p:nvPr/>
        </p:nvSpPr>
        <p:spPr>
          <a:xfrm>
            <a:off x="457200" y="2590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output from summary(</a:t>
            </a:r>
            <a:r>
              <a:rPr lang="en-US" dirty="0" err="1"/>
              <a:t>mod.working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E6153-1590-487E-BD29-6ABD4B0144D8}"/>
              </a:ext>
            </a:extLst>
          </p:cNvPr>
          <p:cNvSpPr txBox="1"/>
          <p:nvPr/>
        </p:nvSpPr>
        <p:spPr>
          <a:xfrm>
            <a:off x="457200" y="4572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output from summary(</a:t>
            </a:r>
            <a:r>
              <a:rPr lang="en-US" dirty="0" err="1"/>
              <a:t>mod.fulltime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DCD952-DBE0-4E49-A83B-EBA2B885F9F0}"/>
              </a:ext>
            </a:extLst>
          </p:cNvPr>
          <p:cNvSpPr txBox="1"/>
          <p:nvPr/>
        </p:nvSpPr>
        <p:spPr>
          <a:xfrm>
            <a:off x="457200" y="3048000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z value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1.3358     0.3838    3.48   0.0005 ***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-0.0423     0.0198   -2.14   0.0324 *  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childrenpresent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-1.5756     0.2923   -5.39    7e-08 ***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95F0D2-8F86-43BB-9565-B3CA298E3962}"/>
              </a:ext>
            </a:extLst>
          </p:cNvPr>
          <p:cNvSpPr txBox="1"/>
          <p:nvPr/>
        </p:nvSpPr>
        <p:spPr>
          <a:xfrm>
            <a:off x="457200" y="5105400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z value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3.4778     0.7671    4.53  5.8e-06 ***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-0.1073     0.0392   -2.74   0.0061 ** 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childrenpresent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-2.6515     0.5411   -4.90  9.6e-07 ***</a:t>
            </a:r>
          </a:p>
        </p:txBody>
      </p:sp>
    </p:spTree>
    <p:extLst>
      <p:ext uri="{BB962C8B-B14F-4D97-AF65-F5344CB8AC3E}">
        <p14:creationId xmlns:p14="http://schemas.microsoft.com/office/powerpoint/2010/main" val="219437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4D5C-DF0B-4F0C-81AE-2FCE5F21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dichotomies: Combined 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354360-B5E4-4718-B146-ABE8ED10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1F2FF-B89F-43E0-A78B-B730C5DE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19209"/>
            <a:ext cx="8171428" cy="5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074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267D-66D9-4EBB-BD14-6FE145FA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dichotomies: Interpretation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EFBF65-AE4D-4A6A-8954-3E686444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CFC1A-F4FB-471B-96B0-CF742407C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10314"/>
            <a:ext cx="8171428" cy="4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04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4180-863B-4CCE-85F8-9CEFA509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dichotomies: Plotting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E1E20-8966-4658-B37B-1B1CD335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05F38-CCBE-43A1-A792-566B5571CBDF}"/>
              </a:ext>
            </a:extLst>
          </p:cNvPr>
          <p:cNvSpPr txBox="1"/>
          <p:nvPr/>
        </p:nvSpPr>
        <p:spPr>
          <a:xfrm>
            <a:off x="457200" y="12192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plotting, calculate the predicted probabilities (or logits) over a grid of combinations of the predictors in each sub-model, using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predict()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= “response” </a:t>
            </a:r>
            <a:r>
              <a:rPr lang="en-US" dirty="0"/>
              <a:t>gives these on the </a:t>
            </a:r>
            <a:r>
              <a:rPr lang="en-US" dirty="0">
                <a:solidFill>
                  <a:srgbClr val="0070C0"/>
                </a:solidFill>
              </a:rPr>
              <a:t>probability</a:t>
            </a:r>
            <a:r>
              <a:rPr lang="en-US" dirty="0"/>
              <a:t>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= “link” </a:t>
            </a:r>
            <a:r>
              <a:rPr lang="en-US" dirty="0"/>
              <a:t>(default) gives these on the </a:t>
            </a:r>
            <a:r>
              <a:rPr lang="en-US" dirty="0">
                <a:solidFill>
                  <a:srgbClr val="0070C0"/>
                </a:solidFill>
              </a:rPr>
              <a:t>logit</a:t>
            </a:r>
            <a:r>
              <a:rPr lang="en-US" dirty="0"/>
              <a:t> scale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713CC-BBA7-4DE4-A1D2-0147E1DCBF0E}"/>
              </a:ext>
            </a:extLst>
          </p:cNvPr>
          <p:cNvSpPr txBox="1"/>
          <p:nvPr/>
        </p:nvSpPr>
        <p:spPr>
          <a:xfrm>
            <a:off x="457200" y="2571413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predictors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expand.grid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=1:45, children=c('absent', 'present'))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fitted values for both sub-models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p.work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&lt;- predict(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mod.working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predictors, type='response')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p.fulltime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predict(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mod.fulltime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predictors, type='response')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582E7-92A9-4352-B1EA-7B12379973F1}"/>
              </a:ext>
            </a:extLst>
          </p:cNvPr>
          <p:cNvSpPr txBox="1"/>
          <p:nvPr/>
        </p:nvSpPr>
        <p:spPr>
          <a:xfrm>
            <a:off x="457200" y="382143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fitted value for the fulltime dichotomy is </a:t>
            </a:r>
            <a:r>
              <a:rPr lang="en-US" dirty="0">
                <a:solidFill>
                  <a:srgbClr val="0070C0"/>
                </a:solidFill>
              </a:rPr>
              <a:t>conditional</a:t>
            </a:r>
            <a:r>
              <a:rPr lang="en-US" dirty="0"/>
              <a:t> on working outside the home; multiplying by the probability of working gives the </a:t>
            </a:r>
            <a:r>
              <a:rPr lang="en-US" dirty="0">
                <a:solidFill>
                  <a:srgbClr val="0070C0"/>
                </a:solidFill>
              </a:rPr>
              <a:t>unconditional</a:t>
            </a:r>
            <a:r>
              <a:rPr lang="en-US" dirty="0"/>
              <a:t> probability.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B5557-3060-460E-9934-41E51597E565}"/>
              </a:ext>
            </a:extLst>
          </p:cNvPr>
          <p:cNvSpPr txBox="1"/>
          <p:nvPr/>
        </p:nvSpPr>
        <p:spPr>
          <a:xfrm>
            <a:off x="533400" y="4800600"/>
            <a:ext cx="81534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p.work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p.fulltime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p.part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p.work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 (1 -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p.fulltime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p.not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&lt;- 1 -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p.work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572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2A99E0-AF97-412F-94C0-489A533C0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AFD1E0BA-4F3A-42DD-B1DF-8D2A9B188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33600"/>
            <a:ext cx="8211696" cy="41153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F73B1E-8978-4E46-B1B9-BEA4962F9ACD}"/>
              </a:ext>
            </a:extLst>
          </p:cNvPr>
          <p:cNvSpPr txBox="1"/>
          <p:nvPr/>
        </p:nvSpPr>
        <p:spPr>
          <a:xfrm>
            <a:off x="762000" y="762000"/>
            <a:ext cx="775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plot is produced using base R functions plot(), lines() and legend()</a:t>
            </a:r>
          </a:p>
          <a:p>
            <a:r>
              <a:rPr lang="en-US" dirty="0"/>
              <a:t>See the file: </a:t>
            </a:r>
            <a:r>
              <a:rPr lang="en-US" dirty="0" err="1">
                <a:hlinkClick r:id="rId3"/>
              </a:rPr>
              <a:t>wlf-nested.R</a:t>
            </a:r>
            <a:r>
              <a:rPr lang="en-US" dirty="0">
                <a:hlinkClick r:id="rId3"/>
              </a:rPr>
              <a:t> </a:t>
            </a:r>
            <a:r>
              <a:rPr lang="en-US" dirty="0"/>
              <a:t>on the course web page for details</a:t>
            </a:r>
          </a:p>
        </p:txBody>
      </p:sp>
    </p:spTree>
    <p:extLst>
      <p:ext uri="{BB962C8B-B14F-4D97-AF65-F5344CB8AC3E}">
        <p14:creationId xmlns:p14="http://schemas.microsoft.com/office/powerpoint/2010/main" val="1609914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CECFD7-2395-85A1-DDD9-6BE18CB5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nestedLogit</a:t>
            </a:r>
            <a:r>
              <a:rPr lang="en-CA" dirty="0"/>
              <a:t> package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F3C4C-E488-213F-62BA-A8000EBE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877201-A0A4-5864-E95A-5650796FC0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6005"/>
            <a:ext cx="728777" cy="8332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6E1CE8-BB88-25E2-F3A2-0FE599DA70F4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 </a:t>
            </a:r>
            <a:r>
              <a:rPr lang="en-CA" sz="2400" dirty="0" err="1"/>
              <a:t>nestedLogit</a:t>
            </a:r>
            <a:r>
              <a:rPr lang="en-CA" sz="2400" dirty="0"/>
              <a:t> pkg makes this all much easier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53F1C-D56A-7694-C39C-560350659206}"/>
              </a:ext>
            </a:extLst>
          </p:cNvPr>
          <p:cNvSpPr txBox="1"/>
          <p:nvPr/>
        </p:nvSpPr>
        <p:spPr>
          <a:xfrm>
            <a:off x="609600" y="1828800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Define the response: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Aptos Mono" panose="020B0009020202020204" pitchFamily="49" charset="0"/>
              </a:rPr>
              <a:t>dichotomy() </a:t>
            </a:r>
            <a:r>
              <a:rPr lang="en-CA" dirty="0"/>
              <a:t>specifies a single dichotomous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Aptos Mono" panose="020B0009020202020204" pitchFamily="49" charset="0"/>
              </a:rPr>
              <a:t>logits() </a:t>
            </a:r>
            <a:r>
              <a:rPr lang="en-CA" dirty="0"/>
              <a:t>creates the </a:t>
            </a:r>
            <a:r>
              <a:rPr lang="en-CA" i="1" dirty="0"/>
              <a:t>m</a:t>
            </a:r>
            <a:r>
              <a:rPr lang="en-CA" dirty="0"/>
              <a:t>-1 dichotomies for the </a:t>
            </a:r>
            <a:r>
              <a:rPr lang="en-CA" i="1" dirty="0"/>
              <a:t>m</a:t>
            </a:r>
            <a:r>
              <a:rPr lang="en-CA" dirty="0"/>
              <a:t>-level response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B4D5A-D62E-B657-B824-BDCDC8AC7BEC}"/>
              </a:ext>
            </a:extLst>
          </p:cNvPr>
          <p:cNvSpPr txBox="1"/>
          <p:nvPr/>
        </p:nvSpPr>
        <p:spPr>
          <a:xfrm>
            <a:off x="609600" y="2971800"/>
            <a:ext cx="80772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comparisons &lt;- 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logits(work=</a:t>
            </a:r>
            <a:r>
              <a:rPr lang="en-CA" sz="1600" b="1" dirty="0">
                <a:latin typeface="Aptos Mono" panose="020B0009020202020204" pitchFamily="49" charset="0"/>
              </a:rPr>
              <a:t>dichotomy</a:t>
            </a:r>
            <a:r>
              <a:rPr lang="en-CA" sz="1600" dirty="0">
                <a:latin typeface="Aptos Mono" panose="020B0009020202020204" pitchFamily="49" charset="0"/>
              </a:rPr>
              <a:t>("</a:t>
            </a:r>
            <a:r>
              <a:rPr lang="en-CA" sz="1600" dirty="0" err="1">
                <a:latin typeface="Aptos Mono" panose="020B0009020202020204" pitchFamily="49" charset="0"/>
              </a:rPr>
              <a:t>not.work</a:t>
            </a:r>
            <a:r>
              <a:rPr lang="en-CA" sz="1600" dirty="0">
                <a:latin typeface="Aptos Mono" panose="020B0009020202020204" pitchFamily="49" charset="0"/>
              </a:rPr>
              <a:t>",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                  c("parttime", "fulltime")),        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   full=</a:t>
            </a:r>
            <a:r>
              <a:rPr lang="en-CA" sz="1600" b="1" dirty="0">
                <a:latin typeface="Aptos Mono" panose="020B0009020202020204" pitchFamily="49" charset="0"/>
              </a:rPr>
              <a:t>dichotomy</a:t>
            </a:r>
            <a:r>
              <a:rPr lang="en-CA" sz="1600" dirty="0">
                <a:latin typeface="Aptos Mono" panose="020B0009020202020204" pitchFamily="49" charset="0"/>
              </a:rPr>
              <a:t>("parttime", "fulltime"))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06B91C-8AC9-A742-02A7-B4193FAE289B}"/>
              </a:ext>
            </a:extLst>
          </p:cNvPr>
          <p:cNvSpPr txBox="1"/>
          <p:nvPr/>
        </p:nvSpPr>
        <p:spPr>
          <a:xfrm>
            <a:off x="609600" y="4267200"/>
            <a:ext cx="80772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&gt; comparisons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work: {</a:t>
            </a:r>
            <a:r>
              <a:rPr lang="en-CA" sz="1600" dirty="0" err="1">
                <a:latin typeface="Aptos Mono" panose="020B0009020202020204" pitchFamily="49" charset="0"/>
              </a:rPr>
              <a:t>not.work</a:t>
            </a:r>
            <a:r>
              <a:rPr lang="en-CA" sz="1600" dirty="0">
                <a:latin typeface="Aptos Mono" panose="020B0009020202020204" pitchFamily="49" charset="0"/>
              </a:rPr>
              <a:t>} vs. {parttime, fulltime}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full: {parttime} vs. {fulltime}</a:t>
            </a:r>
          </a:p>
          <a:p>
            <a:endParaRPr lang="en-CA" sz="1600" dirty="0">
              <a:latin typeface="Aptos Mono" panose="020B0009020202020204" pitchFamily="49" charset="0"/>
            </a:endParaRPr>
          </a:p>
          <a:p>
            <a:pPr latinLnBrk="1"/>
            <a:r>
              <a:rPr lang="en-CA" sz="1600" dirty="0">
                <a:latin typeface="Aptos Mono" panose="020B0009020202020204" pitchFamily="49" charset="0"/>
              </a:rPr>
              <a:t>&gt; </a:t>
            </a:r>
            <a:r>
              <a:rPr lang="en-CA" sz="1600" dirty="0" err="1">
                <a:latin typeface="Aptos Mono" panose="020B0009020202020204" pitchFamily="49" charset="0"/>
              </a:rPr>
              <a:t>as.matrix</a:t>
            </a:r>
            <a:r>
              <a:rPr lang="en-CA" sz="1600" dirty="0">
                <a:latin typeface="Aptos Mono" panose="020B0009020202020204" pitchFamily="49" charset="0"/>
              </a:rPr>
              <a:t>(comparisons)</a:t>
            </a:r>
          </a:p>
          <a:p>
            <a:pPr latinLnBrk="1"/>
            <a:r>
              <a:rPr lang="en-CA" sz="1600" dirty="0">
                <a:latin typeface="Aptos Mono" panose="020B0009020202020204" pitchFamily="49" charset="0"/>
              </a:rPr>
              <a:t>     </a:t>
            </a:r>
            <a:r>
              <a:rPr lang="en-CA" sz="1600" dirty="0" err="1">
                <a:latin typeface="Aptos Mono" panose="020B0009020202020204" pitchFamily="49" charset="0"/>
              </a:rPr>
              <a:t>not.work</a:t>
            </a:r>
            <a:r>
              <a:rPr lang="en-CA" sz="1600" dirty="0">
                <a:latin typeface="Aptos Mono" panose="020B0009020202020204" pitchFamily="49" charset="0"/>
              </a:rPr>
              <a:t> parttime fulltime</a:t>
            </a:r>
          </a:p>
          <a:p>
            <a:pPr latinLnBrk="1"/>
            <a:r>
              <a:rPr lang="en-CA" sz="1600" dirty="0">
                <a:latin typeface="Aptos Mono" panose="020B0009020202020204" pitchFamily="49" charset="0"/>
              </a:rPr>
              <a:t>work        0        1        1</a:t>
            </a:r>
          </a:p>
          <a:p>
            <a:pPr latinLnBrk="1"/>
            <a:r>
              <a:rPr lang="en-CA" sz="1600" dirty="0">
                <a:latin typeface="Aptos Mono" panose="020B0009020202020204" pitchFamily="49" charset="0"/>
              </a:rPr>
              <a:t>full       NA        0        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5FB9D6-456B-5760-A123-5D029C7B05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201" y="233572"/>
            <a:ext cx="728777" cy="83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3528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7034B-3941-06C8-E7EE-CFEACCC2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852651-3C3A-6198-5A82-B5C3377D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nestedLogit</a:t>
            </a:r>
            <a:r>
              <a:rPr lang="en-CA" dirty="0"/>
              <a:t> package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9A3D4F-C56D-2EEB-5682-AEA5B3C3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C1DBEB-D1C0-8065-927E-F35EBF7583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6005"/>
            <a:ext cx="728777" cy="833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437660-A969-F16B-4F96-CD0404B69F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201" y="233572"/>
            <a:ext cx="728777" cy="8332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DD5A29-6622-2BD1-BE91-868A752B25FC}"/>
              </a:ext>
            </a:extLst>
          </p:cNvPr>
          <p:cNvSpPr txBox="1"/>
          <p:nvPr/>
        </p:nvSpPr>
        <p:spPr>
          <a:xfrm>
            <a:off x="457200" y="1295400"/>
            <a:ext cx="82267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Fitting the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 err="1"/>
              <a:t>nestedLogit</a:t>
            </a:r>
            <a:r>
              <a:rPr lang="en-CA" sz="2000" dirty="0"/>
              <a:t>() fits </a:t>
            </a:r>
            <a:r>
              <a:rPr lang="en-CA" sz="2000" dirty="0">
                <a:solidFill>
                  <a:srgbClr val="FF0000"/>
                </a:solidFill>
              </a:rPr>
              <a:t>all</a:t>
            </a:r>
            <a:r>
              <a:rPr lang="en-CA" sz="2000" dirty="0"/>
              <a:t> the m-1 models for the dichotomies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methods: print(), summary(), car::Anova(), broom::glance(), predict()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D3934-082D-3CC0-E717-ECF2CD851C28}"/>
              </a:ext>
            </a:extLst>
          </p:cNvPr>
          <p:cNvSpPr txBox="1"/>
          <p:nvPr/>
        </p:nvSpPr>
        <p:spPr>
          <a:xfrm>
            <a:off x="457200" y="2590800"/>
            <a:ext cx="8226778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Aptos Mono" panose="020B0009020202020204" pitchFamily="49" charset="0"/>
              </a:rPr>
              <a:t>wlf.nested</a:t>
            </a:r>
            <a:r>
              <a:rPr lang="en-CA" sz="1600" dirty="0">
                <a:latin typeface="Aptos Mono" panose="020B0009020202020204" pitchFamily="49" charset="0"/>
              </a:rPr>
              <a:t> &lt;- </a:t>
            </a:r>
            <a:r>
              <a:rPr lang="en-CA" sz="1600" dirty="0" err="1">
                <a:latin typeface="Aptos Mono" panose="020B0009020202020204" pitchFamily="49" charset="0"/>
              </a:rPr>
              <a:t>nestedLogit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</a:t>
            </a:r>
            <a:r>
              <a:rPr lang="en-CA" sz="1600" dirty="0" err="1">
                <a:latin typeface="Aptos Mono" panose="020B0009020202020204" pitchFamily="49" charset="0"/>
              </a:rPr>
              <a:t>partic</a:t>
            </a:r>
            <a:r>
              <a:rPr lang="en-CA" sz="1600" dirty="0">
                <a:latin typeface="Aptos Mono" panose="020B0009020202020204" pitchFamily="49" charset="0"/>
              </a:rPr>
              <a:t> ~ </a:t>
            </a:r>
            <a:r>
              <a:rPr lang="en-CA" sz="1600" dirty="0" err="1">
                <a:latin typeface="Aptos Mono" panose="020B0009020202020204" pitchFamily="49" charset="0"/>
              </a:rPr>
              <a:t>hincome</a:t>
            </a:r>
            <a:r>
              <a:rPr lang="en-CA" sz="1600" dirty="0">
                <a:latin typeface="Aptos Mono" panose="020B0009020202020204" pitchFamily="49" charset="0"/>
              </a:rPr>
              <a:t> + children,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dichotomies = comparisons,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data=</a:t>
            </a:r>
            <a:r>
              <a:rPr lang="en-CA" sz="1600" dirty="0" err="1">
                <a:latin typeface="Aptos Mono" panose="020B0009020202020204" pitchFamily="49" charset="0"/>
              </a:rPr>
              <a:t>Womenlf</a:t>
            </a:r>
            <a:r>
              <a:rPr lang="en-CA" sz="1600" dirty="0"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CEF8A-D1EB-7C71-C93D-BE76A1C570F4}"/>
              </a:ext>
            </a:extLst>
          </p:cNvPr>
          <p:cNvSpPr txBox="1"/>
          <p:nvPr/>
        </p:nvSpPr>
        <p:spPr>
          <a:xfrm>
            <a:off x="457200" y="3905071"/>
            <a:ext cx="8074378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Aptos Mono" panose="020B0009020202020204" pitchFamily="49" charset="0"/>
              </a:rPr>
              <a:t>&gt; broom::glance(</a:t>
            </a:r>
            <a:r>
              <a:rPr lang="en-CA" sz="1200" dirty="0" err="1">
                <a:latin typeface="Aptos Mono" panose="020B0009020202020204" pitchFamily="49" charset="0"/>
              </a:rPr>
              <a:t>wlf.nested</a:t>
            </a:r>
            <a:r>
              <a:rPr lang="en-CA" sz="1200" dirty="0">
                <a:latin typeface="Aptos Mono" panose="020B0009020202020204" pitchFamily="49" charset="0"/>
              </a:rPr>
              <a:t>)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# A </a:t>
            </a:r>
            <a:r>
              <a:rPr lang="en-CA" sz="1200" dirty="0" err="1">
                <a:latin typeface="Aptos Mono" panose="020B0009020202020204" pitchFamily="49" charset="0"/>
              </a:rPr>
              <a:t>tibble</a:t>
            </a:r>
            <a:r>
              <a:rPr lang="en-CA" sz="1200" dirty="0">
                <a:latin typeface="Aptos Mono" panose="020B0009020202020204" pitchFamily="49" charset="0"/>
              </a:rPr>
              <a:t>: 2 × 9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 response </a:t>
            </a:r>
            <a:r>
              <a:rPr lang="en-CA" sz="1200" dirty="0" err="1">
                <a:latin typeface="Aptos Mono" panose="020B0009020202020204" pitchFamily="49" charset="0"/>
              </a:rPr>
              <a:t>null.deviance</a:t>
            </a:r>
            <a:r>
              <a:rPr lang="en-CA" sz="1200" dirty="0">
                <a:latin typeface="Aptos Mono" panose="020B0009020202020204" pitchFamily="49" charset="0"/>
              </a:rPr>
              <a:t> </a:t>
            </a:r>
            <a:r>
              <a:rPr lang="en-CA" sz="1200" dirty="0" err="1">
                <a:latin typeface="Aptos Mono" panose="020B0009020202020204" pitchFamily="49" charset="0"/>
              </a:rPr>
              <a:t>df.null</a:t>
            </a:r>
            <a:r>
              <a:rPr lang="en-CA" sz="1200" dirty="0">
                <a:latin typeface="Aptos Mono" panose="020B0009020202020204" pitchFamily="49" charset="0"/>
              </a:rPr>
              <a:t> </a:t>
            </a:r>
            <a:r>
              <a:rPr lang="en-CA" sz="1200" dirty="0" err="1">
                <a:latin typeface="Aptos Mono" panose="020B0009020202020204" pitchFamily="49" charset="0"/>
              </a:rPr>
              <a:t>logLik</a:t>
            </a:r>
            <a:r>
              <a:rPr lang="en-CA" sz="1200" dirty="0">
                <a:latin typeface="Aptos Mono" panose="020B0009020202020204" pitchFamily="49" charset="0"/>
              </a:rPr>
              <a:t>   AIC   BIC deviance </a:t>
            </a:r>
            <a:r>
              <a:rPr lang="en-CA" sz="1200" dirty="0" err="1">
                <a:latin typeface="Aptos Mono" panose="020B0009020202020204" pitchFamily="49" charset="0"/>
              </a:rPr>
              <a:t>df.residual</a:t>
            </a:r>
            <a:r>
              <a:rPr lang="en-CA" sz="1200" dirty="0">
                <a:latin typeface="Aptos Mono" panose="020B0009020202020204" pitchFamily="49" charset="0"/>
              </a:rPr>
              <a:t>  nobs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 &lt;chr&gt;            &lt;</a:t>
            </a:r>
            <a:r>
              <a:rPr lang="en-CA" sz="1200" dirty="0" err="1">
                <a:latin typeface="Aptos Mono" panose="020B0009020202020204" pitchFamily="49" charset="0"/>
              </a:rPr>
              <a:t>dbl</a:t>
            </a:r>
            <a:r>
              <a:rPr lang="en-CA" sz="1200" dirty="0">
                <a:latin typeface="Aptos Mono" panose="020B0009020202020204" pitchFamily="49" charset="0"/>
              </a:rPr>
              <a:t>&gt;   &lt;int&gt;  &lt;</a:t>
            </a:r>
            <a:r>
              <a:rPr lang="en-CA" sz="1200" dirty="0" err="1">
                <a:latin typeface="Aptos Mono" panose="020B0009020202020204" pitchFamily="49" charset="0"/>
              </a:rPr>
              <a:t>dbl</a:t>
            </a:r>
            <a:r>
              <a:rPr lang="en-CA" sz="1200" dirty="0">
                <a:latin typeface="Aptos Mono" panose="020B0009020202020204" pitchFamily="49" charset="0"/>
              </a:rPr>
              <a:t>&gt; &lt;</a:t>
            </a:r>
            <a:r>
              <a:rPr lang="en-CA" sz="1200" dirty="0" err="1">
                <a:latin typeface="Aptos Mono" panose="020B0009020202020204" pitchFamily="49" charset="0"/>
              </a:rPr>
              <a:t>dbl</a:t>
            </a:r>
            <a:r>
              <a:rPr lang="en-CA" sz="1200" dirty="0">
                <a:latin typeface="Aptos Mono" panose="020B0009020202020204" pitchFamily="49" charset="0"/>
              </a:rPr>
              <a:t>&gt; &lt;</a:t>
            </a:r>
            <a:r>
              <a:rPr lang="en-CA" sz="1200" dirty="0" err="1">
                <a:latin typeface="Aptos Mono" panose="020B0009020202020204" pitchFamily="49" charset="0"/>
              </a:rPr>
              <a:t>dbl</a:t>
            </a:r>
            <a:r>
              <a:rPr lang="en-CA" sz="1200" dirty="0">
                <a:latin typeface="Aptos Mono" panose="020B0009020202020204" pitchFamily="49" charset="0"/>
              </a:rPr>
              <a:t>&gt;    &lt;</a:t>
            </a:r>
            <a:r>
              <a:rPr lang="en-CA" sz="1200" dirty="0" err="1">
                <a:latin typeface="Aptos Mono" panose="020B0009020202020204" pitchFamily="49" charset="0"/>
              </a:rPr>
              <a:t>dbl</a:t>
            </a:r>
            <a:r>
              <a:rPr lang="en-CA" sz="1200" dirty="0">
                <a:latin typeface="Aptos Mono" panose="020B0009020202020204" pitchFamily="49" charset="0"/>
              </a:rPr>
              <a:t>&gt;       &lt;int&gt; &lt;int&gt;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1 work              356.     262 -160.   326.  336.     320.         260   263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2 full              144.     107  -52.2  110.  119.     104.         105   108</a:t>
            </a:r>
          </a:p>
        </p:txBody>
      </p:sp>
    </p:spTree>
    <p:extLst>
      <p:ext uri="{BB962C8B-B14F-4D97-AF65-F5344CB8AC3E}">
        <p14:creationId xmlns:p14="http://schemas.microsoft.com/office/powerpoint/2010/main" val="12903480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8FB68-C16C-828D-0FE7-AB2EF4AE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72C3D-A97E-4746-602C-EDD1638FD705}"/>
              </a:ext>
            </a:extLst>
          </p:cNvPr>
          <p:cNvSpPr txBox="1"/>
          <p:nvPr/>
        </p:nvSpPr>
        <p:spPr>
          <a:xfrm>
            <a:off x="609600" y="1555552"/>
            <a:ext cx="7848600" cy="461664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</a:rPr>
              <a:t>&gt; Anova(</a:t>
            </a:r>
            <a:r>
              <a:rPr lang="en-CA" sz="1400" dirty="0" err="1">
                <a:latin typeface="Aptos Mono" panose="020B0009020202020204" pitchFamily="49" charset="0"/>
              </a:rPr>
              <a:t>wlf.nested</a:t>
            </a:r>
            <a:r>
              <a:rPr lang="en-CA" sz="1400" dirty="0">
                <a:latin typeface="Aptos Mono" panose="020B0009020202020204" pitchFamily="49" charset="0"/>
              </a:rPr>
              <a:t>)</a:t>
            </a:r>
          </a:p>
          <a:p>
            <a:endParaRPr lang="en-CA" sz="1400" dirty="0">
              <a:latin typeface="Aptos Mono" panose="020B00090202020202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</a:rPr>
              <a:t> Analysis of Deviance Tables (Type II tests)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 </a:t>
            </a:r>
          </a:p>
          <a:p>
            <a:r>
              <a:rPr lang="en-CA" sz="1400" b="1" dirty="0">
                <a:latin typeface="Aptos Mono" panose="020B0009020202020204" pitchFamily="49" charset="0"/>
              </a:rPr>
              <a:t>Response work</a:t>
            </a:r>
            <a:r>
              <a:rPr lang="en-CA" sz="1400" dirty="0">
                <a:latin typeface="Aptos Mono" panose="020B0009020202020204" pitchFamily="49" charset="0"/>
              </a:rPr>
              <a:t>: {</a:t>
            </a:r>
            <a:r>
              <a:rPr lang="en-CA" sz="1400" dirty="0" err="1">
                <a:latin typeface="Aptos Mono" panose="020B0009020202020204" pitchFamily="49" charset="0"/>
              </a:rPr>
              <a:t>not.work</a:t>
            </a:r>
            <a:r>
              <a:rPr lang="en-CA" sz="1400" dirty="0">
                <a:latin typeface="Aptos Mono" panose="020B0009020202020204" pitchFamily="49" charset="0"/>
              </a:rPr>
              <a:t>} vs. {parttime, fulltime}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         LR 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)    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hincome</a:t>
            </a:r>
            <a:r>
              <a:rPr lang="en-CA" sz="1400" dirty="0">
                <a:latin typeface="Aptos Mono" panose="020B0009020202020204" pitchFamily="49" charset="0"/>
              </a:rPr>
              <a:t>    4.8264  1    0.02803 *  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children  31.3229  1  2.185e-08 ***</a:t>
            </a:r>
          </a:p>
          <a:p>
            <a:endParaRPr lang="en-CA" sz="1400" dirty="0">
              <a:latin typeface="Aptos Mono" panose="020B0009020202020204" pitchFamily="49" charset="0"/>
            </a:endParaRPr>
          </a:p>
          <a:p>
            <a:r>
              <a:rPr lang="en-CA" sz="1400" b="1" dirty="0">
                <a:latin typeface="Aptos Mono" panose="020B0009020202020204" pitchFamily="49" charset="0"/>
              </a:rPr>
              <a:t>Response full</a:t>
            </a:r>
            <a:r>
              <a:rPr lang="en-CA" sz="1400" dirty="0">
                <a:latin typeface="Aptos Mono" panose="020B0009020202020204" pitchFamily="49" charset="0"/>
              </a:rPr>
              <a:t>: {parttime} vs. {fulltime}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         LR 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)    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hincome</a:t>
            </a:r>
            <a:r>
              <a:rPr lang="en-CA" sz="1400" dirty="0">
                <a:latin typeface="Aptos Mono" panose="020B0009020202020204" pitchFamily="49" charset="0"/>
              </a:rPr>
              <a:t>     8.981  1   0.002728 ** 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children   32.136  1  1.437e-08 ***</a:t>
            </a:r>
          </a:p>
          <a:p>
            <a:endParaRPr lang="en-CA" sz="1400" dirty="0">
              <a:latin typeface="Aptos Mono" panose="020B0009020202020204" pitchFamily="49" charset="0"/>
            </a:endParaRPr>
          </a:p>
          <a:p>
            <a:endParaRPr lang="en-CA" sz="1400" dirty="0">
              <a:latin typeface="Aptos Mono" panose="020B0009020202020204" pitchFamily="49" charset="0"/>
            </a:endParaRPr>
          </a:p>
          <a:p>
            <a:r>
              <a:rPr lang="en-CA" sz="1400" b="1" dirty="0">
                <a:latin typeface="Aptos Mono" panose="020B0009020202020204" pitchFamily="49" charset="0"/>
              </a:rPr>
              <a:t>Combined Responses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         LR 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)    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hincome</a:t>
            </a:r>
            <a:r>
              <a:rPr lang="en-CA" sz="1400" dirty="0">
                <a:latin typeface="Aptos Mono" panose="020B0009020202020204" pitchFamily="49" charset="0"/>
              </a:rPr>
              <a:t>    13.808  2   0.001004 ** 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children   63.459  2   1.66e-14 ***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74AB4-9AF1-4885-87F2-EABFB4CAE7BA}"/>
              </a:ext>
            </a:extLst>
          </p:cNvPr>
          <p:cNvSpPr txBox="1"/>
          <p:nvPr/>
        </p:nvSpPr>
        <p:spPr>
          <a:xfrm>
            <a:off x="609600" y="533400"/>
            <a:ext cx="784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car::Anova() </a:t>
            </a:r>
            <a:r>
              <a:rPr lang="en-CA" sz="2000" dirty="0"/>
              <a:t>gives the Type II tests for each dichotomy as well as for overall model</a:t>
            </a:r>
          </a:p>
        </p:txBody>
      </p:sp>
    </p:spTree>
    <p:extLst>
      <p:ext uri="{BB962C8B-B14F-4D97-AF65-F5344CB8AC3E}">
        <p14:creationId xmlns:p14="http://schemas.microsoft.com/office/powerpoint/2010/main" val="39176073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2292E-4186-148A-A6C4-EA76FDD2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23221-A758-7EB4-8F36-3A597CA41467}"/>
              </a:ext>
            </a:extLst>
          </p:cNvPr>
          <p:cNvSpPr txBox="1"/>
          <p:nvPr/>
        </p:nvSpPr>
        <p:spPr>
          <a:xfrm>
            <a:off x="457200" y="382411"/>
            <a:ext cx="838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Plotting follows the now-familiar pattern: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Obtain fitted values, </a:t>
            </a:r>
            <a:r>
              <a:rPr lang="en-CA" dirty="0" err="1"/>
              <a:t>s.e.</a:t>
            </a:r>
            <a:r>
              <a:rPr lang="en-CA" dirty="0"/>
              <a:t> over a grid of the values of predictors (</a:t>
            </a:r>
            <a:r>
              <a:rPr lang="en-CA" dirty="0" err="1"/>
              <a:t>hincome</a:t>
            </a:r>
            <a:r>
              <a:rPr lang="en-CA" dirty="0"/>
              <a:t>, children)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Plot these as points, lines, with a ribbon showing confidence bands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00281-DB58-F018-2C72-4C0ED6A6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48" y="1828800"/>
            <a:ext cx="6580952" cy="3780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740580-6E81-652E-DE99-83FA39D6E555}"/>
              </a:ext>
            </a:extLst>
          </p:cNvPr>
          <p:cNvSpPr txBox="1"/>
          <p:nvPr/>
        </p:nvSpPr>
        <p:spPr>
          <a:xfrm>
            <a:off x="1143000" y="5943600"/>
            <a:ext cx="7315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Code: </a:t>
            </a:r>
            <a:r>
              <a:rPr lang="en-CA" sz="1600" dirty="0">
                <a:hlinkClick r:id="rId3"/>
              </a:rPr>
              <a:t>https://friendly.github.io/nestedLogit/articles/plotting-ggplot.html</a:t>
            </a:r>
            <a:r>
              <a:rPr lang="en-C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08792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72EE41-0711-D009-80BD-27DC8865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843C2-D291-934D-6C14-4CD9A5584A3F}"/>
              </a:ext>
            </a:extLst>
          </p:cNvPr>
          <p:cNvSpPr txBox="1"/>
          <p:nvPr/>
        </p:nvSpPr>
        <p:spPr>
          <a:xfrm>
            <a:off x="609600" y="5334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You can also plot the predicted logits on the log odds scale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F72E4-497C-1522-84C8-3710C8A00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63" y="1219200"/>
            <a:ext cx="6611273" cy="37533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D205A6-0E5A-5409-19C5-AB1403051681}"/>
              </a:ext>
            </a:extLst>
          </p:cNvPr>
          <p:cNvSpPr txBox="1"/>
          <p:nvPr/>
        </p:nvSpPr>
        <p:spPr>
          <a:xfrm>
            <a:off x="685800" y="5334000"/>
            <a:ext cx="800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Faceting by response: {full, work} makes clear the nature of the two fitted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having children decreases the log odds by constant amounts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for those working, log odds of fulltime decreases faster with husband’s income </a:t>
            </a:r>
          </a:p>
        </p:txBody>
      </p:sp>
    </p:spTree>
    <p:extLst>
      <p:ext uri="{BB962C8B-B14F-4D97-AF65-F5344CB8AC3E}">
        <p14:creationId xmlns:p14="http://schemas.microsoft.com/office/powerpoint/2010/main" val="7216688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88A-7CC9-424F-B4E7-02E544F5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Multinomial logistic regression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98E15-BD63-4B16-82A2-9F6C92B80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114800"/>
          </a:xfrm>
        </p:spPr>
        <p:txBody>
          <a:bodyPr/>
          <a:lstStyle/>
          <a:p>
            <a:r>
              <a:rPr lang="en-US" sz="2400" dirty="0"/>
              <a:t>Multinomial logistic regression models the probabilities of </a:t>
            </a:r>
            <a:r>
              <a:rPr lang="en-US" sz="2400" i="1" dirty="0"/>
              <a:t>m</a:t>
            </a:r>
            <a:r>
              <a:rPr lang="en-US" sz="2400" dirty="0"/>
              <a:t> response categories as (</a:t>
            </a:r>
            <a:r>
              <a:rPr lang="en-US" sz="2400" i="1" dirty="0"/>
              <a:t>m</a:t>
            </a:r>
            <a:r>
              <a:rPr lang="en-US" sz="2400" dirty="0"/>
              <a:t>-1) logits</a:t>
            </a:r>
          </a:p>
          <a:p>
            <a:pPr lvl="1"/>
            <a:r>
              <a:rPr lang="en-US" sz="2000" dirty="0"/>
              <a:t>Typically, these compare each of the first </a:t>
            </a:r>
            <a:r>
              <a:rPr lang="en-US" sz="2000" i="1" dirty="0"/>
              <a:t>m</a:t>
            </a:r>
            <a:r>
              <a:rPr lang="en-US" sz="2000" dirty="0"/>
              <a:t>-1 categories to the last (reference) category: 1 vs. </a:t>
            </a:r>
            <a:r>
              <a:rPr lang="en-US" sz="2000" i="1" dirty="0"/>
              <a:t>m</a:t>
            </a:r>
            <a:r>
              <a:rPr lang="en-US" sz="2000" dirty="0"/>
              <a:t>, 2 vs. </a:t>
            </a:r>
            <a:r>
              <a:rPr lang="en-US" sz="2000" i="1" dirty="0"/>
              <a:t>m</a:t>
            </a:r>
            <a:r>
              <a:rPr lang="en-US" sz="2000" dirty="0"/>
              <a:t>, … </a:t>
            </a:r>
            <a:r>
              <a:rPr lang="en-US" sz="2000" i="1" dirty="0"/>
              <a:t>m</a:t>
            </a:r>
            <a:r>
              <a:rPr lang="en-US" sz="2000" dirty="0"/>
              <a:t>-1 vs. </a:t>
            </a:r>
            <a:r>
              <a:rPr lang="en-US" sz="2000" i="1" dirty="0"/>
              <a:t>m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r>
              <a:rPr lang="en-US" sz="2000" dirty="0"/>
              <a:t>Logits for any pair of categories can be calculated from the </a:t>
            </a:r>
            <a:r>
              <a:rPr lang="en-US" sz="2000" i="1" dirty="0"/>
              <a:t>m</a:t>
            </a:r>
            <a:r>
              <a:rPr lang="en-US" sz="2000" dirty="0"/>
              <a:t>-1 fitted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C52F4-619B-4433-9F6B-0274E322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99F5E-0AF0-4157-8C78-8BB81006F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819400"/>
            <a:ext cx="3390476" cy="1019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C3B5CD-27A9-4506-B933-B01EBB0EC55C}"/>
              </a:ext>
            </a:extLst>
          </p:cNvPr>
          <p:cNvSpPr txBox="1"/>
          <p:nvPr/>
        </p:nvSpPr>
        <p:spPr>
          <a:xfrm>
            <a:off x="1143000" y="2895600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e.g., vote for</a:t>
            </a:r>
          </a:p>
          <a:p>
            <a:r>
              <a:rPr lang="en-US" dirty="0"/>
              <a:t>   ( m = 4 )</a:t>
            </a:r>
          </a:p>
        </p:txBody>
      </p:sp>
    </p:spTree>
    <p:extLst>
      <p:ext uri="{BB962C8B-B14F-4D97-AF65-F5344CB8AC3E}">
        <p14:creationId xmlns:p14="http://schemas.microsoft.com/office/powerpoint/2010/main" val="53755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2E299-C112-4954-83B1-F79F03AB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Multinomial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16258-1D16-4753-96EC-92C20CF05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 </a:t>
            </a:r>
            <a:r>
              <a:rPr lang="en-US" sz="2400" i="1" dirty="0"/>
              <a:t>k</a:t>
            </a:r>
            <a:r>
              <a:rPr lang="en-US" sz="2400" dirty="0"/>
              <a:t> predictors, 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and for </a:t>
            </a:r>
            <a:r>
              <a:rPr lang="en-US" sz="2400" i="1" dirty="0"/>
              <a:t>j</a:t>
            </a:r>
            <a:r>
              <a:rPr lang="en-US" sz="2400" dirty="0"/>
              <a:t>=1, 2, …, </a:t>
            </a:r>
            <a:r>
              <a:rPr lang="en-US" sz="2400" i="1" dirty="0"/>
              <a:t>m</a:t>
            </a:r>
            <a:r>
              <a:rPr lang="en-US" sz="2400" dirty="0"/>
              <a:t>-1, the model fits </a:t>
            </a:r>
            <a:r>
              <a:rPr lang="en-US" sz="2400" dirty="0">
                <a:solidFill>
                  <a:srgbClr val="0070C0"/>
                </a:solidFill>
              </a:rPr>
              <a:t>separate slopes </a:t>
            </a:r>
            <a:r>
              <a:rPr lang="en-US" sz="2400" dirty="0"/>
              <a:t>for each logit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000" dirty="0"/>
              <a:t>One set of coefficients, </a:t>
            </a:r>
            <a:r>
              <a:rPr lang="en-US" sz="2000" b="1" dirty="0">
                <a:sym typeface="Symbol" panose="05050102010706020507" pitchFamily="18" charset="2"/>
              </a:rPr>
              <a:t></a:t>
            </a:r>
            <a:r>
              <a:rPr lang="en-US" sz="2000" baseline="-25000" dirty="0">
                <a:sym typeface="Symbol" panose="05050102010706020507" pitchFamily="18" charset="2"/>
              </a:rPr>
              <a:t>j</a:t>
            </a:r>
            <a:r>
              <a:rPr lang="en-US" sz="2000" dirty="0">
                <a:sym typeface="Symbol" panose="05050102010706020507" pitchFamily="18" charset="2"/>
              </a:rPr>
              <a:t> for each response category except the last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Each coefficient, </a:t>
            </a:r>
            <a:r>
              <a:rPr lang="en-US" sz="2000" baseline="-25000" dirty="0" err="1">
                <a:sym typeface="Symbol" panose="05050102010706020507" pitchFamily="18" charset="2"/>
              </a:rPr>
              <a:t>hj</a:t>
            </a:r>
            <a:r>
              <a:rPr lang="en-US" sz="2000" dirty="0">
                <a:sym typeface="Symbol" panose="05050102010706020507" pitchFamily="18" charset="2"/>
              </a:rPr>
              <a:t>, gives effect on log odds that response is </a:t>
            </a:r>
            <a:r>
              <a:rPr lang="en-US" sz="2000" i="1" dirty="0">
                <a:sym typeface="Symbol" panose="05050102010706020507" pitchFamily="18" charset="2"/>
              </a:rPr>
              <a:t>j</a:t>
            </a:r>
            <a:r>
              <a:rPr lang="en-US" sz="2000" dirty="0">
                <a:sym typeface="Symbol" panose="05050102010706020507" pitchFamily="18" charset="2"/>
              </a:rPr>
              <a:t> vs. </a:t>
            </a:r>
            <a:r>
              <a:rPr lang="en-US" sz="2000" i="1" dirty="0">
                <a:sym typeface="Symbol" panose="05050102010706020507" pitchFamily="18" charset="2"/>
              </a:rPr>
              <a:t>m</a:t>
            </a:r>
            <a:r>
              <a:rPr lang="en-US" sz="2000" dirty="0">
                <a:sym typeface="Symbol" panose="05050102010706020507" pitchFamily="18" charset="2"/>
              </a:rPr>
              <a:t>, for a one unit change in the predictor </a:t>
            </a:r>
            <a:r>
              <a:rPr lang="en-US" sz="2000" b="1" i="1" dirty="0" err="1">
                <a:sym typeface="Symbol" panose="05050102010706020507" pitchFamily="18" charset="2"/>
              </a:rPr>
              <a:t>x</a:t>
            </a:r>
            <a:r>
              <a:rPr lang="en-US" sz="2000" baseline="-25000" dirty="0" err="1">
                <a:sym typeface="Symbol" panose="05050102010706020507" pitchFamily="18" charset="2"/>
              </a:rPr>
              <a:t>h</a:t>
            </a:r>
            <a:r>
              <a:rPr lang="en-US" sz="2000" baseline="-25000" dirty="0">
                <a:sym typeface="Symbol" panose="05050102010706020507" pitchFamily="18" charset="2"/>
              </a:rPr>
              <a:t> </a:t>
            </a:r>
          </a:p>
          <a:p>
            <a:r>
              <a:rPr lang="en-US" sz="2400" dirty="0">
                <a:sym typeface="Symbol" panose="05050102010706020507" pitchFamily="18" charset="2"/>
              </a:rPr>
              <a:t>Probabilities in response categories are calculated 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FB8D3-683B-4563-97A1-AAB2A2CB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E8664-65F7-4067-BEB4-1D5D88F49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19" y="1981200"/>
            <a:ext cx="5904762" cy="1085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95B5CB-8D4D-421C-B067-C7870FE40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105400"/>
            <a:ext cx="6580952" cy="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95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D8CF-6CE8-4D8C-BF5D-C20BF66E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multinomial regression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46A1B-593C-46A8-8BFD-A5614CEC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D5F9D-F8FD-434B-A102-39FCFB46A027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the multinomial model using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nnet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multinom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For ease of interpretation, make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the reference category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3F1B5-B91B-4FBB-95EE-F2F681AB8EBB}"/>
              </a:ext>
            </a:extLst>
          </p:cNvPr>
          <p:cNvSpPr txBox="1"/>
          <p:nvPr/>
        </p:nvSpPr>
        <p:spPr>
          <a:xfrm>
            <a:off x="457200" y="2057400"/>
            <a:ext cx="8229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Womenlf$partic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relevel(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Womenlf$partic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ref="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wlf.multinom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children,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data=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Womenlf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Hess=TRUE)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345D2-D34E-4091-A8CC-6BC3E0D64C3F}"/>
              </a:ext>
            </a:extLst>
          </p:cNvPr>
          <p:cNvSpPr txBox="1"/>
          <p:nvPr/>
        </p:nvSpPr>
        <p:spPr>
          <a:xfrm>
            <a:off x="457200" y="339852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tests are similar to what we got from summing these tests from the two nested dichotomies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A128C7-3C6E-478D-A5BE-57F15BF065F8}"/>
              </a:ext>
            </a:extLst>
          </p:cNvPr>
          <p:cNvSpPr txBox="1"/>
          <p:nvPr/>
        </p:nvSpPr>
        <p:spPr>
          <a:xfrm>
            <a:off x="457200" y="4165600"/>
            <a:ext cx="82296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wlf.multinom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Response: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LR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15.2  2    0.00051 ***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children     63.6  2    1.6e-14 ***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10941323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5039-D317-44AA-91D8-1DC45ED4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coefficients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CA0C31-A7EC-4FD1-B6DC-0C9D2DBA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B5560-72F1-4245-BCDB-611E0781EC5A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before, interpret coefficients as increments in log odds or exp(</a:t>
            </a:r>
            <a:r>
              <a:rPr lang="en-US" dirty="0" err="1"/>
              <a:t>coef</a:t>
            </a:r>
            <a:r>
              <a:rPr lang="en-US" dirty="0"/>
              <a:t>) as multiples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FEEC7-4198-44EB-9EB8-77195C5A1F0F}"/>
              </a:ext>
            </a:extLst>
          </p:cNvPr>
          <p:cNvSpPr txBox="1"/>
          <p:nvPr/>
        </p:nvSpPr>
        <p:spPr>
          <a:xfrm>
            <a:off x="457200" y="1722120"/>
            <a:ext cx="41148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wlf.multinom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(Intercept)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childrenpresent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parttime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-1.43  0.00689          0.0215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fulltime     1.98 -0.09723         -2.5586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348A0-DAC4-4A06-8247-CF304312E9A7}"/>
              </a:ext>
            </a:extLst>
          </p:cNvPr>
          <p:cNvSpPr txBox="1"/>
          <p:nvPr/>
        </p:nvSpPr>
        <p:spPr>
          <a:xfrm>
            <a:off x="4724400" y="1722120"/>
            <a:ext cx="41148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exp(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wlf.multinom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(Intercept)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childrenpresent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parttime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0.239   1.007          1.0217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fulltime    7.263   0.907          0.0774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ECBCCFA-3194-4130-974E-8CFEBD7CE6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955630"/>
              </p:ext>
            </p:extLst>
          </p:nvPr>
        </p:nvGraphicFramePr>
        <p:xfrm>
          <a:off x="457200" y="3515191"/>
          <a:ext cx="50863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90840" imgH="457200" progId="Equation.DSMT4">
                  <p:embed/>
                </p:oleObj>
              </mc:Choice>
              <mc:Fallback>
                <p:oleObj name="Equation" r:id="rId2" imgW="33908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3515191"/>
                        <a:ext cx="508635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99ECBC8-F85F-4C87-B307-6FF93078B6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086538"/>
              </p:ext>
            </p:extLst>
          </p:nvPr>
        </p:nvGraphicFramePr>
        <p:xfrm>
          <a:off x="457200" y="2760365"/>
          <a:ext cx="54673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44640" imgH="457200" progId="Equation.DSMT4">
                  <p:embed/>
                </p:oleObj>
              </mc:Choice>
              <mc:Fallback>
                <p:oleObj name="Equation" r:id="rId4" imgW="36446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2760365"/>
                        <a:ext cx="546735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540776D-D5CD-4634-871C-B586669505A0}"/>
              </a:ext>
            </a:extLst>
          </p:cNvPr>
          <p:cNvSpPr txBox="1"/>
          <p:nvPr/>
        </p:nvSpPr>
        <p:spPr>
          <a:xfrm>
            <a:off x="457200" y="4500880"/>
            <a:ext cx="822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1000$ of </a:t>
            </a:r>
            <a:r>
              <a:rPr lang="en-US" b="1" dirty="0"/>
              <a:t>husband’s income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Increases log odds of </a:t>
            </a:r>
            <a:r>
              <a:rPr lang="en-US" dirty="0" err="1"/>
              <a:t>parttime</a:t>
            </a:r>
            <a:r>
              <a:rPr lang="en-US" dirty="0"/>
              <a:t> by 0.0069; multiplies odds by 1.007 (+0.7%)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Decreases log odds of fulltime by 0.097; multiplies odds by 0.091 (-9%)</a:t>
            </a:r>
          </a:p>
          <a:p>
            <a:r>
              <a:rPr lang="en-US" dirty="0"/>
              <a:t>Having </a:t>
            </a:r>
            <a:r>
              <a:rPr lang="en-US" b="1" dirty="0"/>
              <a:t>young children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Increases odds of </a:t>
            </a:r>
            <a:r>
              <a:rPr lang="en-US" dirty="0" err="1"/>
              <a:t>parttime</a:t>
            </a:r>
            <a:r>
              <a:rPr lang="en-US" dirty="0"/>
              <a:t> by 0.0215; multiplies odds by 1.0217 (+2%)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Decreases odds of fulltime by 2.559; multiplies odds by 0.0774 (-92%)</a:t>
            </a:r>
          </a:p>
        </p:txBody>
      </p:sp>
    </p:spTree>
    <p:extLst>
      <p:ext uri="{BB962C8B-B14F-4D97-AF65-F5344CB8AC3E}">
        <p14:creationId xmlns:p14="http://schemas.microsoft.com/office/powerpoint/2010/main" val="29744010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EDE1F-61EB-4705-B7ED-150AAE7A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Multinomial models: Plotting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378EA9-1F2E-4B01-AAAF-21876773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30AD1-ABDC-4895-9951-AF98107D1697}"/>
              </a:ext>
            </a:extLst>
          </p:cNvPr>
          <p:cNvSpPr txBox="1"/>
          <p:nvPr/>
        </p:nvSpPr>
        <p:spPr>
          <a:xfrm>
            <a:off x="457200" y="1915180"/>
            <a:ext cx="82296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library(effects)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plot(Effect(c("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"children"),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wlf.multinom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style = "stacked“)</a:t>
            </a:r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58D51FA3-8466-4C1E-B183-16C81BF28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35190"/>
            <a:ext cx="5931725" cy="42075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709726-F5B4-42F1-8C9E-2E9A5BDBFE2D}"/>
              </a:ext>
            </a:extLst>
          </p:cNvPr>
          <p:cNvSpPr txBox="1"/>
          <p:nvPr/>
        </p:nvSpPr>
        <p:spPr>
          <a:xfrm>
            <a:off x="457200" y="10668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Much easier to interpret a model from a plot, but even more so for polytomous response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93304-70F2-410F-B0B8-626576FA2CB9}"/>
              </a:ext>
            </a:extLst>
          </p:cNvPr>
          <p:cNvSpPr txBox="1"/>
          <p:nvPr/>
        </p:nvSpPr>
        <p:spPr>
          <a:xfrm>
            <a:off x="6477000" y="300736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multinomial model, style=“stacked” plots </a:t>
            </a:r>
            <a:r>
              <a:rPr lang="en-US" dirty="0">
                <a:solidFill>
                  <a:srgbClr val="0070C0"/>
                </a:solidFill>
              </a:rPr>
              <a:t>cumulative</a:t>
            </a:r>
            <a:r>
              <a:rPr lang="en-US" dirty="0"/>
              <a:t> probs.</a:t>
            </a:r>
          </a:p>
        </p:txBody>
      </p:sp>
    </p:spTree>
    <p:extLst>
      <p:ext uri="{BB962C8B-B14F-4D97-AF65-F5344CB8AC3E}">
        <p14:creationId xmlns:p14="http://schemas.microsoft.com/office/powerpoint/2010/main" val="39488573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5ACB-7675-49CE-92CF-A542B217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Multinomial models: Plotting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E18A1-7A7A-4A1F-8D05-D42E6CA3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CD927-1042-4334-A4F4-D011DB7EE7A9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alternative is to plot the </a:t>
            </a:r>
            <a:r>
              <a:rPr lang="en-US" dirty="0">
                <a:solidFill>
                  <a:srgbClr val="0070C0"/>
                </a:solidFill>
              </a:rPr>
              <a:t>predicted probabilities </a:t>
            </a:r>
            <a:r>
              <a:rPr lang="en-US" dirty="0"/>
              <a:t>of each level of participation over a </a:t>
            </a:r>
            <a:r>
              <a:rPr lang="en-US" dirty="0">
                <a:solidFill>
                  <a:srgbClr val="0070C0"/>
                </a:solidFill>
              </a:rPr>
              <a:t>grid of predictor values </a:t>
            </a:r>
            <a:r>
              <a:rPr lang="en-US" dirty="0"/>
              <a:t>for husband’s income and children.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9A924-BA6A-453A-A02C-A13CF6E94358}"/>
              </a:ext>
            </a:extLst>
          </p:cNvPr>
          <p:cNvSpPr txBox="1"/>
          <p:nvPr/>
        </p:nvSpPr>
        <p:spPr>
          <a:xfrm>
            <a:off x="457200" y="1905000"/>
            <a:ext cx="82296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predictors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expand.grid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=1:50, children=c('absent', 'present'))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fit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(predictors,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                   predict(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wlf.multinom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predictors, type='probs'))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fit |&gt; filter(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%in% c(10, 25, 40))   # show a few observations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children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parttime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fulltime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     10   absent    0.250   0.0639  0.68627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25      25   absent    0.520   0.1475  0.33233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40      40   absent    0.683   0.2150  0.10157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60      10  present    0.678   0.1773  0.14427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75      25  present    0.747   0.2164  0.03693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90      40  present    0.750   0.2411  0.00863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2D74D-7AEA-4A8F-BECC-D116745901E5}"/>
              </a:ext>
            </a:extLst>
          </p:cNvPr>
          <p:cNvSpPr txBox="1"/>
          <p:nvPr/>
        </p:nvSpPr>
        <p:spPr>
          <a:xfrm>
            <a:off x="533400" y="46482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want to plot predicted probability vs. </a:t>
            </a:r>
            <a:r>
              <a:rPr lang="en-US" dirty="0" err="1"/>
              <a:t>hincome</a:t>
            </a:r>
            <a:r>
              <a:rPr lang="en-US" dirty="0"/>
              <a:t>, with separate curves for levels of participation. To do this we need to </a:t>
            </a:r>
            <a:r>
              <a:rPr lang="en-US" dirty="0">
                <a:solidFill>
                  <a:srgbClr val="0070C0"/>
                </a:solidFill>
              </a:rPr>
              <a:t>reshape</a:t>
            </a:r>
            <a:r>
              <a:rPr lang="en-US" dirty="0"/>
              <a:t> the fit data from wide to long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A1D507-9D31-4C49-8641-67CDC72B31D1}"/>
              </a:ext>
            </a:extLst>
          </p:cNvPr>
          <p:cNvSpPr txBox="1"/>
          <p:nvPr/>
        </p:nvSpPr>
        <p:spPr>
          <a:xfrm>
            <a:off x="457200" y="5575518"/>
            <a:ext cx="8229600" cy="61555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plotdat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fit |&gt;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gather(key="Level", value="Probability",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not.work:fulltime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6893917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935490-897A-4B4F-BAE5-DFEA63294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93CD1A34-67C1-4760-8154-52CA855B8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2362200"/>
            <a:ext cx="7772400" cy="4295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A91AE3-93B5-440F-AEE4-08E3E2D590B1}"/>
              </a:ext>
            </a:extLst>
          </p:cNvPr>
          <p:cNvSpPr txBox="1"/>
          <p:nvPr/>
        </p:nvSpPr>
        <p:spPr>
          <a:xfrm>
            <a:off x="624840" y="1219200"/>
            <a:ext cx="80772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directlabels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gg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plotdat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(x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hincome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y = Probability,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Level)) +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(size=1.5)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facet_grid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(~ children,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labeller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label_both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direct.label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(gg, list("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top.bumptwice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dl.trans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(y = y + 0.2)))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3C36D-3A9F-4803-878D-DECBA37D7956}"/>
              </a:ext>
            </a:extLst>
          </p:cNvPr>
          <p:cNvSpPr txBox="1"/>
          <p:nvPr/>
        </p:nvSpPr>
        <p:spPr>
          <a:xfrm>
            <a:off x="624840" y="609600"/>
            <a:ext cx="775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Now, plot Probability ~ </a:t>
            </a:r>
            <a:r>
              <a:rPr lang="en-US" dirty="0" err="1"/>
              <a:t>hincome</a:t>
            </a:r>
            <a:r>
              <a:rPr lang="en-US" dirty="0"/>
              <a:t>, with separate curves for Level of </a:t>
            </a:r>
            <a:r>
              <a:rPr lang="en-US" dirty="0" err="1"/>
              <a:t>partic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753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583F95-4FE0-435B-B945-EC68E9F9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larger example: BEPS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A56C1B-C86F-4FD1-ADC8-7A1F12CAF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C4EB6-B2AC-4AF8-8708-98F5007A7E46}"/>
              </a:ext>
            </a:extLst>
          </p:cNvPr>
          <p:cNvSpPr txBox="1"/>
          <p:nvPr/>
        </p:nvSpPr>
        <p:spPr>
          <a:xfrm>
            <a:off x="457200" y="1295400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Political knowledge &amp; party choice in Britain</a:t>
            </a:r>
          </a:p>
          <a:p>
            <a:r>
              <a:rPr lang="en-US" dirty="0"/>
              <a:t>Example from Fox &amp; Anderson (2006); data from 1997-2001 British Election Panel Survey (BEPS), N=1325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02B63-D28F-435A-987D-27E5EB8D9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2514876"/>
            <a:ext cx="8171428" cy="2209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132E0C-3DB5-4D77-8382-DC27C116E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95990"/>
            <a:ext cx="8171428" cy="11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7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0F9D-7070-43ED-A874-10FC36D8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BEPS data: Fitting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29EB9D-D41C-46A8-99B4-D8F8D8A3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ED456-E82B-4C90-89D2-2CD18C594500}"/>
              </a:ext>
            </a:extLst>
          </p:cNvPr>
          <p:cNvSpPr txBox="1"/>
          <p:nvPr/>
        </p:nvSpPr>
        <p:spPr>
          <a:xfrm>
            <a:off x="457200" y="1524000"/>
            <a:ext cx="822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library(car)      # for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library(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nnet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     # for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multinom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data(BEPS, package = "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carData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BEPS.mod &lt;-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multinom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(vote ~ age + gender +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economic.cond.national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+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economic.cond.household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+ Blair + Hague + Kennedy +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Europe*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political.knowledge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, data=BEPS)</a:t>
            </a:r>
          </a:p>
          <a:p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(BEPS.mod)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818DD-9D19-4729-A7D9-A56AE231474E}"/>
              </a:ext>
            </a:extLst>
          </p:cNvPr>
          <p:cNvSpPr txBox="1"/>
          <p:nvPr/>
        </p:nvSpPr>
        <p:spPr>
          <a:xfrm>
            <a:off x="457200" y="3124200"/>
            <a:ext cx="82296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vote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       LR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age                            13.9  2    0.00097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gender                          0.5  2    0.79726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economic.cond.national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30.6  2    2.3e-07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economic.cond.household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5.7  2    0.05926 .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Blair                         135.4  2    &lt; 2e-16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Hague                         166.8  2    &lt; 2e-16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Kennedy                        68.9  2    1.1e-15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Europe                         78.0  2    &lt; 2e-16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political.knowledge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55.6  2    8.6e-13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Europe:political.knowledge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50.8  2    9.3e-12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107B0-EE5E-495B-9E81-E5C2C1F7BB96}"/>
              </a:ext>
            </a:extLst>
          </p:cNvPr>
          <p:cNvSpPr txBox="1"/>
          <p:nvPr/>
        </p:nvSpPr>
        <p:spPr>
          <a:xfrm>
            <a:off x="457200" y="1066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a model with main effects and an interaction of Europe * political knowledge</a:t>
            </a:r>
          </a:p>
        </p:txBody>
      </p:sp>
    </p:spTree>
    <p:extLst>
      <p:ext uri="{BB962C8B-B14F-4D97-AF65-F5344CB8AC3E}">
        <p14:creationId xmlns:p14="http://schemas.microsoft.com/office/powerpoint/2010/main" val="3854240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1A91-F8DA-4EF0-8F06-ECBAF333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BEPS data: Interpretation?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22F4D6-33C0-44D6-9E82-84D18985A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EB0FB-4CB5-4C1A-A430-8991118E95BB}"/>
              </a:ext>
            </a:extLst>
          </p:cNvPr>
          <p:cNvSpPr txBox="1"/>
          <p:nvPr/>
        </p:nvSpPr>
        <p:spPr>
          <a:xfrm>
            <a:off x="457200" y="2098040"/>
            <a:ext cx="82296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(BEPS.mod)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(Intercept)     age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gendermale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economic.cond.national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Labour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-0.873 -0.0198     0.1126                  0.522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Liberal Democrat      -0.718 -0.0146     0.0914                  0.145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economic.cond.household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Blair  Hague Kennedy   Europe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Labour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0.17863 0.824 -0.868   0.240 -0.00171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Liberal Democrat                 0.00773 0.278 -0.781   0.656  0.06841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political.knowledge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Europe:political.knowledge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Labour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0.658                     -0.159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Liberal Democrat               1.160                     -0.183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0E04A-B27F-4512-B7EB-28FB29B7B3EB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Coefficients give </a:t>
            </a:r>
            <a:r>
              <a:rPr lang="en-US" dirty="0">
                <a:solidFill>
                  <a:srgbClr val="0070C0"/>
                </a:solidFill>
              </a:rPr>
              <a:t>log odds </a:t>
            </a:r>
            <a:r>
              <a:rPr lang="en-US" dirty="0"/>
              <a:t>relative of party choice relative to Conservatives</a:t>
            </a:r>
          </a:p>
          <a:p>
            <a:r>
              <a:rPr lang="en-US" dirty="0"/>
              <a:t>How to understand the </a:t>
            </a:r>
            <a:r>
              <a:rPr lang="en-US" dirty="0">
                <a:solidFill>
                  <a:srgbClr val="0070C0"/>
                </a:solidFill>
              </a:rPr>
              <a:t>nature</a:t>
            </a:r>
            <a:r>
              <a:rPr lang="en-US" dirty="0"/>
              <a:t> of these effects?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7A5AE-D7B5-E433-2325-2F805BF1FCB3}"/>
              </a:ext>
            </a:extLst>
          </p:cNvPr>
          <p:cNvSpPr txBox="1"/>
          <p:nvPr/>
        </p:nvSpPr>
        <p:spPr>
          <a:xfrm>
            <a:off x="457200" y="46482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E.g.,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increasing age decreases log odds of voting Labor and Lib Dem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males more likely to choose Labor or Lib Dem than females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increasing political knowledge increases log odds of Labor or Lib Dem</a:t>
            </a:r>
          </a:p>
        </p:txBody>
      </p:sp>
    </p:spTree>
    <p:extLst>
      <p:ext uri="{BB962C8B-B14F-4D97-AF65-F5344CB8AC3E}">
        <p14:creationId xmlns:p14="http://schemas.microsoft.com/office/powerpoint/2010/main" val="33134238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C5AF-F92B-40F2-A004-4B6EAB2A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BEPS data: 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385EDD-4EA7-4831-9F57-D46073E6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3FE4C3D9-F56C-4E8C-AE45-804E23607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840634"/>
            <a:ext cx="8229600" cy="39525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0F1ADE-AF60-4975-BE74-F47915169256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plot(</a:t>
            </a:r>
            <a:r>
              <a:rPr lang="en-US" dirty="0" err="1"/>
              <a:t>predictorEffects</a:t>
            </a:r>
            <a:r>
              <a:rPr lang="en-US" dirty="0"/>
              <a:t>(BEPS.mod, ~ age + gender),</a:t>
            </a:r>
          </a:p>
          <a:p>
            <a:r>
              <a:rPr lang="en-US" dirty="0"/>
              <a:t>     lattice=list(</a:t>
            </a:r>
            <a:r>
              <a:rPr lang="en-US" dirty="0" err="1"/>
              <a:t>key.args</a:t>
            </a:r>
            <a:r>
              <a:rPr lang="en-US" dirty="0"/>
              <a:t>=list(rows=1)),</a:t>
            </a:r>
          </a:p>
          <a:p>
            <a:r>
              <a:rPr lang="en-US" dirty="0"/>
              <a:t>     lines=list(multiline=TRUE, col=c("blue", "red", "orange")))</a:t>
            </a:r>
          </a:p>
        </p:txBody>
      </p:sp>
    </p:spTree>
    <p:extLst>
      <p:ext uri="{BB962C8B-B14F-4D97-AF65-F5344CB8AC3E}">
        <p14:creationId xmlns:p14="http://schemas.microsoft.com/office/powerpoint/2010/main" val="14764288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D08B-17BA-4FD7-88BF-2BE533010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BEPS data: 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52CE0F-9F9B-49CF-86EA-C5DBBB40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99273828-7621-479B-BA73-9F1CD5BB2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2181236"/>
            <a:ext cx="8412480" cy="2495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9F8F36-4E81-4498-A851-422AC872C7A2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Examine the interaction between political knowledge and attitude toward European integration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12231-E893-4A06-A666-5043F57E0FF9}"/>
              </a:ext>
            </a:extLst>
          </p:cNvPr>
          <p:cNvSpPr txBox="1"/>
          <p:nvPr/>
        </p:nvSpPr>
        <p:spPr>
          <a:xfrm>
            <a:off x="685800" y="5068669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dirty="0"/>
              <a:t>Low knowledge: little relation between attitude and party choice</a:t>
            </a:r>
          </a:p>
          <a:p>
            <a:pPr marL="285750" indent="-285750">
              <a:buClr>
                <a:srgbClr val="FF0000"/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dirty="0"/>
              <a:t>As knowledge increases: more Eurosceptic view </a:t>
            </a:r>
            <a:r>
              <a:rPr lang="en-US" dirty="0">
                <a:sym typeface="Symbol" panose="05050102010706020507" pitchFamily="18" charset="2"/>
              </a:rPr>
              <a:t> more likely to support Conservatives</a:t>
            </a:r>
          </a:p>
          <a:p>
            <a:pPr marL="285750" indent="-285750">
              <a:buClr>
                <a:srgbClr val="FF0000"/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dirty="0">
                <a:sym typeface="Symbol" panose="05050102010706020507" pitchFamily="18" charset="2"/>
              </a:rPr>
              <a:t>Detailed understanding of complex models depends strongly on visualization!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360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7DED9-9A3F-439A-B85C-A2DD0049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15554-095A-4139-9B08-74DE1CD62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Polytomous responses</a:t>
            </a:r>
          </a:p>
          <a:p>
            <a:pPr lvl="1"/>
            <a:r>
              <a:rPr lang="en-US" sz="2000" i="1" dirty="0"/>
              <a:t>m</a:t>
            </a:r>
            <a:r>
              <a:rPr lang="en-US" sz="2000" dirty="0"/>
              <a:t> response categories </a:t>
            </a:r>
            <a:r>
              <a:rPr lang="en-US" sz="2000" dirty="0">
                <a:sym typeface="Symbol" panose="05050102010706020507" pitchFamily="18" charset="2"/>
              </a:rPr>
              <a:t> (</a:t>
            </a:r>
            <a:r>
              <a:rPr lang="en-US" sz="2000" i="1" dirty="0">
                <a:sym typeface="Symbol" panose="05050102010706020507" pitchFamily="18" charset="2"/>
              </a:rPr>
              <a:t>m</a:t>
            </a:r>
            <a:r>
              <a:rPr lang="en-US" sz="2000" dirty="0">
                <a:sym typeface="Symbol" panose="05050102010706020507" pitchFamily="18" charset="2"/>
              </a:rPr>
              <a:t>-1) comparisons (logits)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Different models for </a:t>
            </a:r>
            <a:r>
              <a:rPr lang="en-US" sz="2000" dirty="0">
                <a:solidFill>
                  <a:srgbClr val="0070C0"/>
                </a:solidFill>
                <a:sym typeface="Symbol" panose="05050102010706020507" pitchFamily="18" charset="2"/>
              </a:rPr>
              <a:t>ordered</a:t>
            </a:r>
            <a:r>
              <a:rPr lang="en-US" sz="2000" dirty="0">
                <a:sym typeface="Symbol" panose="05050102010706020507" pitchFamily="18" charset="2"/>
              </a:rPr>
              <a:t> vs. </a:t>
            </a:r>
            <a:r>
              <a:rPr lang="en-US" sz="2000" dirty="0">
                <a:solidFill>
                  <a:srgbClr val="0070C0"/>
                </a:solidFill>
                <a:sym typeface="Symbol" panose="05050102010706020507" pitchFamily="18" charset="2"/>
              </a:rPr>
              <a:t>unordered</a:t>
            </a:r>
            <a:r>
              <a:rPr lang="en-US" sz="2000" dirty="0">
                <a:sym typeface="Symbol" panose="05050102010706020507" pitchFamily="18" charset="2"/>
              </a:rPr>
              <a:t> categories</a:t>
            </a:r>
          </a:p>
          <a:p>
            <a:r>
              <a:rPr lang="en-US" sz="2400" dirty="0">
                <a:sym typeface="Symbol" panose="05050102010706020507" pitchFamily="18" charset="2"/>
              </a:rPr>
              <a:t>Proportional odds model</a:t>
            </a:r>
          </a:p>
          <a:p>
            <a:pPr lvl="1"/>
            <a:r>
              <a:rPr lang="en-US" sz="2200" dirty="0">
                <a:sym typeface="Symbol" panose="05050102010706020507" pitchFamily="18" charset="2"/>
              </a:rPr>
              <a:t>Simplest approach for ordered categories</a:t>
            </a:r>
          </a:p>
          <a:p>
            <a:pPr lvl="1"/>
            <a:r>
              <a:rPr lang="en-US" sz="2200" dirty="0">
                <a:sym typeface="Symbol" panose="05050102010706020507" pitchFamily="18" charset="2"/>
              </a:rPr>
              <a:t>Assumes same slopes for all logits</a:t>
            </a:r>
          </a:p>
          <a:p>
            <a:pPr lvl="2"/>
            <a:r>
              <a:rPr lang="en-US" sz="1900" dirty="0">
                <a:sym typeface="Symbol" panose="05050102010706020507" pitchFamily="18" charset="2"/>
              </a:rPr>
              <a:t>Fit with MASS::</a:t>
            </a:r>
            <a:r>
              <a:rPr lang="en-US" sz="1900" dirty="0" err="1">
                <a:sym typeface="Symbol" panose="05050102010706020507" pitchFamily="18" charset="2"/>
              </a:rPr>
              <a:t>polr</a:t>
            </a:r>
            <a:r>
              <a:rPr lang="en-US" sz="1900" dirty="0">
                <a:sym typeface="Symbol" panose="05050102010706020507" pitchFamily="18" charset="2"/>
              </a:rPr>
              <a:t>() </a:t>
            </a:r>
          </a:p>
          <a:p>
            <a:pPr lvl="2"/>
            <a:r>
              <a:rPr lang="en-US" sz="1900" dirty="0">
                <a:sym typeface="Symbol" panose="05050102010706020507" pitchFamily="18" charset="2"/>
              </a:rPr>
              <a:t>Test PO assumption with VGAM::</a:t>
            </a:r>
            <a:r>
              <a:rPr lang="en-US" sz="1900" dirty="0" err="1">
                <a:sym typeface="Symbol" panose="05050102010706020507" pitchFamily="18" charset="2"/>
              </a:rPr>
              <a:t>vglm</a:t>
            </a:r>
            <a:r>
              <a:rPr lang="en-US" sz="1900" dirty="0">
                <a:sym typeface="Symbol" panose="05050102010706020507" pitchFamily="18" charset="2"/>
              </a:rPr>
              <a:t>()</a:t>
            </a:r>
          </a:p>
          <a:p>
            <a:r>
              <a:rPr lang="en-US" sz="2400" dirty="0">
                <a:sym typeface="Symbol" panose="05050102010706020507" pitchFamily="18" charset="2"/>
              </a:rPr>
              <a:t>Nested dichotomies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Applies to ordered or unordered categories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Fit </a:t>
            </a:r>
            <a:r>
              <a:rPr lang="en-US" sz="2000" i="1" dirty="0">
                <a:sym typeface="Symbol" panose="05050102010706020507" pitchFamily="18" charset="2"/>
              </a:rPr>
              <a:t>m</a:t>
            </a:r>
            <a:r>
              <a:rPr lang="en-US" sz="2000" dirty="0">
                <a:sym typeface="Symbol" panose="05050102010706020507" pitchFamily="18" charset="2"/>
              </a:rPr>
              <a:t> – 1 separate independent models  Additive </a:t>
            </a:r>
            <a:r>
              <a:rPr lang="en-CA" sz="2000" dirty="0">
                <a:sym typeface="Symbol" panose="05050102010706020507" pitchFamily="18" charset="2"/>
              </a:rPr>
              <a:t>G</a:t>
            </a:r>
            <a:r>
              <a:rPr lang="en-US" sz="2000" baseline="30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 values</a:t>
            </a:r>
          </a:p>
          <a:p>
            <a:r>
              <a:rPr lang="en-US" sz="2400" dirty="0">
                <a:sym typeface="Symbol" panose="05050102010706020507" pitchFamily="18" charset="2"/>
              </a:rPr>
              <a:t>Multinomial logistic regression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Fit </a:t>
            </a:r>
            <a:r>
              <a:rPr lang="en-US" sz="2000" i="1" dirty="0">
                <a:sym typeface="Symbol" panose="05050102010706020507" pitchFamily="18" charset="2"/>
              </a:rPr>
              <a:t>m</a:t>
            </a:r>
            <a:r>
              <a:rPr lang="en-US" sz="2000" dirty="0">
                <a:sym typeface="Symbol" panose="05050102010706020507" pitchFamily="18" charset="2"/>
              </a:rPr>
              <a:t> – 1 logits as a single model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Results usually comparable to nested dichotomies, but diff interpretation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R: </a:t>
            </a:r>
            <a:r>
              <a:rPr lang="en-US" sz="2000" dirty="0" err="1">
                <a:sym typeface="Symbol" panose="05050102010706020507" pitchFamily="18" charset="2"/>
              </a:rPr>
              <a:t>nnet</a:t>
            </a:r>
            <a:r>
              <a:rPr lang="en-US" sz="2000" dirty="0">
                <a:sym typeface="Symbol" panose="05050102010706020507" pitchFamily="18" charset="2"/>
              </a:rPr>
              <a:t>::</a:t>
            </a:r>
            <a:r>
              <a:rPr lang="en-US" sz="2000" dirty="0" err="1">
                <a:sym typeface="Symbol" panose="05050102010706020507" pitchFamily="18" charset="2"/>
              </a:rPr>
              <a:t>multinom</a:t>
            </a:r>
            <a:r>
              <a:rPr lang="en-US" sz="2000" dirty="0">
                <a:sym typeface="Symbol" panose="05050102010706020507" pitchFamily="18" charset="2"/>
              </a:rPr>
              <a:t>()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884B6-9C05-48FF-8BAB-ABBFE791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8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7160</TotalTime>
  <Words>5020</Words>
  <Application>Microsoft Office PowerPoint</Application>
  <PresentationFormat>On-screen Show (4:3)</PresentationFormat>
  <Paragraphs>665</Paragraphs>
  <Slides>63</Slides>
  <Notes>6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Aptos Mono</vt:lpstr>
      <vt:lpstr>Arial</vt:lpstr>
      <vt:lpstr>Calibri</vt:lpstr>
      <vt:lpstr>Courier New</vt:lpstr>
      <vt:lpstr>Symbol</vt:lpstr>
      <vt:lpstr>Wingdings</vt:lpstr>
      <vt:lpstr>1_Office Theme</vt:lpstr>
      <vt:lpstr>Equation</vt:lpstr>
      <vt:lpstr>Logistic regression: Extensions</vt:lpstr>
      <vt:lpstr>Donner party: A graphic tale of survival &amp; influence</vt:lpstr>
      <vt:lpstr>Donner party: A graphic tale of survival &amp; influence</vt:lpstr>
      <vt:lpstr>Donner party: Data</vt:lpstr>
      <vt:lpstr>Overview: a gpairs() plot</vt:lpstr>
      <vt:lpstr>The Age-old Question</vt:lpstr>
      <vt:lpstr>Overview: a ggpairs() plot</vt:lpstr>
      <vt:lpstr>Exploratory plots</vt:lpstr>
      <vt:lpstr>Using ggplot</vt:lpstr>
      <vt:lpstr>Questions</vt:lpstr>
      <vt:lpstr>PowerPoint Presentation</vt:lpstr>
      <vt:lpstr>PowerPoint Presentation</vt:lpstr>
      <vt:lpstr>Fitting models</vt:lpstr>
      <vt:lpstr>Fitting models</vt:lpstr>
      <vt:lpstr>Comparing models</vt:lpstr>
      <vt:lpstr>Who was influential?</vt:lpstr>
      <vt:lpstr>Why were they influential?</vt:lpstr>
      <vt:lpstr>PowerPoint Presentation</vt:lpstr>
      <vt:lpstr>Polytomous responses: Overview</vt:lpstr>
      <vt:lpstr>PowerPoint Presentation</vt:lpstr>
      <vt:lpstr>Polytomous responses: Ordered</vt:lpstr>
      <vt:lpstr>Polytomous responses: Unordered</vt:lpstr>
      <vt:lpstr>Proportional odds model</vt:lpstr>
      <vt:lpstr>PowerPoint Presentation</vt:lpstr>
      <vt:lpstr>Proportional odds: Latent variable interpretation</vt:lpstr>
      <vt:lpstr>Proportional odds: Latent variable interpretation</vt:lpstr>
      <vt:lpstr>Proportional odds: Latent variable interpretation</vt:lpstr>
      <vt:lpstr>Fitting the proportional odds model</vt:lpstr>
      <vt:lpstr>PowerPoint Presentation</vt:lpstr>
      <vt:lpstr>PowerPoint Presentation</vt:lpstr>
      <vt:lpstr>Testing the proportional odds assumption</vt:lpstr>
      <vt:lpstr>Testing the proportional odds assumption</vt:lpstr>
      <vt:lpstr>Plotting effects in the PO model</vt:lpstr>
      <vt:lpstr>PowerPoint Presentation</vt:lpstr>
      <vt:lpstr>PowerPoint Presentation</vt:lpstr>
      <vt:lpstr>PowerPoint Presentation</vt:lpstr>
      <vt:lpstr>Nested dichotomies</vt:lpstr>
      <vt:lpstr>Nested dichotomies: Examples</vt:lpstr>
      <vt:lpstr>Example: Women’s Labour-force participation</vt:lpstr>
      <vt:lpstr>Nested dichotomies: Recoding</vt:lpstr>
      <vt:lpstr>Nested dichotomies: Fitting</vt:lpstr>
      <vt:lpstr>Nested dichotomies: Combined tests</vt:lpstr>
      <vt:lpstr>Nested dichotomies: Interpretation</vt:lpstr>
      <vt:lpstr>Nested dichotomies: Plotting</vt:lpstr>
      <vt:lpstr>PowerPoint Presentation</vt:lpstr>
      <vt:lpstr>nestedLogit package</vt:lpstr>
      <vt:lpstr>nestedLogit package</vt:lpstr>
      <vt:lpstr>PowerPoint Presentation</vt:lpstr>
      <vt:lpstr>PowerPoint Presentation</vt:lpstr>
      <vt:lpstr>PowerPoint Presentation</vt:lpstr>
      <vt:lpstr>Multinomial logistic regression</vt:lpstr>
      <vt:lpstr>Multinomial logistic regression</vt:lpstr>
      <vt:lpstr>Fitting multinomial regression models</vt:lpstr>
      <vt:lpstr>Interpreting coefficients</vt:lpstr>
      <vt:lpstr>Multinomial models: Plotting</vt:lpstr>
      <vt:lpstr>Multinomial models: Plotting</vt:lpstr>
      <vt:lpstr>PowerPoint Presentation</vt:lpstr>
      <vt:lpstr>A larger example: BEPS data</vt:lpstr>
      <vt:lpstr>BEPS data: Fitting</vt:lpstr>
      <vt:lpstr>BEPS data: Interpretation?</vt:lpstr>
      <vt:lpstr>BEPS data: Effect plots</vt:lpstr>
      <vt:lpstr>BEPS data: Effect plots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07-Logistic2</dc:title>
  <dc:creator>Michael Friendly</dc:creator>
  <cp:lastModifiedBy>Michael L Friendly</cp:lastModifiedBy>
  <cp:revision>131</cp:revision>
  <dcterms:created xsi:type="dcterms:W3CDTF">2017-10-14T20:35:56Z</dcterms:created>
  <dcterms:modified xsi:type="dcterms:W3CDTF">2026-02-26T18:24:19Z</dcterms:modified>
</cp:coreProperties>
</file>