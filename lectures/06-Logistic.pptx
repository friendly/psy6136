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256" r:id="rId2"/>
    <p:sldId id="333" r:id="rId3"/>
    <p:sldId id="257" r:id="rId4"/>
    <p:sldId id="265" r:id="rId5"/>
    <p:sldId id="258" r:id="rId6"/>
    <p:sldId id="259" r:id="rId7"/>
    <p:sldId id="260" r:id="rId8"/>
    <p:sldId id="326" r:id="rId9"/>
    <p:sldId id="261" r:id="rId10"/>
    <p:sldId id="262" r:id="rId11"/>
    <p:sldId id="263" r:id="rId12"/>
    <p:sldId id="267" r:id="rId13"/>
    <p:sldId id="331" r:id="rId14"/>
    <p:sldId id="334" r:id="rId15"/>
    <p:sldId id="330" r:id="rId16"/>
    <p:sldId id="270" r:id="rId17"/>
    <p:sldId id="327" r:id="rId18"/>
    <p:sldId id="328" r:id="rId19"/>
    <p:sldId id="329" r:id="rId20"/>
    <p:sldId id="268" r:id="rId21"/>
    <p:sldId id="269" r:id="rId22"/>
    <p:sldId id="332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37" r:id="rId54"/>
    <p:sldId id="305" r:id="rId55"/>
    <p:sldId id="306" r:id="rId56"/>
    <p:sldId id="307" r:id="rId57"/>
    <p:sldId id="309" r:id="rId58"/>
    <p:sldId id="308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35" r:id="rId68"/>
    <p:sldId id="336" r:id="rId69"/>
    <p:sldId id="338" r:id="rId70"/>
    <p:sldId id="318" r:id="rId71"/>
    <p:sldId id="319" r:id="rId72"/>
    <p:sldId id="320" r:id="rId73"/>
    <p:sldId id="324" r:id="rId74"/>
    <p:sldId id="321" r:id="rId75"/>
    <p:sldId id="322" r:id="rId76"/>
    <p:sldId id="339" r:id="rId77"/>
    <p:sldId id="325" r:id="rId78"/>
    <p:sldId id="323" r:id="rId79"/>
  </p:sldIdLst>
  <p:sldSz cx="9144000" cy="6858000" type="screen4x3"/>
  <p:notesSz cx="6858000" cy="9144000"/>
  <p:embeddedFontLst>
    <p:embeddedFont>
      <p:font typeface="Aptos Mono" panose="020B0009020202020204" pitchFamily="49" charset="0"/>
      <p:regular r:id="rId82"/>
      <p:bold r:id="rId83"/>
      <p:italic r:id="rId84"/>
      <p:boldItalic r:id="rId85"/>
    </p:embeddedFont>
    <p:embeddedFont>
      <p:font typeface="Cambria Math" panose="02040503050406030204" pitchFamily="18" charset="0"/>
      <p:regular r:id="rId86"/>
    </p:embeddedFont>
    <p:embeddedFont>
      <p:font typeface="Consolas" panose="020B0609020204030204" pitchFamily="49" charset="0"/>
      <p:regular r:id="rId87"/>
      <p:bold r:id="rId88"/>
      <p:italic r:id="rId89"/>
      <p:boldItalic r:id="rId90"/>
    </p:embeddedFont>
    <p:embeddedFont>
      <p:font typeface="Lucida Console" panose="020B0609040504020204" pitchFamily="49" charset="0"/>
      <p:regular r:id="rId9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10E442A-E1CD-4194-8A1B-25F440F61F99}">
          <p14:sldIdLst>
            <p14:sldId id="256"/>
            <p14:sldId id="333"/>
          </p14:sldIdLst>
        </p14:section>
        <p14:section name="Overview" id="{346CC644-AE06-4BA3-A5FA-AF275C5A988B}">
          <p14:sldIdLst>
            <p14:sldId id="257"/>
            <p14:sldId id="265"/>
            <p14:sldId id="258"/>
            <p14:sldId id="259"/>
            <p14:sldId id="260"/>
            <p14:sldId id="326"/>
            <p14:sldId id="261"/>
            <p14:sldId id="262"/>
            <p14:sldId id="263"/>
            <p14:sldId id="267"/>
            <p14:sldId id="331"/>
          </p14:sldIdLst>
        </p14:section>
        <p14:section name="Examples" id="{D98344A5-363A-4AFE-90DE-751E83B95017}">
          <p14:sldIdLst>
            <p14:sldId id="334"/>
            <p14:sldId id="330"/>
            <p14:sldId id="270"/>
            <p14:sldId id="327"/>
            <p14:sldId id="328"/>
            <p14:sldId id="329"/>
            <p14:sldId id="268"/>
            <p14:sldId id="269"/>
          </p14:sldIdLst>
        </p14:section>
        <p14:section name="Logistic model" id="{95F6B2BB-FED5-4348-841F-1AAD420F983A}">
          <p14:sldIdLst>
            <p14:sldId id="332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Visualizing" id="{22A43C6B-48FE-41E9-851D-67C930DDD8B7}">
          <p14:sldIdLst>
            <p14:sldId id="288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Effect plots" id="{F1A54E76-B723-467B-A983-DAF3D1E0E58D}">
          <p14:sldIdLst>
            <p14:sldId id="303"/>
            <p14:sldId id="337"/>
            <p14:sldId id="305"/>
            <p14:sldId id="306"/>
            <p14:sldId id="307"/>
          </p14:sldIdLst>
        </p14:section>
        <p14:section name="Case study" id="{5A6C5593-685F-42FF-ACF1-33CF88E056D0}">
          <p14:sldIdLst>
            <p14:sldId id="309"/>
            <p14:sldId id="308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35"/>
            <p14:sldId id="336"/>
          </p14:sldIdLst>
        </p14:section>
        <p14:section name="Model diagnostics" id="{81B5A860-7A4B-47D3-8273-2191AAF99C7C}">
          <p14:sldIdLst>
            <p14:sldId id="338"/>
            <p14:sldId id="318"/>
            <p14:sldId id="319"/>
            <p14:sldId id="320"/>
            <p14:sldId id="324"/>
            <p14:sldId id="321"/>
            <p14:sldId id="322"/>
            <p14:sldId id="339"/>
            <p14:sldId id="325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60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256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9.fntdata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font" Target="fonts/font4.fntdata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openxmlformats.org/officeDocument/2006/relationships/font" Target="fonts/font5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8EECE-334B-41ED-919F-0040B1C92F9F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801BA-3193-43C4-B2EA-C1561572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1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We’re at about the half-way point of the course.</a:t>
            </a:r>
          </a:p>
          <a:p>
            <a:endParaRPr lang="en-CA" dirty="0"/>
          </a:p>
          <a:p>
            <a:r>
              <a:rPr lang="en-CA" dirty="0"/>
              <a:t>I covered exploratory methods involving visualizing </a:t>
            </a:r>
            <a:r>
              <a:rPr lang="en-CA" dirty="0" err="1"/>
              <a:t>catgegorical</a:t>
            </a:r>
            <a:r>
              <a:rPr lang="en-CA" dirty="0"/>
              <a:t> data and the largely non-parametric methods of hypothesis testing.</a:t>
            </a:r>
          </a:p>
          <a:p>
            <a:endParaRPr lang="en-CA" dirty="0"/>
          </a:p>
          <a:p>
            <a:r>
              <a:rPr lang="en-CA" dirty="0"/>
              <a:t>From here on in, the emphasis will be on parametric models, and the simplest case is that of logistic regression for a binary outcome: lived/died; got better with treatment vs. didn’t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801BA-3193-43C4-B2EA-C1561572C5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09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To set the stage, let’s consider some general ideas behind model-based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801BA-3193-43C4-B2EA-C1561572C53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6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4" name="Shape 2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617558">
              <a:defRPr sz="2200"/>
            </a:pPr>
            <a:r>
              <a:rPr dirty="0"/>
              <a:t>- Began with press release in 1999 - yellow skin, FOI in 2000, two years to get data, cost $800</a:t>
            </a:r>
          </a:p>
          <a:p>
            <a:pPr defTabSz="617558">
              <a:defRPr sz="2200"/>
            </a:pPr>
            <a:r>
              <a:rPr dirty="0"/>
              <a:t>- looked at differences in treatment in situations where police have discretion</a:t>
            </a:r>
          </a:p>
          <a:p>
            <a:pPr defTabSz="617558">
              <a:defRPr sz="2200"/>
            </a:pPr>
            <a:r>
              <a:rPr dirty="0"/>
              <a:t>- 5 reporters, two editors, one stats expert, three database specialists, one lawyer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0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8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E6B5B5-ABFA-4034-A522-DE6D7C4F5277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friendly.github.io/psy6136/R/arthritis-logistic.R" TargetMode="Externa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psy6136/R/output/berkeley-diag.R" TargetMode="Externa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708025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7C3651-4966-4498-8F71-E61237A98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19" y="406160"/>
            <a:ext cx="7857143" cy="2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445F-A8B5-AA6B-A895-4357E5B6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635A-8DAC-5CCB-858C-EACA648F5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Model-based methods: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Logistic regression: one predictor, multiple predictors, 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Visualizing 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Effect plots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Case study: Racial profiling &amp; marijuana arrests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Model diagnostics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BB484-1040-878E-1B11-6223133E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AA5721-4908-AE59-760C-A59B8ACF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14800"/>
            <a:ext cx="1986240" cy="1857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7CE2F-B285-3779-BC4E-43AF69D1A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3946986"/>
            <a:ext cx="2454728" cy="2409364"/>
          </a:xfrm>
          <a:prstGeom prst="rect">
            <a:avLst/>
          </a:prstGeom>
        </p:spPr>
      </p:pic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B518008F-4E66-D0EA-9A43-94BB37133A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249" y="3882369"/>
            <a:ext cx="2668016" cy="253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6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7842-4121-4702-8185-05B20728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Model-based methods: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DFA67-F464-4291-9AF0-5ABD94DE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B3F3C-7925-463F-A267-AB48D5DCA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171428" cy="2123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0B222F-5855-4978-8B72-5E1FD84C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51540"/>
            <a:ext cx="8171428" cy="2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7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CEB9-54D6-4FA1-B2FA-D9163F81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Modeling approaches: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CEB70-A1CC-44BB-A2AB-D10C58B2D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4040188" cy="457200"/>
          </a:xfrm>
          <a:solidFill>
            <a:schemeClr val="accent3">
              <a:lumMod val="75000"/>
              <a:alpha val="70000"/>
            </a:schemeClr>
          </a:solidFill>
        </p:spPr>
        <p:txBody>
          <a:bodyPr/>
          <a:lstStyle/>
          <a:p>
            <a:r>
              <a:rPr lang="en-US" dirty="0"/>
              <a:t>Association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2A166E-E677-4CC4-933C-68A00A18B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040188" cy="467836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2000" dirty="0"/>
              <a:t>Loglinear models</a:t>
            </a:r>
          </a:p>
          <a:p>
            <a:pPr marL="0" indent="0">
              <a:buNone/>
            </a:pPr>
            <a:r>
              <a:rPr lang="en-US" sz="1600" dirty="0"/>
              <a:t>     (contingency table form)</a:t>
            </a:r>
          </a:p>
          <a:p>
            <a:pPr marL="0" indent="0">
              <a:buNone/>
            </a:pPr>
            <a:r>
              <a:rPr lang="en-US" sz="1600" dirty="0"/>
              <a:t>     [Admit][Gender Dept]</a:t>
            </a:r>
          </a:p>
          <a:p>
            <a:pPr marL="0" indent="0">
              <a:buNone/>
            </a:pPr>
            <a:r>
              <a:rPr lang="en-US" sz="1600" dirty="0"/>
              <a:t>     [Admit Dept][Gender Dept]</a:t>
            </a:r>
          </a:p>
          <a:p>
            <a:pPr marL="0" indent="0">
              <a:buNone/>
            </a:pPr>
            <a:r>
              <a:rPr lang="en-US" sz="1600" dirty="0"/>
              <a:t>     [</a:t>
            </a:r>
            <a:r>
              <a:rPr lang="en-US" sz="1600" dirty="0" err="1"/>
              <a:t>AdmitDept</a:t>
            </a:r>
            <a:r>
              <a:rPr lang="en-US" sz="1600" dirty="0"/>
              <a:t>][</a:t>
            </a:r>
            <a:r>
              <a:rPr lang="en-US" sz="1600" dirty="0" err="1"/>
              <a:t>AdmitGender</a:t>
            </a:r>
            <a:r>
              <a:rPr lang="en-US" sz="1600" dirty="0"/>
              <a:t>][</a:t>
            </a:r>
            <a:r>
              <a:rPr lang="en-US" sz="1600" dirty="0" err="1"/>
              <a:t>GenderDept</a:t>
            </a:r>
            <a:r>
              <a:rPr lang="en-US" sz="1600" dirty="0"/>
              <a:t>]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Poisson GLMs</a:t>
            </a:r>
          </a:p>
          <a:p>
            <a:pPr marL="0" indent="0">
              <a:buNone/>
            </a:pPr>
            <a:r>
              <a:rPr lang="en-US" sz="1600" dirty="0"/>
              <a:t>     (Frequency data frame)</a:t>
            </a:r>
          </a:p>
          <a:p>
            <a:pPr marL="0" indent="0">
              <a:buNone/>
            </a:pPr>
            <a:r>
              <a:rPr lang="en-US" sz="1600" dirty="0"/>
              <a:t>     Freq ~ Admit + Gender * Dept</a:t>
            </a:r>
          </a:p>
          <a:p>
            <a:pPr marL="0" indent="0">
              <a:buNone/>
            </a:pPr>
            <a:r>
              <a:rPr lang="en-US" sz="1600" dirty="0"/>
              <a:t>     Freq ~ Admit*Dept + Gender*Dept</a:t>
            </a:r>
          </a:p>
          <a:p>
            <a:pPr marL="0" indent="0">
              <a:buNone/>
            </a:pPr>
            <a:r>
              <a:rPr lang="en-US" sz="1600" dirty="0"/>
              <a:t>     Freq ~ Admit*(Dept + Gender) + </a:t>
            </a:r>
          </a:p>
          <a:p>
            <a:pPr marL="0" indent="0">
              <a:buNone/>
            </a:pPr>
            <a:r>
              <a:rPr lang="en-US" sz="1600" dirty="0"/>
              <a:t>                 Gender*Dept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Ordinal variables</a:t>
            </a:r>
          </a:p>
          <a:p>
            <a:pPr marL="0" indent="0">
              <a:buNone/>
            </a:pPr>
            <a:r>
              <a:rPr lang="en-US" sz="1600" dirty="0"/>
              <a:t>     Freq ~ right + left + </a:t>
            </a:r>
            <a:r>
              <a:rPr lang="en-US" sz="1600" dirty="0" err="1"/>
              <a:t>Diag</a:t>
            </a:r>
            <a:r>
              <a:rPr lang="en-US" sz="1600" dirty="0"/>
              <a:t>(right, left)</a:t>
            </a:r>
          </a:p>
          <a:p>
            <a:pPr marL="0" indent="0">
              <a:buNone/>
            </a:pPr>
            <a:r>
              <a:rPr lang="en-US" sz="1600" dirty="0"/>
              <a:t>     Freq ~ right + left + </a:t>
            </a:r>
            <a:r>
              <a:rPr lang="en-US" sz="1600" dirty="0" err="1"/>
              <a:t>Symm</a:t>
            </a:r>
            <a:r>
              <a:rPr lang="en-US" sz="1600" dirty="0"/>
              <a:t>(right, left)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FE1C0F-4E9A-4AE8-A405-2921D4BED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1206" y="990600"/>
            <a:ext cx="4115594" cy="457200"/>
          </a:xfrm>
          <a:solidFill>
            <a:schemeClr val="accent3">
              <a:lumMod val="75000"/>
              <a:alpha val="70000"/>
            </a:schemeClr>
          </a:solidFill>
        </p:spPr>
        <p:txBody>
          <a:bodyPr/>
          <a:lstStyle/>
          <a:p>
            <a:r>
              <a:rPr lang="en-US" dirty="0"/>
              <a:t>Response models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326B25-658E-4220-8920-042E861F4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84065" y="1447800"/>
            <a:ext cx="4102735" cy="467836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US" sz="2000" dirty="0"/>
              <a:t>Binary response</a:t>
            </a:r>
          </a:p>
          <a:p>
            <a:r>
              <a:rPr lang="en-US" sz="1600" dirty="0"/>
              <a:t>Categorical predictors: logit models</a:t>
            </a:r>
          </a:p>
          <a:p>
            <a:pPr marL="0" indent="0">
              <a:buNone/>
            </a:pPr>
            <a:r>
              <a:rPr lang="en-US" sz="1600" dirty="0"/>
              <a:t>     logit(Admit) ~ 1</a:t>
            </a:r>
          </a:p>
          <a:p>
            <a:pPr marL="0" indent="0">
              <a:buNone/>
            </a:pPr>
            <a:r>
              <a:rPr lang="en-US" sz="1600" dirty="0"/>
              <a:t>     logit(Admit) ~ Dept</a:t>
            </a:r>
          </a:p>
          <a:p>
            <a:pPr marL="0" indent="0">
              <a:buNone/>
            </a:pPr>
            <a:r>
              <a:rPr lang="en-US" sz="1600" dirty="0"/>
              <a:t>     logit(Admit) ~ Dept + Gender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800" dirty="0"/>
              <a:t>Continuous/mixed predictors</a:t>
            </a:r>
          </a:p>
          <a:p>
            <a:r>
              <a:rPr lang="en-US" sz="1600" dirty="0"/>
              <a:t>  Logistic regression models</a:t>
            </a:r>
          </a:p>
          <a:p>
            <a:pPr marL="0" indent="0">
              <a:buNone/>
            </a:pPr>
            <a:r>
              <a:rPr lang="en-US" sz="1600" dirty="0"/>
              <a:t>          </a:t>
            </a:r>
            <a:r>
              <a:rPr lang="en-US" sz="1600" dirty="0" err="1"/>
              <a:t>Pr</a:t>
            </a:r>
            <a:r>
              <a:rPr lang="en-US" sz="1600" dirty="0"/>
              <a:t>(Admit) ~ Dept + Gender + Age + </a:t>
            </a:r>
            <a:r>
              <a:rPr lang="en-US" sz="1600" b="1" dirty="0"/>
              <a:t>GRE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2000" dirty="0"/>
              <a:t>Polytomous response</a:t>
            </a:r>
          </a:p>
          <a:p>
            <a:r>
              <a:rPr lang="en-US" sz="1600" dirty="0"/>
              <a:t>Ordinal: proportional odds model</a:t>
            </a:r>
          </a:p>
          <a:p>
            <a:pPr marL="0" indent="0">
              <a:buNone/>
            </a:pPr>
            <a:r>
              <a:rPr lang="en-US" sz="1600" dirty="0"/>
              <a:t>     Improve ~ Age + Sex + Treatment</a:t>
            </a:r>
          </a:p>
          <a:p>
            <a:r>
              <a:rPr lang="en-US" sz="1800" dirty="0"/>
              <a:t>General multinomial model</a:t>
            </a:r>
          </a:p>
          <a:p>
            <a:pPr marL="0" indent="0">
              <a:buNone/>
            </a:pPr>
            <a:r>
              <a:rPr lang="en-US" sz="1600" dirty="0"/>
              <a:t>     </a:t>
            </a:r>
            <a:r>
              <a:rPr lang="en-US" sz="1600" dirty="0" err="1"/>
              <a:t>WomenWork</a:t>
            </a:r>
            <a:r>
              <a:rPr lang="en-US" sz="1600" dirty="0"/>
              <a:t> ~ Kids + </a:t>
            </a:r>
            <a:r>
              <a:rPr lang="en-US" sz="1600" dirty="0" err="1"/>
              <a:t>HusbandIncome</a:t>
            </a:r>
            <a:endParaRPr lang="en-US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8DD88F-EB73-408E-A6F5-9D46CC2F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E799F33-37ED-48A3-9629-46BF14CED112}"/>
              </a:ext>
            </a:extLst>
          </p:cNvPr>
          <p:cNvSpPr/>
          <p:nvPr/>
        </p:nvSpPr>
        <p:spPr>
          <a:xfrm>
            <a:off x="278849" y="2107933"/>
            <a:ext cx="366044" cy="1771048"/>
          </a:xfrm>
          <a:custGeom>
            <a:avLst/>
            <a:gdLst>
              <a:gd name="connsiteX0" fmla="*/ 317917 w 366044"/>
              <a:gd name="connsiteY0" fmla="*/ 0 h 1771048"/>
              <a:gd name="connsiteX1" fmla="*/ 284 w 366044"/>
              <a:gd name="connsiteY1" fmla="*/ 856648 h 1771048"/>
              <a:gd name="connsiteX2" fmla="*/ 366044 w 366044"/>
              <a:gd name="connsiteY2" fmla="*/ 1771048 h 177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044" h="1771048">
                <a:moveTo>
                  <a:pt x="317917" y="0"/>
                </a:moveTo>
                <a:cubicBezTo>
                  <a:pt x="155090" y="280736"/>
                  <a:pt x="-7737" y="561473"/>
                  <a:pt x="284" y="856648"/>
                </a:cubicBezTo>
                <a:cubicBezTo>
                  <a:pt x="8305" y="1151823"/>
                  <a:pt x="187174" y="1461435"/>
                  <a:pt x="366044" y="1771048"/>
                </a:cubicBezTo>
              </a:path>
            </a:pathLst>
          </a:custGeom>
          <a:noFill/>
          <a:ln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C1BBC5-F40C-4C1D-81E6-E79BB00D0985}"/>
              </a:ext>
            </a:extLst>
          </p:cNvPr>
          <p:cNvCxnSpPr/>
          <p:nvPr/>
        </p:nvCxnSpPr>
        <p:spPr>
          <a:xfrm>
            <a:off x="3810000" y="2286000"/>
            <a:ext cx="914400" cy="0"/>
          </a:xfrm>
          <a:prstGeom prst="straightConnector1">
            <a:avLst/>
          </a:prstGeom>
          <a:ln w="254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FB43B0-AAAB-4E76-AE70-253465FE31DB}"/>
              </a:ext>
            </a:extLst>
          </p:cNvPr>
          <p:cNvCxnSpPr>
            <a:cxnSpLocks/>
          </p:cNvCxnSpPr>
          <p:nvPr/>
        </p:nvCxnSpPr>
        <p:spPr>
          <a:xfrm flipV="1">
            <a:off x="3733800" y="2514600"/>
            <a:ext cx="990600" cy="1524000"/>
          </a:xfrm>
          <a:prstGeom prst="straightConnector1">
            <a:avLst/>
          </a:prstGeom>
          <a:ln w="254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C08D6C0-3FD8-0081-5C97-E9E3AB848DD2}"/>
              </a:ext>
            </a:extLst>
          </p:cNvPr>
          <p:cNvSpPr/>
          <p:nvPr/>
        </p:nvSpPr>
        <p:spPr>
          <a:xfrm>
            <a:off x="4571206" y="990600"/>
            <a:ext cx="4102735" cy="5135563"/>
          </a:xfrm>
          <a:custGeom>
            <a:avLst/>
            <a:gdLst>
              <a:gd name="csX0" fmla="*/ 0 w 4102735"/>
              <a:gd name="csY0" fmla="*/ 0 h 5135563"/>
              <a:gd name="csX1" fmla="*/ 545078 w 4102735"/>
              <a:gd name="csY1" fmla="*/ 0 h 5135563"/>
              <a:gd name="csX2" fmla="*/ 1008101 w 4102735"/>
              <a:gd name="csY2" fmla="*/ 0 h 5135563"/>
              <a:gd name="csX3" fmla="*/ 1676260 w 4102735"/>
              <a:gd name="csY3" fmla="*/ 0 h 5135563"/>
              <a:gd name="csX4" fmla="*/ 2221338 w 4102735"/>
              <a:gd name="csY4" fmla="*/ 0 h 5135563"/>
              <a:gd name="csX5" fmla="*/ 2766416 w 4102735"/>
              <a:gd name="csY5" fmla="*/ 0 h 5135563"/>
              <a:gd name="csX6" fmla="*/ 3434575 w 4102735"/>
              <a:gd name="csY6" fmla="*/ 0 h 5135563"/>
              <a:gd name="csX7" fmla="*/ 4102735 w 4102735"/>
              <a:gd name="csY7" fmla="*/ 0 h 5135563"/>
              <a:gd name="csX8" fmla="*/ 4102735 w 4102735"/>
              <a:gd name="csY8" fmla="*/ 673329 h 5135563"/>
              <a:gd name="csX9" fmla="*/ 4102735 w 4102735"/>
              <a:gd name="csY9" fmla="*/ 1141236 h 5135563"/>
              <a:gd name="csX10" fmla="*/ 4102735 w 4102735"/>
              <a:gd name="csY10" fmla="*/ 1609143 h 5135563"/>
              <a:gd name="csX11" fmla="*/ 4102735 w 4102735"/>
              <a:gd name="csY11" fmla="*/ 2179761 h 5135563"/>
              <a:gd name="csX12" fmla="*/ 4102735 w 4102735"/>
              <a:gd name="csY12" fmla="*/ 2801735 h 5135563"/>
              <a:gd name="csX13" fmla="*/ 4102735 w 4102735"/>
              <a:gd name="csY13" fmla="*/ 3218286 h 5135563"/>
              <a:gd name="csX14" fmla="*/ 4102735 w 4102735"/>
              <a:gd name="csY14" fmla="*/ 3788904 h 5135563"/>
              <a:gd name="csX15" fmla="*/ 4102735 w 4102735"/>
              <a:gd name="csY15" fmla="*/ 4359522 h 5135563"/>
              <a:gd name="csX16" fmla="*/ 4102735 w 4102735"/>
              <a:gd name="csY16" fmla="*/ 5135563 h 5135563"/>
              <a:gd name="csX17" fmla="*/ 3475603 w 4102735"/>
              <a:gd name="csY17" fmla="*/ 5135563 h 5135563"/>
              <a:gd name="csX18" fmla="*/ 2889498 w 4102735"/>
              <a:gd name="csY18" fmla="*/ 5135563 h 5135563"/>
              <a:gd name="csX19" fmla="*/ 2426475 w 4102735"/>
              <a:gd name="csY19" fmla="*/ 5135563 h 5135563"/>
              <a:gd name="csX20" fmla="*/ 1922424 w 4102735"/>
              <a:gd name="csY20" fmla="*/ 5135563 h 5135563"/>
              <a:gd name="csX21" fmla="*/ 1254265 w 4102735"/>
              <a:gd name="csY21" fmla="*/ 5135563 h 5135563"/>
              <a:gd name="csX22" fmla="*/ 668160 w 4102735"/>
              <a:gd name="csY22" fmla="*/ 5135563 h 5135563"/>
              <a:gd name="csX23" fmla="*/ 0 w 4102735"/>
              <a:gd name="csY23" fmla="*/ 5135563 h 5135563"/>
              <a:gd name="csX24" fmla="*/ 0 w 4102735"/>
              <a:gd name="csY24" fmla="*/ 4564945 h 5135563"/>
              <a:gd name="csX25" fmla="*/ 0 w 4102735"/>
              <a:gd name="csY25" fmla="*/ 4148394 h 5135563"/>
              <a:gd name="csX26" fmla="*/ 0 w 4102735"/>
              <a:gd name="csY26" fmla="*/ 3731842 h 5135563"/>
              <a:gd name="csX27" fmla="*/ 0 w 4102735"/>
              <a:gd name="csY27" fmla="*/ 3109869 h 5135563"/>
              <a:gd name="csX28" fmla="*/ 0 w 4102735"/>
              <a:gd name="csY28" fmla="*/ 2641962 h 5135563"/>
              <a:gd name="csX29" fmla="*/ 0 w 4102735"/>
              <a:gd name="csY29" fmla="*/ 1968632 h 5135563"/>
              <a:gd name="csX30" fmla="*/ 0 w 4102735"/>
              <a:gd name="csY30" fmla="*/ 1449370 h 5135563"/>
              <a:gd name="csX31" fmla="*/ 0 w 4102735"/>
              <a:gd name="csY31" fmla="*/ 1032819 h 5135563"/>
              <a:gd name="csX32" fmla="*/ 0 w 4102735"/>
              <a:gd name="csY32" fmla="*/ 0 h 5135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102735" h="5135563" extrusionOk="0">
                <a:moveTo>
                  <a:pt x="0" y="0"/>
                </a:moveTo>
                <a:cubicBezTo>
                  <a:pt x="166489" y="-36443"/>
                  <a:pt x="381089" y="3081"/>
                  <a:pt x="545078" y="0"/>
                </a:cubicBezTo>
                <a:cubicBezTo>
                  <a:pt x="709067" y="-3081"/>
                  <a:pt x="785393" y="21575"/>
                  <a:pt x="1008101" y="0"/>
                </a:cubicBezTo>
                <a:cubicBezTo>
                  <a:pt x="1230809" y="-21575"/>
                  <a:pt x="1431307" y="17816"/>
                  <a:pt x="1676260" y="0"/>
                </a:cubicBezTo>
                <a:cubicBezTo>
                  <a:pt x="1921213" y="-17816"/>
                  <a:pt x="2051092" y="28087"/>
                  <a:pt x="2221338" y="0"/>
                </a:cubicBezTo>
                <a:cubicBezTo>
                  <a:pt x="2391584" y="-28087"/>
                  <a:pt x="2497995" y="25954"/>
                  <a:pt x="2766416" y="0"/>
                </a:cubicBezTo>
                <a:cubicBezTo>
                  <a:pt x="3034837" y="-25954"/>
                  <a:pt x="3129406" y="56622"/>
                  <a:pt x="3434575" y="0"/>
                </a:cubicBezTo>
                <a:cubicBezTo>
                  <a:pt x="3739744" y="-56622"/>
                  <a:pt x="3851344" y="64395"/>
                  <a:pt x="4102735" y="0"/>
                </a:cubicBezTo>
                <a:cubicBezTo>
                  <a:pt x="4153864" y="252444"/>
                  <a:pt x="4053524" y="355662"/>
                  <a:pt x="4102735" y="673329"/>
                </a:cubicBezTo>
                <a:cubicBezTo>
                  <a:pt x="4151946" y="990996"/>
                  <a:pt x="4087099" y="976592"/>
                  <a:pt x="4102735" y="1141236"/>
                </a:cubicBezTo>
                <a:cubicBezTo>
                  <a:pt x="4118371" y="1305880"/>
                  <a:pt x="4095171" y="1511808"/>
                  <a:pt x="4102735" y="1609143"/>
                </a:cubicBezTo>
                <a:cubicBezTo>
                  <a:pt x="4110299" y="1706478"/>
                  <a:pt x="4076037" y="2055366"/>
                  <a:pt x="4102735" y="2179761"/>
                </a:cubicBezTo>
                <a:cubicBezTo>
                  <a:pt x="4129433" y="2304156"/>
                  <a:pt x="4064946" y="2600524"/>
                  <a:pt x="4102735" y="2801735"/>
                </a:cubicBezTo>
                <a:cubicBezTo>
                  <a:pt x="4140524" y="3002946"/>
                  <a:pt x="4055599" y="3099464"/>
                  <a:pt x="4102735" y="3218286"/>
                </a:cubicBezTo>
                <a:cubicBezTo>
                  <a:pt x="4149871" y="3337108"/>
                  <a:pt x="4041441" y="3617750"/>
                  <a:pt x="4102735" y="3788904"/>
                </a:cubicBezTo>
                <a:cubicBezTo>
                  <a:pt x="4164029" y="3960058"/>
                  <a:pt x="4094586" y="4221184"/>
                  <a:pt x="4102735" y="4359522"/>
                </a:cubicBezTo>
                <a:cubicBezTo>
                  <a:pt x="4110884" y="4497860"/>
                  <a:pt x="4035673" y="4830677"/>
                  <a:pt x="4102735" y="5135563"/>
                </a:cubicBezTo>
                <a:cubicBezTo>
                  <a:pt x="3809207" y="5204806"/>
                  <a:pt x="3782345" y="5109231"/>
                  <a:pt x="3475603" y="5135563"/>
                </a:cubicBezTo>
                <a:cubicBezTo>
                  <a:pt x="3168861" y="5161895"/>
                  <a:pt x="3168509" y="5122610"/>
                  <a:pt x="2889498" y="5135563"/>
                </a:cubicBezTo>
                <a:cubicBezTo>
                  <a:pt x="2610488" y="5148516"/>
                  <a:pt x="2617532" y="5103495"/>
                  <a:pt x="2426475" y="5135563"/>
                </a:cubicBezTo>
                <a:cubicBezTo>
                  <a:pt x="2235418" y="5167631"/>
                  <a:pt x="2028476" y="5128617"/>
                  <a:pt x="1922424" y="5135563"/>
                </a:cubicBezTo>
                <a:cubicBezTo>
                  <a:pt x="1816372" y="5142509"/>
                  <a:pt x="1578032" y="5107603"/>
                  <a:pt x="1254265" y="5135563"/>
                </a:cubicBezTo>
                <a:cubicBezTo>
                  <a:pt x="930498" y="5163523"/>
                  <a:pt x="822058" y="5097640"/>
                  <a:pt x="668160" y="5135563"/>
                </a:cubicBezTo>
                <a:cubicBezTo>
                  <a:pt x="514262" y="5173486"/>
                  <a:pt x="248215" y="5067509"/>
                  <a:pt x="0" y="5135563"/>
                </a:cubicBezTo>
                <a:cubicBezTo>
                  <a:pt x="-51631" y="4877217"/>
                  <a:pt x="68127" y="4747572"/>
                  <a:pt x="0" y="4564945"/>
                </a:cubicBezTo>
                <a:cubicBezTo>
                  <a:pt x="-68127" y="4382318"/>
                  <a:pt x="9279" y="4307954"/>
                  <a:pt x="0" y="4148394"/>
                </a:cubicBezTo>
                <a:cubicBezTo>
                  <a:pt x="-9279" y="3988834"/>
                  <a:pt x="41448" y="3906068"/>
                  <a:pt x="0" y="3731842"/>
                </a:cubicBezTo>
                <a:cubicBezTo>
                  <a:pt x="-41448" y="3557616"/>
                  <a:pt x="61959" y="3258422"/>
                  <a:pt x="0" y="3109869"/>
                </a:cubicBezTo>
                <a:cubicBezTo>
                  <a:pt x="-61959" y="2961316"/>
                  <a:pt x="12157" y="2736072"/>
                  <a:pt x="0" y="2641962"/>
                </a:cubicBezTo>
                <a:cubicBezTo>
                  <a:pt x="-12157" y="2547852"/>
                  <a:pt x="80562" y="2246744"/>
                  <a:pt x="0" y="1968632"/>
                </a:cubicBezTo>
                <a:cubicBezTo>
                  <a:pt x="-80562" y="1690520"/>
                  <a:pt x="6287" y="1610033"/>
                  <a:pt x="0" y="1449370"/>
                </a:cubicBezTo>
                <a:cubicBezTo>
                  <a:pt x="-6287" y="1288707"/>
                  <a:pt x="9560" y="1177671"/>
                  <a:pt x="0" y="1032819"/>
                </a:cubicBezTo>
                <a:cubicBezTo>
                  <a:pt x="-9560" y="887967"/>
                  <a:pt x="25445" y="314000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149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D703-432B-4EF9-A4A6-46FDD264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loglm</a:t>
            </a:r>
            <a:r>
              <a:rPr lang="en-US" dirty="0"/>
              <a:t>() vs. </a:t>
            </a:r>
            <a:r>
              <a:rPr lang="en-US" dirty="0" err="1"/>
              <a:t>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65DC36-7111-42D9-8864-373DE9B2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01699-9AB5-488C-A9BC-A7E8B46C33D1}"/>
              </a:ext>
            </a:extLst>
          </p:cNvPr>
          <p:cNvSpPr txBox="1"/>
          <p:nvPr/>
        </p:nvSpPr>
        <p:spPr>
          <a:xfrm>
            <a:off x="609600" y="2133600"/>
            <a:ext cx="80772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berk.mod1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Dept * (Gender + Admit),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berk.mod2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(~(Admit + Dept + Gender)^2,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(berk.mod2)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~(Admit + Dept + Gender)^2, data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20.20  5 0.001144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18.82  5 0.00207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09111-AFB8-4C38-BFAE-B5E3762D7562}"/>
              </a:ext>
            </a:extLst>
          </p:cNvPr>
          <p:cNvSpPr txBox="1"/>
          <p:nvPr/>
        </p:nvSpPr>
        <p:spPr>
          <a:xfrm>
            <a:off x="457200" y="1371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you can only test overall fit 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/>
              <a:t>or difference between models 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FB14A-E110-49DF-B74D-A9DE9ACAF420}"/>
              </a:ext>
            </a:extLst>
          </p:cNvPr>
          <p:cNvSpPr txBox="1"/>
          <p:nvPr/>
        </p:nvSpPr>
        <p:spPr>
          <a:xfrm>
            <a:off x="609600" y="5029200"/>
            <a:ext cx="8077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we can say:</a:t>
            </a:r>
          </a:p>
          <a:p>
            <a:r>
              <a:rPr lang="en-US" dirty="0"/>
              <a:t>      </a:t>
            </a:r>
            <a:r>
              <a:rPr lang="en-US" sz="2400" dirty="0"/>
              <a:t>Even the model with all pairwise associations fits poorly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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69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B57437-BD9B-47BE-A61C-D742A99C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DA7CCE-F143-47BC-9B40-9D3A4FEC4963}"/>
              </a:ext>
            </a:extLst>
          </p:cNvPr>
          <p:cNvSpPr txBox="1"/>
          <p:nvPr/>
        </p:nvSpPr>
        <p:spPr>
          <a:xfrm>
            <a:off x="457200" y="5334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Comparing models with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/>
              <a:t>and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5B603-53E9-4407-ABE9-2A6EB4E60E4B}"/>
              </a:ext>
            </a:extLst>
          </p:cNvPr>
          <p:cNvSpPr txBox="1"/>
          <p:nvPr/>
        </p:nvSpPr>
        <p:spPr>
          <a:xfrm>
            <a:off x="609600" y="1219200"/>
            <a:ext cx="8077200" cy="440120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(berk.mod1, berk.mod2,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test="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LR tests for hierarchical log-linear models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~Dept * (Gender + Admit)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~(Admit + Dept + Gender)^2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Deviance df Delta(Dev) Delta(df) P(&gt; Delta(Dev)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1      21.74  6   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2      20.20  5      1.531         1        0.21593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Saturated     0.00  0     20.204         5        0.00114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(berk.mod1, berk.mod2)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AIC BIC LR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berk.mod1 217 238     21.7  6     0.0014 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berk.mod2 217 240     20.2  5     0.0011 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</a:t>
            </a:r>
            <a:r>
              <a:rPr lang="en-US" sz="14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852CE-B39E-E04D-1AD1-3A5548F543C3}"/>
              </a:ext>
            </a:extLst>
          </p:cNvPr>
          <p:cNvSpPr txBox="1"/>
          <p:nvPr/>
        </p:nvSpPr>
        <p:spPr>
          <a:xfrm>
            <a:off x="609600" y="5791200"/>
            <a:ext cx="8077200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2400" dirty="0"/>
              <a:t>Q: What can we say from this?</a:t>
            </a:r>
          </a:p>
        </p:txBody>
      </p:sp>
    </p:spTree>
    <p:extLst>
      <p:ext uri="{BB962C8B-B14F-4D97-AF65-F5344CB8AC3E}">
        <p14:creationId xmlns:p14="http://schemas.microsoft.com/office/powerpoint/2010/main" val="46753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93D8-0D27-4131-99E8-6809199D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loglm</a:t>
            </a:r>
            <a:r>
              <a:rPr lang="en-US" dirty="0"/>
              <a:t>() vs. </a:t>
            </a:r>
            <a:r>
              <a:rPr lang="en-US" dirty="0" err="1"/>
              <a:t>glm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D12834-63AB-45D9-AF86-73B93835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B87D1-E573-4A89-9AA7-A830C66CCA16}"/>
              </a:ext>
            </a:extLst>
          </p:cNvPr>
          <p:cNvSpPr txBox="1"/>
          <p:nvPr/>
        </p:nvSpPr>
        <p:spPr>
          <a:xfrm>
            <a:off x="457200" y="1600200"/>
            <a:ext cx="82296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berkeley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berk.glm2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Dept+Gender+Admit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)^2,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berkeley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family="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(berk.glm2, test="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Analysis of Deviance Table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Model: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link: log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Response: Freq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Terms added sequentially (first to last)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Df Deviance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Df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Dev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(&gt;Chi)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NULL                            23       2650         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Dept          5      160        18       2491   &lt;2e-16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Gender        1      163        17       2328   &lt;2e-16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Admit         1      230        16       2098   &lt;2e-16 ***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Dept:Gender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5     1221        11        877   &lt;2e-16 ***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Dept:Admit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5      855         6         22   &lt;2e-16 ***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Gender:Admit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1        2         5         20     0.22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2D819-EBF4-44FF-9168-6CB0A6524864}"/>
              </a:ext>
            </a:extLst>
          </p:cNvPr>
          <p:cNvSpPr txBox="1"/>
          <p:nvPr/>
        </p:nvSpPr>
        <p:spPr>
          <a:xfrm>
            <a:off x="457200" y="1130102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you can test </a:t>
            </a:r>
            <a:r>
              <a:rPr lang="en-US" dirty="0">
                <a:solidFill>
                  <a:srgbClr val="0070C0"/>
                </a:solidFill>
              </a:rPr>
              <a:t>individual terms </a:t>
            </a:r>
            <a:r>
              <a:rPr lang="en-US" dirty="0"/>
              <a:t>using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9B7D6-BB14-9667-2150-2AD28B95FDD0}"/>
              </a:ext>
            </a:extLst>
          </p:cNvPr>
          <p:cNvSpPr txBox="1"/>
          <p:nvPr/>
        </p:nvSpPr>
        <p:spPr>
          <a:xfrm>
            <a:off x="457200" y="5791200"/>
            <a:ext cx="8229600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2000" dirty="0"/>
              <a:t>Q: Can someone help interpret the term for </a:t>
            </a:r>
            <a:r>
              <a:rPr lang="en-CA" sz="2000" dirty="0" err="1"/>
              <a:t>Gender:Admit</a:t>
            </a:r>
            <a:r>
              <a:rPr lang="en-CA" sz="2000" dirty="0"/>
              <a:t> ?</a:t>
            </a:r>
          </a:p>
          <a:p>
            <a:r>
              <a:rPr lang="en-CA" sz="2000" dirty="0"/>
              <a:t>      How could I enhance the </a:t>
            </a:r>
            <a:r>
              <a:rPr lang="en-CA" sz="2000" dirty="0" err="1"/>
              <a:t>vcdExtra</a:t>
            </a:r>
            <a:r>
              <a:rPr lang="en-CA" sz="2000" dirty="0"/>
              <a:t> package to do this for </a:t>
            </a:r>
            <a:r>
              <a:rPr lang="en-CA" sz="2000" dirty="0" err="1"/>
              <a:t>loglm</a:t>
            </a:r>
            <a:r>
              <a:rPr lang="en-CA" sz="2000" dirty="0"/>
              <a:t>() models?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32CDA-1CAE-6D77-B214-5D37DC349177}"/>
              </a:ext>
            </a:extLst>
          </p:cNvPr>
          <p:cNvSpPr txBox="1"/>
          <p:nvPr/>
        </p:nvSpPr>
        <p:spPr>
          <a:xfrm>
            <a:off x="6172200" y="2743200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NB: </a:t>
            </a:r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1600" dirty="0"/>
              <a:t>gives Type I,  </a:t>
            </a:r>
            <a:r>
              <a:rPr lang="en-CA" sz="1600" b="1" dirty="0"/>
              <a:t>sequential</a:t>
            </a:r>
            <a:r>
              <a:rPr lang="en-CA" sz="1600" dirty="0"/>
              <a:t> tests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774699-196C-A73B-53B8-CBAC0F2E5DFC}"/>
              </a:ext>
            </a:extLst>
          </p:cNvPr>
          <p:cNvCxnSpPr/>
          <p:nvPr/>
        </p:nvCxnSpPr>
        <p:spPr>
          <a:xfrm flipH="1">
            <a:off x="4267200" y="3048000"/>
            <a:ext cx="167640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004295CD-4F6D-5625-5923-BD304DE29DAC}"/>
              </a:ext>
            </a:extLst>
          </p:cNvPr>
          <p:cNvSpPr/>
          <p:nvPr/>
        </p:nvSpPr>
        <p:spPr>
          <a:xfrm>
            <a:off x="5943600" y="3962400"/>
            <a:ext cx="228600" cy="508575"/>
          </a:xfrm>
          <a:prstGeom prst="rightBrace">
            <a:avLst/>
          </a:prstGeom>
          <a:ln w="2540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99BE7-E8D0-4D0F-DD10-266EE3C9D145}"/>
              </a:ext>
            </a:extLst>
          </p:cNvPr>
          <p:cNvSpPr txBox="1"/>
          <p:nvPr/>
        </p:nvSpPr>
        <p:spPr>
          <a:xfrm>
            <a:off x="6553200" y="3886200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Not interested in these</a:t>
            </a:r>
          </a:p>
        </p:txBody>
      </p:sp>
    </p:spTree>
    <p:extLst>
      <p:ext uri="{BB962C8B-B14F-4D97-AF65-F5344CB8AC3E}">
        <p14:creationId xmlns:p14="http://schemas.microsoft.com/office/powerpoint/2010/main" val="68121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86B9-BA4D-41D2-B10F-D733A3F4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Dropping &amp; adding terms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F1D6F-B149-C11F-0714-F15D0F3B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0C7F0-B7B3-79F5-0E9B-43BC15D6465D}"/>
              </a:ext>
            </a:extLst>
          </p:cNvPr>
          <p:cNvSpPr txBox="1"/>
          <p:nvPr/>
        </p:nvSpPr>
        <p:spPr>
          <a:xfrm>
            <a:off x="457200" y="1219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useful strategy for model-building is to start with some model, and consider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effect of dropping high-order terms, one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effect of adding terms w/in the scope of a larger model, one at a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MASS:dropterm</a:t>
            </a:r>
            <a:r>
              <a:rPr lang="en-CA" dirty="0"/>
              <a:t>() and MASS::</a:t>
            </a:r>
            <a:r>
              <a:rPr lang="en-CA" dirty="0" err="1"/>
              <a:t>addterm</a:t>
            </a:r>
            <a:r>
              <a:rPr lang="en-CA" dirty="0"/>
              <a:t>() do this for both </a:t>
            </a:r>
            <a:r>
              <a:rPr lang="en-CA" dirty="0" err="1"/>
              <a:t>glm</a:t>
            </a:r>
            <a:r>
              <a:rPr lang="en-CA" dirty="0"/>
              <a:t>() and </a:t>
            </a:r>
            <a:r>
              <a:rPr lang="en-CA" dirty="0" err="1"/>
              <a:t>loglm</a:t>
            </a:r>
            <a:r>
              <a:rPr lang="en-CA" dirty="0"/>
              <a:t>()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8DB0F-6F88-C7BF-2F53-EF5DB585945F}"/>
              </a:ext>
            </a:extLst>
          </p:cNvPr>
          <p:cNvSpPr txBox="1"/>
          <p:nvPr/>
        </p:nvSpPr>
        <p:spPr>
          <a:xfrm>
            <a:off x="457200" y="2819400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MASS::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dropterm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(berk.glm2, test="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Single term deletions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Freq ~ (Dept + Gender + Admit)^2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Deviance     AIC     LRT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(Chi)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&lt;none&gt;             20.20  217.26                    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Dept:Gender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5  1148.90 1335.96 1128.70  &lt;2e-16 ***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Dept:Admit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5   783.61  970.67  763.40  &lt;2e-16 ***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Gender:Admit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1    21.74  216.80    1.53  0.2159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241554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A399-1D1E-4026-84C5-7F64963B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&amp; graphing models: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68D3EF-4D49-4C47-B954-23BD46A1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5B60DA-34F2-4B8F-8AFA-FAFD3F075609}"/>
              </a:ext>
            </a:extLst>
          </p:cNvPr>
          <p:cNvGrpSpPr/>
          <p:nvPr/>
        </p:nvGrpSpPr>
        <p:grpSpPr>
          <a:xfrm>
            <a:off x="355600" y="1571338"/>
            <a:ext cx="8580120" cy="1344264"/>
            <a:chOff x="457200" y="2514601"/>
            <a:chExt cx="8503920" cy="1420463"/>
          </a:xfrm>
        </p:grpSpPr>
        <p:pic>
          <p:nvPicPr>
            <p:cNvPr id="5" name="Picture 32">
              <a:extLst>
                <a:ext uri="{FF2B5EF4-FFF2-40B4-BE49-F238E27FC236}">
                  <a16:creationId xmlns:a16="http://schemas.microsoft.com/office/drawing/2014/main" id="{18F85EA5-F2A6-4B2E-8B6F-1D7BC5910E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6097" y="2514601"/>
              <a:ext cx="1565023" cy="1420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5BAA8E7-9FB1-40BC-8B02-89FDBFA0A0A0}"/>
                </a:ext>
              </a:extLst>
            </p:cNvPr>
            <p:cNvGrpSpPr/>
            <p:nvPr/>
          </p:nvGrpSpPr>
          <p:grpSpPr>
            <a:xfrm>
              <a:off x="457200" y="2816291"/>
              <a:ext cx="7014320" cy="980498"/>
              <a:chOff x="457200" y="2816291"/>
              <a:chExt cx="7014320" cy="980498"/>
            </a:xfrm>
          </p:grpSpPr>
          <p:grpSp>
            <p:nvGrpSpPr>
              <p:cNvPr id="7" name="Group 18">
                <a:extLst>
                  <a:ext uri="{FF2B5EF4-FFF2-40B4-BE49-F238E27FC236}">
                    <a16:creationId xmlns:a16="http://schemas.microsoft.com/office/drawing/2014/main" id="{7C464DF9-EAB8-40D6-80D6-F39276FB70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200" y="2816291"/>
                <a:ext cx="1357610" cy="850078"/>
                <a:chOff x="4788" y="1122"/>
                <a:chExt cx="702" cy="541"/>
              </a:xfrm>
            </p:grpSpPr>
            <p:sp>
              <p:nvSpPr>
                <p:cNvPr id="21" name="AutoShape 19">
                  <a:extLst>
                    <a:ext uri="{FF2B5EF4-FFF2-40B4-BE49-F238E27FC236}">
                      <a16:creationId xmlns:a16="http://schemas.microsoft.com/office/drawing/2014/main" id="{48B9B0BC-20E3-4EA6-A426-2F0BCA317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8" y="1122"/>
                  <a:ext cx="702" cy="540"/>
                </a:xfrm>
                <a:prstGeom prst="flowChartInternalStorage">
                  <a:avLst/>
                </a:prstGeom>
                <a:solidFill>
                  <a:srgbClr val="FF0000">
                    <a:alpha val="20000"/>
                  </a:srgbClr>
                </a:solidFill>
                <a:ln w="15875">
                  <a:solidFill>
                    <a:srgbClr val="FF33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" name="Text Box 20">
                  <a:extLst>
                    <a:ext uri="{FF2B5EF4-FFF2-40B4-BE49-F238E27FC236}">
                      <a16:creationId xmlns:a16="http://schemas.microsoft.com/office/drawing/2014/main" id="{8FEA0187-9586-4C0F-86CD-2FF7719A98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36" y="1212"/>
                  <a:ext cx="612" cy="4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en-US" sz="1600" dirty="0"/>
                    <a:t>input </a:t>
                  </a:r>
                </a:p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en-US" sz="1600" dirty="0"/>
                    <a:t>data</a:t>
                  </a:r>
                </a:p>
              </p:txBody>
            </p:sp>
          </p:grpSp>
          <p:grpSp>
            <p:nvGrpSpPr>
              <p:cNvPr id="8" name="Group 24">
                <a:extLst>
                  <a:ext uri="{FF2B5EF4-FFF2-40B4-BE49-F238E27FC236}">
                    <a16:creationId xmlns:a16="http://schemas.microsoft.com/office/drawing/2014/main" id="{04CD0156-D7CC-4933-A156-D549A75344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91924" y="2816292"/>
                <a:ext cx="1282187" cy="876790"/>
                <a:chOff x="2494" y="2160"/>
                <a:chExt cx="1044" cy="558"/>
              </a:xfrm>
            </p:grpSpPr>
            <p:sp>
              <p:nvSpPr>
                <p:cNvPr id="19" name="AutoShape 22">
                  <a:extLst>
                    <a:ext uri="{FF2B5EF4-FFF2-40B4-BE49-F238E27FC236}">
                      <a16:creationId xmlns:a16="http://schemas.microsoft.com/office/drawing/2014/main" id="{0145CC3B-61E0-49A7-92B7-6B9776026C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4" y="2190"/>
                  <a:ext cx="1044" cy="528"/>
                </a:xfrm>
                <a:prstGeom prst="flowChartAlternateProcess">
                  <a:avLst/>
                </a:prstGeom>
                <a:solidFill>
                  <a:schemeClr val="accent1">
                    <a:alpha val="39999"/>
                  </a:schemeClr>
                </a:solidFill>
                <a:ln w="19050" algn="ctr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0" name="Text Box 23">
                  <a:extLst>
                    <a:ext uri="{FF2B5EF4-FFF2-40B4-BE49-F238E27FC236}">
                      <a16:creationId xmlns:a16="http://schemas.microsoft.com/office/drawing/2014/main" id="{1D7D34E7-38A7-4BD6-BC51-01C3C47FFF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44" y="2160"/>
                  <a:ext cx="936" cy="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600" dirty="0" err="1"/>
                    <a:t>glm</a:t>
                  </a:r>
                  <a:r>
                    <a:rPr lang="en-US" altLang="en-US" sz="1600" dirty="0"/>
                    <a:t>()</a:t>
                  </a:r>
                </a:p>
                <a:p>
                  <a:pPr algn="ctr" eaLnBrk="1" hangingPunct="1"/>
                  <a:r>
                    <a:rPr lang="en-US" altLang="en-US" sz="1600" dirty="0"/>
                    <a:t> </a:t>
                  </a:r>
                  <a:r>
                    <a:rPr lang="en-US" altLang="en-US" sz="1600" dirty="0" err="1"/>
                    <a:t>polr</a:t>
                  </a:r>
                  <a:r>
                    <a:rPr lang="en-US" altLang="en-US" sz="1600" dirty="0"/>
                    <a:t>()</a:t>
                  </a:r>
                </a:p>
                <a:p>
                  <a:pPr algn="ctr" eaLnBrk="1" hangingPunct="1"/>
                  <a:r>
                    <a:rPr lang="en-US" altLang="en-US" sz="1600" dirty="0" err="1"/>
                    <a:t>multinom</a:t>
                  </a:r>
                  <a:r>
                    <a:rPr lang="en-US" altLang="en-US" sz="1600" dirty="0"/>
                    <a:t>()</a:t>
                  </a:r>
                </a:p>
              </p:txBody>
            </p:sp>
          </p:grpSp>
          <p:grpSp>
            <p:nvGrpSpPr>
              <p:cNvPr id="9" name="Group 28">
                <a:extLst>
                  <a:ext uri="{FF2B5EF4-FFF2-40B4-BE49-F238E27FC236}">
                    <a16:creationId xmlns:a16="http://schemas.microsoft.com/office/drawing/2014/main" id="{74777EBF-7A81-48DF-95FD-E734C14861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1226" y="2816292"/>
                <a:ext cx="1357610" cy="980497"/>
                <a:chOff x="2064" y="2736"/>
                <a:chExt cx="1104" cy="768"/>
              </a:xfrm>
            </p:grpSpPr>
            <p:sp>
              <p:nvSpPr>
                <p:cNvPr id="17" name="AutoShape 26">
                  <a:extLst>
                    <a:ext uri="{FF2B5EF4-FFF2-40B4-BE49-F238E27FC236}">
                      <a16:creationId xmlns:a16="http://schemas.microsoft.com/office/drawing/2014/main" id="{379671B1-2D0E-4DE6-B4D4-2643817A8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736"/>
                  <a:ext cx="1104" cy="768"/>
                </a:xfrm>
                <a:prstGeom prst="flowChartMultidocument">
                  <a:avLst/>
                </a:prstGeom>
                <a:solidFill>
                  <a:srgbClr val="FFFF99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8" name="Text Box 27">
                  <a:extLst>
                    <a:ext uri="{FF2B5EF4-FFF2-40B4-BE49-F238E27FC236}">
                      <a16:creationId xmlns:a16="http://schemas.microsoft.com/office/drawing/2014/main" id="{BB3C5AF4-5A53-4671-B8C3-CFA8BAA76F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08" y="2928"/>
                  <a:ext cx="673" cy="4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en-US" dirty="0"/>
                    <a:t>model object</a:t>
                  </a:r>
                </a:p>
              </p:txBody>
            </p:sp>
          </p:grp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5C1AF7C7-E0CC-404A-91F8-2AED8D4D33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85950" y="2816292"/>
                <a:ext cx="1433033" cy="829651"/>
                <a:chOff x="1614" y="1062"/>
                <a:chExt cx="756" cy="528"/>
              </a:xfrm>
            </p:grpSpPr>
            <p:sp>
              <p:nvSpPr>
                <p:cNvPr id="15" name="AutoShape 30">
                  <a:extLst>
                    <a:ext uri="{FF2B5EF4-FFF2-40B4-BE49-F238E27FC236}">
                      <a16:creationId xmlns:a16="http://schemas.microsoft.com/office/drawing/2014/main" id="{54E04A76-9668-4291-8CFA-062E715766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4" y="1062"/>
                  <a:ext cx="756" cy="528"/>
                </a:xfrm>
                <a:prstGeom prst="flowChartAlternateProcess">
                  <a:avLst/>
                </a:prstGeom>
                <a:solidFill>
                  <a:schemeClr val="accent1">
                    <a:alpha val="39999"/>
                  </a:schemeClr>
                </a:solidFill>
                <a:ln w="19050" algn="ctr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6" name="Text Box 31">
                  <a:extLst>
                    <a:ext uri="{FF2B5EF4-FFF2-40B4-BE49-F238E27FC236}">
                      <a16:creationId xmlns:a16="http://schemas.microsoft.com/office/drawing/2014/main" id="{37A636D6-A26B-4483-96D2-06708B0A23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50" y="1128"/>
                  <a:ext cx="678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600"/>
                    <a:t>plot(mod)</a:t>
                  </a:r>
                </a:p>
                <a:p>
                  <a:pPr algn="ctr" eaLnBrk="1" hangingPunct="1"/>
                  <a:r>
                    <a:rPr lang="en-US" altLang="en-US" sz="1600"/>
                    <a:t>plot(f(mod))</a:t>
                  </a:r>
                </a:p>
              </p:txBody>
            </p:sp>
          </p:grpSp>
          <p:sp>
            <p:nvSpPr>
              <p:cNvPr id="11" name="Line 51">
                <a:extLst>
                  <a:ext uri="{FF2B5EF4-FFF2-40B4-BE49-F238E27FC236}">
                    <a16:creationId xmlns:a16="http://schemas.microsoft.com/office/drawing/2014/main" id="{16353AA6-4011-46B3-B593-34EA91FC4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9387" y="3268829"/>
                <a:ext cx="527960" cy="0"/>
              </a:xfrm>
              <a:prstGeom prst="line">
                <a:avLst/>
              </a:prstGeom>
              <a:noFill/>
              <a:ln w="22225">
                <a:solidFill>
                  <a:srgbClr val="00008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Line 52">
                <a:extLst>
                  <a:ext uri="{FF2B5EF4-FFF2-40B4-BE49-F238E27FC236}">
                    <a16:creationId xmlns:a16="http://schemas.microsoft.com/office/drawing/2014/main" id="{0DBBC61F-ADB6-4F49-ABE9-616DF3FE6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8689" y="3268829"/>
                <a:ext cx="527960" cy="0"/>
              </a:xfrm>
              <a:prstGeom prst="line">
                <a:avLst/>
              </a:prstGeom>
              <a:noFill/>
              <a:ln w="22225">
                <a:solidFill>
                  <a:srgbClr val="00008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Line 53">
                <a:extLst>
                  <a:ext uri="{FF2B5EF4-FFF2-40B4-BE49-F238E27FC236}">
                    <a16:creationId xmlns:a16="http://schemas.microsoft.com/office/drawing/2014/main" id="{2DA87DE6-0457-4830-A277-1274F78C1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3413" y="3268829"/>
                <a:ext cx="527960" cy="0"/>
              </a:xfrm>
              <a:prstGeom prst="line">
                <a:avLst/>
              </a:prstGeom>
              <a:noFill/>
              <a:ln w="22225">
                <a:solidFill>
                  <a:srgbClr val="00008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Line 54">
                <a:extLst>
                  <a:ext uri="{FF2B5EF4-FFF2-40B4-BE49-F238E27FC236}">
                    <a16:creationId xmlns:a16="http://schemas.microsoft.com/office/drawing/2014/main" id="{5309F2A3-0757-458D-A919-FC246B103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43560" y="3268829"/>
                <a:ext cx="527960" cy="0"/>
              </a:xfrm>
              <a:prstGeom prst="line">
                <a:avLst/>
              </a:prstGeom>
              <a:noFill/>
              <a:ln w="22225">
                <a:solidFill>
                  <a:srgbClr val="00008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5C2EC346-58EB-4354-9A4D-BBDCB79A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0" y="3082343"/>
            <a:ext cx="8142857" cy="12571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B22D8EA-6C14-4950-B919-D8F96325C599}"/>
              </a:ext>
            </a:extLst>
          </p:cNvPr>
          <p:cNvSpPr txBox="1"/>
          <p:nvPr/>
        </p:nvSpPr>
        <p:spPr>
          <a:xfrm>
            <a:off x="449260" y="1143000"/>
            <a:ext cx="515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Object-oriented approach in R: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4989BB-E800-4213-B03C-FB91A6228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89" y="4518241"/>
            <a:ext cx="8171428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9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FBDC-B658-47BC-83F5-5A608561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Objects &amp;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60E7D-ED50-4152-AA5A-C66D8BCB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1BFDA-78DF-4313-9E01-716E74074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8171428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65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FBDC-B658-47BC-83F5-5A608561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Objects &amp;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60E7D-ED50-4152-AA5A-C66D8BCB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03EFF-98E5-4529-93EA-FDB63EE01C90}"/>
              </a:ext>
            </a:extLst>
          </p:cNvPr>
          <p:cNvSpPr txBox="1"/>
          <p:nvPr/>
        </p:nvSpPr>
        <p:spPr>
          <a:xfrm>
            <a:off x="457200" y="1219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Methods for “</a:t>
            </a:r>
            <a:r>
              <a:rPr lang="en-US" sz="2400" dirty="0" err="1"/>
              <a:t>glm</a:t>
            </a:r>
            <a:r>
              <a:rPr lang="en-US" sz="2400" dirty="0"/>
              <a:t>” objects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6BCC6-5482-4A61-A10D-D3F03C44E134}"/>
              </a:ext>
            </a:extLst>
          </p:cNvPr>
          <p:cNvSpPr txBox="1"/>
          <p:nvPr/>
        </p:nvSpPr>
        <p:spPr>
          <a:xfrm>
            <a:off x="533400" y="1981200"/>
            <a:ext cx="8153400" cy="375487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library(MASS); library(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methods(class="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[1] add1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addterm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[5]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asGnm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avPlot3d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[9] Boot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bootCase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brief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ceresPlot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[13] coerce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confidenceEllipse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[17]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cooks.distance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deviance          drop1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dropterm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[21] effects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extractAIC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family            formula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[25]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gamma.shape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influence         initialize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leveragePlot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[29]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linearHypothesis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[33]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modFit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mosaic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ncvTest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[37] nobs              predict           print             profile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[41]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qqPlot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residualPlot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residualPlots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residuals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[45] rootogram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rstandard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rstudent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S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[49] show              sieve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sigmaHat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slotsFromS3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[53] summary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vcov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weights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see '?methods' for accessing help and source code</a:t>
            </a:r>
          </a:p>
        </p:txBody>
      </p:sp>
    </p:spTree>
    <p:extLst>
      <p:ext uri="{BB962C8B-B14F-4D97-AF65-F5344CB8AC3E}">
        <p14:creationId xmlns:p14="http://schemas.microsoft.com/office/powerpoint/2010/main" val="323657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E6CC-4D0B-40D5-BF79-3DECF391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0468F0-5DA7-4510-B833-1EEE156A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15CA6-9AAC-4EE6-816A-164ED0B69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8" y="3324029"/>
            <a:ext cx="8180952" cy="22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05CB0C-73FC-F576-42FA-D0F4B3EE3370}"/>
              </a:ext>
            </a:extLst>
          </p:cNvPr>
          <p:cNvSpPr txBox="1"/>
          <p:nvPr/>
        </p:nvSpPr>
        <p:spPr>
          <a:xfrm>
            <a:off x="1066800" y="2370815"/>
            <a:ext cx="760095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glm</a:t>
            </a:r>
            <a:r>
              <a:rPr lang="en-CA" dirty="0"/>
              <a:t>(success ~ …, family=binomial)</a:t>
            </a:r>
          </a:p>
          <a:p>
            <a:r>
              <a:rPr lang="en-CA" dirty="0" err="1"/>
              <a:t>glm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</a:t>
            </a:r>
            <a:r>
              <a:rPr lang="en-CA" dirty="0" err="1"/>
              <a:t>Nsuccess</a:t>
            </a:r>
            <a:r>
              <a:rPr lang="en-CA" dirty="0"/>
              <a:t>, </a:t>
            </a:r>
            <a:r>
              <a:rPr lang="en-CA" dirty="0" err="1"/>
              <a:t>Nfail</a:t>
            </a:r>
            <a:r>
              <a:rPr lang="en-CA" dirty="0"/>
              <a:t>) ~ …, family=binomial)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581C71-9924-2FA9-3CD5-8C19C5DA7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587"/>
            <a:ext cx="8171428" cy="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4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E6CC-4D0B-40D5-BF79-3DECF391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regression: Extensions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0468F0-5DA7-4510-B833-1EEE156A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653C4-73D5-4458-AC86-A9981E3F7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571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6B9748-4D27-E274-521F-EBC85BA96541}"/>
              </a:ext>
            </a:extLst>
          </p:cNvPr>
          <p:cNvSpPr txBox="1"/>
          <p:nvPr/>
        </p:nvSpPr>
        <p:spPr>
          <a:xfrm>
            <a:off x="457200" y="3124200"/>
            <a:ext cx="822960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Extensions of the framework for logistic regression allow us to handle more than two discrete outcomes. Explanatory variable remain the same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E08D78-F2C6-7BC0-4E95-1A38E028A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6" y="4061107"/>
            <a:ext cx="8180952" cy="22571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85B36C-7A71-B7D0-5F7B-98826160E532}"/>
              </a:ext>
            </a:extLst>
          </p:cNvPr>
          <p:cNvSpPr/>
          <p:nvPr/>
        </p:nvSpPr>
        <p:spPr>
          <a:xfrm>
            <a:off x="685800" y="2231263"/>
            <a:ext cx="7942828" cy="6641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40382-F1AB-A007-FA8D-148D8C636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7200" y="259092"/>
            <a:ext cx="741812" cy="731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620D47-8318-F58C-B8E2-C9553F571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988" y="274046"/>
            <a:ext cx="741812" cy="7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6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830A-B084-4FDF-FC59-5B2D4806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Logistic regression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406F53-1FB7-1A97-D0AA-54FC480D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2CD41A4-DC6D-B15B-A80F-9B840CA3D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11" y="1598724"/>
            <a:ext cx="7799577" cy="490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094A-2B41-25AB-C22B-157FF49C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Survival in the Donner Party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E6B9F-4E93-F10D-FC73-0E778FDC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069BE682-466C-72EF-7CA0-8DF46A859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51983"/>
            <a:ext cx="4896533" cy="4601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E721F4-7132-85E2-1819-CE64088E3E4C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Data on the Donner Party records the fate of 90 people who set out to CA in 1846.</a:t>
            </a:r>
          </a:p>
          <a:p>
            <a:r>
              <a:rPr lang="en-CA" dirty="0"/>
              <a:t>They were trapped in an early winter storm near Reno, NV. Only 48 survived.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15196-5531-82DF-3BC1-70D6922E1760}"/>
              </a:ext>
            </a:extLst>
          </p:cNvPr>
          <p:cNvSpPr txBox="1"/>
          <p:nvPr/>
        </p:nvSpPr>
        <p:spPr>
          <a:xfrm>
            <a:off x="5125133" y="2133600"/>
            <a:ext cx="371406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Who survived? Why?</a:t>
            </a:r>
          </a:p>
          <a:p>
            <a:endParaRPr lang="en-CA" dirty="0"/>
          </a:p>
          <a:p>
            <a:r>
              <a:rPr lang="en-CA" dirty="0"/>
              <a:t>Logistic regression can model the probability of the </a:t>
            </a:r>
            <a:r>
              <a:rPr lang="en-CA" dirty="0">
                <a:solidFill>
                  <a:srgbClr val="0070C0"/>
                </a:solidFill>
              </a:rPr>
              <a:t>binary (0/1) </a:t>
            </a:r>
            <a:r>
              <a:rPr lang="en-CA" dirty="0"/>
              <a:t>outcome of survival </a:t>
            </a:r>
          </a:p>
          <a:p>
            <a:endParaRPr lang="en-CA" dirty="0"/>
          </a:p>
          <a:p>
            <a:r>
              <a:rPr lang="en-CA" dirty="0"/>
              <a:t>The model is </a:t>
            </a:r>
            <a:r>
              <a:rPr lang="en-CA" dirty="0">
                <a:solidFill>
                  <a:srgbClr val="0070C0"/>
                </a:solidFill>
              </a:rPr>
              <a:t>linear in log-odds</a:t>
            </a:r>
            <a:r>
              <a:rPr lang="en-CA" dirty="0"/>
              <a:t>, but non-linear on the probability scale.</a:t>
            </a:r>
          </a:p>
          <a:p>
            <a:endParaRPr lang="en-CA" dirty="0"/>
          </a:p>
          <a:p>
            <a:r>
              <a:rPr lang="en-CA" dirty="0"/>
              <a:t>A quantitative predictor like age gives predicted probabilities (&amp; CI)</a:t>
            </a:r>
          </a:p>
          <a:p>
            <a:endParaRPr lang="en-CA" dirty="0"/>
          </a:p>
          <a:p>
            <a:r>
              <a:rPr lang="en-CA" dirty="0"/>
              <a:t>Other predictors – sex, family, … can give a more detailed understanding </a:t>
            </a:r>
          </a:p>
        </p:txBody>
      </p:sp>
    </p:spTree>
    <p:extLst>
      <p:ext uri="{BB962C8B-B14F-4D97-AF65-F5344CB8AC3E}">
        <p14:creationId xmlns:p14="http://schemas.microsoft.com/office/powerpoint/2010/main" val="333484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5F2B-6503-4FAB-A4FC-2B11B30F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Survival in the Donner Party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B236B9-1401-4C34-98D5-4B549A02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2CB2F-CD51-4CF2-A127-DFCA39C3D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524000"/>
            <a:ext cx="4038095" cy="39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A0C0AB-DD7A-4233-B0CA-B89626A82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" y="1746638"/>
            <a:ext cx="4000000" cy="11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B0B583-AB25-457D-9915-38995E20F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61" y="3209186"/>
            <a:ext cx="4000000" cy="14285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63DAA5-C546-E62A-F4C3-9E43D770FBB3}"/>
              </a:ext>
            </a:extLst>
          </p:cNvPr>
          <p:cNvSpPr txBox="1"/>
          <p:nvPr/>
        </p:nvSpPr>
        <p:spPr>
          <a:xfrm>
            <a:off x="685800" y="5662136"/>
            <a:ext cx="73914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(survived ~ age, data=Donner,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family=binomial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(survived ~ age + sex + family, data=Donner,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family=binomial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(survived ~ age * sex, data=Donner,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family=binomial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B372C-8E81-D213-A145-224C5783F085}"/>
              </a:ext>
            </a:extLst>
          </p:cNvPr>
          <p:cNvSpPr txBox="1"/>
          <p:nvPr/>
        </p:nvSpPr>
        <p:spPr>
          <a:xfrm>
            <a:off x="609600" y="52578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Some possible models:</a:t>
            </a:r>
          </a:p>
        </p:txBody>
      </p:sp>
    </p:spTree>
    <p:extLst>
      <p:ext uri="{BB962C8B-B14F-4D97-AF65-F5344CB8AC3E}">
        <p14:creationId xmlns:p14="http://schemas.microsoft.com/office/powerpoint/2010/main" val="116550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3625-B200-D681-0C86-E0671A72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i="1" dirty="0"/>
              <a:t>Challenger: </a:t>
            </a:r>
            <a:r>
              <a:rPr lang="en-CA" dirty="0"/>
              <a:t>A </a:t>
            </a:r>
            <a:r>
              <a:rPr lang="en-CA" dirty="0" err="1"/>
              <a:t>dataviz</a:t>
            </a:r>
            <a:r>
              <a:rPr lang="en-CA" dirty="0"/>
              <a:t> disaster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A177C-3A2A-6050-2796-165573632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362200"/>
          </a:xfrm>
        </p:spPr>
        <p:txBody>
          <a:bodyPr>
            <a:normAutofit/>
          </a:bodyPr>
          <a:lstStyle/>
          <a:p>
            <a:r>
              <a:rPr lang="en-CA" sz="2400" dirty="0"/>
              <a:t>The space shuttle </a:t>
            </a:r>
            <a:r>
              <a:rPr lang="en-CA" sz="2400" i="1" dirty="0"/>
              <a:t>Challenger</a:t>
            </a:r>
            <a:r>
              <a:rPr lang="en-CA" sz="2400" dirty="0"/>
              <a:t> exploded 73 sec. after takeoff on January 28, 1986, killing all 7 crew</a:t>
            </a:r>
          </a:p>
          <a:p>
            <a:pPr lvl="1"/>
            <a:r>
              <a:rPr lang="en-CA" sz="2000" dirty="0"/>
              <a:t>Subsequent investigation revealed the </a:t>
            </a:r>
            <a:r>
              <a:rPr lang="en-CA" sz="2000" dirty="0">
                <a:solidFill>
                  <a:srgbClr val="0070C0"/>
                </a:solidFill>
              </a:rPr>
              <a:t>proximal cause</a:t>
            </a:r>
            <a:r>
              <a:rPr lang="en-CA" sz="2000" dirty="0"/>
              <a:t>: Low temperature </a:t>
            </a:r>
            <a:r>
              <a:rPr lang="en-CA" sz="2000" dirty="0">
                <a:sym typeface="Symbol" panose="05050102010706020507" pitchFamily="18" charset="2"/>
              </a:rPr>
              <a:t> failures of the rubber O-rings joining rocket stages</a:t>
            </a:r>
          </a:p>
          <a:p>
            <a:pPr lvl="1"/>
            <a:r>
              <a:rPr lang="en-CA" sz="2000" dirty="0">
                <a:sym typeface="Symbol" panose="05050102010706020507" pitchFamily="18" charset="2"/>
              </a:rPr>
              <a:t>The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anterior cause </a:t>
            </a:r>
            <a:r>
              <a:rPr lang="en-CA" sz="2000" dirty="0">
                <a:sym typeface="Symbol" panose="05050102010706020507" pitchFamily="18" charset="2"/>
              </a:rPr>
              <a:t>was a failure of data analysis &amp; visualization </a:t>
            </a:r>
          </a:p>
          <a:p>
            <a:r>
              <a:rPr lang="en-CA" sz="2400" dirty="0">
                <a:sym typeface="Symbol" panose="05050102010706020507" pitchFamily="18" charset="2"/>
              </a:rPr>
              <a:t>Data: 24 previous flights: temperature, # of “incidents”</a:t>
            </a:r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56EE5-DCA3-3B4E-90D7-3DEC4262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A picture containing crossword puzzle&#10;&#10;Description automatically generated">
            <a:extLst>
              <a:ext uri="{FF2B5EF4-FFF2-40B4-BE49-F238E27FC236}">
                <a16:creationId xmlns:a16="http://schemas.microsoft.com/office/drawing/2014/main" id="{3AB0AAA4-2E56-AC3D-D790-4F9BB3BCD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51275"/>
            <a:ext cx="5000625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DF024C-F141-8AE1-AE89-2ECAA7B86FA1}"/>
              </a:ext>
            </a:extLst>
          </p:cNvPr>
          <p:cNvSpPr txBox="1"/>
          <p:nvPr/>
        </p:nvSpPr>
        <p:spPr>
          <a:xfrm>
            <a:off x="6019800" y="4038600"/>
            <a:ext cx="2667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Morton-Thiokol engineers prepared this bad graph</a:t>
            </a:r>
          </a:p>
          <a:p>
            <a:endParaRPr lang="en-CA" dirty="0"/>
          </a:p>
          <a:p>
            <a:r>
              <a:rPr lang="en-CA" dirty="0"/>
              <a:t>But, they also excluded all flights where there was no damage </a:t>
            </a:r>
          </a:p>
        </p:txBody>
      </p:sp>
    </p:spTree>
    <p:extLst>
      <p:ext uri="{BB962C8B-B14F-4D97-AF65-F5344CB8AC3E}">
        <p14:creationId xmlns:p14="http://schemas.microsoft.com/office/powerpoint/2010/main" val="226356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C158-F816-9F97-5072-1CEEAFBE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i="1" dirty="0"/>
              <a:t>Challenger</a:t>
            </a:r>
            <a:r>
              <a:rPr lang="en-CA" dirty="0"/>
              <a:t>: A better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DBBF-88E0-26A6-A593-F01C0DD2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471AF4D1-B814-B291-D1F3-739874589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686999"/>
            <a:ext cx="5792157" cy="3861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144577-C454-4981-A71C-B24D973B6EA8}"/>
              </a:ext>
            </a:extLst>
          </p:cNvPr>
          <p:cNvSpPr txBox="1"/>
          <p:nvPr/>
        </p:nvSpPr>
        <p:spPr>
          <a:xfrm>
            <a:off x="457200" y="11430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graph plots the number of failures out of 6 O-rings in all previous flights, including those with 0 failures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It fits a simple quadratic regression, </a:t>
            </a:r>
            <a:r>
              <a:rPr lang="en-CA" dirty="0" err="1"/>
              <a:t>nFailures</a:t>
            </a:r>
            <a:r>
              <a:rPr lang="en-CA" dirty="0"/>
              <a:t> ~ poly(Temperature,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It should have been a warning that failures increase as temperature gets 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But it doesn’t take into account that </a:t>
            </a:r>
            <a:r>
              <a:rPr lang="en-CA" dirty="0" err="1">
                <a:solidFill>
                  <a:srgbClr val="0070C0"/>
                </a:solidFill>
              </a:rPr>
              <a:t>nFailures</a:t>
            </a:r>
            <a:r>
              <a:rPr lang="en-CA" dirty="0">
                <a:solidFill>
                  <a:srgbClr val="0070C0"/>
                </a:solidFill>
              </a:rPr>
              <a:t> ~ Bin(p, n=6)</a:t>
            </a:r>
          </a:p>
        </p:txBody>
      </p:sp>
    </p:spTree>
    <p:extLst>
      <p:ext uri="{BB962C8B-B14F-4D97-AF65-F5344CB8AC3E}">
        <p14:creationId xmlns:p14="http://schemas.microsoft.com/office/powerpoint/2010/main" val="3723378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C158-F816-9F97-5072-1CEEAFBE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i="1" dirty="0"/>
              <a:t>Challenger</a:t>
            </a:r>
            <a:r>
              <a:rPr lang="en-CA" dirty="0"/>
              <a:t>: A better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DBBF-88E0-26A6-A593-F01C0DD2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FCE8546-46FD-046A-35E1-3F2CC67A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743200"/>
            <a:ext cx="5399800" cy="3364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2B089C-8AAF-CC92-9F97-D81B882D88A9}"/>
              </a:ext>
            </a:extLst>
          </p:cNvPr>
          <p:cNvSpPr txBox="1"/>
          <p:nvPr/>
        </p:nvSpPr>
        <p:spPr>
          <a:xfrm>
            <a:off x="457200" y="10668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Logistic regression treats the # failures as a </a:t>
            </a:r>
            <a:r>
              <a:rPr lang="en-CA" dirty="0">
                <a:solidFill>
                  <a:srgbClr val="0070C0"/>
                </a:solidFill>
              </a:rPr>
              <a:t>binomial outcome with n = 6 trials</a:t>
            </a:r>
          </a:p>
          <a:p>
            <a:r>
              <a:rPr lang="en-CA" dirty="0"/>
              <a:t>The model provides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Predicted probabilities outside the range of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Confidence intervals, to judge model uncertainty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AF343-396D-4B5C-F88A-F36E953BAEB8}"/>
              </a:ext>
            </a:extLst>
          </p:cNvPr>
          <p:cNvSpPr txBox="1"/>
          <p:nvPr/>
        </p:nvSpPr>
        <p:spPr>
          <a:xfrm>
            <a:off x="6172200" y="2819400"/>
            <a:ext cx="2514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the challenger was launched, the temp was 31</a:t>
            </a:r>
            <a:r>
              <a:rPr lang="en-CA" baseline="30000" dirty="0"/>
              <a:t>o</a:t>
            </a:r>
            <a:r>
              <a:rPr lang="en-CA" dirty="0"/>
              <a:t> F</a:t>
            </a:r>
          </a:p>
          <a:p>
            <a:endParaRPr lang="en-CA" dirty="0"/>
          </a:p>
          <a:p>
            <a:r>
              <a:rPr lang="en-CA" dirty="0"/>
              <a:t>The CI band is very wide, but the predicted value is uncomfortably high</a:t>
            </a:r>
          </a:p>
          <a:p>
            <a:endParaRPr lang="en-CA" dirty="0"/>
          </a:p>
          <a:p>
            <a:r>
              <a:rPr lang="en-CA" dirty="0"/>
              <a:t>This analysis &amp; graph might have saved lives!</a:t>
            </a:r>
          </a:p>
        </p:txBody>
      </p:sp>
    </p:spTree>
    <p:extLst>
      <p:ext uri="{BB962C8B-B14F-4D97-AF65-F5344CB8AC3E}">
        <p14:creationId xmlns:p14="http://schemas.microsoft.com/office/powerpoint/2010/main" val="3425795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D422-9899-4EE0-A4E8-C1C3A54D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Arthritis treatment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AFD2EF-E9FC-4EA8-B05C-135E1E05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63084-990A-487D-BB38-61E0656FC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3857143" cy="3933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69AFE-A2A7-4ECC-9DAF-01F88AD7D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52880"/>
            <a:ext cx="4066667" cy="22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F737DD-C6EE-4C6C-A2DD-6FAFF8712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459" y="3810248"/>
            <a:ext cx="4019048" cy="1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8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FE53-BCA3-482D-B3BE-6A6E5A27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Berkeley admissions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3B8F1-6781-472C-9238-91262CDC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0B647-0EE5-43C2-A9A8-0A1BA937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4038095" cy="35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98F029-C9BF-4705-B326-754D78F9C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800" y="1524000"/>
            <a:ext cx="4000000" cy="22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D79C5E-C78C-40A7-B0C9-DFFFE687D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800" y="3962400"/>
            <a:ext cx="4000000" cy="1438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FE67FB-5332-5B3C-BAEF-8E01C94D03D0}"/>
              </a:ext>
            </a:extLst>
          </p:cNvPr>
          <p:cNvSpPr txBox="1"/>
          <p:nvPr/>
        </p:nvSpPr>
        <p:spPr>
          <a:xfrm>
            <a:off x="762000" y="5562600"/>
            <a:ext cx="79248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WOW! This logit model has such a simple interpretation compared to loglinear</a:t>
            </a:r>
          </a:p>
          <a:p>
            <a:r>
              <a:rPr lang="en-CA" dirty="0"/>
              <a:t>Can you describe it?</a:t>
            </a:r>
          </a:p>
        </p:txBody>
      </p:sp>
    </p:spTree>
    <p:extLst>
      <p:ext uri="{BB962C8B-B14F-4D97-AF65-F5344CB8AC3E}">
        <p14:creationId xmlns:p14="http://schemas.microsoft.com/office/powerpoint/2010/main" val="105147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2B3B7-2A55-4493-FC13-A189B61D4D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3698" r="11302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028A30-19C5-33E4-0D14-E72B41465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00427"/>
            <a:ext cx="740664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7100" dirty="0">
                <a:solidFill>
                  <a:srgbClr val="FFFFFF"/>
                </a:solidFill>
              </a:rPr>
              <a:t>The Logistic Regression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909DF2-D1D0-EE61-3395-9761D6C4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21225AB-15B9-4C79-A121-04D1DC7E2307}" type="slidenum">
              <a:rPr lang="en-US" sz="10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22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0587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0E92-F24D-49D6-8A88-3D47C31C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Binary response: What’s wrong with OLS?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ED0E25-76E6-4261-9CF6-CECD279F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FED96-101E-4B6C-B8C1-D146AA7C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10" y="1735380"/>
            <a:ext cx="3876190" cy="38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C7A021-B520-416C-9D29-86D90E4B3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5540"/>
            <a:ext cx="3847619" cy="1123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45E88-C49E-460D-A9E5-912846C96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3048000"/>
            <a:ext cx="3847619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54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38D6-CA62-4E0D-B53B-8858ED21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vs Logistic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2738C9-2B5B-4B92-8D1A-872472C7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F80C466-2554-41A3-B61E-52E3A55A2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70000"/>
            <a:ext cx="8229600" cy="4204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AB8370-2DBF-4C2A-B1A1-CEDEA9B7AA8A}"/>
              </a:ext>
            </a:extLst>
          </p:cNvPr>
          <p:cNvSpPr txBox="1"/>
          <p:nvPr/>
        </p:nvSpPr>
        <p:spPr>
          <a:xfrm>
            <a:off x="457200" y="5791200"/>
            <a:ext cx="41148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 linear with x</a:t>
            </a:r>
          </a:p>
          <a:p>
            <a:r>
              <a:rPr lang="en-US" dirty="0"/>
              <a:t>constant residual variance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8D04-5C4B-40C3-AF10-6115C799F953}"/>
              </a:ext>
            </a:extLst>
          </p:cNvPr>
          <p:cNvSpPr txBox="1"/>
          <p:nvPr/>
        </p:nvSpPr>
        <p:spPr>
          <a:xfrm>
            <a:off x="4800600" y="5791200"/>
            <a:ext cx="38862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 ~ logit (x)</a:t>
            </a:r>
          </a:p>
          <a:p>
            <a:r>
              <a:rPr lang="en-US" dirty="0"/>
              <a:t>non-constant residual variance ~ p (1-p)</a:t>
            </a:r>
          </a:p>
        </p:txBody>
      </p:sp>
    </p:spTree>
    <p:extLst>
      <p:ext uri="{BB962C8B-B14F-4D97-AF65-F5344CB8AC3E}">
        <p14:creationId xmlns:p14="http://schemas.microsoft.com/office/powerpoint/2010/main" val="2571001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BA1EE-B95D-4A3B-AEED-E6005860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6E451-7DCE-42B3-9377-41F6F746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392AF-1200-4F27-9C2E-0745FB0E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991" y="1730618"/>
            <a:ext cx="3923809" cy="38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8C021E-B6A9-41D2-9BA3-8FE492512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48" y="1730618"/>
            <a:ext cx="4104762" cy="1428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030054-8034-4B0D-BF06-E2B9AD86C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212" y="3352800"/>
            <a:ext cx="4095238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98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5F52-764A-4E1E-B2E1-8A228E5E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regression: One predictor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CBB13-CC08-46B3-A5D2-FB480A9D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129ABE-8B06-4014-93C1-1769FC020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8709"/>
            <a:ext cx="8171428" cy="1542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00569-45D1-4FDC-81FC-DDE5C162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" y="3072149"/>
            <a:ext cx="8171428" cy="182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042CB-C631-4935-8094-687E1C017962}"/>
              </a:ext>
            </a:extLst>
          </p:cNvPr>
          <p:cNvSpPr txBox="1"/>
          <p:nvPr/>
        </p:nvSpPr>
        <p:spPr>
          <a:xfrm>
            <a:off x="609600" y="5105400"/>
            <a:ext cx="80190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Thinking logistically: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Model is for the </a:t>
            </a:r>
            <a:r>
              <a:rPr lang="en-US" sz="2000" dirty="0">
                <a:solidFill>
                  <a:srgbClr val="0070C0"/>
                </a:solidFill>
              </a:rPr>
              <a:t>log odds </a:t>
            </a:r>
            <a:r>
              <a:rPr lang="en-US" sz="2000" dirty="0"/>
              <a:t>of the marked response, Y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 always back transform with logit</a:t>
            </a:r>
            <a:r>
              <a:rPr lang="en-US" sz="2000" baseline="30000" dirty="0"/>
              <a:t>-1</a:t>
            </a:r>
            <a:r>
              <a:rPr lang="en-US" sz="2000" dirty="0"/>
              <a:t> to get </a:t>
            </a:r>
            <a:r>
              <a:rPr lang="en-US" sz="2000" dirty="0">
                <a:solidFill>
                  <a:srgbClr val="0070C0"/>
                </a:solidFill>
              </a:rPr>
              <a:t>probability</a:t>
            </a:r>
            <a:r>
              <a:rPr lang="en-US" sz="2000" dirty="0"/>
              <a:t> of Y = 1</a:t>
            </a:r>
          </a:p>
        </p:txBody>
      </p:sp>
    </p:spTree>
    <p:extLst>
      <p:ext uri="{BB962C8B-B14F-4D97-AF65-F5344CB8AC3E}">
        <p14:creationId xmlns:p14="http://schemas.microsoft.com/office/powerpoint/2010/main" val="4292971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6813E-F63F-4D5B-9491-D5AB869E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regression: One predictor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1AEEC9-D5F9-4549-8F47-E3C2E86A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EA1CB-4868-4D07-9C8C-BB9851889AFF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coefficients, </a:t>
            </a:r>
            <a:r>
              <a:rPr lang="el-GR" dirty="0">
                <a:sym typeface="Symbol" panose="05050102010706020507" pitchFamily="18" charset="2"/>
              </a:rPr>
              <a:t>α</a:t>
            </a:r>
            <a:r>
              <a:rPr lang="en-US" dirty="0">
                <a:sym typeface="Symbol" panose="05050102010706020507" pitchFamily="18" charset="2"/>
              </a:rPr>
              <a:t>,  of this model have simple interpretations in terms of odds &amp; log odds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B170B-A81E-40D5-BE7B-580A7C3D0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77" y="2172625"/>
            <a:ext cx="3351952" cy="596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D8715-B1D9-4F90-82F0-ED0943A9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02149"/>
            <a:ext cx="4104943" cy="5370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9C5521-3497-45C1-9C69-7ED8D91768A2}"/>
              </a:ext>
            </a:extLst>
          </p:cNvPr>
          <p:cNvSpPr txBox="1"/>
          <p:nvPr/>
        </p:nvSpPr>
        <p:spPr>
          <a:xfrm>
            <a:off x="533400" y="3048000"/>
            <a:ext cx="8153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b"/>
            </a:pPr>
            <a:r>
              <a:rPr lang="en-US" dirty="0">
                <a:sym typeface="Symbol" panose="05050102010706020507" pitchFamily="18" charset="2"/>
              </a:rPr>
              <a:t>is the change in log odds for a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unit increase </a:t>
            </a:r>
            <a:r>
              <a:rPr lang="en-US" dirty="0">
                <a:sym typeface="Symbol" panose="05050102010706020507" pitchFamily="18" charset="2"/>
              </a:rPr>
              <a:t>in x</a:t>
            </a:r>
          </a:p>
          <a:p>
            <a:r>
              <a:rPr lang="en-US" dirty="0">
                <a:sym typeface="Symbol" panose="05050102010706020507" pitchFamily="18" charset="2"/>
              </a:rPr>
              <a:t>      The odds of Y=1 are multiplied by e</a:t>
            </a:r>
            <a:r>
              <a:rPr lang="en-US" baseline="30000" dirty="0">
                <a:sym typeface="Symbol" panose="05050102010706020507" pitchFamily="18" charset="2"/>
              </a:rPr>
              <a:t></a:t>
            </a:r>
            <a:r>
              <a:rPr lang="en-US" dirty="0">
                <a:sym typeface="Symbol" panose="05050102010706020507" pitchFamily="18" charset="2"/>
              </a:rPr>
              <a:t> for each unit increase in x</a:t>
            </a:r>
          </a:p>
          <a:p>
            <a:pPr marL="285750" indent="-285750">
              <a:buFont typeface="Symbol" panose="05050102010706020507" pitchFamily="18" charset="2"/>
              <a:buChar char="a"/>
            </a:pPr>
            <a:r>
              <a:rPr lang="en-US" dirty="0">
                <a:sym typeface="Symbol" panose="05050102010706020507" pitchFamily="18" charset="2"/>
              </a:rPr>
              <a:t>is the log odds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when x=0</a:t>
            </a:r>
          </a:p>
          <a:p>
            <a:r>
              <a:rPr lang="en-US" dirty="0">
                <a:sym typeface="Symbol" panose="05050102010706020507" pitchFamily="18" charset="2"/>
              </a:rPr>
              <a:t>      The odds of Y=1 when x=0 is e</a:t>
            </a:r>
            <a:r>
              <a:rPr lang="el-GR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α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In R, use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exp(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coef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(model)) </a:t>
            </a:r>
            <a:r>
              <a:rPr lang="en-US" dirty="0">
                <a:sym typeface="Symbol" panose="05050102010706020507" pitchFamily="18" charset="2"/>
              </a:rPr>
              <a:t>to get these values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Another interpretation: In terms of probability, the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slope</a:t>
            </a:r>
            <a:r>
              <a:rPr lang="en-US" dirty="0">
                <a:sym typeface="Symbol" panose="05050102010706020507" pitchFamily="18" charset="2"/>
              </a:rPr>
              <a:t> of the logistic regression curve is </a:t>
            </a:r>
            <a:r>
              <a:rPr lang="el-GR" dirty="0">
                <a:sym typeface="Symbol" panose="05050102010706020507" pitchFamily="18" charset="2"/>
              </a:rPr>
              <a:t>π</a:t>
            </a:r>
            <a:r>
              <a:rPr lang="en-US" dirty="0">
                <a:sym typeface="Symbol" panose="05050102010706020507" pitchFamily="18" charset="2"/>
              </a:rPr>
              <a:t>(1-</a:t>
            </a:r>
            <a:r>
              <a:rPr lang="el-GR" dirty="0">
                <a:sym typeface="Symbol" panose="05050102010706020507" pitchFamily="18" charset="2"/>
              </a:rPr>
              <a:t>π</a:t>
            </a:r>
            <a:r>
              <a:rPr lang="en-US" dirty="0">
                <a:sym typeface="Symbol" panose="05050102010706020507" pitchFamily="18" charset="2"/>
              </a:rPr>
              <a:t>)</a:t>
            </a:r>
          </a:p>
          <a:p>
            <a:r>
              <a:rPr lang="en-US" dirty="0">
                <a:sym typeface="Symbol" panose="05050102010706020507" pitchFamily="18" charset="2"/>
              </a:rPr>
              <a:t>This has the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maximum</a:t>
            </a:r>
            <a:r>
              <a:rPr lang="en-US" dirty="0">
                <a:sym typeface="Symbol" panose="05050102010706020507" pitchFamily="18" charset="2"/>
              </a:rPr>
              <a:t> value /4 when </a:t>
            </a:r>
            <a:r>
              <a:rPr lang="el-GR" dirty="0">
                <a:sym typeface="Symbol" panose="05050102010706020507" pitchFamily="18" charset="2"/>
              </a:rPr>
              <a:t>π</a:t>
            </a:r>
            <a:r>
              <a:rPr lang="en-US" dirty="0">
                <a:sym typeface="Symbol" panose="05050102010706020507" pitchFamily="18" charset="2"/>
              </a:rPr>
              <a:t> = ½</a:t>
            </a:r>
          </a:p>
          <a:p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56107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31BC-209C-4F2A-B9BD-73CA1B44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Logistic regression: Multiple predictors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E28B3-0A0C-471A-B196-5CF86333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EA2E9-007D-4540-BB62-2BA5F0FFC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62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87896D-F293-400C-8D9F-C36F99E82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620"/>
            <a:ext cx="8171428" cy="1685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091C6B-06E5-446D-977D-42407BFB5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55183"/>
            <a:ext cx="8171428" cy="121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DE31FC-BA68-458F-A796-971D12269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85080"/>
            <a:ext cx="8171428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55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C9AD-FECA-40EB-A212-1DCAF29B2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logistic </a:t>
            </a:r>
            <a:r>
              <a:rPr lang="en-US"/>
              <a:t>regression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1638F-EF2C-4DD0-BAD1-93573815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8549A-ED78-4206-95D7-65787CE24860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 models are the special case of generalized linear models, fit in R using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(..., family=binomial)</a:t>
            </a:r>
          </a:p>
          <a:p>
            <a:r>
              <a:rPr lang="en-US" dirty="0"/>
              <a:t>For this example, we define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Better</a:t>
            </a:r>
            <a:r>
              <a:rPr lang="en-US" dirty="0"/>
              <a:t> as any improvement at 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817ED-5170-46F9-AC09-035CC0FA0C39}"/>
              </a:ext>
            </a:extLst>
          </p:cNvPr>
          <p:cNvSpPr txBox="1"/>
          <p:nvPr/>
        </p:nvSpPr>
        <p:spPr>
          <a:xfrm>
            <a:off x="457200" y="2218730"/>
            <a:ext cx="8229600" cy="55399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Arthritis$Better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Arthritis$Improved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&gt; "None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063CBE-A528-42C9-9DB0-872693CFAEE3}"/>
              </a:ext>
            </a:extLst>
          </p:cNvPr>
          <p:cNvSpPr txBox="1"/>
          <p:nvPr/>
        </p:nvSpPr>
        <p:spPr>
          <a:xfrm>
            <a:off x="533400" y="2922985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and print: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722CC-EC04-4152-B1C5-612DD894BBDA}"/>
              </a:ext>
            </a:extLst>
          </p:cNvPr>
          <p:cNvSpPr txBox="1"/>
          <p:nvPr/>
        </p:nvSpPr>
        <p:spPr>
          <a:xfrm>
            <a:off x="533400" y="3559333"/>
            <a:ext cx="81534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arth.logistic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(Better ~ Age, data=Arthritis, family=binomial))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Better ~ Age, family = binomial, data = Arthritis)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  Age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-2.6421       0.0492 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Degrees of Freedom: 83 Total (i.e. Null);  82 Residual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Null Deviance:	    116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Deviance: 109 	AIC: 113</a:t>
            </a:r>
          </a:p>
        </p:txBody>
      </p:sp>
    </p:spTree>
    <p:extLst>
      <p:ext uri="{BB962C8B-B14F-4D97-AF65-F5344CB8AC3E}">
        <p14:creationId xmlns:p14="http://schemas.microsoft.com/office/powerpoint/2010/main" val="3327078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AB9530-7B2B-4F8A-BC4F-C08115D1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D6374-C255-43D3-8392-9DEA9BFA7A22}"/>
              </a:ext>
            </a:extLst>
          </p:cNvPr>
          <p:cNvSpPr txBox="1"/>
          <p:nvPr/>
        </p:nvSpPr>
        <p:spPr>
          <a:xfrm>
            <a:off x="457200" y="1237595"/>
            <a:ext cx="8229600" cy="440120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arth.logistic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Better ~ Age, family = binomial, data = Arthritis)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Deviance Residuals: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Min       1Q   Median       3Q      Max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-1.5106  -1.1277   0.0794   1.0677   1.7611 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Estimate Std. Error z value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-2.6421     1.0732   -2.46    0.014 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Age           0.0492     0.0194    2.54    0.011 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(Dispersion parameter for binomial family taken to be 1)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Null deviance: 116.45  on 83  degrees of freedom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deviance: 109.16  on 82  degrees of freedom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3DBD9-E575-41C7-A281-BA2A340510FB}"/>
              </a:ext>
            </a:extLst>
          </p:cNvPr>
          <p:cNvSpPr txBox="1"/>
          <p:nvPr/>
        </p:nvSpPr>
        <p:spPr>
          <a:xfrm>
            <a:off x="457200" y="38100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summary()</a:t>
            </a:r>
            <a:r>
              <a:rPr lang="en-US" sz="2400" dirty="0"/>
              <a:t>method gives details and tests of coefficients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D4109-2541-F02F-ECC5-C64E436B1A65}"/>
              </a:ext>
            </a:extLst>
          </p:cNvPr>
          <p:cNvSpPr txBox="1"/>
          <p:nvPr/>
        </p:nvSpPr>
        <p:spPr>
          <a:xfrm>
            <a:off x="6362700" y="5029200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G</a:t>
            </a:r>
            <a:r>
              <a:rPr lang="en-CA" sz="1600" baseline="30000" dirty="0"/>
              <a:t>2</a:t>
            </a:r>
            <a:r>
              <a:rPr lang="en-CA" sz="1600" dirty="0"/>
              <a:t> for H</a:t>
            </a:r>
            <a:r>
              <a:rPr lang="en-CA" sz="1600" baseline="-25000" dirty="0"/>
              <a:t>0</a:t>
            </a:r>
            <a:r>
              <a:rPr lang="en-CA" sz="1600" dirty="0"/>
              <a:t>: </a:t>
            </a:r>
            <a:r>
              <a:rPr lang="el-GR" sz="1600" dirty="0"/>
              <a:t>β</a:t>
            </a:r>
            <a:r>
              <a:rPr lang="en-CA" sz="1600" baseline="-25000" dirty="0"/>
              <a:t>Age</a:t>
            </a:r>
            <a:r>
              <a:rPr lang="en-CA" sz="1600" dirty="0"/>
              <a:t> =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8F1D5-C1C4-9DE4-4E78-BE59439B1B9B}"/>
              </a:ext>
            </a:extLst>
          </p:cNvPr>
          <p:cNvSpPr txBox="1"/>
          <p:nvPr/>
        </p:nvSpPr>
        <p:spPr>
          <a:xfrm>
            <a:off x="6362700" y="5257681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G</a:t>
            </a:r>
            <a:r>
              <a:rPr lang="en-CA" sz="1600" baseline="30000" dirty="0"/>
              <a:t>2</a:t>
            </a:r>
            <a:r>
              <a:rPr lang="en-CA" sz="1600" dirty="0"/>
              <a:t> for H</a:t>
            </a:r>
            <a:r>
              <a:rPr lang="en-CA" sz="1600" baseline="-25000" dirty="0"/>
              <a:t>1</a:t>
            </a:r>
            <a:r>
              <a:rPr lang="en-CA" sz="1600" dirty="0"/>
              <a:t>: </a:t>
            </a:r>
            <a:r>
              <a:rPr lang="el-GR" sz="1600" dirty="0"/>
              <a:t>β</a:t>
            </a:r>
            <a:r>
              <a:rPr lang="en-CA" sz="1600" baseline="-25000" dirty="0"/>
              <a:t>Age</a:t>
            </a:r>
            <a:r>
              <a:rPr lang="en-CA" sz="1600" dirty="0"/>
              <a:t> ≠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2BC45-436E-3995-C36C-A9FD5B7A7E60}"/>
              </a:ext>
            </a:extLst>
          </p:cNvPr>
          <p:cNvSpPr txBox="1"/>
          <p:nvPr/>
        </p:nvSpPr>
        <p:spPr>
          <a:xfrm>
            <a:off x="457200" y="58674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How much better is this than the null model?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DE675-EDDF-8D29-499E-37171D06E42C}"/>
              </a:ext>
            </a:extLst>
          </p:cNvPr>
          <p:cNvSpPr txBox="1"/>
          <p:nvPr/>
        </p:nvSpPr>
        <p:spPr>
          <a:xfrm>
            <a:off x="5181600" y="5867400"/>
            <a:ext cx="327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∆G</a:t>
            </a:r>
            <a:r>
              <a:rPr lang="en-CA" sz="1600" baseline="30000" dirty="0"/>
              <a:t>2</a:t>
            </a:r>
            <a:r>
              <a:rPr lang="en-CA" sz="1600" baseline="-25000" dirty="0"/>
              <a:t>(1) </a:t>
            </a:r>
            <a:r>
              <a:rPr lang="en-CA" sz="1600" dirty="0"/>
              <a:t>= 116.45 – 109.16 = 7.29</a:t>
            </a:r>
          </a:p>
        </p:txBody>
      </p:sp>
    </p:spTree>
    <p:extLst>
      <p:ext uri="{BB962C8B-B14F-4D97-AF65-F5344CB8AC3E}">
        <p14:creationId xmlns:p14="http://schemas.microsoft.com/office/powerpoint/2010/main" val="23122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55AFEF-3393-46FA-8A10-734E9E81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coefficients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DBC81C-9737-4F9C-9B95-D6D343CD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45C6D-2B32-486A-A1C5-1F23E0A6D651}"/>
              </a:ext>
            </a:extLst>
          </p:cNvPr>
          <p:cNvSpPr txBox="1"/>
          <p:nvPr/>
        </p:nvSpPr>
        <p:spPr>
          <a:xfrm>
            <a:off x="457200" y="1524000"/>
            <a:ext cx="39624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arth.logistic</a:t>
            </a:r>
            <a:r>
              <a:rPr lang="en-US" dirty="0"/>
              <a:t>)</a:t>
            </a:r>
          </a:p>
          <a:p>
            <a:r>
              <a:rPr lang="en-US" dirty="0"/>
              <a:t>(Intercept)         Age </a:t>
            </a:r>
          </a:p>
          <a:p>
            <a:r>
              <a:rPr lang="en-US" dirty="0"/>
              <a:t>   -2.64207     0.04925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37F89-F0E9-458B-B19A-ED0D22B1E191}"/>
              </a:ext>
            </a:extLst>
          </p:cNvPr>
          <p:cNvSpPr txBox="1"/>
          <p:nvPr/>
        </p:nvSpPr>
        <p:spPr>
          <a:xfrm>
            <a:off x="4572000" y="1524000"/>
            <a:ext cx="41148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&gt; exp(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arth.logistic</a:t>
            </a:r>
            <a:r>
              <a:rPr lang="en-US" dirty="0"/>
              <a:t>))</a:t>
            </a:r>
          </a:p>
          <a:p>
            <a:r>
              <a:rPr lang="en-US" dirty="0"/>
              <a:t>(Intercept)         Age </a:t>
            </a:r>
          </a:p>
          <a:p>
            <a:r>
              <a:rPr lang="en-US" dirty="0"/>
              <a:t>    0.07121     1.05048 </a:t>
            </a:r>
          </a:p>
          <a:p>
            <a:r>
              <a:rPr lang="en-US" dirty="0"/>
              <a:t>&gt; exp(10*</a:t>
            </a:r>
            <a:r>
              <a:rPr lang="en-US" dirty="0" err="1"/>
              <a:t>coef</a:t>
            </a:r>
            <a:r>
              <a:rPr lang="en-US" dirty="0"/>
              <a:t>(</a:t>
            </a:r>
            <a:r>
              <a:rPr lang="en-US" dirty="0" err="1"/>
              <a:t>arth.logistic</a:t>
            </a:r>
            <a:r>
              <a:rPr lang="en-US" dirty="0"/>
              <a:t>)[2])</a:t>
            </a:r>
          </a:p>
          <a:p>
            <a:r>
              <a:rPr lang="en-US" dirty="0"/>
              <a:t>  Age </a:t>
            </a:r>
          </a:p>
          <a:p>
            <a:r>
              <a:rPr lang="en-US" dirty="0"/>
              <a:t>1.636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8F57A-1162-477A-AAFC-E1129E08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86" y="3812393"/>
            <a:ext cx="8171428" cy="2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39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B2F4-BFFE-46F7-9095-EFE48A438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predictors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79B5D-ADA8-4218-975F-A5D76BF6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8C81C-E516-44EC-BEB9-EA28B616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43285"/>
            <a:ext cx="8171428" cy="4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43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CCC1-39B9-4174-82E1-3C488628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predictors: 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586A7-524D-4FF9-A7A1-B81D801F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96F0C-9BCA-4285-B3F8-15C10248C3E2}"/>
              </a:ext>
            </a:extLst>
          </p:cNvPr>
          <p:cNvSpPr txBox="1"/>
          <p:nvPr/>
        </p:nvSpPr>
        <p:spPr>
          <a:xfrm>
            <a:off x="533400" y="1584960"/>
            <a:ext cx="8153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arth.logistic2 &lt;-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(Better ~ I(Age - 50) + Sex + Treatment, 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     data=Arthritis, family=binomial)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FD969-B967-4499-81B0-233A0EF93132}"/>
              </a:ext>
            </a:extLst>
          </p:cNvPr>
          <p:cNvSpPr txBox="1"/>
          <p:nvPr/>
        </p:nvSpPr>
        <p:spPr>
          <a:xfrm>
            <a:off x="457200" y="11430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the main effects model.  Use I(Age – 50) to center Age, making </a:t>
            </a:r>
            <a:r>
              <a:rPr lang="el-GR" dirty="0">
                <a:sym typeface="Symbol" panose="05050102010706020507" pitchFamily="18" charset="2"/>
              </a:rPr>
              <a:t>α</a:t>
            </a:r>
            <a:r>
              <a:rPr lang="en-US" dirty="0">
                <a:sym typeface="Symbol" panose="05050102010706020507" pitchFamily="18" charset="2"/>
              </a:rPr>
              <a:t> interpretable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B31DF-858B-488B-9C06-D4B8E96B8024}"/>
              </a:ext>
            </a:extLst>
          </p:cNvPr>
          <p:cNvSpPr txBox="1"/>
          <p:nvPr/>
        </p:nvSpPr>
        <p:spPr>
          <a:xfrm>
            <a:off x="457200" y="22860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lmtest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coeftest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gives just the tests of coefficients provided by summary()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6E9C3-F86B-4B43-8397-3398F040ABBF}"/>
              </a:ext>
            </a:extLst>
          </p:cNvPr>
          <p:cNvSpPr txBox="1"/>
          <p:nvPr/>
        </p:nvSpPr>
        <p:spPr>
          <a:xfrm>
            <a:off x="457200" y="2743200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Estimate Std. Error z value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-0.5781     0.3674   -1.57    0.116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I(Age - 50)        0.0487     0.0207    2.36    0.018 *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-1.4878     0.5948   -2.50    0.012 *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TreatmentTreated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1.7598     0.5365    3.28    0.001 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F8954-AB2C-45B1-9745-BEFDDDC01872}"/>
              </a:ext>
            </a:extLst>
          </p:cNvPr>
          <p:cNvSpPr txBox="1"/>
          <p:nvPr/>
        </p:nvSpPr>
        <p:spPr>
          <a:xfrm>
            <a:off x="457200" y="52578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broom::glance(arth.logistic2)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A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tibble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1 x 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null.deviance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df.null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AIC   BIC deviance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df.residual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nobs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 &lt;int&gt;  &lt;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  &lt;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     &lt;int&gt; &lt;int&gt;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      116.      83  -46.0  100.  110.     92.1          80   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1E1F8-D803-43FB-90BB-21CF8CB1D70E}"/>
              </a:ext>
            </a:extLst>
          </p:cNvPr>
          <p:cNvSpPr txBox="1"/>
          <p:nvPr/>
        </p:nvSpPr>
        <p:spPr>
          <a:xfrm>
            <a:off x="457200" y="485648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broom::glance() </a:t>
            </a:r>
            <a:r>
              <a:rPr lang="en-US" dirty="0"/>
              <a:t>gives model fit statistics</a:t>
            </a:r>
          </a:p>
        </p:txBody>
      </p:sp>
    </p:spTree>
    <p:extLst>
      <p:ext uri="{BB962C8B-B14F-4D97-AF65-F5344CB8AC3E}">
        <p14:creationId xmlns:p14="http://schemas.microsoft.com/office/powerpoint/2010/main" val="279750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EEC6-705D-4BDE-90EF-3C446E05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coefficients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546542-661B-4332-BCAB-D3D5A6DD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329DA-540C-4034-B8EB-096435AD3F9E}"/>
              </a:ext>
            </a:extLst>
          </p:cNvPr>
          <p:cNvSpPr txBox="1"/>
          <p:nvPr/>
        </p:nvSpPr>
        <p:spPr>
          <a:xfrm>
            <a:off x="766864" y="1331148"/>
            <a:ext cx="79248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(arth.logistic2),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=exp(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(arth.logistic2)),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exp(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2.5 % 97.5 %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-0.5781     0.561 0.2647  1.132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I(Age - 50)       0.0487     1.050 1.0100  1.096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SexMale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-1.4878     0.226 0.0652  0.689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TreatmentTreated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1.7598     5.811 2.1187 17.727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0B44F-FE68-421E-BFBA-7B657C78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3733800"/>
            <a:ext cx="8171428" cy="20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6E8E55-307C-B7C5-F138-56C51245009E}"/>
              </a:ext>
            </a:extLst>
          </p:cNvPr>
          <p:cNvSpPr txBox="1"/>
          <p:nvPr/>
        </p:nvSpPr>
        <p:spPr>
          <a:xfrm>
            <a:off x="385864" y="2326395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❶</a:t>
            </a:r>
            <a:endParaRPr lang="en-CA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0DFD9-0340-00AD-D6CE-0091CF789601}"/>
              </a:ext>
            </a:extLst>
          </p:cNvPr>
          <p:cNvSpPr txBox="1"/>
          <p:nvPr/>
        </p:nvSpPr>
        <p:spPr>
          <a:xfrm>
            <a:off x="177136" y="3816078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❶</a:t>
            </a:r>
            <a:endParaRPr lang="en-CA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AC5A9D-D9DB-9BF2-D879-65B0BF3B118F}"/>
              </a:ext>
            </a:extLst>
          </p:cNvPr>
          <p:cNvSpPr txBox="1"/>
          <p:nvPr/>
        </p:nvSpPr>
        <p:spPr>
          <a:xfrm>
            <a:off x="385864" y="2562561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❷</a:t>
            </a:r>
            <a:endParaRPr lang="en-CA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5ED75-B28A-AD89-4D16-7C8875A488A9}"/>
              </a:ext>
            </a:extLst>
          </p:cNvPr>
          <p:cNvSpPr txBox="1"/>
          <p:nvPr/>
        </p:nvSpPr>
        <p:spPr>
          <a:xfrm>
            <a:off x="177136" y="4343400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❷</a:t>
            </a:r>
            <a:endParaRPr lang="en-CA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19612-44A4-9B08-ED36-281DD259B81C}"/>
              </a:ext>
            </a:extLst>
          </p:cNvPr>
          <p:cNvSpPr txBox="1"/>
          <p:nvPr/>
        </p:nvSpPr>
        <p:spPr>
          <a:xfrm>
            <a:off x="395592" y="2830978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❸</a:t>
            </a:r>
            <a:endParaRPr lang="en-C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B19735-4DB3-8964-CE00-EF6513A90BCA}"/>
              </a:ext>
            </a:extLst>
          </p:cNvPr>
          <p:cNvSpPr txBox="1"/>
          <p:nvPr/>
        </p:nvSpPr>
        <p:spPr>
          <a:xfrm>
            <a:off x="177136" y="4927568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❸</a:t>
            </a:r>
            <a:endParaRPr lang="en-CA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66DBA-D110-2F42-BC86-8D68636F6B86}"/>
              </a:ext>
            </a:extLst>
          </p:cNvPr>
          <p:cNvSpPr txBox="1"/>
          <p:nvPr/>
        </p:nvSpPr>
        <p:spPr>
          <a:xfrm>
            <a:off x="405320" y="3084936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❹</a:t>
            </a:r>
            <a:endParaRPr lang="en-CA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DFF73-664B-841F-B844-B7ED29A36B2A}"/>
              </a:ext>
            </a:extLst>
          </p:cNvPr>
          <p:cNvSpPr txBox="1"/>
          <p:nvPr/>
        </p:nvSpPr>
        <p:spPr>
          <a:xfrm>
            <a:off x="177136" y="5467621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❹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506026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03BF-7333-41ED-A47C-D110C30A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testing: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DB24E6-EB69-4C1E-8289-B6400003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4EB1A-7EF0-4722-99E2-C2B545909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8171428" cy="124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6EE6C8-4937-47E6-9D2A-68869A97B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600304"/>
            <a:ext cx="8171428" cy="923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76BE37-FA43-4953-8B95-F7F7D8872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733800"/>
            <a:ext cx="8171428" cy="6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1AE3E-012B-42B6-A969-FC97FB5B3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72" y="4724400"/>
            <a:ext cx="8171428" cy="1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38C6-88A7-410F-9917-442C2CEFD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4DED-6246-4D48-AF02-2A3972BE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4C04-53C8-442D-B81E-4C1DB65C5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2203395"/>
            <a:ext cx="8171428" cy="14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638129-D329-470C-811E-CF3D6ECEF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3754120"/>
            <a:ext cx="8171428" cy="1295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2836A2-8846-42D3-8F01-B33D7F2EA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5251280"/>
            <a:ext cx="8171428" cy="971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6C174E-A4D7-468F-A71A-1F4A2D0B348E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classical linear models using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we fit using ordinary least squares.</a:t>
            </a:r>
          </a:p>
          <a:p>
            <a:r>
              <a:rPr lang="en-US" dirty="0"/>
              <a:t>All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models use maximum likelihood estimation– better properties</a:t>
            </a:r>
          </a:p>
        </p:txBody>
      </p:sp>
    </p:spTree>
    <p:extLst>
      <p:ext uri="{BB962C8B-B14F-4D97-AF65-F5344CB8AC3E}">
        <p14:creationId xmlns:p14="http://schemas.microsoft.com/office/powerpoint/2010/main" val="413888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B91B-CD8F-47BE-8C8B-8CDFF15A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Overall model tests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92DF0-A4BE-4A6C-A569-9D5E5DF61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Likelihood ratio test (</a:t>
            </a:r>
            <a:r>
              <a:rPr lang="en-US" i="1" dirty="0"/>
              <a:t>G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sz="2400" dirty="0"/>
              <a:t>Compare </a:t>
            </a:r>
            <a:r>
              <a:rPr lang="en-US" sz="2400" dirty="0">
                <a:solidFill>
                  <a:srgbClr val="0070C0"/>
                </a:solidFill>
              </a:rPr>
              <a:t>nested</a:t>
            </a:r>
            <a:r>
              <a:rPr lang="en-US" sz="2400" dirty="0"/>
              <a:t> models, similar to F tests in OLS</a:t>
            </a:r>
          </a:p>
          <a:p>
            <a:r>
              <a:rPr lang="en-US" sz="2400" dirty="0"/>
              <a:t>Let </a:t>
            </a:r>
            <a:r>
              <a:rPr lang="en-US" sz="2400" i="1" dirty="0"/>
              <a:t>L</a:t>
            </a:r>
            <a:r>
              <a:rPr lang="en-US" sz="2400" baseline="-25000" dirty="0"/>
              <a:t>1</a:t>
            </a:r>
            <a:r>
              <a:rPr lang="en-US" sz="2400" dirty="0"/>
              <a:t> = maximized value for </a:t>
            </a:r>
            <a:r>
              <a:rPr lang="en-US" sz="2400" dirty="0">
                <a:solidFill>
                  <a:srgbClr val="0070C0"/>
                </a:solidFill>
              </a:rPr>
              <a:t>our model</a:t>
            </a:r>
          </a:p>
          <a:p>
            <a:pPr marL="0" indent="0">
              <a:buNone/>
            </a:pPr>
            <a:r>
              <a:rPr lang="en-US" sz="2400" dirty="0"/>
              <a:t>            logit(</a:t>
            </a:r>
            <a:r>
              <a:rPr lang="el-GR" sz="2400" dirty="0"/>
              <a:t>π</a:t>
            </a:r>
            <a:r>
              <a:rPr lang="en-US" sz="2400" baseline="-25000" dirty="0"/>
              <a:t>i</a:t>
            </a:r>
            <a:r>
              <a:rPr lang="en-US" sz="2400" dirty="0"/>
              <a:t>) = </a:t>
            </a:r>
            <a:r>
              <a:rPr lang="en-US" sz="2400" dirty="0">
                <a:sym typeface="Symbol" panose="05050102010706020507" pitchFamily="18" charset="2"/>
              </a:rPr>
              <a:t></a:t>
            </a:r>
            <a:r>
              <a:rPr lang="en-US" sz="2400" baseline="-25000" dirty="0">
                <a:sym typeface="Symbol" panose="05050102010706020507" pitchFamily="18" charset="2"/>
              </a:rPr>
              <a:t>0</a:t>
            </a:r>
            <a:r>
              <a:rPr lang="en-US" sz="2400" dirty="0">
                <a:sym typeface="Symbol" panose="05050102010706020507" pitchFamily="18" charset="2"/>
              </a:rPr>
              <a:t> + </a:t>
            </a:r>
            <a:r>
              <a:rPr lang="en-US" sz="2400" b="1" dirty="0" err="1">
                <a:sym typeface="Symbol" panose="05050102010706020507" pitchFamily="18" charset="2"/>
              </a:rPr>
              <a:t>x</a:t>
            </a:r>
            <a:r>
              <a:rPr lang="en-US" sz="2400" baseline="30000" dirty="0" err="1">
                <a:sym typeface="Symbol" panose="05050102010706020507" pitchFamily="18" charset="2"/>
              </a:rPr>
              <a:t>T</a:t>
            </a:r>
            <a:r>
              <a:rPr lang="en-US" sz="2400" baseline="-25000" dirty="0" err="1">
                <a:sym typeface="Symbol" panose="05050102010706020507" pitchFamily="18" charset="2"/>
              </a:rPr>
              <a:t>i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400" b="1" dirty="0">
                <a:sym typeface="Symbol" panose="05050102010706020507" pitchFamily="18" charset="2"/>
              </a:rPr>
              <a:t>           </a:t>
            </a:r>
            <a:r>
              <a:rPr lang="en-US" sz="2400" dirty="0">
                <a:sym typeface="Symbol" panose="05050102010706020507" pitchFamily="18" charset="2"/>
              </a:rPr>
              <a:t>w/ k predictors</a:t>
            </a:r>
          </a:p>
          <a:p>
            <a:r>
              <a:rPr lang="en-US" sz="2400" dirty="0">
                <a:sym typeface="Symbol" panose="05050102010706020507" pitchFamily="18" charset="2"/>
              </a:rPr>
              <a:t>Let </a:t>
            </a:r>
            <a:r>
              <a:rPr lang="en-US" sz="2400" i="1" dirty="0">
                <a:sym typeface="Symbol" panose="05050102010706020507" pitchFamily="18" charset="2"/>
              </a:rPr>
              <a:t>L</a:t>
            </a:r>
            <a:r>
              <a:rPr lang="en-US" sz="2400" baseline="-25000" dirty="0">
                <a:sym typeface="Symbol" panose="05050102010706020507" pitchFamily="18" charset="2"/>
              </a:rPr>
              <a:t>0</a:t>
            </a:r>
            <a:r>
              <a:rPr lang="en-US" sz="2400" dirty="0">
                <a:sym typeface="Symbol" panose="05050102010706020507" pitchFamily="18" charset="2"/>
              </a:rPr>
              <a:t> = maximized likelihood for the 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null model</a:t>
            </a:r>
          </a:p>
          <a:p>
            <a:pPr marL="0" indent="0">
              <a:buNone/>
            </a:pPr>
            <a:r>
              <a:rPr lang="en-US" sz="2400" dirty="0">
                <a:sym typeface="Symbol" panose="05050102010706020507" pitchFamily="18" charset="2"/>
              </a:rPr>
              <a:t>            </a:t>
            </a:r>
            <a:r>
              <a:rPr lang="en-US" sz="2400" dirty="0"/>
              <a:t>logit(</a:t>
            </a:r>
            <a:r>
              <a:rPr lang="el-GR" sz="2400" dirty="0"/>
              <a:t>π</a:t>
            </a:r>
            <a:r>
              <a:rPr lang="en-US" sz="2400" baseline="-25000" dirty="0"/>
              <a:t>i</a:t>
            </a:r>
            <a:r>
              <a:rPr lang="en-US" sz="2400" dirty="0"/>
              <a:t>) = </a:t>
            </a:r>
            <a:r>
              <a:rPr lang="en-US" sz="2400" dirty="0">
                <a:sym typeface="Symbol" panose="05050102010706020507" pitchFamily="18" charset="2"/>
              </a:rPr>
              <a:t></a:t>
            </a:r>
            <a:r>
              <a:rPr lang="en-US" sz="2400" baseline="-25000" dirty="0">
                <a:sym typeface="Symbol" panose="05050102010706020507" pitchFamily="18" charset="2"/>
              </a:rPr>
              <a:t>0</a:t>
            </a:r>
            <a:r>
              <a:rPr lang="en-US" sz="2400" dirty="0">
                <a:sym typeface="Symbol" panose="05050102010706020507" pitchFamily="18" charset="2"/>
              </a:rPr>
              <a:t>              under H</a:t>
            </a:r>
            <a:r>
              <a:rPr lang="en-US" sz="2400" baseline="-25000" dirty="0">
                <a:sym typeface="Symbol" panose="05050102010706020507" pitchFamily="18" charset="2"/>
              </a:rPr>
              <a:t>0</a:t>
            </a:r>
            <a:r>
              <a:rPr lang="en-US" sz="2400" dirty="0">
                <a:sym typeface="Symbol" panose="05050102010706020507" pitchFamily="18" charset="2"/>
              </a:rPr>
              <a:t>: 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400" dirty="0">
                <a:sym typeface="Symbol" panose="05050102010706020507" pitchFamily="18" charset="2"/>
              </a:rPr>
              <a:t> = 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 = … = </a:t>
            </a:r>
            <a:r>
              <a:rPr lang="en-US" sz="2400" baseline="-25000" dirty="0">
                <a:sym typeface="Symbol" panose="05050102010706020507" pitchFamily="18" charset="2"/>
              </a:rPr>
              <a:t>k       </a:t>
            </a:r>
          </a:p>
          <a:p>
            <a:r>
              <a:rPr lang="en-US" sz="2400" dirty="0"/>
              <a:t>Likelihood ratio test statistic: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B959FE-11D3-470C-A2A5-1924F9A3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119F432-ABDC-4259-99E5-48D8F76C2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818485"/>
              </p:ext>
            </p:extLst>
          </p:nvPr>
        </p:nvGraphicFramePr>
        <p:xfrm>
          <a:off x="1371600" y="4419600"/>
          <a:ext cx="531795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560" imgH="482400" progId="Equation.DSMT4">
                  <p:embed/>
                </p:oleObj>
              </mc:Choice>
              <mc:Fallback>
                <p:oleObj name="Equation" r:id="rId2" imgW="2590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1600" y="4419600"/>
                        <a:ext cx="5317958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5720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D22D-BEEC-F533-DFBA-95C9B107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Wald tests &amp; 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9BD1A-5463-C8D9-400D-AB197F7B0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587826"/>
          </a:xfrm>
        </p:spPr>
        <p:txBody>
          <a:bodyPr/>
          <a:lstStyle/>
          <a:p>
            <a:r>
              <a:rPr lang="en-CA" dirty="0"/>
              <a:t>Analogous to </a:t>
            </a:r>
            <a:r>
              <a:rPr lang="en-CA" i="1" dirty="0"/>
              <a:t>t</a:t>
            </a:r>
            <a:r>
              <a:rPr lang="en-CA" dirty="0"/>
              <a:t>-tests in OLS</a:t>
            </a:r>
          </a:p>
          <a:p>
            <a:r>
              <a:rPr lang="en-CA" dirty="0"/>
              <a:t>Test H</a:t>
            </a:r>
            <a:r>
              <a:rPr lang="en-CA" baseline="-25000" dirty="0"/>
              <a:t>0</a:t>
            </a:r>
            <a:r>
              <a:rPr lang="en-CA" dirty="0"/>
              <a:t>: β</a:t>
            </a:r>
            <a:r>
              <a:rPr lang="en-CA" baseline="-25000" dirty="0" err="1"/>
              <a:t>i</a:t>
            </a:r>
            <a:r>
              <a:rPr lang="en-CA" dirty="0"/>
              <a:t> = 0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Confidence interval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1188D-1614-6DFD-EF7F-7ACFD602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BC50A4-5313-7139-EF88-FC9DB5BA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752600"/>
            <a:ext cx="4819650" cy="838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BEDC5D-F2AC-95AB-FA25-DF3A615464B8}"/>
              </a:ext>
            </a:extLst>
          </p:cNvPr>
          <p:cNvSpPr txBox="1"/>
          <p:nvPr/>
        </p:nvSpPr>
        <p:spPr>
          <a:xfrm>
            <a:off x="2286000" y="32467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09BB79-6BFE-B125-F0E6-91E345F94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845005"/>
            <a:ext cx="2643643" cy="6531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4BD339-21F8-22A1-7C58-4F4DDB2ED353}"/>
              </a:ext>
            </a:extLst>
          </p:cNvPr>
          <p:cNvSpPr txBox="1"/>
          <p:nvPr/>
        </p:nvSpPr>
        <p:spPr>
          <a:xfrm>
            <a:off x="457200" y="3886200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r1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lmtest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coeftest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r2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Waiting for profiling to be done...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(r1, r2)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Estimate Std. Error z value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2.5 % 97.5 %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  -0.578      0.367    -1.6    0.116 -1.33  0.124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I(Age - 50)         0.049      0.021     2.4    0.018  0.01  0.092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SexMale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-1.488      0.595    -2.5    0.012 -2.73 -0.372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TreatmentTreated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1.760      0.536     3.3    0.001  0.75  2.875</a:t>
            </a:r>
          </a:p>
        </p:txBody>
      </p:sp>
    </p:spTree>
    <p:extLst>
      <p:ext uri="{BB962C8B-B14F-4D97-AF65-F5344CB8AC3E}">
        <p14:creationId xmlns:p14="http://schemas.microsoft.com/office/powerpoint/2010/main" val="3198757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1DDEF-83FB-779E-F408-78C633D0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LR, Wald &amp; Score tests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B660F-FB33-0ACE-F288-FA59AA6E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11A9A7-2563-DCA5-FA74-AF41FC40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791"/>
            <a:ext cx="5609362" cy="145456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42597C7-09AC-16E7-67CD-7E883609F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51" y="2895600"/>
            <a:ext cx="4514449" cy="39017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499709-CDF9-F6A8-B533-8ECC05077F99}"/>
              </a:ext>
            </a:extLst>
          </p:cNvPr>
          <p:cNvSpPr txBox="1"/>
          <p:nvPr/>
        </p:nvSpPr>
        <p:spPr>
          <a:xfrm>
            <a:off x="5213552" y="2971800"/>
            <a:ext cx="3581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Different ways to measure departure from H</a:t>
            </a:r>
            <a:r>
              <a:rPr lang="en-CA" sz="2000" baseline="-25000" dirty="0"/>
              <a:t>0</a:t>
            </a:r>
            <a:r>
              <a:rPr lang="en-CA" sz="2000" dirty="0"/>
              <a:t>: </a:t>
            </a:r>
            <a:r>
              <a:rPr lang="el-GR" sz="2000" b="1" dirty="0"/>
              <a:t>β</a:t>
            </a:r>
            <a:r>
              <a:rPr lang="en-CA" sz="2000" dirty="0"/>
              <a:t> = 0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FF0000"/>
                </a:solidFill>
              </a:rPr>
              <a:t>LR test: </a:t>
            </a:r>
            <a:r>
              <a:rPr lang="en-CA" dirty="0" err="1">
                <a:solidFill>
                  <a:srgbClr val="FF0000"/>
                </a:solidFill>
              </a:rPr>
              <a:t>diff</a:t>
            </a:r>
            <a:r>
              <a:rPr lang="en-CA" baseline="30000" dirty="0" err="1">
                <a:solidFill>
                  <a:srgbClr val="FF0000"/>
                </a:solidFill>
              </a:rPr>
              <a:t>ce</a:t>
            </a:r>
            <a:r>
              <a:rPr lang="en-CA" dirty="0">
                <a:solidFill>
                  <a:srgbClr val="FF0000"/>
                </a:solidFill>
              </a:rPr>
              <a:t> in log 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accent6">
                    <a:lumMod val="50000"/>
                  </a:schemeClr>
                </a:solidFill>
              </a:rPr>
              <a:t>Wald test: (</a:t>
            </a:r>
            <a:r>
              <a:rPr lang="el-GR" b="1" dirty="0">
                <a:solidFill>
                  <a:schemeClr val="accent6">
                    <a:lumMod val="50000"/>
                  </a:schemeClr>
                </a:solidFill>
              </a:rPr>
              <a:t>β</a:t>
            </a:r>
            <a:r>
              <a:rPr lang="en-CA" dirty="0">
                <a:solidFill>
                  <a:schemeClr val="accent6">
                    <a:lumMod val="50000"/>
                  </a:schemeClr>
                </a:solidFill>
              </a:rPr>
              <a:t> – </a:t>
            </a:r>
            <a:r>
              <a:rPr lang="el-GR" b="1" dirty="0">
                <a:solidFill>
                  <a:schemeClr val="accent6">
                    <a:lumMod val="50000"/>
                  </a:schemeClr>
                </a:solidFill>
              </a:rPr>
              <a:t>β</a:t>
            </a:r>
            <a:r>
              <a:rPr lang="en-CA" baseline="-25000" dirty="0">
                <a:solidFill>
                  <a:schemeClr val="accent6">
                    <a:lumMod val="50000"/>
                  </a:schemeClr>
                </a:solidFill>
              </a:rPr>
              <a:t>0</a:t>
            </a:r>
            <a:r>
              <a:rPr lang="en-CA" dirty="0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en-CA" baseline="30000" dirty="0">
                <a:solidFill>
                  <a:schemeClr val="accent6">
                    <a:lumMod val="50000"/>
                  </a:schemeClr>
                </a:solidFill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B050"/>
                </a:solidFill>
              </a:rPr>
              <a:t>Score test: slope at </a:t>
            </a:r>
            <a:r>
              <a:rPr lang="el-GR" b="1" dirty="0">
                <a:solidFill>
                  <a:srgbClr val="00B050"/>
                </a:solidFill>
              </a:rPr>
              <a:t>β</a:t>
            </a:r>
            <a:r>
              <a:rPr lang="en-CA" dirty="0">
                <a:solidFill>
                  <a:srgbClr val="00B050"/>
                </a:solidFill>
              </a:rPr>
              <a:t> 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B97D-583D-A561-D0B2-BAF795436092}"/>
              </a:ext>
            </a:extLst>
          </p:cNvPr>
          <p:cNvSpPr txBox="1"/>
          <p:nvPr/>
        </p:nvSpPr>
        <p:spPr>
          <a:xfrm>
            <a:off x="6248400" y="1215817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H0: </a:t>
            </a:r>
            <a:r>
              <a:rPr lang="el-GR" dirty="0"/>
              <a:t>β</a:t>
            </a:r>
            <a:r>
              <a:rPr lang="en-CA" baseline="-25000" dirty="0"/>
              <a:t>1</a:t>
            </a:r>
            <a:r>
              <a:rPr lang="en-CA" dirty="0"/>
              <a:t> = </a:t>
            </a:r>
            <a:r>
              <a:rPr lang="el-GR" dirty="0"/>
              <a:t>β</a:t>
            </a:r>
            <a:r>
              <a:rPr lang="en-CA" baseline="-25000" dirty="0"/>
              <a:t>2</a:t>
            </a:r>
            <a:r>
              <a:rPr lang="en-CA" dirty="0"/>
              <a:t> = </a:t>
            </a:r>
            <a:r>
              <a:rPr lang="el-GR" dirty="0"/>
              <a:t>β</a:t>
            </a:r>
            <a:r>
              <a:rPr lang="en-CA" baseline="-25000" dirty="0"/>
              <a:t>3</a:t>
            </a:r>
            <a:r>
              <a:rPr lang="en-CA" dirty="0"/>
              <a:t> = 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0F56F5-2FD2-9ED5-3FE2-2BBBC34A9C41}"/>
              </a:ext>
            </a:extLst>
          </p:cNvPr>
          <p:cNvCxnSpPr>
            <a:cxnSpLocks/>
          </p:cNvCxnSpPr>
          <p:nvPr/>
        </p:nvCxnSpPr>
        <p:spPr>
          <a:xfrm flipH="1">
            <a:off x="1371600" y="3200400"/>
            <a:ext cx="1066800" cy="21336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63DBA7-ABC3-B7DB-0D06-1D7B87364B83}"/>
              </a:ext>
            </a:extLst>
          </p:cNvPr>
          <p:cNvSpPr txBox="1"/>
          <p:nvPr/>
        </p:nvSpPr>
        <p:spPr>
          <a:xfrm rot="17869815">
            <a:off x="896840" y="4495644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00B050"/>
                </a:solidFill>
              </a:rPr>
              <a:t>Score test</a:t>
            </a:r>
          </a:p>
        </p:txBody>
      </p:sp>
    </p:spTree>
    <p:extLst>
      <p:ext uri="{BB962C8B-B14F-4D97-AF65-F5344CB8AC3E}">
        <p14:creationId xmlns:p14="http://schemas.microsoft.com/office/powerpoint/2010/main" val="709628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C225A-AF0F-6B96-DDC6-2CC43106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logistic regression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500F61-AEE9-9D4D-4D60-8EF6DCAA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20BA7-5DBD-9DCB-ABFC-1BB78B0C5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613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D113-E7AE-1BA1-5F76-C2445B72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Types of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398E7-7C79-A154-7319-1EA93D91E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19200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rgbClr val="0070C0"/>
                </a:solidFill>
              </a:rPr>
              <a:t>Conditional plots</a:t>
            </a:r>
            <a:r>
              <a:rPr lang="en-CA" sz="2400" dirty="0"/>
              <a:t>: Stratified plot of Y or logit(Y) vs. one X, conditioned by other predictors--- only that </a:t>
            </a:r>
            <a:r>
              <a:rPr lang="en-CA" sz="2400" dirty="0">
                <a:solidFill>
                  <a:srgbClr val="0070C0"/>
                </a:solidFill>
              </a:rPr>
              <a:t>subset</a:t>
            </a:r>
            <a:r>
              <a:rPr lang="en-CA" sz="2400" dirty="0"/>
              <a:t> is plotted for each panel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6C4B-D481-637C-18C5-89939051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AE3E1-89A8-F7A1-7531-ED6C460F3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49729"/>
            <a:ext cx="642394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93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D113-E7AE-1BA1-5F76-C2445B72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Types of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398E7-7C79-A154-7319-1EA93D91E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19200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rgbClr val="0070C0"/>
                </a:solidFill>
              </a:rPr>
              <a:t>Full-model plots</a:t>
            </a:r>
            <a:r>
              <a:rPr lang="en-CA" sz="2400" dirty="0"/>
              <a:t>: Plot of </a:t>
            </a:r>
            <a:r>
              <a:rPr lang="en-CA" sz="2400" dirty="0">
                <a:solidFill>
                  <a:srgbClr val="0070C0"/>
                </a:solidFill>
              </a:rPr>
              <a:t>fitted response surface</a:t>
            </a:r>
            <a:r>
              <a:rPr lang="en-CA" sz="2400" dirty="0"/>
              <a:t>, showing all effects; usually shown in several panels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6C4B-D481-637C-18C5-89939051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5E5562-8DB5-7EEB-3FE1-F43E4B2C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93688"/>
            <a:ext cx="6444341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622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D113-E7AE-1BA1-5F76-C2445B72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Types of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398E7-7C79-A154-7319-1EA93D91E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19200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rgbClr val="0070C0"/>
                </a:solidFill>
              </a:rPr>
              <a:t>Effect plots</a:t>
            </a:r>
            <a:r>
              <a:rPr lang="en-CA" sz="2400" dirty="0"/>
              <a:t>: plots of predicted effects for terms in the model, </a:t>
            </a:r>
            <a:r>
              <a:rPr lang="en-CA" sz="2400" dirty="0">
                <a:solidFill>
                  <a:srgbClr val="0070C0"/>
                </a:solidFill>
              </a:rPr>
              <a:t>averaged over </a:t>
            </a:r>
            <a:r>
              <a:rPr lang="en-CA" sz="2400" dirty="0"/>
              <a:t>predictors not shown in a given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26C4B-D481-637C-18C5-89939051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DD631-B435-19B8-678A-0C9259D1C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7" y="2743200"/>
            <a:ext cx="8324474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50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8B52-429F-E848-7D3B-C0799FB8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Conditional plots with ggplot2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93C3D-71B1-13B7-E539-096E572A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32BD6E-9DE7-029B-BA67-BAD81DD34FA9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Plot Arthritis data by Treatment, ignoring Sex; overlay fitted logistic reg. 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1DA74-6DCB-66C2-3EA8-DEF887657BC3}"/>
              </a:ext>
            </a:extLst>
          </p:cNvPr>
          <p:cNvSpPr txBox="1"/>
          <p:nvPr/>
        </p:nvSpPr>
        <p:spPr>
          <a:xfrm>
            <a:off x="533400" y="1600200"/>
            <a:ext cx="815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 &lt;-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(Arthritis,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(Age, Better, color=Treatment)) +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xlim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(15, 85) +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geom_jitter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= 0.02, width = 0, size=2) +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stat_smooth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method = "</a:t>
            </a:r>
            <a:r>
              <a:rPr lang="en-CA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CA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method.args</a:t>
            </a:r>
            <a:r>
              <a:rPr lang="en-CA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=(family = “binomial”)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alpha = 0.2,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(fill=Treatment), size=2.5,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fullrange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=TRUE) +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base_size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16) + theme(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legend.position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c(.85, .2))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   </a:t>
            </a:r>
            <a:r>
              <a:rPr lang="en-CA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the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FCDA0-2AE4-01C8-CE51-C2C8AC0AF20F}"/>
              </a:ext>
            </a:extLst>
          </p:cNvPr>
          <p:cNvSpPr txBox="1"/>
          <p:nvPr/>
        </p:nvSpPr>
        <p:spPr>
          <a:xfrm>
            <a:off x="5029200" y="3429000"/>
            <a:ext cx="365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geom_jitter</a:t>
            </a:r>
            <a:r>
              <a:rPr lang="en-CA" dirty="0"/>
              <a:t>() shows the observations more distinctly</a:t>
            </a:r>
          </a:p>
          <a:p>
            <a:endParaRPr lang="en-CA" dirty="0"/>
          </a:p>
          <a:p>
            <a:r>
              <a:rPr lang="en-CA" dirty="0"/>
              <a:t>Fitted lines use method=“</a:t>
            </a:r>
            <a:r>
              <a:rPr lang="en-CA" dirty="0" err="1"/>
              <a:t>glm</a:t>
            </a:r>
            <a:r>
              <a:rPr lang="en-CA" dirty="0"/>
              <a:t>”, family=binomial</a:t>
            </a:r>
          </a:p>
        </p:txBody>
      </p:sp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B4DD5457-BE3E-1D54-2B20-6BBB9A457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3049254"/>
            <a:ext cx="4366728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67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6B38-177B-50A1-8055-8C360C614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Conditional plots with ggplot2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C6C73-9374-FBD0-315D-EFED1A56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110E2-C79F-B8C8-E86D-4586F9D2EF4E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Can show the conditional plots for M &amp; F, simply by faceting by Sex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35F4B-276B-43BF-DFAC-827B8481A928}"/>
              </a:ext>
            </a:extLst>
          </p:cNvPr>
          <p:cNvSpPr txBox="1"/>
          <p:nvPr/>
        </p:nvSpPr>
        <p:spPr>
          <a:xfrm>
            <a:off x="533400" y="182880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gg +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facet_wrap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Sex)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9E4A7-86CA-D92A-ED18-097058C981D5}"/>
              </a:ext>
            </a:extLst>
          </p:cNvPr>
          <p:cNvSpPr txBox="1"/>
          <p:nvPr/>
        </p:nvSpPr>
        <p:spPr>
          <a:xfrm>
            <a:off x="6553200" y="2534920"/>
            <a:ext cx="2133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Only the data for each Sex is used in each plot</a:t>
            </a:r>
          </a:p>
          <a:p>
            <a:endParaRPr lang="en-CA" sz="1600" dirty="0"/>
          </a:p>
          <a:p>
            <a:r>
              <a:rPr lang="en-CA" sz="1600" dirty="0"/>
              <a:t>Plotting the data points shows that the data for males is too thin to give good estimates of separate regression </a:t>
            </a:r>
          </a:p>
        </p:txBody>
      </p:sp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DB160773-C586-68A9-0D92-17BA27B45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52" y="2434262"/>
            <a:ext cx="5873809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7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62A0-99BF-A02A-2466-40F669B5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Full-model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CB5634-DCDB-3161-95ED-C83021FBD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FA1FB-0161-477E-8BB2-D10608FD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171428" cy="2695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F7FA09-1208-4B30-9C70-2C0AE7917EF3}"/>
              </a:ext>
            </a:extLst>
          </p:cNvPr>
          <p:cNvSpPr txBox="1"/>
          <p:nvPr/>
        </p:nvSpPr>
        <p:spPr>
          <a:xfrm>
            <a:off x="457200" y="4114800"/>
            <a:ext cx="81534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arth.fit2 &lt;-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(Arthritis,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       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head(arth.fit2[,-9], 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ID Treatment  Sex Age Improved Better   fit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57   Treated Male  27     Some      1 -1.43  0.758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46   Treated Male  29     None      0 -1.33  0.728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77   Treated Male  30     None      0 -1.28  0.713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17   Treated Male  32   Marked      1 -1.18  0.684</a:t>
            </a:r>
          </a:p>
        </p:txBody>
      </p:sp>
    </p:spTree>
    <p:extLst>
      <p:ext uri="{BB962C8B-B14F-4D97-AF65-F5344CB8AC3E}">
        <p14:creationId xmlns:p14="http://schemas.microsoft.com/office/powerpoint/2010/main" val="736233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9BD1-D212-424B-ABDB-014BE382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Plotting with ggplot2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C90EC-0776-4CEF-BD53-0F15CDA9D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A589C-B775-4E9B-9F2A-77755CA77011}"/>
              </a:ext>
            </a:extLst>
          </p:cNvPr>
          <p:cNvSpPr txBox="1"/>
          <p:nvPr/>
        </p:nvSpPr>
        <p:spPr>
          <a:xfrm>
            <a:off x="457200" y="1905506"/>
            <a:ext cx="8229600" cy="329320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arth.fit2 &lt;- arth.fit2 |&gt;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mutate(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ifelse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(Better==0, -4, 4))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</a:t>
            </a:r>
            <a:r>
              <a:rPr lang="en-US" sz="16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 -4, 4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 arth.fit2,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(x=Age, y=fit,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color=Treatment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 +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(size = 2) +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fit - 1.96 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fit + 1.96 *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fill = Treatment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alpha = 0.2,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color = "transparent") +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labs(x = "Age", y = "Log odds (Better)") +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geom_jitter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y=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height=0.25, width=0) +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facet_wrap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Sex) +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455AC1-35F8-422E-8547-75430C97ABA5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Plot the fitted log odds, confidence band and observations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ED7F-8A3E-4F56-AFAA-B91A3DE438AB}"/>
              </a:ext>
            </a:extLst>
          </p:cNvPr>
          <p:cNvSpPr txBox="1"/>
          <p:nvPr/>
        </p:nvSpPr>
        <p:spPr>
          <a:xfrm>
            <a:off x="457200" y="541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0070C0"/>
                </a:solidFill>
              </a:rPr>
              <a:t>color=Treatment </a:t>
            </a:r>
            <a:r>
              <a:rPr lang="en-US" dirty="0"/>
              <a:t>gives separate points and lines for the two groups</a:t>
            </a:r>
          </a:p>
        </p:txBody>
      </p:sp>
    </p:spTree>
    <p:extLst>
      <p:ext uri="{BB962C8B-B14F-4D97-AF65-F5344CB8AC3E}">
        <p14:creationId xmlns:p14="http://schemas.microsoft.com/office/powerpoint/2010/main" val="3652190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B363-997C-4AD6-B817-50358134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Full-model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7C92B-0DFF-4981-9668-9A073D6A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96DB31A5-0739-4E1C-9EFE-68AB45021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64" y="2057400"/>
            <a:ext cx="8303846" cy="3886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794B3-4965-4FEA-B0BF-F03A52058137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on the logit scale shows the </a:t>
            </a:r>
            <a:r>
              <a:rPr lang="en-US" dirty="0">
                <a:solidFill>
                  <a:srgbClr val="0070C0"/>
                </a:solidFill>
              </a:rPr>
              <a:t>additive</a:t>
            </a:r>
            <a:r>
              <a:rPr lang="en-US" dirty="0"/>
              <a:t> effects of age, treatment and sex</a:t>
            </a:r>
          </a:p>
          <a:p>
            <a:r>
              <a:rPr lang="en-US" dirty="0"/>
              <a:t>NB: easier to compare the treatment groups within the </a:t>
            </a:r>
            <a:r>
              <a:rPr lang="en-US" dirty="0">
                <a:solidFill>
                  <a:srgbClr val="0070C0"/>
                </a:solidFill>
              </a:rPr>
              <a:t>same</a:t>
            </a:r>
            <a:r>
              <a:rPr lang="en-US" dirty="0"/>
              <a:t> panel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14ECB-7C5F-4082-A870-00163AE21E03}"/>
              </a:ext>
            </a:extLst>
          </p:cNvPr>
          <p:cNvSpPr txBox="1"/>
          <p:nvPr/>
        </p:nvSpPr>
        <p:spPr>
          <a:xfrm>
            <a:off x="609600" y="59436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plots show model uncertainty (confidence bands)</a:t>
            </a:r>
          </a:p>
          <a:p>
            <a:r>
              <a:rPr lang="en-US" dirty="0"/>
              <a:t>Jittered points show the data</a:t>
            </a:r>
          </a:p>
        </p:txBody>
      </p:sp>
    </p:spTree>
    <p:extLst>
      <p:ext uri="{BB962C8B-B14F-4D97-AF65-F5344CB8AC3E}">
        <p14:creationId xmlns:p14="http://schemas.microsoft.com/office/powerpoint/2010/main" val="13501482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9D52-531D-4955-B585-2D4D993D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Full-model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05AD04-E552-4EDE-9657-C41749C5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0BE13-D50D-4D63-8D2D-274E8A9C5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47" y="2768600"/>
            <a:ext cx="7314105" cy="3840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FAD3C-78DF-42FA-BA66-5AF1706DAD07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on the probability scale may be simpler to interpret</a:t>
            </a:r>
          </a:p>
          <a:p>
            <a:r>
              <a:rPr lang="en-US" dirty="0"/>
              <a:t>Use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predict(… type = “response”) </a:t>
            </a:r>
            <a:r>
              <a:rPr lang="en-US" dirty="0"/>
              <a:t>to get fitted probabilities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E5828-4D03-4E0B-948E-6897187D1CEA}"/>
              </a:ext>
            </a:extLst>
          </p:cNvPr>
          <p:cNvSpPr txBox="1"/>
          <p:nvPr/>
        </p:nvSpPr>
        <p:spPr>
          <a:xfrm>
            <a:off x="457200" y="206248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arth.fit2r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(Arthritis,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predict(arth.logistic2,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TRUE,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type="response")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3978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D1A0-E5B0-44D5-8116-23B8A629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with interactions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851E42-398C-44B3-901B-93A6115E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6FDA1-01A5-4C9F-B02D-707653EADB4C}"/>
              </a:ext>
            </a:extLst>
          </p:cNvPr>
          <p:cNvSpPr txBox="1"/>
          <p:nvPr/>
        </p:nvSpPr>
        <p:spPr>
          <a:xfrm>
            <a:off x="457200" y="1371600"/>
            <a:ext cx="8229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the linear effect of age the same for females, males?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test this by adding an </a:t>
            </a:r>
            <a:r>
              <a:rPr lang="en-US" dirty="0">
                <a:solidFill>
                  <a:srgbClr val="0070C0"/>
                </a:solidFill>
              </a:rPr>
              <a:t>interaction</a:t>
            </a:r>
            <a:r>
              <a:rPr lang="en-US" dirty="0"/>
              <a:t> of Sex ×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update() </a:t>
            </a:r>
            <a:r>
              <a:rPr lang="en-US" dirty="0"/>
              <a:t>makes it easy to add/subtract terms from 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gives partial tests of each term after all others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A951F-CCDB-4281-BC7F-A25EF022C8CF}"/>
              </a:ext>
            </a:extLst>
          </p:cNvPr>
          <p:cNvSpPr txBox="1"/>
          <p:nvPr/>
        </p:nvSpPr>
        <p:spPr>
          <a:xfrm>
            <a:off x="457200" y="2884944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arth.logistic4 &lt;- update(arth.logistic2, . ~ . +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I(Age-50):Sex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car::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(arth.logistic4)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Response: Better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LR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I(Age - 50)         6.16  1    0.01308 *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Sex                 6.98  1    0.00823 **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        11.90  1    0.00056 ***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I(Age - 50):Sex     3.42  1    0.06430 .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19B16-9E1B-4B0F-A422-6D0C57828499}"/>
              </a:ext>
            </a:extLst>
          </p:cNvPr>
          <p:cNvSpPr txBox="1"/>
          <p:nvPr/>
        </p:nvSpPr>
        <p:spPr>
          <a:xfrm>
            <a:off x="457200" y="587906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interaction term </a:t>
            </a:r>
            <a:r>
              <a:rPr lang="en-US" dirty="0" err="1"/>
              <a:t>Age:Sex</a:t>
            </a:r>
            <a:r>
              <a:rPr lang="en-US" dirty="0"/>
              <a:t> is not quite significant, but plot the fitted model anyway</a:t>
            </a:r>
          </a:p>
        </p:txBody>
      </p:sp>
    </p:spTree>
    <p:extLst>
      <p:ext uri="{BB962C8B-B14F-4D97-AF65-F5344CB8AC3E}">
        <p14:creationId xmlns:p14="http://schemas.microsoft.com/office/powerpoint/2010/main" val="1855831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43AC-C446-41FD-A6F4-8B6DB8AA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with interactions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3C47C-237F-4366-AC91-6E930C71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D7034-1DF6-4B58-9C17-600D94353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4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1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B69C-CF02-4EBB-A9A2-E0042E2BF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plots: Basic ideas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A3FB94-73DB-4436-ACD2-D76A990A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E580C580-3726-418A-84F9-37B778C9C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1619"/>
            <a:ext cx="7315200" cy="4912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F040D6-A3EF-4271-A349-26E1FEBA7B4E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a given </a:t>
            </a:r>
            <a:r>
              <a:rPr lang="en-US" dirty="0">
                <a:solidFill>
                  <a:srgbClr val="0070C0"/>
                </a:solidFill>
              </a:rPr>
              <a:t>marginal</a:t>
            </a:r>
            <a:r>
              <a:rPr lang="en-US" dirty="0"/>
              <a:t> effect, </a:t>
            </a:r>
            <a:r>
              <a:rPr lang="en-US" dirty="0">
                <a:solidFill>
                  <a:srgbClr val="0070C0"/>
                </a:solidFill>
              </a:rPr>
              <a:t>controlling</a:t>
            </a:r>
            <a:r>
              <a:rPr lang="en-US" dirty="0"/>
              <a:t> / adjusting for other model effects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2C06AC-68D3-9CFA-3DF3-4BF5236571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263735"/>
            <a:ext cx="838200" cy="85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769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6B20-FD51-138D-C838-792188AB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F9D1-EB09-56AA-7383-D79F5093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plots: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E2E2B-000D-5FE2-1CEC-61FAFF7E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107D8-9DAC-F168-A702-9C891F3B28CA}"/>
              </a:ext>
            </a:extLst>
          </p:cNvPr>
          <p:cNvSpPr txBox="1"/>
          <p:nvPr/>
        </p:nvSpPr>
        <p:spPr>
          <a:xfrm>
            <a:off x="457200" y="5943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R, there are now other packages: </a:t>
            </a:r>
            <a:r>
              <a:rPr lang="en-CA" dirty="0" err="1"/>
              <a:t>marginaleffects</a:t>
            </a:r>
            <a:r>
              <a:rPr lang="en-CA" dirty="0"/>
              <a:t>, </a:t>
            </a:r>
            <a:r>
              <a:rPr lang="en-CA" dirty="0" err="1"/>
              <a:t>jtools</a:t>
            </a:r>
            <a:r>
              <a:rPr lang="en-CA" dirty="0"/>
              <a:t>::</a:t>
            </a:r>
            <a:r>
              <a:rPr lang="en-CA" dirty="0" err="1"/>
              <a:t>effect_plot</a:t>
            </a:r>
            <a:r>
              <a:rPr lang="en-CA" dirty="0"/>
              <a:t>(), </a:t>
            </a:r>
            <a:r>
              <a:rPr lang="en-CA" dirty="0" err="1"/>
              <a:t>sjplot</a:t>
            </a:r>
            <a:r>
              <a:rPr lang="en-CA" dirty="0"/>
              <a:t> (mixed models),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F2450-4FAA-74DD-FF20-88DC1F9E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7944959" cy="1895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81A1EA-005F-63D4-69A9-29569F98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64" y="3247978"/>
            <a:ext cx="7849695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6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7EF-9D44-47FF-BBA1-5C49DC9C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Plotting main effects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6831C-0BBB-4A6B-89C4-29B8ED44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DA6C4-9676-46D0-8323-879C9F99DCBE}"/>
              </a:ext>
            </a:extLst>
          </p:cNvPr>
          <p:cNvSpPr txBox="1"/>
          <p:nvPr/>
        </p:nvSpPr>
        <p:spPr>
          <a:xfrm>
            <a:off x="457200" y="202184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library(effects)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arth.eff2 &lt;-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allEffects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plot(arth.eff2, rows=1, cols=3,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383C5774-B46A-4FDF-8E69-5B2151F36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70804"/>
            <a:ext cx="7097115" cy="2762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BEB1D-128A-4A3D-B1B5-DE27C87B6D7A}"/>
              </a:ext>
            </a:extLst>
          </p:cNvPr>
          <p:cNvSpPr txBox="1"/>
          <p:nvPr/>
        </p:nvSpPr>
        <p:spPr>
          <a:xfrm>
            <a:off x="304800" y="5897880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Averaged </a:t>
            </a:r>
            <a:r>
              <a:rPr lang="en-US" sz="1600" dirty="0"/>
              <a:t>                   Sex                                             Age                                                </a:t>
            </a:r>
            <a:r>
              <a:rPr lang="en-US" sz="1600" dirty="0" err="1"/>
              <a:t>Age</a:t>
            </a:r>
            <a:endParaRPr lang="en-US" sz="1600" dirty="0"/>
          </a:p>
          <a:p>
            <a:r>
              <a:rPr lang="en-US" sz="1600" b="1" dirty="0"/>
              <a:t>over:                       </a:t>
            </a:r>
            <a:r>
              <a:rPr lang="en-US" sz="1600" dirty="0"/>
              <a:t>Treatment                               </a:t>
            </a:r>
            <a:r>
              <a:rPr lang="en-US" sz="1600" dirty="0" err="1"/>
              <a:t>Treatment</a:t>
            </a:r>
            <a:r>
              <a:rPr lang="en-US" sz="1600" dirty="0"/>
              <a:t>                                           Sex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2F099-5629-4724-95F2-51DDB31152BF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allEffects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calculates effects for all high-order terms in the model</a:t>
            </a:r>
          </a:p>
          <a:p>
            <a:r>
              <a:rPr lang="en-US" dirty="0"/>
              <a:t>The response is plotted on the </a:t>
            </a:r>
            <a:r>
              <a:rPr lang="en-US" dirty="0">
                <a:solidFill>
                  <a:srgbClr val="00B0F0"/>
                </a:solidFill>
              </a:rPr>
              <a:t>logit</a:t>
            </a:r>
            <a:r>
              <a:rPr lang="en-US" dirty="0"/>
              <a:t> scale, but labeled with </a:t>
            </a:r>
            <a:r>
              <a:rPr lang="en-US" dirty="0">
                <a:solidFill>
                  <a:srgbClr val="00B0F0"/>
                </a:solidFill>
              </a:rPr>
              <a:t>probabilities</a:t>
            </a:r>
          </a:p>
        </p:txBody>
      </p:sp>
    </p:spTree>
    <p:extLst>
      <p:ext uri="{BB962C8B-B14F-4D97-AF65-F5344CB8AC3E}">
        <p14:creationId xmlns:p14="http://schemas.microsoft.com/office/powerpoint/2010/main" val="1319075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D2E7-2527-4D55-B995-310B999AF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Full-model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329E2E-688C-4A99-85AD-5928F02A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DA151-2574-4F8E-B2FE-BBC321D1A387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full-model plot is simply the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Effect() </a:t>
            </a:r>
            <a:r>
              <a:rPr lang="en-US" dirty="0"/>
              <a:t>of the </a:t>
            </a:r>
            <a:r>
              <a:rPr lang="en-US" dirty="0">
                <a:solidFill>
                  <a:srgbClr val="00B0F0"/>
                </a:solidFill>
              </a:rPr>
              <a:t>highest-order interaction </a:t>
            </a:r>
            <a:r>
              <a:rPr lang="en-US" dirty="0"/>
              <a:t>of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3C3EB-6A2C-4F4E-AD2D-1CC465ABF047}"/>
              </a:ext>
            </a:extLst>
          </p:cNvPr>
          <p:cNvSpPr txBox="1"/>
          <p:nvPr/>
        </p:nvSpPr>
        <p:spPr>
          <a:xfrm>
            <a:off x="457200" y="1782762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Effect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(c("Age", "Treatment", "Sex"), arth.logistic2)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arth.full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multiline=TRUE,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ci.style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="bands",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colors = c("red", "blue"),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=3,  . . .)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F20A3740-D874-42E4-B2EB-80ED96693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24265"/>
            <a:ext cx="7049484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855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97354-E8E4-41C0-815B-A4F08B06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55740-DABE-4A19-B30B-2230A9F4CF90}"/>
              </a:ext>
            </a:extLst>
          </p:cNvPr>
          <p:cNvSpPr txBox="1"/>
          <p:nvPr/>
        </p:nvSpPr>
        <p:spPr>
          <a:xfrm>
            <a:off x="609600" y="304800"/>
            <a:ext cx="80010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Model with interaction of Age × Sex</a:t>
            </a:r>
          </a:p>
        </p:txBody>
      </p:sp>
      <p:pic>
        <p:nvPicPr>
          <p:cNvPr id="6" name="Picture 5" descr="Chart, line chart, histogram&#10;&#10;Description automatically generated">
            <a:extLst>
              <a:ext uri="{FF2B5EF4-FFF2-40B4-BE49-F238E27FC236}">
                <a16:creationId xmlns:a16="http://schemas.microsoft.com/office/drawing/2014/main" id="{980D4BB2-0326-481B-8627-0D2202091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36" y="1946046"/>
            <a:ext cx="8621328" cy="3343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AD38A4-A15C-4003-9444-F7440314EB7A}"/>
              </a:ext>
            </a:extLst>
          </p:cNvPr>
          <p:cNvSpPr txBox="1"/>
          <p:nvPr/>
        </p:nvSpPr>
        <p:spPr>
          <a:xfrm>
            <a:off x="685800" y="1051560"/>
            <a:ext cx="80772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arth.eff4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allEffects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plot(arth.eff4,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3D98C-9EAC-40CC-8C12-B6355CF6A81D}"/>
              </a:ext>
            </a:extLst>
          </p:cNvPr>
          <p:cNvSpPr txBox="1"/>
          <p:nvPr/>
        </p:nvSpPr>
        <p:spPr>
          <a:xfrm>
            <a:off x="609600" y="5537943"/>
            <a:ext cx="831116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Only the high-order terms: Treatment &amp; Age * Sex are shown &amp; need to be interpreted</a:t>
            </a:r>
          </a:p>
          <a:p>
            <a:r>
              <a:rPr lang="en-US" dirty="0"/>
              <a:t>Q: How would you describe this?</a:t>
            </a:r>
          </a:p>
        </p:txBody>
      </p:sp>
    </p:spTree>
    <p:extLst>
      <p:ext uri="{BB962C8B-B14F-4D97-AF65-F5344CB8AC3E}">
        <p14:creationId xmlns:p14="http://schemas.microsoft.com/office/powerpoint/2010/main" val="24887023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STAR_2002-10-19_NE01.pdf" descr="STAR_2002-10-19_NE0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91" y="-685800"/>
            <a:ext cx="5783109" cy="1018222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F12FE6-24CF-45E4-B64F-995D24EC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09" y="152400"/>
            <a:ext cx="2987982" cy="1447800"/>
          </a:xfrm>
        </p:spPr>
        <p:txBody>
          <a:bodyPr>
            <a:normAutofit/>
          </a:bodyPr>
          <a:lstStyle/>
          <a:p>
            <a:r>
              <a:rPr lang="en-US" dirty="0"/>
              <a:t>Race &amp; Crime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579DE-CA98-404B-BAAA-C06DF3EFAEF2}"/>
              </a:ext>
            </a:extLst>
          </p:cNvPr>
          <p:cNvSpPr txBox="1"/>
          <p:nvPr/>
        </p:nvSpPr>
        <p:spPr>
          <a:xfrm>
            <a:off x="381000" y="1981200"/>
            <a:ext cx="29798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Toronto Star </a:t>
            </a:r>
            <a:r>
              <a:rPr lang="en-US" dirty="0"/>
              <a:t>investigation of racial disparities in treatment by Toronto Police Services</a:t>
            </a:r>
          </a:p>
          <a:p>
            <a:endParaRPr lang="en-US" dirty="0"/>
          </a:p>
          <a:p>
            <a:r>
              <a:rPr lang="en-US" dirty="0"/>
              <a:t>FOI request </a:t>
            </a:r>
            <a:r>
              <a:rPr lang="en-US" dirty="0">
                <a:sym typeface="Symbol" panose="05050102010706020507" pitchFamily="18" charset="2"/>
              </a:rPr>
              <a:t> &gt; ½ M arrests, 1997—2002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Evidence for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racial profiling</a:t>
            </a:r>
            <a:r>
              <a:rPr lang="en-US" dirty="0">
                <a:sym typeface="Symbol" panose="05050102010706020507" pitchFamily="18" charset="2"/>
              </a:rPr>
              <a:t>?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Only look at discretionary charges: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Simple marijuana possession</a:t>
            </a:r>
          </a:p>
          <a:p>
            <a:r>
              <a:rPr lang="en-US" dirty="0">
                <a:sym typeface="Symbol" panose="05050102010706020507" pitchFamily="18" charset="2"/>
              </a:rPr>
              <a:t>Non-moving auto infractions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dissolve/>
      </p:transition>
    </mc:Choice>
    <mc:Fallback xmlns:a14="http://schemas.microsoft.com/office/drawing/2010/main" xmlns:m="http://schemas.openxmlformats.org/officeDocument/2006/math" xmlns="">
      <p:transition spd="fast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632C83-333C-4D75-8F0F-97293289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study: Arrests for marijuana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8EB21-DE70-48A3-A20E-E6E6EA2B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Dec. 2002, the </a:t>
            </a:r>
            <a:r>
              <a:rPr lang="en-US" sz="2400" i="1" dirty="0"/>
              <a:t>Toronto Star </a:t>
            </a:r>
            <a:r>
              <a:rPr lang="en-US" sz="2400" dirty="0"/>
              <a:t>examined the issue of </a:t>
            </a:r>
            <a:r>
              <a:rPr lang="en-US" sz="2400" dirty="0">
                <a:solidFill>
                  <a:srgbClr val="0070C0"/>
                </a:solidFill>
              </a:rPr>
              <a:t>racial profiling</a:t>
            </a:r>
            <a:r>
              <a:rPr lang="en-US" sz="2400" dirty="0"/>
              <a:t>, by analyzing a data base of 600,000+ arrest records from 1997-2002.</a:t>
            </a:r>
          </a:p>
          <a:p>
            <a:r>
              <a:rPr lang="en-US" sz="2400" dirty="0"/>
              <a:t>They focused on a subset of arrests for which police action was </a:t>
            </a:r>
            <a:r>
              <a:rPr lang="en-US" sz="2400" dirty="0">
                <a:solidFill>
                  <a:srgbClr val="0070C0"/>
                </a:solidFill>
              </a:rPr>
              <a:t>discretionary</a:t>
            </a:r>
            <a:r>
              <a:rPr lang="en-US" sz="2400" dirty="0"/>
              <a:t>, e.g., simple possession of small quantities of marijuana, where the police could:</a:t>
            </a:r>
          </a:p>
          <a:p>
            <a:pPr lvl="1"/>
            <a:r>
              <a:rPr lang="en-US" sz="2000" dirty="0"/>
              <a:t>Release the arrestee with a summons – like a parking ticket</a:t>
            </a:r>
          </a:p>
          <a:p>
            <a:pPr lvl="1"/>
            <a:r>
              <a:rPr lang="en-US" sz="2000" dirty="0"/>
              <a:t>Bring to police station, hold for bail, … -- harsher treatment</a:t>
            </a:r>
          </a:p>
          <a:p>
            <a:r>
              <a:rPr lang="en-US" sz="2400" dirty="0"/>
              <a:t>Response variable: released: “Yes”, “No”</a:t>
            </a:r>
          </a:p>
          <a:p>
            <a:pPr lvl="1"/>
            <a:r>
              <a:rPr lang="en-US" sz="2000" dirty="0"/>
              <a:t>Main predictor of interest: skin-</a:t>
            </a:r>
            <a:r>
              <a:rPr lang="en-US" sz="2000" dirty="0" err="1"/>
              <a:t>colour</a:t>
            </a:r>
            <a:r>
              <a:rPr lang="en-US" sz="2000" dirty="0"/>
              <a:t> of arrestee (black, white)</a:t>
            </a:r>
          </a:p>
          <a:p>
            <a:pPr lvl="1"/>
            <a:r>
              <a:rPr lang="en-US" sz="2000" dirty="0"/>
              <a:t>Other predictors: year, age, sex, 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A4374-206F-4AA1-8338-08A4C3E0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92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Toronto Star </a:t>
            </a:r>
            <a:r>
              <a:rPr lang="en-US" dirty="0"/>
              <a:t>meets mosaic displays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133600"/>
            <a:ext cx="4710953" cy="4302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19200"/>
            <a:ext cx="822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communicate these results most effectively?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message?  What features are directly comprehensible to the audience?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" y="3746212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Graphic designer’s early attempts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0" y="3860512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My early attempts</a:t>
            </a:r>
          </a:p>
        </p:txBody>
      </p:sp>
      <p:sp>
        <p:nvSpPr>
          <p:cNvPr id="8" name="Right Brace 7"/>
          <p:cNvSpPr/>
          <p:nvPr/>
        </p:nvSpPr>
        <p:spPr>
          <a:xfrm>
            <a:off x="6934200" y="2819400"/>
            <a:ext cx="228600" cy="266700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1981200" y="2743200"/>
            <a:ext cx="228600" cy="25908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9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Racial profiling: Presentation graphic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704" y="2455367"/>
            <a:ext cx="6313334" cy="40466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820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Together, we created this (nearly) </a:t>
            </a:r>
            <a:r>
              <a:rPr lang="en-US" dirty="0">
                <a:solidFill>
                  <a:srgbClr val="FF0000"/>
                </a:solidFill>
              </a:rPr>
              <a:t>self-explaining</a:t>
            </a:r>
            <a:r>
              <a:rPr lang="en-US" dirty="0"/>
              <a:t> infographic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6454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Title gives the main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1676400"/>
            <a:ext cx="2414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Legend gives a layman’s description of shading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038600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Bar width ~ charges</a:t>
            </a:r>
          </a:p>
          <a:p>
            <a:r>
              <a:rPr lang="en-US" sz="1600" dirty="0"/>
              <a:t>Divided by %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75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Text description gives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5638800"/>
            <a:ext cx="175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numbers shown in the cells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095500" y="2161666"/>
            <a:ext cx="228600" cy="3911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eft Brace 13"/>
          <p:cNvSpPr/>
          <p:nvPr/>
        </p:nvSpPr>
        <p:spPr>
          <a:xfrm>
            <a:off x="2095500" y="2971800"/>
            <a:ext cx="160019" cy="685800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>
            <a:off x="2129790" y="4147417"/>
            <a:ext cx="160019" cy="685800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7" idx="2"/>
          </p:cNvCxnSpPr>
          <p:nvPr/>
        </p:nvCxnSpPr>
        <p:spPr>
          <a:xfrm flipH="1">
            <a:off x="7239000" y="2199620"/>
            <a:ext cx="216719" cy="6197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1516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A91-1F0A-4BBC-AA58-2E0BADF1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Arrests for marijuana: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28F4EB-3EBB-4824-A3B0-5558B7EF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53A5B-7D51-4783-8485-47CB0B5C41A5}"/>
              </a:ext>
            </a:extLst>
          </p:cNvPr>
          <p:cNvSpPr txBox="1"/>
          <p:nvPr/>
        </p:nvSpPr>
        <p:spPr>
          <a:xfrm>
            <a:off x="609600" y="3048000"/>
            <a:ext cx="80772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library(car)        # for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data(Arrests, package =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carData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some(Arrests)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released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year age  sex employed citizen checks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218       Yes  White 2000  24 Male      Yes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1301       No  Black 1999  17 Male      Yes      No     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1495      Yes  White 1998  23 Male      Yes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1732      Yes  Black 2000  18 Male      Yes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1838      Yes  Black 1997  27 Male       No     Yes     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2257       No  White 2001  19 Male       No     Yes      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3100       No  Black 2000  19 Male       No     Yes      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3843      Yes  White 1999  20 Male      Yes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4580      Yes  Black 1999  26 Male      Yes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4833      Yes  Black 1998  38 Male      Yes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B6B86-E77F-4A93-819D-8134DED848F8}"/>
              </a:ext>
            </a:extLst>
          </p:cNvPr>
          <p:cNvSpPr txBox="1"/>
          <p:nvPr/>
        </p:nvSpPr>
        <p:spPr>
          <a:xfrm>
            <a:off x="457200" y="1190407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variable: released</a:t>
            </a:r>
          </a:p>
          <a:p>
            <a:r>
              <a:rPr lang="en-US" dirty="0"/>
              <a:t>Control 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year, age, sex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employed, citizen: Yes, 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checks: # of police databases (previous arrests, convictions, parole status) where the arrestee’s name was found</a:t>
            </a:r>
          </a:p>
        </p:txBody>
      </p:sp>
    </p:spTree>
    <p:extLst>
      <p:ext uri="{BB962C8B-B14F-4D97-AF65-F5344CB8AC3E}">
        <p14:creationId xmlns:p14="http://schemas.microsoft.com/office/powerpoint/2010/main" val="22772713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7D91-A710-47C0-8FA6-E7D81F8A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Arrests for marijuana: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145229-FAF3-491D-A93F-F4FA9EEB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798BD-C659-43B2-A2AA-8C6645AED72A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 is numerical. But may be non-linear. Convert to a </a:t>
            </a:r>
            <a:r>
              <a:rPr lang="en-US" dirty="0">
                <a:solidFill>
                  <a:srgbClr val="0070C0"/>
                </a:solidFill>
              </a:rPr>
              <a:t>factor</a:t>
            </a:r>
          </a:p>
          <a:p>
            <a:r>
              <a:rPr lang="en-US" dirty="0"/>
              <a:t>Fit model with all main effects, but allow </a:t>
            </a:r>
            <a:r>
              <a:rPr lang="en-US" dirty="0">
                <a:solidFill>
                  <a:srgbClr val="0070C0"/>
                </a:solidFill>
              </a:rPr>
              <a:t>interactions</a:t>
            </a:r>
            <a:r>
              <a:rPr lang="en-US" dirty="0"/>
              <a:t> of </a:t>
            </a:r>
            <a:r>
              <a:rPr lang="en-US" b="1" dirty="0" err="1"/>
              <a:t>colour:year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colour:age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02A88-4D42-4059-9702-2758AE05C7F3}"/>
              </a:ext>
            </a:extLst>
          </p:cNvPr>
          <p:cNvSpPr txBox="1"/>
          <p:nvPr/>
        </p:nvSpPr>
        <p:spPr>
          <a:xfrm>
            <a:off x="533400" y="2133600"/>
            <a:ext cx="81534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Arrests$year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Arrests$year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arrests.mod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(released ~ employed + citizen + checks +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*year +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*age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family=binomial, data=Arrests)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(arrests.mod)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21D66-D930-441E-B34F-EA3FBBCB89DB}"/>
              </a:ext>
            </a:extLst>
          </p:cNvPr>
          <p:cNvSpPr txBox="1"/>
          <p:nvPr/>
        </p:nvSpPr>
        <p:spPr>
          <a:xfrm>
            <a:off x="533400" y="3347720"/>
            <a:ext cx="8153400" cy="270843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Response: released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employed        72.7  1    &lt; 2e-16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citizen         25.8  1    3.8e-07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checks         205.2  1    &lt; 2e-16 ***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19.6  1    9.7e-06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year             6.1  5    0.29785  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age              0.5  1    0.49827    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colour:year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21.7  5    0.00059 ***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colour:age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13.9  1    0.00019 ***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2EBD8A-12B3-B042-9D9B-6FDB9748E3DA}"/>
              </a:ext>
            </a:extLst>
          </p:cNvPr>
          <p:cNvSpPr txBox="1"/>
          <p:nvPr/>
        </p:nvSpPr>
        <p:spPr>
          <a:xfrm>
            <a:off x="5715000" y="3505200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Adjust for all other low-order effects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8213A1-F3F7-F25F-32B3-2DFD81142E71}"/>
              </a:ext>
            </a:extLst>
          </p:cNvPr>
          <p:cNvCxnSpPr/>
          <p:nvPr/>
        </p:nvCxnSpPr>
        <p:spPr>
          <a:xfrm flipH="1" flipV="1">
            <a:off x="4572000" y="3505200"/>
            <a:ext cx="11430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F2608E-96E2-9642-CE51-D434BD0EE317}"/>
              </a:ext>
            </a:extLst>
          </p:cNvPr>
          <p:cNvSpPr txBox="1"/>
          <p:nvPr/>
        </p:nvSpPr>
        <p:spPr>
          <a:xfrm>
            <a:off x="5715000" y="4572000"/>
            <a:ext cx="327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year, age: NS, but must be included in model for interactions to be interpretable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899F91-89D3-41A0-247B-4F3433022776}"/>
              </a:ext>
            </a:extLst>
          </p:cNvPr>
          <p:cNvCxnSpPr/>
          <p:nvPr/>
        </p:nvCxnSpPr>
        <p:spPr>
          <a:xfrm flipH="1">
            <a:off x="4038600" y="4864387"/>
            <a:ext cx="1600200" cy="8861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7133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5E2F8-95B7-4859-AFCA-10E0B204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plot: Skin </a:t>
            </a:r>
            <a:r>
              <a:rPr lang="en-US" dirty="0" err="1"/>
              <a:t>colour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EA7D5-1CFD-4143-B09F-040A44DA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56BCF-3530-42C8-B00B-AE56EBFEAEB5}"/>
              </a:ext>
            </a:extLst>
          </p:cNvPr>
          <p:cNvSpPr txBox="1"/>
          <p:nvPr/>
        </p:nvSpPr>
        <p:spPr>
          <a:xfrm>
            <a:off x="381000" y="1186934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arrests.mod),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=3,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ci.style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="bands”, ...)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6ED62B65-A611-4039-BC99-826504C42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863047"/>
            <a:ext cx="4846320" cy="4611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5FD138-6742-434B-AEA4-D569AC84A7C5}"/>
              </a:ext>
            </a:extLst>
          </p:cNvPr>
          <p:cNvSpPr txBox="1"/>
          <p:nvPr/>
        </p:nvSpPr>
        <p:spPr>
          <a:xfrm>
            <a:off x="5166360" y="2286000"/>
            <a:ext cx="353568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Effect plot for </a:t>
            </a:r>
            <a:r>
              <a:rPr lang="en-US" dirty="0" err="1"/>
              <a:t>colour</a:t>
            </a:r>
            <a:r>
              <a:rPr lang="en-US" dirty="0"/>
              <a:t> shows average effect </a:t>
            </a:r>
            <a:r>
              <a:rPr lang="en-US" dirty="0">
                <a:solidFill>
                  <a:srgbClr val="0070C0"/>
                </a:solidFill>
              </a:rPr>
              <a:t>controlling</a:t>
            </a:r>
            <a:r>
              <a:rPr lang="en-US" dirty="0"/>
              <a:t> (adjusting) for </a:t>
            </a:r>
            <a:r>
              <a:rPr lang="en-US" dirty="0">
                <a:solidFill>
                  <a:srgbClr val="0070C0"/>
                </a:solidFill>
              </a:rPr>
              <a:t>all</a:t>
            </a:r>
            <a:r>
              <a:rPr lang="en-US" dirty="0"/>
              <a:t> other factors simultaneously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(The </a:t>
            </a:r>
            <a:r>
              <a:rPr lang="en-US" i="1" dirty="0"/>
              <a:t>Star</a:t>
            </a:r>
            <a:r>
              <a:rPr lang="en-US" dirty="0"/>
              <a:t> analysis controlled for these one at a time.)</a:t>
            </a:r>
          </a:p>
          <a:p>
            <a:pPr marL="285750" indent="-285750">
              <a:spcAft>
                <a:spcPts val="300"/>
              </a:spcAft>
              <a:buFont typeface="Symbol" panose="05050102010706020507" pitchFamily="18" charset="2"/>
              <a:buChar char="®"/>
            </a:pPr>
            <a:r>
              <a:rPr lang="en-US" dirty="0">
                <a:sym typeface="Symbol" panose="05050102010706020507" pitchFamily="18" charset="2"/>
              </a:rPr>
              <a:t>Evidence for different treatment of blacks &amp; whites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ym typeface="Symbol" panose="05050102010706020507" pitchFamily="18" charset="2"/>
              </a:rPr>
              <a:t>Even Francis </a:t>
            </a:r>
            <a:r>
              <a:rPr lang="en-US" dirty="0" err="1">
                <a:sym typeface="Symbol" panose="05050102010706020507" pitchFamily="18" charset="2"/>
              </a:rPr>
              <a:t>Nunziata</a:t>
            </a:r>
            <a:r>
              <a:rPr lang="en-US" dirty="0">
                <a:sym typeface="Symbol" panose="05050102010706020507" pitchFamily="18" charset="2"/>
              </a:rPr>
              <a:t> could understand this.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ym typeface="Symbol" panose="05050102010706020507" pitchFamily="18" charset="2"/>
              </a:rPr>
              <a:t>However, effect smaller than reported by the </a:t>
            </a:r>
            <a:r>
              <a:rPr lang="en-US" i="1" dirty="0">
                <a:sym typeface="Symbol" panose="05050102010706020507" pitchFamily="18" charset="2"/>
              </a:rPr>
              <a:t>Star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42783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F50A-EAA3-47FE-BB6E-19848A4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plots: Interactions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177254-9F09-49D4-B0A3-B62BC92B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5C15A489-B4A1-41B9-AD2A-273250680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846320" cy="4611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DF0EFA-27E2-4CBD-99B1-DCC3B8672E59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story turned out to be more nuanced than reported by the </a:t>
            </a:r>
            <a:r>
              <a:rPr lang="en-US" i="1" dirty="0"/>
              <a:t>Toronto Star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9FC284-42D2-4729-B316-0FEA620A6A75}"/>
              </a:ext>
            </a:extLst>
          </p:cNvPr>
          <p:cNvSpPr txBox="1"/>
          <p:nvPr/>
        </p:nvSpPr>
        <p:spPr>
          <a:xfrm>
            <a:off x="5410200" y="2819400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 to 2000, strong evidence for differential treatment of blacks &amp; whites</a:t>
            </a:r>
          </a:p>
          <a:p>
            <a:endParaRPr lang="en-US" dirty="0"/>
          </a:p>
          <a:p>
            <a:r>
              <a:rPr lang="en-US" dirty="0"/>
              <a:t>Also: evidence to support Police claim of effect of training to reduce racial effects in treatment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A21E6-547A-4649-B527-BD27EF88F5F9}"/>
              </a:ext>
            </a:extLst>
          </p:cNvPr>
          <p:cNvSpPr txBox="1"/>
          <p:nvPr/>
        </p:nvSpPr>
        <p:spPr>
          <a:xfrm>
            <a:off x="457200" y="1600200"/>
            <a:ext cx="8229600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plot(Effect(c("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","year"), arrests.mod), multiline=TRUE, ...) </a:t>
            </a:r>
          </a:p>
        </p:txBody>
      </p:sp>
    </p:spTree>
    <p:extLst>
      <p:ext uri="{BB962C8B-B14F-4D97-AF65-F5344CB8AC3E}">
        <p14:creationId xmlns:p14="http://schemas.microsoft.com/office/powerpoint/2010/main" val="29814954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F50A-EAA3-47FE-BB6E-19848A4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plots: Interactions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177254-9F09-49D4-B0A3-B62BC92B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04949957-2444-41BE-BAF7-13885FB26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52" y="2194560"/>
            <a:ext cx="4846320" cy="4611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90601-C8FA-41AC-A4B1-43481828A672}"/>
              </a:ext>
            </a:extLst>
          </p:cNvPr>
          <p:cNvSpPr txBox="1"/>
          <p:nvPr/>
        </p:nvSpPr>
        <p:spPr>
          <a:xfrm>
            <a:off x="457200" y="1600200"/>
            <a:ext cx="8229600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plot(Effect(c("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","year"), arrests.mod), multiline=TRUE, ...)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F9B7C-E145-42C5-A9BA-3CB7110C0D79}"/>
              </a:ext>
            </a:extLst>
          </p:cNvPr>
          <p:cNvSpPr txBox="1"/>
          <p:nvPr/>
        </p:nvSpPr>
        <p:spPr>
          <a:xfrm>
            <a:off x="457200" y="11430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more surprising finding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19040-9DAD-495B-84F4-C4FF0380B6AE}"/>
              </a:ext>
            </a:extLst>
          </p:cNvPr>
          <p:cNvSpPr txBox="1"/>
          <p:nvPr/>
        </p:nvSpPr>
        <p:spPr>
          <a:xfrm>
            <a:off x="5410200" y="2819400"/>
            <a:ext cx="3276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Opposite age effects for blacks &amp; whites: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Young blacks treated </a:t>
            </a:r>
            <a:r>
              <a:rPr lang="en-US" dirty="0">
                <a:solidFill>
                  <a:srgbClr val="0070C0"/>
                </a:solidFill>
              </a:rPr>
              <a:t>more</a:t>
            </a:r>
            <a:r>
              <a:rPr lang="en-US" dirty="0"/>
              <a:t> harshly than young whites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Older blacks treated </a:t>
            </a:r>
            <a:r>
              <a:rPr lang="en-US" dirty="0">
                <a:solidFill>
                  <a:srgbClr val="0070C0"/>
                </a:solidFill>
              </a:rPr>
              <a:t>less</a:t>
            </a:r>
            <a:r>
              <a:rPr lang="en-US" dirty="0"/>
              <a:t> harshly than older whites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51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943B4E4A-C753-4097-9A9E-3DF6F07C4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0" y="2556689"/>
            <a:ext cx="8503920" cy="4192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009193-B25C-4268-B8C2-5085EB60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plots: </a:t>
            </a:r>
            <a:r>
              <a:rPr lang="en-US" dirty="0" err="1"/>
              <a:t>allEffects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E2FEF9-5038-4404-8E4D-DF5E4021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B2246-8897-40F5-B897-9B7C0EBF1BE6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high-order terms can be viewed together using plot(</a:t>
            </a:r>
            <a:r>
              <a:rPr lang="en-US" sz="2000" dirty="0" err="1"/>
              <a:t>allEffects</a:t>
            </a:r>
            <a:r>
              <a:rPr lang="en-US" sz="2000" dirty="0"/>
              <a:t>(mod))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74E7DA-3B2E-4656-A23F-7EADEB3BE9EB}"/>
              </a:ext>
            </a:extLst>
          </p:cNvPr>
          <p:cNvSpPr txBox="1"/>
          <p:nvPr/>
        </p:nvSpPr>
        <p:spPr>
          <a:xfrm>
            <a:off x="457200" y="1613932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arrests.effects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allEffects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(arrests.mod,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xlevels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=list(age=seq(15,45,5)))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arrests.effects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="Probability(released)", …)</a:t>
            </a:r>
          </a:p>
        </p:txBody>
      </p:sp>
    </p:spTree>
    <p:extLst>
      <p:ext uri="{BB962C8B-B14F-4D97-AF65-F5344CB8AC3E}">
        <p14:creationId xmlns:p14="http://schemas.microsoft.com/office/powerpoint/2010/main" val="22587680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7DB2-A654-AB09-536A-1C13D2B6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29F37-C2AF-7071-BCE7-8E3A9DBF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Model selection methods: aim to identify the best subset of predictors or terms for a parsimonious, predictive model.</a:t>
            </a:r>
          </a:p>
          <a:p>
            <a:r>
              <a:rPr lang="en-CA" sz="2000" dirty="0"/>
              <a:t>GOAL: maximize fit, minimize overfitting</a:t>
            </a:r>
          </a:p>
          <a:p>
            <a:r>
              <a:rPr lang="en-CA" sz="2000" dirty="0"/>
              <a:t>Stepwise methods: forward / backward selection</a:t>
            </a:r>
          </a:p>
          <a:p>
            <a:r>
              <a:rPr lang="en-CA" sz="2000" dirty="0"/>
              <a:t>Info criteria: minimize AIC, BIC (model fit + parsimony)</a:t>
            </a:r>
          </a:p>
          <a:p>
            <a:r>
              <a:rPr lang="en-CA" sz="2000" dirty="0"/>
              <a:t>Regularization methods (LASSO / Ridge) + cross-validation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924F29-34F1-CE25-9278-297665AA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905AB-6100-9A46-5A81-2BF607EAAF51}"/>
              </a:ext>
            </a:extLst>
          </p:cNvPr>
          <p:cNvSpPr txBox="1"/>
          <p:nvPr/>
        </p:nvSpPr>
        <p:spPr>
          <a:xfrm>
            <a:off x="609600" y="3505200"/>
            <a:ext cx="79248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add1(mod1, scope= .^2, test = “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”) 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add best 2-way terms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drop1(mod2, test = “</a:t>
            </a:r>
            <a:r>
              <a:rPr lang="en-CA" sz="1400" dirty="0" err="1">
                <a:latin typeface="Aptos Mono" panose="020B00090202020202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</a:rPr>
              <a:t>”)            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drop worst terms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MASS::</a:t>
            </a:r>
            <a:r>
              <a:rPr lang="en-CA" sz="1400" dirty="0" err="1">
                <a:latin typeface="Aptos Mono" panose="020B0009020202020204" pitchFamily="49" charset="0"/>
              </a:rPr>
              <a:t>stepAIC</a:t>
            </a:r>
            <a:r>
              <a:rPr lang="en-CA" sz="1400" dirty="0">
                <a:latin typeface="Aptos Mono" panose="020B0009020202020204" pitchFamily="49" charset="0"/>
              </a:rPr>
              <a:t>(mod2, direction = “backward”)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select for lowest AIC</a:t>
            </a:r>
          </a:p>
          <a:p>
            <a:r>
              <a:rPr lang="en-CA" sz="1400" dirty="0" err="1">
                <a:latin typeface="Aptos Mono" panose="020B0009020202020204" pitchFamily="49" charset="0"/>
              </a:rPr>
              <a:t>glmnet</a:t>
            </a:r>
            <a:r>
              <a:rPr lang="en-CA" sz="1400" dirty="0">
                <a:latin typeface="Aptos Mono" panose="020B0009020202020204" pitchFamily="49" charset="0"/>
              </a:rPr>
              <a:t>::</a:t>
            </a:r>
            <a:r>
              <a:rPr lang="en-CA" sz="1400" dirty="0" err="1">
                <a:latin typeface="Aptos Mono" panose="020B0009020202020204" pitchFamily="49" charset="0"/>
              </a:rPr>
              <a:t>glmnet</a:t>
            </a:r>
            <a:r>
              <a:rPr lang="en-CA" sz="1400" dirty="0">
                <a:latin typeface="Aptos Mono" panose="020B0009020202020204" pitchFamily="49" charset="0"/>
              </a:rPr>
              <a:t>(x, y, family=“binomial)      </a:t>
            </a:r>
            <a:r>
              <a:rPr lang="en-CA" sz="1400" dirty="0">
                <a:solidFill>
                  <a:srgbClr val="00B050"/>
                </a:solidFill>
                <a:latin typeface="Aptos Mono" panose="020B0009020202020204" pitchFamily="49" charset="0"/>
              </a:rPr>
              <a:t># LASSO / Ridge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DD118-29BA-3EFA-2706-96B85DF95E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7" y="5181600"/>
            <a:ext cx="801007" cy="7008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AEB07D-A4CC-B053-B3C9-3E215EDF270D}"/>
              </a:ext>
            </a:extLst>
          </p:cNvPr>
          <p:cNvSpPr txBox="1"/>
          <p:nvPr/>
        </p:nvSpPr>
        <p:spPr>
          <a:xfrm>
            <a:off x="1752600" y="4724400"/>
            <a:ext cx="6781800" cy="1754326"/>
          </a:xfrm>
          <a:custGeom>
            <a:avLst/>
            <a:gdLst>
              <a:gd name="csX0" fmla="*/ 0 w 6781800"/>
              <a:gd name="csY0" fmla="*/ 0 h 1754326"/>
              <a:gd name="csX1" fmla="*/ 361696 w 6781800"/>
              <a:gd name="csY1" fmla="*/ 0 h 1754326"/>
              <a:gd name="csX2" fmla="*/ 994664 w 6781800"/>
              <a:gd name="csY2" fmla="*/ 0 h 1754326"/>
              <a:gd name="csX3" fmla="*/ 1491996 w 6781800"/>
              <a:gd name="csY3" fmla="*/ 0 h 1754326"/>
              <a:gd name="csX4" fmla="*/ 2057146 w 6781800"/>
              <a:gd name="csY4" fmla="*/ 0 h 1754326"/>
              <a:gd name="csX5" fmla="*/ 2757932 w 6781800"/>
              <a:gd name="csY5" fmla="*/ 0 h 1754326"/>
              <a:gd name="csX6" fmla="*/ 3187446 w 6781800"/>
              <a:gd name="csY6" fmla="*/ 0 h 1754326"/>
              <a:gd name="csX7" fmla="*/ 3820414 w 6781800"/>
              <a:gd name="csY7" fmla="*/ 0 h 1754326"/>
              <a:gd name="csX8" fmla="*/ 4249928 w 6781800"/>
              <a:gd name="csY8" fmla="*/ 0 h 1754326"/>
              <a:gd name="csX9" fmla="*/ 4815078 w 6781800"/>
              <a:gd name="csY9" fmla="*/ 0 h 1754326"/>
              <a:gd name="csX10" fmla="*/ 5448046 w 6781800"/>
              <a:gd name="csY10" fmla="*/ 0 h 1754326"/>
              <a:gd name="csX11" fmla="*/ 5809742 w 6781800"/>
              <a:gd name="csY11" fmla="*/ 0 h 1754326"/>
              <a:gd name="csX12" fmla="*/ 6171438 w 6781800"/>
              <a:gd name="csY12" fmla="*/ 0 h 1754326"/>
              <a:gd name="csX13" fmla="*/ 6781800 w 6781800"/>
              <a:gd name="csY13" fmla="*/ 0 h 1754326"/>
              <a:gd name="csX14" fmla="*/ 6781800 w 6781800"/>
              <a:gd name="csY14" fmla="*/ 584775 h 1754326"/>
              <a:gd name="csX15" fmla="*/ 6781800 w 6781800"/>
              <a:gd name="csY15" fmla="*/ 1187094 h 1754326"/>
              <a:gd name="csX16" fmla="*/ 6781800 w 6781800"/>
              <a:gd name="csY16" fmla="*/ 1754326 h 1754326"/>
              <a:gd name="csX17" fmla="*/ 6148832 w 6781800"/>
              <a:gd name="csY17" fmla="*/ 1754326 h 1754326"/>
              <a:gd name="csX18" fmla="*/ 5515864 w 6781800"/>
              <a:gd name="csY18" fmla="*/ 1754326 h 1754326"/>
              <a:gd name="csX19" fmla="*/ 4950714 w 6781800"/>
              <a:gd name="csY19" fmla="*/ 1754326 h 1754326"/>
              <a:gd name="csX20" fmla="*/ 4249928 w 6781800"/>
              <a:gd name="csY20" fmla="*/ 1754326 h 1754326"/>
              <a:gd name="csX21" fmla="*/ 3549142 w 6781800"/>
              <a:gd name="csY21" fmla="*/ 1754326 h 1754326"/>
              <a:gd name="csX22" fmla="*/ 2916174 w 6781800"/>
              <a:gd name="csY22" fmla="*/ 1754326 h 1754326"/>
              <a:gd name="csX23" fmla="*/ 2283206 w 6781800"/>
              <a:gd name="csY23" fmla="*/ 1754326 h 1754326"/>
              <a:gd name="csX24" fmla="*/ 1650238 w 6781800"/>
              <a:gd name="csY24" fmla="*/ 1754326 h 1754326"/>
              <a:gd name="csX25" fmla="*/ 1220724 w 6781800"/>
              <a:gd name="csY25" fmla="*/ 1754326 h 1754326"/>
              <a:gd name="csX26" fmla="*/ 519938 w 6781800"/>
              <a:gd name="csY26" fmla="*/ 1754326 h 1754326"/>
              <a:gd name="csX27" fmla="*/ 0 w 6781800"/>
              <a:gd name="csY27" fmla="*/ 1754326 h 1754326"/>
              <a:gd name="csX28" fmla="*/ 0 w 6781800"/>
              <a:gd name="csY28" fmla="*/ 1222180 h 1754326"/>
              <a:gd name="csX29" fmla="*/ 0 w 6781800"/>
              <a:gd name="csY29" fmla="*/ 619862 h 1754326"/>
              <a:gd name="csX30" fmla="*/ 0 w 6781800"/>
              <a:gd name="csY30" fmla="*/ 0 h 17543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6781800" h="1754326" fill="none" extrusionOk="0">
                <a:moveTo>
                  <a:pt x="0" y="0"/>
                </a:moveTo>
                <a:cubicBezTo>
                  <a:pt x="122500" y="-27840"/>
                  <a:pt x="227549" y="39661"/>
                  <a:pt x="361696" y="0"/>
                </a:cubicBezTo>
                <a:cubicBezTo>
                  <a:pt x="495843" y="-39661"/>
                  <a:pt x="722503" y="1624"/>
                  <a:pt x="994664" y="0"/>
                </a:cubicBezTo>
                <a:cubicBezTo>
                  <a:pt x="1266825" y="-1624"/>
                  <a:pt x="1379093" y="39730"/>
                  <a:pt x="1491996" y="0"/>
                </a:cubicBezTo>
                <a:cubicBezTo>
                  <a:pt x="1604899" y="-39730"/>
                  <a:pt x="1878892" y="50239"/>
                  <a:pt x="2057146" y="0"/>
                </a:cubicBezTo>
                <a:cubicBezTo>
                  <a:pt x="2235400" y="-50239"/>
                  <a:pt x="2548275" y="53191"/>
                  <a:pt x="2757932" y="0"/>
                </a:cubicBezTo>
                <a:cubicBezTo>
                  <a:pt x="2967589" y="-53191"/>
                  <a:pt x="3015693" y="26972"/>
                  <a:pt x="3187446" y="0"/>
                </a:cubicBezTo>
                <a:cubicBezTo>
                  <a:pt x="3359199" y="-26972"/>
                  <a:pt x="3622470" y="62727"/>
                  <a:pt x="3820414" y="0"/>
                </a:cubicBezTo>
                <a:cubicBezTo>
                  <a:pt x="4018358" y="-62727"/>
                  <a:pt x="4053341" y="29515"/>
                  <a:pt x="4249928" y="0"/>
                </a:cubicBezTo>
                <a:cubicBezTo>
                  <a:pt x="4446515" y="-29515"/>
                  <a:pt x="4541939" y="1982"/>
                  <a:pt x="4815078" y="0"/>
                </a:cubicBezTo>
                <a:cubicBezTo>
                  <a:pt x="5088217" y="-1982"/>
                  <a:pt x="5246418" y="70693"/>
                  <a:pt x="5448046" y="0"/>
                </a:cubicBezTo>
                <a:cubicBezTo>
                  <a:pt x="5649674" y="-70693"/>
                  <a:pt x="5732943" y="21250"/>
                  <a:pt x="5809742" y="0"/>
                </a:cubicBezTo>
                <a:cubicBezTo>
                  <a:pt x="5886541" y="-21250"/>
                  <a:pt x="5998940" y="28202"/>
                  <a:pt x="6171438" y="0"/>
                </a:cubicBezTo>
                <a:cubicBezTo>
                  <a:pt x="6343936" y="-28202"/>
                  <a:pt x="6573234" y="41169"/>
                  <a:pt x="6781800" y="0"/>
                </a:cubicBezTo>
                <a:cubicBezTo>
                  <a:pt x="6846148" y="208241"/>
                  <a:pt x="6781407" y="439218"/>
                  <a:pt x="6781800" y="584775"/>
                </a:cubicBezTo>
                <a:cubicBezTo>
                  <a:pt x="6782193" y="730332"/>
                  <a:pt x="6742599" y="935568"/>
                  <a:pt x="6781800" y="1187094"/>
                </a:cubicBezTo>
                <a:cubicBezTo>
                  <a:pt x="6821001" y="1438620"/>
                  <a:pt x="6772708" y="1587274"/>
                  <a:pt x="6781800" y="1754326"/>
                </a:cubicBezTo>
                <a:cubicBezTo>
                  <a:pt x="6617912" y="1803710"/>
                  <a:pt x="6369117" y="1751742"/>
                  <a:pt x="6148832" y="1754326"/>
                </a:cubicBezTo>
                <a:cubicBezTo>
                  <a:pt x="5928547" y="1756910"/>
                  <a:pt x="5824792" y="1678644"/>
                  <a:pt x="5515864" y="1754326"/>
                </a:cubicBezTo>
                <a:cubicBezTo>
                  <a:pt x="5206936" y="1830008"/>
                  <a:pt x="5190229" y="1743510"/>
                  <a:pt x="4950714" y="1754326"/>
                </a:cubicBezTo>
                <a:cubicBezTo>
                  <a:pt x="4711199" y="1765142"/>
                  <a:pt x="4502642" y="1677433"/>
                  <a:pt x="4249928" y="1754326"/>
                </a:cubicBezTo>
                <a:cubicBezTo>
                  <a:pt x="3997214" y="1831219"/>
                  <a:pt x="3760916" y="1702808"/>
                  <a:pt x="3549142" y="1754326"/>
                </a:cubicBezTo>
                <a:cubicBezTo>
                  <a:pt x="3337368" y="1805844"/>
                  <a:pt x="3057432" y="1705955"/>
                  <a:pt x="2916174" y="1754326"/>
                </a:cubicBezTo>
                <a:cubicBezTo>
                  <a:pt x="2774916" y="1802697"/>
                  <a:pt x="2551566" y="1685129"/>
                  <a:pt x="2283206" y="1754326"/>
                </a:cubicBezTo>
                <a:cubicBezTo>
                  <a:pt x="2014846" y="1823523"/>
                  <a:pt x="1782305" y="1684169"/>
                  <a:pt x="1650238" y="1754326"/>
                </a:cubicBezTo>
                <a:cubicBezTo>
                  <a:pt x="1518171" y="1824483"/>
                  <a:pt x="1378727" y="1753467"/>
                  <a:pt x="1220724" y="1754326"/>
                </a:cubicBezTo>
                <a:cubicBezTo>
                  <a:pt x="1062721" y="1755185"/>
                  <a:pt x="821900" y="1678756"/>
                  <a:pt x="519938" y="1754326"/>
                </a:cubicBezTo>
                <a:cubicBezTo>
                  <a:pt x="217976" y="1829896"/>
                  <a:pt x="182644" y="1700696"/>
                  <a:pt x="0" y="1754326"/>
                </a:cubicBezTo>
                <a:cubicBezTo>
                  <a:pt x="-43886" y="1501992"/>
                  <a:pt x="22480" y="1435618"/>
                  <a:pt x="0" y="1222180"/>
                </a:cubicBezTo>
                <a:cubicBezTo>
                  <a:pt x="-22480" y="1008742"/>
                  <a:pt x="9924" y="837738"/>
                  <a:pt x="0" y="619862"/>
                </a:cubicBezTo>
                <a:cubicBezTo>
                  <a:pt x="-9924" y="401986"/>
                  <a:pt x="58263" y="163085"/>
                  <a:pt x="0" y="0"/>
                </a:cubicBezTo>
                <a:close/>
              </a:path>
              <a:path w="6781800" h="1754326" stroke="0" extrusionOk="0">
                <a:moveTo>
                  <a:pt x="0" y="0"/>
                </a:moveTo>
                <a:cubicBezTo>
                  <a:pt x="232694" y="-56928"/>
                  <a:pt x="364970" y="20177"/>
                  <a:pt x="497332" y="0"/>
                </a:cubicBezTo>
                <a:cubicBezTo>
                  <a:pt x="629694" y="-20177"/>
                  <a:pt x="719643" y="25771"/>
                  <a:pt x="859028" y="0"/>
                </a:cubicBezTo>
                <a:cubicBezTo>
                  <a:pt x="998413" y="-25771"/>
                  <a:pt x="1400917" y="72723"/>
                  <a:pt x="1559814" y="0"/>
                </a:cubicBezTo>
                <a:cubicBezTo>
                  <a:pt x="1718711" y="-72723"/>
                  <a:pt x="1883308" y="7122"/>
                  <a:pt x="2057146" y="0"/>
                </a:cubicBezTo>
                <a:cubicBezTo>
                  <a:pt x="2230984" y="-7122"/>
                  <a:pt x="2405225" y="14338"/>
                  <a:pt x="2554478" y="0"/>
                </a:cubicBezTo>
                <a:cubicBezTo>
                  <a:pt x="2703731" y="-14338"/>
                  <a:pt x="2935833" y="63723"/>
                  <a:pt x="3255264" y="0"/>
                </a:cubicBezTo>
                <a:cubicBezTo>
                  <a:pt x="3574695" y="-63723"/>
                  <a:pt x="3541200" y="43936"/>
                  <a:pt x="3684778" y="0"/>
                </a:cubicBezTo>
                <a:cubicBezTo>
                  <a:pt x="3828356" y="-43936"/>
                  <a:pt x="4208439" y="24447"/>
                  <a:pt x="4385564" y="0"/>
                </a:cubicBezTo>
                <a:cubicBezTo>
                  <a:pt x="4562689" y="-24447"/>
                  <a:pt x="4829844" y="34820"/>
                  <a:pt x="5086350" y="0"/>
                </a:cubicBezTo>
                <a:cubicBezTo>
                  <a:pt x="5342856" y="-34820"/>
                  <a:pt x="5469161" y="30445"/>
                  <a:pt x="5651500" y="0"/>
                </a:cubicBezTo>
                <a:cubicBezTo>
                  <a:pt x="5833839" y="-30445"/>
                  <a:pt x="6309219" y="53409"/>
                  <a:pt x="6781800" y="0"/>
                </a:cubicBezTo>
                <a:cubicBezTo>
                  <a:pt x="6838697" y="232229"/>
                  <a:pt x="6780038" y="311697"/>
                  <a:pt x="6781800" y="567232"/>
                </a:cubicBezTo>
                <a:cubicBezTo>
                  <a:pt x="6783562" y="822767"/>
                  <a:pt x="6732591" y="850205"/>
                  <a:pt x="6781800" y="1099378"/>
                </a:cubicBezTo>
                <a:cubicBezTo>
                  <a:pt x="6831009" y="1348551"/>
                  <a:pt x="6741052" y="1468651"/>
                  <a:pt x="6781800" y="1754326"/>
                </a:cubicBezTo>
                <a:cubicBezTo>
                  <a:pt x="6562423" y="1755621"/>
                  <a:pt x="6398470" y="1717865"/>
                  <a:pt x="6216650" y="1754326"/>
                </a:cubicBezTo>
                <a:cubicBezTo>
                  <a:pt x="6034830" y="1790787"/>
                  <a:pt x="5853107" y="1690717"/>
                  <a:pt x="5651500" y="1754326"/>
                </a:cubicBezTo>
                <a:cubicBezTo>
                  <a:pt x="5449893" y="1817935"/>
                  <a:pt x="5280681" y="1708088"/>
                  <a:pt x="4950714" y="1754326"/>
                </a:cubicBezTo>
                <a:cubicBezTo>
                  <a:pt x="4620747" y="1800564"/>
                  <a:pt x="4630649" y="1705102"/>
                  <a:pt x="4385564" y="1754326"/>
                </a:cubicBezTo>
                <a:cubicBezTo>
                  <a:pt x="4140479" y="1803550"/>
                  <a:pt x="4163783" y="1733285"/>
                  <a:pt x="4023868" y="1754326"/>
                </a:cubicBezTo>
                <a:cubicBezTo>
                  <a:pt x="3883953" y="1775367"/>
                  <a:pt x="3718136" y="1751323"/>
                  <a:pt x="3594354" y="1754326"/>
                </a:cubicBezTo>
                <a:cubicBezTo>
                  <a:pt x="3470572" y="1757329"/>
                  <a:pt x="3185230" y="1670763"/>
                  <a:pt x="2893568" y="1754326"/>
                </a:cubicBezTo>
                <a:cubicBezTo>
                  <a:pt x="2601906" y="1837889"/>
                  <a:pt x="2531515" y="1747493"/>
                  <a:pt x="2328418" y="1754326"/>
                </a:cubicBezTo>
                <a:cubicBezTo>
                  <a:pt x="2125321" y="1761159"/>
                  <a:pt x="2040974" y="1712799"/>
                  <a:pt x="1898904" y="1754326"/>
                </a:cubicBezTo>
                <a:cubicBezTo>
                  <a:pt x="1756834" y="1795853"/>
                  <a:pt x="1606689" y="1693772"/>
                  <a:pt x="1333754" y="1754326"/>
                </a:cubicBezTo>
                <a:cubicBezTo>
                  <a:pt x="1060819" y="1814880"/>
                  <a:pt x="1140060" y="1745169"/>
                  <a:pt x="972058" y="1754326"/>
                </a:cubicBezTo>
                <a:cubicBezTo>
                  <a:pt x="804056" y="1763483"/>
                  <a:pt x="721935" y="1750221"/>
                  <a:pt x="610362" y="1754326"/>
                </a:cubicBezTo>
                <a:cubicBezTo>
                  <a:pt x="498789" y="1758431"/>
                  <a:pt x="304754" y="1734046"/>
                  <a:pt x="0" y="1754326"/>
                </a:cubicBezTo>
                <a:cubicBezTo>
                  <a:pt x="-14822" y="1619803"/>
                  <a:pt x="26078" y="1420637"/>
                  <a:pt x="0" y="1204637"/>
                </a:cubicBezTo>
                <a:cubicBezTo>
                  <a:pt x="-26078" y="988637"/>
                  <a:pt x="35107" y="868808"/>
                  <a:pt x="0" y="584775"/>
                </a:cubicBezTo>
                <a:cubicBezTo>
                  <a:pt x="-35107" y="300742"/>
                  <a:pt x="58022" y="270106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 w="31750" cmpd="dbl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Automated model selection methods are dangerous if used blindly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 &amp; </a:t>
            </a:r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χ</a:t>
            </a:r>
            <a:r>
              <a:rPr lang="en-CA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CA" dirty="0"/>
              <a:t> values may be invalid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</a:t>
            </a:r>
            <a:r>
              <a:rPr lang="en-CA" baseline="30000" dirty="0"/>
              <a:t>2</a:t>
            </a:r>
            <a:r>
              <a:rPr lang="en-CA" dirty="0"/>
              <a:t> biased high, std. errors &amp; </a:t>
            </a:r>
            <a:r>
              <a:rPr lang="en-CA" i="1" dirty="0"/>
              <a:t>p</a:t>
            </a:r>
            <a:r>
              <a:rPr lang="en-CA" dirty="0"/>
              <a:t>-values biased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Variable selection may be arbitrary under multicollinearity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Allow you not to think about the problem!!!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If you use those p-values blindly, </a:t>
            </a:r>
            <a:r>
              <a:rPr lang="en-CA" b="1" dirty="0"/>
              <a:t>you go straight to HELL</a:t>
            </a:r>
          </a:p>
        </p:txBody>
      </p:sp>
    </p:spTree>
    <p:extLst>
      <p:ext uri="{BB962C8B-B14F-4D97-AF65-F5344CB8AC3E}">
        <p14:creationId xmlns:p14="http://schemas.microsoft.com/office/powerpoint/2010/main" val="305345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675B-9792-80B2-8096-1C0B4AA0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selection: Arrests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44B87-01EF-3557-6B96-017B61A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72008-E80E-6207-D0E6-805E9E564A65}"/>
              </a:ext>
            </a:extLst>
          </p:cNvPr>
          <p:cNvSpPr txBox="1"/>
          <p:nvPr/>
        </p:nvSpPr>
        <p:spPr>
          <a:xfrm>
            <a:off x="457200" y="1066800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# all main effects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arrests.mod1 &lt;- </a:t>
            </a:r>
            <a:r>
              <a:rPr lang="en-CA" sz="1600" dirty="0" err="1">
                <a:latin typeface="Aptos Mono" panose="020B0009020202020204" pitchFamily="49" charset="0"/>
              </a:rPr>
              <a:t>glm</a:t>
            </a:r>
            <a:r>
              <a:rPr lang="en-CA" sz="1600" dirty="0">
                <a:latin typeface="Aptos Mono" panose="020B0009020202020204" pitchFamily="49" charset="0"/>
              </a:rPr>
              <a:t>(released ~ ., family=binomial, data=Arrests)</a:t>
            </a:r>
          </a:p>
          <a:p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# try adding single two-way interactions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add1(arrests.mod1, scope= ~.^2, test="</a:t>
            </a:r>
            <a:r>
              <a:rPr lang="en-CA" sz="1600" dirty="0" err="1">
                <a:latin typeface="Aptos Mono" panose="020B0009020202020204" pitchFamily="49" charset="0"/>
              </a:rPr>
              <a:t>Chisq</a:t>
            </a:r>
            <a:r>
              <a:rPr lang="en-CA" sz="1600" dirty="0">
                <a:latin typeface="Aptos Mono" panose="020B00090202020202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53565-5D9C-E71B-C524-99EF1B0465CE}"/>
              </a:ext>
            </a:extLst>
          </p:cNvPr>
          <p:cNvSpPr txBox="1"/>
          <p:nvPr/>
        </p:nvSpPr>
        <p:spPr>
          <a:xfrm>
            <a:off x="457200" y="2286000"/>
            <a:ext cx="8229600" cy="397031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Aptos Mono" panose="020B0009020202020204" pitchFamily="49" charset="0"/>
              </a:rPr>
              <a:t>Single term additions</a:t>
            </a:r>
          </a:p>
          <a:p>
            <a:endParaRPr lang="en-CA" sz="1200" dirty="0">
              <a:latin typeface="Aptos Mono" panose="020B0009020202020204" pitchFamily="49" charset="0"/>
            </a:endParaRPr>
          </a:p>
          <a:p>
            <a:r>
              <a:rPr lang="en-CA" sz="1200" dirty="0">
                <a:latin typeface="Aptos Mono" panose="020B0009020202020204" pitchFamily="49" charset="0"/>
              </a:rPr>
              <a:t>Model: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released ~ colour + year + age + sex + employed + citizen + checks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                </a:t>
            </a:r>
            <a:r>
              <a:rPr lang="en-CA" sz="1200" dirty="0" err="1">
                <a:latin typeface="Aptos Mono" panose="020B0009020202020204" pitchFamily="49" charset="0"/>
              </a:rPr>
              <a:t>Df</a:t>
            </a:r>
            <a:r>
              <a:rPr lang="en-CA" sz="1200" dirty="0">
                <a:latin typeface="Aptos Mono" panose="020B0009020202020204" pitchFamily="49" charset="0"/>
              </a:rPr>
              <a:t> Deviance    AIC     LRT  </a:t>
            </a:r>
            <a:r>
              <a:rPr lang="en-CA" sz="1200" dirty="0" err="1">
                <a:latin typeface="Aptos Mono" panose="020B0009020202020204" pitchFamily="49" charset="0"/>
              </a:rPr>
              <a:t>Pr</a:t>
            </a:r>
            <a:r>
              <a:rPr lang="en-CA" sz="1200" dirty="0">
                <a:latin typeface="Aptos Mono" panose="020B0009020202020204" pitchFamily="49" charset="0"/>
              </a:rPr>
              <a:t>(&gt;Chi)   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&lt;none&gt;                4292.4 4316.4                  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colour:year</a:t>
            </a:r>
            <a:r>
              <a:rPr lang="en-CA" sz="1200" dirty="0">
                <a:latin typeface="Aptos Mono" panose="020B0009020202020204" pitchFamily="49" charset="0"/>
              </a:rPr>
              <a:t>       5   4270.9 4304.9 21.4324 0.0006710 ***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colour:age</a:t>
            </a:r>
            <a:r>
              <a:rPr lang="en-CA" sz="1200" dirty="0">
                <a:latin typeface="Aptos Mono" panose="020B0009020202020204" pitchFamily="49" charset="0"/>
              </a:rPr>
              <a:t>        1   4278.8 4304.8 13.6001 0.0002262 ***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colour:sex</a:t>
            </a:r>
            <a:r>
              <a:rPr lang="en-CA" sz="1200" dirty="0">
                <a:latin typeface="Aptos Mono" panose="020B0009020202020204" pitchFamily="49" charset="0"/>
              </a:rPr>
              <a:t>        1   4291.9 4317.9  0.4583 0.4983969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colour:employed</a:t>
            </a:r>
            <a:r>
              <a:rPr lang="en-CA" sz="1200" dirty="0">
                <a:latin typeface="Aptos Mono" panose="020B0009020202020204" pitchFamily="49" charset="0"/>
              </a:rPr>
              <a:t>   1   4292.1 4318.1  0.2761 0.5992589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colour:citizen</a:t>
            </a:r>
            <a:r>
              <a:rPr lang="en-CA" sz="1200" dirty="0">
                <a:latin typeface="Aptos Mono" panose="020B0009020202020204" pitchFamily="49" charset="0"/>
              </a:rPr>
              <a:t>    1   4292.2 4318.2  0.1450 0.7033531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colour:checks</a:t>
            </a:r>
            <a:r>
              <a:rPr lang="en-CA" sz="1200" dirty="0">
                <a:latin typeface="Aptos Mono" panose="020B0009020202020204" pitchFamily="49" charset="0"/>
              </a:rPr>
              <a:t>     1   4290.2 4316.2  2.1864 0.1392356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year:age</a:t>
            </a:r>
            <a:r>
              <a:rPr lang="en-CA" sz="1200" dirty="0">
                <a:latin typeface="Aptos Mono" panose="020B0009020202020204" pitchFamily="49" charset="0"/>
              </a:rPr>
              <a:t>          5   4278.7 4312.7 13.6326 0.0181198 *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year:sex</a:t>
            </a:r>
            <a:r>
              <a:rPr lang="en-CA" sz="1200" dirty="0">
                <a:latin typeface="Aptos Mono" panose="020B0009020202020204" pitchFamily="49" charset="0"/>
              </a:rPr>
              <a:t>          5   4286.5 4320.5  5.8453 0.3215599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year:employed</a:t>
            </a:r>
            <a:r>
              <a:rPr lang="en-CA" sz="1200" dirty="0">
                <a:latin typeface="Aptos Mono" panose="020B0009020202020204" pitchFamily="49" charset="0"/>
              </a:rPr>
              <a:t>     5   4287.3 4321.3  5.1167 0.4018001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year:citizen</a:t>
            </a:r>
            <a:r>
              <a:rPr lang="en-CA" sz="1200" dirty="0">
                <a:latin typeface="Aptos Mono" panose="020B0009020202020204" pitchFamily="49" charset="0"/>
              </a:rPr>
              <a:t>      5   4283.0 4317.0  9.3982 0.0941972 . 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 …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employed:checks</a:t>
            </a:r>
            <a:r>
              <a:rPr lang="en-CA" sz="1200" dirty="0">
                <a:latin typeface="Aptos Mono" panose="020B0009020202020204" pitchFamily="49" charset="0"/>
              </a:rPr>
              <a:t>   1   4290.8 4316.8  1.6254 0.2023424    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citizen:checks</a:t>
            </a:r>
            <a:r>
              <a:rPr lang="en-CA" sz="1200" dirty="0">
                <a:latin typeface="Aptos Mono" panose="020B0009020202020204" pitchFamily="49" charset="0"/>
              </a:rPr>
              <a:t>    1   4280.4 4306.4 11.9269 0.0005533 ***</a:t>
            </a:r>
          </a:p>
          <a:p>
            <a:r>
              <a:rPr lang="en-CA" sz="1200" dirty="0">
                <a:latin typeface="Aptos Mono" panose="020B0009020202020204" pitchFamily="49" charset="0"/>
              </a:rPr>
              <a:t>---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Signif</a:t>
            </a:r>
            <a:r>
              <a:rPr lang="en-CA" sz="1200" dirty="0">
                <a:latin typeface="Aptos Mono" panose="020B0009020202020204" pitchFamily="49" charset="0"/>
              </a:rPr>
              <a:t>. codes:  0 ‘***’ 0.001 ‘**’ 0.01 ‘*’ 0.05 ‘.’ 0.1 ‘ ’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4F7D8-2F8A-F564-79D7-4F942FDC2E64}"/>
              </a:ext>
            </a:extLst>
          </p:cNvPr>
          <p:cNvSpPr txBox="1"/>
          <p:nvPr/>
        </p:nvSpPr>
        <p:spPr>
          <a:xfrm>
            <a:off x="533400" y="6361472"/>
            <a:ext cx="76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Code: </a:t>
            </a:r>
            <a:r>
              <a:rPr lang="en-CA" sz="1400" dirty="0">
                <a:hlinkClick r:id="rId2"/>
              </a:rPr>
              <a:t>https://friendly.github.io/psy6136/R/arthritis-logistic.R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84795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905D07D-CC0E-FA09-32C1-360DEEC59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966"/>
            <a:ext cx="9144000" cy="62540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7B84D-F455-D51E-FB10-B97C971E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6C324-66DF-D79A-6D21-2C92A42C560D}"/>
              </a:ext>
            </a:extLst>
          </p:cNvPr>
          <p:cNvSpPr txBox="1"/>
          <p:nvPr/>
        </p:nvSpPr>
        <p:spPr>
          <a:xfrm>
            <a:off x="1447800" y="457200"/>
            <a:ext cx="6553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0" b="1" dirty="0">
                <a:solidFill>
                  <a:schemeClr val="bg1"/>
                </a:solidFill>
              </a:rPr>
              <a:t>Model Diagnostics</a:t>
            </a:r>
          </a:p>
        </p:txBody>
      </p:sp>
    </p:spTree>
    <p:extLst>
      <p:ext uri="{BB962C8B-B14F-4D97-AF65-F5344CB8AC3E}">
        <p14:creationId xmlns:p14="http://schemas.microsoft.com/office/powerpoint/2010/main" val="18620482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A015C-385A-49F6-B6BA-49EE32BD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diagnostics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6A1C09-654D-4E65-8891-D74CF1EC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A9ED2-BEAC-4B47-968F-D4BC83131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1295400"/>
            <a:ext cx="8171428" cy="22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56542F-B98A-40BC-9725-F6BFDB14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" y="3833878"/>
            <a:ext cx="8171428" cy="1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762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46C3-D034-4EAE-B6E8-8C756762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Diagnostic plots in 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20D95-66CF-462C-9EE6-5E7433AC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13A2DC-CA3D-4076-80BC-A5A61C62F1E3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R, plotting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dirty="0"/>
              <a:t> object gives the “regression quartet” – 4 basic diagnostic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CB7FB-B7D5-424A-B121-C14C71EF3327}"/>
              </a:ext>
            </a:extLst>
          </p:cNvPr>
          <p:cNvSpPr txBox="1"/>
          <p:nvPr/>
        </p:nvSpPr>
        <p:spPr>
          <a:xfrm>
            <a:off x="457200" y="1686242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arth.mod1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(Better ~ Age + Sex + Treatment, data=Arthritis,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family='binomial')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(arth.mod1)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9B404-7120-4344-8EA0-E15A653A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7320"/>
            <a:ext cx="9144000" cy="30193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BC73E7-929E-4038-860E-4E9CF87317FC}"/>
              </a:ext>
            </a:extLst>
          </p:cNvPr>
          <p:cNvSpPr txBox="1"/>
          <p:nvPr/>
        </p:nvSpPr>
        <p:spPr>
          <a:xfrm>
            <a:off x="533400" y="58674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plots often look peculiar for logistic regression models</a:t>
            </a:r>
          </a:p>
          <a:p>
            <a:r>
              <a:rPr lang="en-US" dirty="0"/>
              <a:t>Better versions are available in the car package</a:t>
            </a:r>
          </a:p>
        </p:txBody>
      </p:sp>
    </p:spTree>
    <p:extLst>
      <p:ext uri="{BB962C8B-B14F-4D97-AF65-F5344CB8AC3E}">
        <p14:creationId xmlns:p14="http://schemas.microsoft.com/office/powerpoint/2010/main" val="36023476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779F5-5399-47E4-8943-F375A2D48C2F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Unusual data: Leverage &amp; Influence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1"/>
            <a:ext cx="8382000" cy="3200399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“Unusual” observations can have dramatic effects on least-squares estimates in linear models</a:t>
            </a:r>
          </a:p>
          <a:p>
            <a:r>
              <a:rPr lang="en-US" altLang="en-US" sz="2000" dirty="0"/>
              <a:t>Three archetypal cases:</a:t>
            </a:r>
          </a:p>
          <a:p>
            <a:pPr lvl="1"/>
            <a:r>
              <a:rPr lang="en-US" altLang="en-US" sz="1800" dirty="0"/>
              <a:t>Typical X (low leverage), bad fit        -- Not much harm</a:t>
            </a:r>
          </a:p>
          <a:p>
            <a:pPr lvl="1"/>
            <a:r>
              <a:rPr lang="en-US" altLang="en-US" sz="1800" dirty="0"/>
              <a:t>Unusual X (high leverage), good fit   -- Not much harm</a:t>
            </a:r>
          </a:p>
          <a:p>
            <a:pPr lvl="1"/>
            <a:r>
              <a:rPr lang="en-US" altLang="en-US" sz="1800" dirty="0"/>
              <a:t>Unusual X (high leverage), bad fit     -- </a:t>
            </a:r>
            <a:r>
              <a:rPr lang="en-US" altLang="en-US" sz="1800" dirty="0">
                <a:solidFill>
                  <a:srgbClr val="FF0000"/>
                </a:solidFill>
              </a:rPr>
              <a:t>BAD, BAD, BAD</a:t>
            </a:r>
          </a:p>
          <a:p>
            <a:r>
              <a:rPr lang="en-US" altLang="en-US" sz="2000" dirty="0"/>
              <a:t>Influential observations: unusual in </a:t>
            </a:r>
            <a:r>
              <a:rPr lang="en-US" altLang="en-US" sz="2000" i="1" dirty="0">
                <a:solidFill>
                  <a:srgbClr val="0000FF"/>
                </a:solidFill>
              </a:rPr>
              <a:t>both</a:t>
            </a:r>
            <a:r>
              <a:rPr lang="en-US" altLang="en-US" sz="2000" dirty="0"/>
              <a:t> X &amp; Y</a:t>
            </a:r>
          </a:p>
          <a:p>
            <a:r>
              <a:rPr lang="en-US" altLang="en-US" sz="2000" dirty="0"/>
              <a:t>Heuristic formula:</a:t>
            </a:r>
          </a:p>
          <a:p>
            <a:pPr lvl="2"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dirty="0"/>
              <a:t>Influence = X leverage × Y residual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97" y="4271585"/>
            <a:ext cx="2726667" cy="208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882" y="4281585"/>
            <a:ext cx="2753334" cy="206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334" y="4281585"/>
            <a:ext cx="2720001" cy="2066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7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191000" y="2819400"/>
            <a:ext cx="4114800" cy="609600"/>
          </a:xfrm>
          <a:prstGeom prst="rect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97000">
                <a:srgbClr val="FF0300"/>
              </a:gs>
              <a:gs pos="99000">
                <a:srgbClr val="4D0808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Influence plots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B7604-93B8-4136-B9BD-D1CE89EE20B0}" type="slidenum">
              <a:rPr lang="en-US" smtClean="0"/>
              <a:t>73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362200"/>
            <a:ext cx="518160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2192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Influence (Cook’s D) measures impact of individual obs. on coefficients, fitted values</a:t>
            </a:r>
          </a:p>
          <a:p>
            <a:endParaRPr lang="en-US" dirty="0"/>
          </a:p>
          <a:p>
            <a:r>
              <a:rPr lang="en-US" sz="2400" dirty="0"/>
              <a:t>Influence </a:t>
            </a:r>
            <a:r>
              <a:rPr lang="en-US" sz="2400" dirty="0">
                <a:sym typeface="Symbol"/>
              </a:rPr>
              <a:t> Residual (y -ŷ) × Hat-value </a:t>
            </a:r>
            <a:endParaRPr lang="en-US" sz="24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360046" y="1764145"/>
          <a:ext cx="960794" cy="43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07960" imgH="228600" progId="Equation.DSMT4">
                  <p:embed/>
                </p:oleObj>
              </mc:Choice>
              <mc:Fallback>
                <p:oleObj name="Equation" r:id="rId3" imgW="507960" imgH="2286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0046" y="1764145"/>
                        <a:ext cx="960794" cy="432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07223" y="324433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7223" y="56388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Bad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0" y="1713860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High leverage</a:t>
            </a:r>
          </a:p>
        </p:txBody>
      </p:sp>
      <p:cxnSp>
        <p:nvCxnSpPr>
          <p:cNvPr id="13" name="Straight Arrow Connector 12"/>
          <p:cNvCxnSpPr>
            <a:endCxn id="9" idx="3"/>
          </p:cNvCxnSpPr>
          <p:nvPr/>
        </p:nvCxnSpPr>
        <p:spPr>
          <a:xfrm>
            <a:off x="2971800" y="3429000"/>
            <a:ext cx="583223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971800" y="5843981"/>
            <a:ext cx="583223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968762" y="2201953"/>
            <a:ext cx="0" cy="389319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Callout 17"/>
          <p:cNvSpPr/>
          <p:nvPr/>
        </p:nvSpPr>
        <p:spPr>
          <a:xfrm>
            <a:off x="7968762" y="2590800"/>
            <a:ext cx="762000" cy="533400"/>
          </a:xfrm>
          <a:prstGeom prst="wedgeEllipseCallout">
            <a:avLst>
              <a:gd name="adj1" fmla="val -33525"/>
              <a:gd name="adj2" fmla="val 87225"/>
            </a:avLst>
          </a:prstGeom>
          <a:solidFill>
            <a:srgbClr val="FFFF0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968762" y="2585636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High influence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396612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Bubble size ~ influence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114800"/>
            <a:ext cx="2438400" cy="307777"/>
          </a:xfrm>
          <a:prstGeom prst="rect">
            <a:avLst/>
          </a:prstGeom>
          <a:solidFill>
            <a:srgbClr val="FFFF00">
              <a:alpha val="1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Lucida Console" pitchFamily="49" charset="0"/>
              </a:rPr>
              <a:t>influencePlot</a:t>
            </a:r>
            <a:r>
              <a:rPr lang="en-US" sz="1400" dirty="0">
                <a:latin typeface="Lucida Console" pitchFamily="49" charset="0"/>
              </a:rPr>
              <a:t>(mod1)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82DF4-AA76-4D24-9F3A-9CEE1FA51605}"/>
              </a:ext>
            </a:extLst>
          </p:cNvPr>
          <p:cNvSpPr/>
          <p:nvPr/>
        </p:nvSpPr>
        <p:spPr>
          <a:xfrm>
            <a:off x="2945423" y="2896583"/>
            <a:ext cx="609600" cy="53340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ABE2F-0FE8-4424-8EBC-B3EF09E9769F}"/>
              </a:ext>
            </a:extLst>
          </p:cNvPr>
          <p:cNvSpPr/>
          <p:nvPr/>
        </p:nvSpPr>
        <p:spPr>
          <a:xfrm>
            <a:off x="2978499" y="5856605"/>
            <a:ext cx="609600" cy="164068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3B2DEF-549A-63F5-DB91-EA11F7E97F36}"/>
              </a:ext>
            </a:extLst>
          </p:cNvPr>
          <p:cNvSpPr txBox="1"/>
          <p:nvPr/>
        </p:nvSpPr>
        <p:spPr>
          <a:xfrm>
            <a:off x="4800600" y="38978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B050"/>
                </a:solidFill>
              </a:rPr>
              <a:t>OK </a:t>
            </a:r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7558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DDE93-C0C9-423A-AB6A-538244E1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Influence plots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7F31D-5351-4A2C-AA6D-4ADDEB17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53817-B547-4266-85C1-2FC235D4D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08993"/>
            <a:ext cx="4648944" cy="43168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1A1A4A-89DA-46BA-8809-925CE56AFB5E}"/>
              </a:ext>
            </a:extLst>
          </p:cNvPr>
          <p:cNvSpPr txBox="1"/>
          <p:nvPr/>
        </p:nvSpPr>
        <p:spPr>
          <a:xfrm>
            <a:off x="457200" y="1182469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library(car)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influencePlot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(arth.logistic2, 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562F1-F98E-4F6B-A17F-52BD1F97861D}"/>
              </a:ext>
            </a:extLst>
          </p:cNvPr>
          <p:cNvSpPr txBox="1"/>
          <p:nvPr/>
        </p:nvSpPr>
        <p:spPr>
          <a:xfrm>
            <a:off x="5638800" y="2286000"/>
            <a:ext cx="304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axis: Leverage (“hat values”)</a:t>
            </a:r>
          </a:p>
          <a:p>
            <a:r>
              <a:rPr lang="en-US" dirty="0"/>
              <a:t>notable values: &gt; 2k/n, 3k/n</a:t>
            </a:r>
          </a:p>
          <a:p>
            <a:endParaRPr lang="en-US" dirty="0"/>
          </a:p>
          <a:p>
            <a:r>
              <a:rPr lang="en-US" dirty="0"/>
              <a:t>Y axis: Studentized residuals</a:t>
            </a:r>
          </a:p>
          <a:p>
            <a:r>
              <a:rPr lang="en-US" dirty="0"/>
              <a:t>Notable values: outside ± 2</a:t>
            </a:r>
          </a:p>
          <a:p>
            <a:endParaRPr lang="en-US" dirty="0"/>
          </a:p>
          <a:p>
            <a:r>
              <a:rPr lang="en-US" dirty="0"/>
              <a:t>Bubble size ~ Cook’s D (influence on coefficients)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B86C1-A2CA-46EE-843B-18EC0DF555E1}"/>
              </a:ext>
            </a:extLst>
          </p:cNvPr>
          <p:cNvSpPr txBox="1"/>
          <p:nvPr/>
        </p:nvSpPr>
        <p:spPr>
          <a:xfrm>
            <a:off x="3124200" y="537718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2k/n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1A321-BD0D-420F-95D7-5958830A47AF}"/>
              </a:ext>
            </a:extLst>
          </p:cNvPr>
          <p:cNvSpPr txBox="1"/>
          <p:nvPr/>
        </p:nvSpPr>
        <p:spPr>
          <a:xfrm>
            <a:off x="4638042" y="537718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3k/n</a:t>
            </a:r>
          </a:p>
        </p:txBody>
      </p:sp>
    </p:spTree>
    <p:extLst>
      <p:ext uri="{BB962C8B-B14F-4D97-AF65-F5344CB8AC3E}">
        <p14:creationId xmlns:p14="http://schemas.microsoft.com/office/powerpoint/2010/main" val="33191370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6F81-438B-4E2B-8B7D-7155C089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cases are influential?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21A9FB-6CCD-4B63-BB4A-8FE6665C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98444-B618-487E-A7E5-64A7EDDE552A}"/>
              </a:ext>
            </a:extLst>
          </p:cNvPr>
          <p:cNvSpPr txBox="1"/>
          <p:nvPr/>
        </p:nvSpPr>
        <p:spPr>
          <a:xfrm>
            <a:off x="457200" y="1219200"/>
            <a:ext cx="82296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Treatment    Sex Age Better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StudRes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Hat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CookD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   Treated   Male  27      1    1.92 0.0897 0.1128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  Treated   Male  32      1    1.79 0.0840 0.0818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   Treated Female  23      0   -1.18 0.1416 0.0420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16   Treated Female  32      0   -1.36 0.0926 0.0381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39   Treated Female  69      0   -2.17 0.0314 0.0690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14DCE-908D-417B-B22D-118CB3744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17460"/>
            <a:ext cx="3582144" cy="3326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945597-C6F2-400B-8ECA-7AA11ADCE619}"/>
              </a:ext>
            </a:extLst>
          </p:cNvPr>
          <p:cNvSpPr txBox="1"/>
          <p:nvPr/>
        </p:nvSpPr>
        <p:spPr>
          <a:xfrm>
            <a:off x="4572000" y="3276600"/>
            <a:ext cx="403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1: younger male: moderate Hat, better than predicted </a:t>
            </a:r>
            <a:r>
              <a:rPr lang="en-US" dirty="0">
                <a:sym typeface="Symbol" panose="05050102010706020507" pitchFamily="18" charset="2"/>
              </a:rPr>
              <a:t> large Cook D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case 15: very young treated female: large Hat; did not improve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case 39: older female: small Hat, but did not improve with treatment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7388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4C0C-F3F1-95EC-7873-1170209B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UCB data: Influence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104FB5-460F-B5B7-A22C-43C5B04C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7BCDC3-A250-F0A0-A9B1-0C2EBA8A8E7C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Recall that for the Berkeley data, the model Freq ~ Dept * (Gender + Admit) fit badly: G</a:t>
            </a:r>
            <a:r>
              <a:rPr lang="en-CA" baseline="30000" dirty="0"/>
              <a:t>2</a:t>
            </a:r>
            <a:r>
              <a:rPr lang="en-CA" dirty="0"/>
              <a:t> = 21.7. What caused this?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FDA8E-DC60-F304-E7C4-4FF13C673F2D}"/>
              </a:ext>
            </a:extLst>
          </p:cNvPr>
          <p:cNvSpPr txBox="1"/>
          <p:nvPr/>
        </p:nvSpPr>
        <p:spPr>
          <a:xfrm>
            <a:off x="457200" y="2133600"/>
            <a:ext cx="8077200" cy="46166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Aptos Mono" panose="020B0009020202020204" pitchFamily="49" charset="0"/>
              </a:rPr>
              <a:t>berk.mod &lt;- </a:t>
            </a:r>
            <a:r>
              <a:rPr lang="en-CA" sz="1200" dirty="0" err="1">
                <a:latin typeface="Aptos Mono" panose="020B0009020202020204" pitchFamily="49" charset="0"/>
              </a:rPr>
              <a:t>glm</a:t>
            </a:r>
            <a:r>
              <a:rPr lang="en-CA" sz="1200" dirty="0">
                <a:latin typeface="Aptos Mono" panose="020B0009020202020204" pitchFamily="49" charset="0"/>
              </a:rPr>
              <a:t>(Freq ~ Dept * (</a:t>
            </a:r>
            <a:r>
              <a:rPr lang="en-CA" sz="1200" dirty="0" err="1">
                <a:latin typeface="Aptos Mono" panose="020B0009020202020204" pitchFamily="49" charset="0"/>
              </a:rPr>
              <a:t>Gender+Admit</a:t>
            </a:r>
            <a:r>
              <a:rPr lang="en-CA" sz="1200" dirty="0">
                <a:latin typeface="Aptos Mono" panose="020B0009020202020204" pitchFamily="49" charset="0"/>
              </a:rPr>
              <a:t>), data=</a:t>
            </a:r>
            <a:r>
              <a:rPr lang="en-CA" sz="1200" dirty="0" err="1">
                <a:latin typeface="Aptos Mono" panose="020B0009020202020204" pitchFamily="49" charset="0"/>
              </a:rPr>
              <a:t>berkeley</a:t>
            </a:r>
            <a:r>
              <a:rPr lang="en-CA" sz="1200" dirty="0">
                <a:latin typeface="Aptos Mono" panose="020B0009020202020204" pitchFamily="49" charset="0"/>
              </a:rPr>
              <a:t>, family="</a:t>
            </a:r>
            <a:r>
              <a:rPr lang="en-CA" sz="1200" dirty="0" err="1">
                <a:latin typeface="Aptos Mono" panose="020B0009020202020204" pitchFamily="49" charset="0"/>
              </a:rPr>
              <a:t>poisson</a:t>
            </a:r>
            <a:r>
              <a:rPr lang="en-CA" sz="1200" dirty="0">
                <a:latin typeface="Aptos Mono" panose="020B0009020202020204" pitchFamily="49" charset="0"/>
              </a:rPr>
              <a:t>")</a:t>
            </a:r>
          </a:p>
          <a:p>
            <a:r>
              <a:rPr lang="en-CA" sz="1200" dirty="0" err="1">
                <a:latin typeface="Aptos Mono" panose="020B0009020202020204" pitchFamily="49" charset="0"/>
              </a:rPr>
              <a:t>influencePlot</a:t>
            </a:r>
            <a:r>
              <a:rPr lang="en-CA" sz="1200" dirty="0">
                <a:latin typeface="Aptos Mono" panose="020B0009020202020204" pitchFamily="49" charset="0"/>
              </a:rPr>
              <a:t>(berk.mod, id=list(n=3, labels=</a:t>
            </a:r>
            <a:r>
              <a:rPr lang="en-CA" sz="1200" dirty="0" err="1">
                <a:latin typeface="Aptos Mono" panose="020B0009020202020204" pitchFamily="49" charset="0"/>
              </a:rPr>
              <a:t>cellID</a:t>
            </a:r>
            <a:r>
              <a:rPr lang="en-CA" sz="1200" dirty="0">
                <a:latin typeface="Aptos Mono" panose="020B0009020202020204" pitchFamily="49" charset="0"/>
              </a:rPr>
              <a:t>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EFC9F-2AD8-2A1B-BD66-DFEBAE6B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19400"/>
            <a:ext cx="5247876" cy="3383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2FC546-7773-6C17-9526-75D6B871E5CC}"/>
              </a:ext>
            </a:extLst>
          </p:cNvPr>
          <p:cNvSpPr txBox="1"/>
          <p:nvPr/>
        </p:nvSpPr>
        <p:spPr>
          <a:xfrm>
            <a:off x="6172200" y="32004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It was the 4 cells for dept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836CC-9606-04A3-52CA-0EC0A21239C1}"/>
              </a:ext>
            </a:extLst>
          </p:cNvPr>
          <p:cNvSpPr txBox="1"/>
          <p:nvPr/>
        </p:nvSpPr>
        <p:spPr>
          <a:xfrm>
            <a:off x="457200" y="6248400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Code: </a:t>
            </a:r>
            <a:r>
              <a:rPr lang="en-CA" sz="1600" dirty="0">
                <a:hlinkClick r:id="rId3"/>
              </a:rPr>
              <a:t>https://friendly.github.io/psy6136/R/output/berkeley-diag.R</a:t>
            </a:r>
            <a:r>
              <a:rPr lang="en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58887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52D7-02E9-4A58-AB9D-FE0C3EF4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460E4-CE57-4F72-9227-11C8CBBEC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models need not always have linear effects– models </a:t>
            </a:r>
            <a:r>
              <a:rPr lang="en-US" dirty="0">
                <a:solidFill>
                  <a:srgbClr val="0070C0"/>
                </a:solidFill>
              </a:rPr>
              <a:t>nonlinear</a:t>
            </a:r>
            <a:r>
              <a:rPr lang="en-US" dirty="0"/>
              <a:t> in </a:t>
            </a:r>
            <a:r>
              <a:rPr lang="en-US" dirty="0" err="1"/>
              <a:t>Xs</a:t>
            </a:r>
            <a:r>
              <a:rPr lang="en-US" dirty="0"/>
              <a:t> sometimes useful</a:t>
            </a:r>
          </a:p>
          <a:p>
            <a:r>
              <a:rPr lang="en-US" dirty="0">
                <a:solidFill>
                  <a:srgbClr val="0070C0"/>
                </a:solidFill>
              </a:rPr>
              <a:t>Polytomous</a:t>
            </a:r>
            <a:r>
              <a:rPr lang="en-US" dirty="0"/>
              <a:t> outcomes can be handled as well</a:t>
            </a:r>
          </a:p>
          <a:p>
            <a:pPr lvl="1"/>
            <a:r>
              <a:rPr lang="en-US" dirty="0"/>
              <a:t>e.g., Improved = {“None”, “Some”, “Marked”}</a:t>
            </a:r>
          </a:p>
          <a:p>
            <a:r>
              <a:rPr lang="en-US" dirty="0"/>
              <a:t>If ordinal,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proportional odds </a:t>
            </a:r>
            <a:r>
              <a:rPr lang="en-US" dirty="0"/>
              <a:t>model is a simple extension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nested dichotomies </a:t>
            </a:r>
            <a:r>
              <a:rPr lang="en-US" dirty="0"/>
              <a:t>provides an alternative approach</a:t>
            </a:r>
          </a:p>
          <a:p>
            <a:r>
              <a:rPr lang="en-US" dirty="0"/>
              <a:t>Otherwise, </a:t>
            </a:r>
            <a:r>
              <a:rPr lang="en-US" dirty="0">
                <a:solidFill>
                  <a:srgbClr val="0070C0"/>
                </a:solidFill>
              </a:rPr>
              <a:t>multinomial logistic regression </a:t>
            </a:r>
            <a:r>
              <a:rPr lang="en-US" dirty="0"/>
              <a:t>is the way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F197D7-8E04-4DD4-8910-C6DC550A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7148A-3EE9-6651-B308-287E5D9C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7200" y="259092"/>
            <a:ext cx="741812" cy="731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F39397-3965-B56B-BF06-05BA90DF4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988" y="274046"/>
            <a:ext cx="741812" cy="7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989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DE27A-865D-4246-8EF0-3C931981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B2BD7-DE18-43D9-A2B5-838297730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loglm</a:t>
            </a:r>
            <a:r>
              <a:rPr lang="en-US" dirty="0"/>
              <a:t>() provides only overall tests of model fit</a:t>
            </a:r>
          </a:p>
          <a:p>
            <a:r>
              <a:rPr lang="en-US" dirty="0"/>
              <a:t>Model-based methods, </a:t>
            </a:r>
            <a:r>
              <a:rPr lang="en-US" dirty="0" err="1"/>
              <a:t>glm</a:t>
            </a:r>
            <a:r>
              <a:rPr lang="en-US" dirty="0"/>
              <a:t>(), provide hypothesis tests, CIs &amp; tests for individual terms</a:t>
            </a:r>
          </a:p>
          <a:p>
            <a:r>
              <a:rPr lang="en-US" dirty="0"/>
              <a:t>Logistic regression: A </a:t>
            </a:r>
            <a:r>
              <a:rPr lang="en-US" dirty="0" err="1"/>
              <a:t>glm</a:t>
            </a:r>
            <a:r>
              <a:rPr lang="en-US" dirty="0"/>
              <a:t>() for a binary response</a:t>
            </a:r>
          </a:p>
          <a:p>
            <a:pPr lvl="1"/>
            <a:r>
              <a:rPr lang="en-US" dirty="0"/>
              <a:t>linear model for the log odds </a:t>
            </a:r>
            <a:r>
              <a:rPr lang="en-US" dirty="0" err="1"/>
              <a:t>Pr</a:t>
            </a:r>
            <a:r>
              <a:rPr lang="en-US" dirty="0"/>
              <a:t>(Y=1)</a:t>
            </a:r>
          </a:p>
          <a:p>
            <a:pPr lvl="1"/>
            <a:r>
              <a:rPr lang="en-US" dirty="0"/>
              <a:t>All similar to classical ANOVA, regression models</a:t>
            </a:r>
          </a:p>
          <a:p>
            <a:r>
              <a:rPr lang="en-US" dirty="0"/>
              <a:t>Plotting</a:t>
            </a:r>
          </a:p>
          <a:p>
            <a:pPr lvl="1"/>
            <a:r>
              <a:rPr lang="en-US" dirty="0"/>
              <a:t>Conditional, full-model plots show data and fits </a:t>
            </a:r>
          </a:p>
          <a:p>
            <a:pPr lvl="1"/>
            <a:r>
              <a:rPr lang="en-US" dirty="0"/>
              <a:t>Effect plots show predicted effects averaged over others</a:t>
            </a:r>
          </a:p>
          <a:p>
            <a:r>
              <a:rPr lang="en-US" dirty="0"/>
              <a:t>Model diagnostics</a:t>
            </a:r>
          </a:p>
          <a:p>
            <a:pPr lvl="1"/>
            <a:r>
              <a:rPr lang="en-US" dirty="0"/>
              <a:t>Influence plots are often informative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5045CC-5D8F-4DBE-9752-358AB16E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101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0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9728</TotalTime>
  <Words>5782</Words>
  <Application>Microsoft Office PowerPoint</Application>
  <PresentationFormat>On-screen Show (4:3)</PresentationFormat>
  <Paragraphs>767</Paragraphs>
  <Slides>78</Slides>
  <Notes>6</Notes>
  <HiddenSlides>3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9" baseType="lpstr">
      <vt:lpstr>Arial</vt:lpstr>
      <vt:lpstr>Lucida Console</vt:lpstr>
      <vt:lpstr>Aptos Mono</vt:lpstr>
      <vt:lpstr>Wingdings</vt:lpstr>
      <vt:lpstr>Symbol</vt:lpstr>
      <vt:lpstr>Consolas</vt:lpstr>
      <vt:lpstr>Courier New</vt:lpstr>
      <vt:lpstr>Calibri</vt:lpstr>
      <vt:lpstr>Cambria Math</vt:lpstr>
      <vt:lpstr>1_Office Theme</vt:lpstr>
      <vt:lpstr>Equation</vt:lpstr>
      <vt:lpstr>Logistic regression</vt:lpstr>
      <vt:lpstr>Today’s topics</vt:lpstr>
      <vt:lpstr>Model-based methods: Overview</vt:lpstr>
      <vt:lpstr>Modeling approaches: Overview</vt:lpstr>
      <vt:lpstr>loglm() vs. glm()</vt:lpstr>
      <vt:lpstr>PowerPoint Presentation</vt:lpstr>
      <vt:lpstr>loglm() vs. glm()</vt:lpstr>
      <vt:lpstr>Dropping &amp; adding terms</vt:lpstr>
      <vt:lpstr>Fitting &amp; graphing models: Overview</vt:lpstr>
      <vt:lpstr>Objects &amp; methods</vt:lpstr>
      <vt:lpstr>Objects &amp; methods</vt:lpstr>
      <vt:lpstr>Logistic regression</vt:lpstr>
      <vt:lpstr>Logistic regression: Extensions</vt:lpstr>
      <vt:lpstr>Logistic regression examples</vt:lpstr>
      <vt:lpstr>Survival in the Donner Party</vt:lpstr>
      <vt:lpstr>Survival in the Donner Party</vt:lpstr>
      <vt:lpstr>Challenger: A dataviz disaster</vt:lpstr>
      <vt:lpstr>Challenger: A better graph</vt:lpstr>
      <vt:lpstr>Challenger: A better analysis</vt:lpstr>
      <vt:lpstr>Example: Arthritis treatment</vt:lpstr>
      <vt:lpstr>Example: Berkeley admissions</vt:lpstr>
      <vt:lpstr>The Logistic Regression Model</vt:lpstr>
      <vt:lpstr>Binary response: What’s wrong with OLS?</vt:lpstr>
      <vt:lpstr>Linear regression vs Logistic regression</vt:lpstr>
      <vt:lpstr>Logistic regression </vt:lpstr>
      <vt:lpstr>Logistic regression: One predictor</vt:lpstr>
      <vt:lpstr>Logistic regression: One predictor</vt:lpstr>
      <vt:lpstr>Logistic regression: Multiple predictors</vt:lpstr>
      <vt:lpstr>Fitting the logistic regression model</vt:lpstr>
      <vt:lpstr>PowerPoint Presentation</vt:lpstr>
      <vt:lpstr>Interpreting coefficients</vt:lpstr>
      <vt:lpstr>Multiple predictors</vt:lpstr>
      <vt:lpstr>Multiple predictors: Fitting</vt:lpstr>
      <vt:lpstr>Interpreting coefficients</vt:lpstr>
      <vt:lpstr>Hypothesis testing: Questions</vt:lpstr>
      <vt:lpstr>Maximum likelihood estimation</vt:lpstr>
      <vt:lpstr>Overall model tests</vt:lpstr>
      <vt:lpstr>Wald tests &amp; confidence intervals</vt:lpstr>
      <vt:lpstr>LR, Wald &amp; Score tests</vt:lpstr>
      <vt:lpstr>Plotting logistic regression data</vt:lpstr>
      <vt:lpstr>Types of plots</vt:lpstr>
      <vt:lpstr>Types of plots</vt:lpstr>
      <vt:lpstr>Types of plots</vt:lpstr>
      <vt:lpstr>Conditional plots with ggplot2</vt:lpstr>
      <vt:lpstr>Conditional plots with ggplot2</vt:lpstr>
      <vt:lpstr>Full-model plots</vt:lpstr>
      <vt:lpstr>Plotting with ggplot2</vt:lpstr>
      <vt:lpstr>Full-model plot</vt:lpstr>
      <vt:lpstr>Full-model plot</vt:lpstr>
      <vt:lpstr>Models with interactions</vt:lpstr>
      <vt:lpstr>Models with interactions</vt:lpstr>
      <vt:lpstr>Effect plots: Basic ideas</vt:lpstr>
      <vt:lpstr>Effect plots: Details</vt:lpstr>
      <vt:lpstr>Plotting main effects</vt:lpstr>
      <vt:lpstr>Full-model plot</vt:lpstr>
      <vt:lpstr>PowerPoint Presentation</vt:lpstr>
      <vt:lpstr>Race &amp; Crime</vt:lpstr>
      <vt:lpstr>Case study: Arrests for marijuana</vt:lpstr>
      <vt:lpstr>Toronto Star meets mosaic displays</vt:lpstr>
      <vt:lpstr>Racial profiling: Presentation graphic</vt:lpstr>
      <vt:lpstr>Arrests for marijuana: Data</vt:lpstr>
      <vt:lpstr>Arrests for marijuana: Model</vt:lpstr>
      <vt:lpstr>Effect plot: Skin colour</vt:lpstr>
      <vt:lpstr>Effect plots: Interactions</vt:lpstr>
      <vt:lpstr>Effect plots: Interactions</vt:lpstr>
      <vt:lpstr>Effect plots: allEffects</vt:lpstr>
      <vt:lpstr>Model selection</vt:lpstr>
      <vt:lpstr>Model selection: Arrests data</vt:lpstr>
      <vt:lpstr>PowerPoint Presentation</vt:lpstr>
      <vt:lpstr>Model diagnostics</vt:lpstr>
      <vt:lpstr>Diagnostic plots in R</vt:lpstr>
      <vt:lpstr>Unusual data: Leverage &amp; Influence</vt:lpstr>
      <vt:lpstr>Influence plots</vt:lpstr>
      <vt:lpstr>Influence plots in R</vt:lpstr>
      <vt:lpstr>Which cases are influential?</vt:lpstr>
      <vt:lpstr>UCB data: Influence plot</vt:lpstr>
      <vt:lpstr>Looking ahead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06-Logistic</dc:title>
  <dc:creator>Michael Friendly</dc:creator>
  <cp:lastModifiedBy>Michael L Friendly</cp:lastModifiedBy>
  <cp:revision>146</cp:revision>
  <dcterms:created xsi:type="dcterms:W3CDTF">2017-10-14T20:35:56Z</dcterms:created>
  <dcterms:modified xsi:type="dcterms:W3CDTF">2026-02-12T15:19:04Z</dcterms:modified>
</cp:coreProperties>
</file>