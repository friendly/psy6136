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79"/>
  </p:notesMasterIdLst>
  <p:handoutMasterIdLst>
    <p:handoutMasterId r:id="rId80"/>
  </p:handoutMasterIdLst>
  <p:sldIdLst>
    <p:sldId id="256" r:id="rId2"/>
    <p:sldId id="302" r:id="rId3"/>
    <p:sldId id="257" r:id="rId4"/>
    <p:sldId id="259" r:id="rId5"/>
    <p:sldId id="258" r:id="rId6"/>
    <p:sldId id="260" r:id="rId7"/>
    <p:sldId id="261" r:id="rId8"/>
    <p:sldId id="273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4" r:id="rId21"/>
    <p:sldId id="332" r:id="rId22"/>
    <p:sldId id="276" r:id="rId23"/>
    <p:sldId id="277" r:id="rId24"/>
    <p:sldId id="278" r:id="rId25"/>
    <p:sldId id="331" r:id="rId26"/>
    <p:sldId id="279" r:id="rId27"/>
    <p:sldId id="280" r:id="rId28"/>
    <p:sldId id="281" r:id="rId29"/>
    <p:sldId id="282" r:id="rId30"/>
    <p:sldId id="283" r:id="rId31"/>
    <p:sldId id="284" r:id="rId32"/>
    <p:sldId id="312" r:id="rId33"/>
    <p:sldId id="313" r:id="rId34"/>
    <p:sldId id="285" r:id="rId35"/>
    <p:sldId id="286" r:id="rId36"/>
    <p:sldId id="287" r:id="rId37"/>
    <p:sldId id="294" r:id="rId38"/>
    <p:sldId id="288" r:id="rId39"/>
    <p:sldId id="289" r:id="rId40"/>
    <p:sldId id="290" r:id="rId41"/>
    <p:sldId id="291" r:id="rId42"/>
    <p:sldId id="292" r:id="rId43"/>
    <p:sldId id="293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3" r:id="rId52"/>
    <p:sldId id="304" r:id="rId53"/>
    <p:sldId id="305" r:id="rId54"/>
    <p:sldId id="330" r:id="rId55"/>
    <p:sldId id="326" r:id="rId56"/>
    <p:sldId id="327" r:id="rId57"/>
    <p:sldId id="328" r:id="rId58"/>
    <p:sldId id="329" r:id="rId59"/>
    <p:sldId id="306" r:id="rId60"/>
    <p:sldId id="307" r:id="rId61"/>
    <p:sldId id="308" r:id="rId62"/>
    <p:sldId id="309" r:id="rId63"/>
    <p:sldId id="310" r:id="rId64"/>
    <p:sldId id="311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33" r:id="rId78"/>
  </p:sldIdLst>
  <p:sldSz cx="9144000" cy="6858000" type="screen4x3"/>
  <p:notesSz cx="6858000" cy="9144000"/>
  <p:embeddedFontLst>
    <p:embeddedFont>
      <p:font typeface="Aptos Mono" panose="020B0009020202020204" pitchFamily="49" charset="0"/>
      <p:regular r:id="rId81"/>
      <p:bold r:id="rId82"/>
      <p:italic r:id="rId83"/>
      <p:boldItalic r:id="rId8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254B481-BE80-4428-9648-6ECCCD177FC9}">
          <p14:sldIdLst>
            <p14:sldId id="256"/>
            <p14:sldId id="302"/>
          </p14:sldIdLst>
        </p14:section>
        <p14:section name="Overview" id="{D0B62226-C03D-48DD-A9CE-8EE29745354E}">
          <p14:sldIdLst>
            <p14:sldId id="257"/>
            <p14:sldId id="259"/>
            <p14:sldId id="258"/>
            <p14:sldId id="260"/>
            <p14:sldId id="261"/>
          </p14:sldIdLst>
        </p14:section>
        <p14:section name="Logit models" id="{14412BBF-5188-4BE9-8FA3-A11DCD0A14D2}">
          <p14:sldIdLst>
            <p14:sldId id="273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4"/>
          </p14:sldIdLst>
        </p14:section>
        <p14:section name="Ordinal variables" id="{2A7D7007-20E2-4560-9AFF-8CA0C893490C}">
          <p14:sldIdLst>
            <p14:sldId id="332"/>
            <p14:sldId id="276"/>
            <p14:sldId id="277"/>
            <p14:sldId id="278"/>
            <p14:sldId id="331"/>
            <p14:sldId id="279"/>
            <p14:sldId id="280"/>
            <p14:sldId id="281"/>
            <p14:sldId id="282"/>
            <p14:sldId id="283"/>
            <p14:sldId id="284"/>
            <p14:sldId id="312"/>
            <p14:sldId id="313"/>
            <p14:sldId id="285"/>
            <p14:sldId id="286"/>
            <p14:sldId id="287"/>
            <p14:sldId id="294"/>
            <p14:sldId id="288"/>
            <p14:sldId id="289"/>
            <p14:sldId id="290"/>
            <p14:sldId id="291"/>
            <p14:sldId id="292"/>
            <p14:sldId id="293"/>
            <p14:sldId id="295"/>
            <p14:sldId id="296"/>
            <p14:sldId id="297"/>
          </p14:sldIdLst>
        </p14:section>
        <p14:section name="Square tables" id="{92009D68-3D64-406D-8970-47D4181D0532}">
          <p14:sldIdLst>
            <p14:sldId id="298"/>
            <p14:sldId id="299"/>
            <p14:sldId id="300"/>
            <p14:sldId id="301"/>
            <p14:sldId id="303"/>
            <p14:sldId id="304"/>
            <p14:sldId id="305"/>
            <p14:sldId id="330"/>
            <p14:sldId id="326"/>
            <p14:sldId id="327"/>
            <p14:sldId id="328"/>
            <p14:sldId id="329"/>
          </p14:sldIdLst>
        </p14:section>
        <p14:section name="More complex models" id="{AFB453DE-12DA-4F2D-A6D6-57741C37A5AC}">
          <p14:sldIdLst>
            <p14:sldId id="306"/>
            <p14:sldId id="307"/>
            <p14:sldId id="308"/>
            <p14:sldId id="309"/>
            <p14:sldId id="310"/>
            <p14:sldId id="311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3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30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132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204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font" Target="fonts/font4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handoutMaster" Target="handoutMasters/handoutMaster1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font" Target="fonts/font3.fntdata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font" Target="fonts/font1.fntdata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font" Target="fonts/font2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4FA9-F3CE-45B3-A980-C331C6F1EF65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D5E95-8CAD-4274-BFFA-CD87442DE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FE993-EADB-4F9C-A20B-913B18CC7060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5EFF3A-3A85-4CC0-83F4-D1B8CE43A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80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EFF3A-3A85-4CC0-83F4-D1B8CE43A95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3726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Square tables with ordered categories are what we studied when I took up </a:t>
            </a:r>
            <a:r>
              <a:rPr lang="en-CA" dirty="0" err="1"/>
              <a:t>Coken’s</a:t>
            </a:r>
            <a:r>
              <a:rPr lang="en-CA" dirty="0"/>
              <a:t> kappa. </a:t>
            </a:r>
          </a:p>
          <a:p>
            <a:endParaRPr lang="en-CA" dirty="0"/>
          </a:p>
          <a:p>
            <a:r>
              <a:rPr lang="en-CA" dirty="0"/>
              <a:t>But there the only question was the degree of agreement and whether it was significant.</a:t>
            </a:r>
          </a:p>
          <a:p>
            <a:endParaRPr lang="en-CA" dirty="0"/>
          </a:p>
          <a:p>
            <a:r>
              <a:rPr lang="en-CA" dirty="0"/>
              <a:t>Here, the emphasis is on the nature of association.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5EFF3A-3A85-4CC0-83F4-D1B8CE43A955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714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00206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3657-2200-4D14-82C0-10C39B0F0F06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120000"/>
              <a:defRPr sz="2800"/>
            </a:lvl1pPr>
            <a:lvl2pPr>
              <a:defRPr sz="2400"/>
            </a:lvl2pPr>
            <a:lvl3pPr marL="1143000" indent="-2286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AD17-B813-4477-8AFE-B1860CC59113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C0D-5C9E-48CC-8D31-F42D19FA8F7A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7551-0F2B-4F09-86FD-F7994CE83DC5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D2B2-4200-46B9-96C3-02A55D5FAA00}" type="datetime1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7722-74E8-497F-A072-89677A2C2373}" type="datetime1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212E-B46B-426F-AE59-AA326827D9E0}" type="datetime1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81E8-09EA-4684-A39F-38DE1E49D20C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CC5F-056C-4047-9A5C-9F5B4BED129B}" type="datetime1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AF55-A85E-4993-914E-FC1E5AA7DF24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6E07-E1DB-44A4-A5E5-9F4B54E8C933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1053-07BD-4A17-AC24-0A22EAA36098}" type="datetime1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70C0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riendly.github.io/psy6136/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jpeg"/><Relationship Id="rId5" Type="http://schemas.openxmlformats.org/officeDocument/2006/relationships/image" Target="../media/image31.png"/><Relationship Id="rId4" Type="http://schemas.openxmlformats.org/officeDocument/2006/relationships/image" Target="../media/image30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3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29000"/>
            <a:ext cx="7772400" cy="708025"/>
          </a:xfrm>
        </p:spPr>
        <p:txBody>
          <a:bodyPr>
            <a:normAutofit fontScale="90000"/>
          </a:bodyPr>
          <a:lstStyle/>
          <a:p>
            <a:r>
              <a:rPr lang="en-US" dirty="0"/>
              <a:t>Extending loglinear models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648200"/>
            <a:ext cx="6400800" cy="1752600"/>
          </a:xfrm>
        </p:spPr>
        <p:txBody>
          <a:bodyPr/>
          <a:lstStyle/>
          <a:p>
            <a:r>
              <a:rPr lang="en-US" dirty="0"/>
              <a:t>Michael Friendly</a:t>
            </a:r>
          </a:p>
          <a:p>
            <a:r>
              <a:rPr lang="en-US" dirty="0"/>
              <a:t>Psych 6136</a:t>
            </a:r>
          </a:p>
          <a:p>
            <a:pPr lvl="0"/>
            <a:r>
              <a:rPr lang="en-US" sz="2200" dirty="0">
                <a:solidFill>
                  <a:prstClr val="black">
                    <a:tint val="75000"/>
                  </a:prstClr>
                </a:solidFill>
                <a:hlinkClick r:id="rId2"/>
              </a:rPr>
              <a:t>https://friendly.github.io/psy6136 </a:t>
            </a:r>
            <a:endParaRPr lang="en-US" sz="2200" dirty="0">
              <a:solidFill>
                <a:prstClr val="black">
                  <a:tint val="75000"/>
                </a:prstClr>
              </a:solidFill>
            </a:endParaRPr>
          </a:p>
          <a:p>
            <a:endParaRPr lang="en-US" dirty="0"/>
          </a:p>
        </p:txBody>
      </p:sp>
      <p:pic>
        <p:nvPicPr>
          <p:cNvPr id="4" name="Picture 3" descr="Shape&#10;&#10;Description automatically generated">
            <a:extLst>
              <a:ext uri="{FF2B5EF4-FFF2-40B4-BE49-F238E27FC236}">
                <a16:creationId xmlns:a16="http://schemas.microsoft.com/office/drawing/2014/main" id="{15D465FD-F1E7-4DD7-A16E-F94296DB38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4578350"/>
            <a:ext cx="1495928" cy="1730890"/>
          </a:xfrm>
          <a:prstGeom prst="rect">
            <a:avLst/>
          </a:prstGeom>
        </p:spPr>
      </p:pic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82E36437-FB1B-4935-AF18-CE18C68FBF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2272" y="4578350"/>
            <a:ext cx="1495928" cy="1730890"/>
          </a:xfrm>
          <a:prstGeom prst="rect">
            <a:avLst/>
          </a:prstGeom>
        </p:spPr>
      </p:pic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F58CC312-6ACB-4C9A-ADB6-AB38BED727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56552"/>
            <a:ext cx="2651760" cy="26517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967CAA-7644-4734-B3EF-A441F03A24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2287" y="356552"/>
            <a:ext cx="2659425" cy="2651760"/>
          </a:xfrm>
          <a:prstGeom prst="rect">
            <a:avLst/>
          </a:prstGeom>
        </p:spPr>
      </p:pic>
      <p:pic>
        <p:nvPicPr>
          <p:cNvPr id="8" name="Picture 7" descr="Chart&#10;&#10;Description automatically generated">
            <a:extLst>
              <a:ext uri="{FF2B5EF4-FFF2-40B4-BE49-F238E27FC236}">
                <a16:creationId xmlns:a16="http://schemas.microsoft.com/office/drawing/2014/main" id="{402C59E2-55A8-428F-945B-D2B86D9EDB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5039" y="356552"/>
            <a:ext cx="2433057" cy="265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46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244B9-27CF-4467-A16B-0DE76139B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Today’s 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0C164-B807-40F0-A386-6DEE89CA8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If you thought we were done with loglinear models, think again:</a:t>
            </a:r>
          </a:p>
          <a:p>
            <a:pPr lvl="1"/>
            <a:r>
              <a:rPr lang="en-US" dirty="0"/>
              <a:t>Overview of extended loglinear models</a:t>
            </a:r>
          </a:p>
          <a:p>
            <a:pPr lvl="1"/>
            <a:r>
              <a:rPr lang="en-US" dirty="0"/>
              <a:t>Logit models for response variables</a:t>
            </a:r>
          </a:p>
          <a:p>
            <a:pPr lvl="1"/>
            <a:r>
              <a:rPr lang="en-US" dirty="0"/>
              <a:t>Models for ordinal factors</a:t>
            </a:r>
          </a:p>
          <a:p>
            <a:pPr lvl="1"/>
            <a:r>
              <a:rPr lang="en-US" dirty="0"/>
              <a:t>RC models, estimating row/col scores</a:t>
            </a:r>
          </a:p>
          <a:p>
            <a:pPr lvl="1"/>
            <a:r>
              <a:rPr lang="en-US" dirty="0"/>
              <a:t>Models for square tables</a:t>
            </a:r>
          </a:p>
          <a:p>
            <a:pPr lvl="1"/>
            <a:r>
              <a:rPr lang="en-US" dirty="0"/>
              <a:t>More complex models</a:t>
            </a:r>
          </a:p>
          <a:p>
            <a:r>
              <a:rPr lang="en-US" dirty="0"/>
              <a:t>The related languages of model specification and data vis give:</a:t>
            </a:r>
          </a:p>
          <a:p>
            <a:pPr lvl="1"/>
            <a:r>
              <a:rPr lang="en-US" dirty="0"/>
              <a:t>Tools for thinking!!</a:t>
            </a:r>
          </a:p>
          <a:p>
            <a:pPr lvl="1"/>
            <a:r>
              <a:rPr lang="en-US" dirty="0"/>
              <a:t>New visualization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B3B21-B8F1-4581-93A2-E8ADF9AAF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253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2B0FC-836E-5D71-B8EC-582E50EF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/>
              <a:t>Visual overview: Models for frequency tables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307A90-159A-CD0F-DFD2-3507CBB9B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 descr="Graphical user interface, text, application, chat or text message&#10;&#10;Description automatically generated">
            <a:extLst>
              <a:ext uri="{FF2B5EF4-FFF2-40B4-BE49-F238E27FC236}">
                <a16:creationId xmlns:a16="http://schemas.microsoft.com/office/drawing/2014/main" id="{8D80539D-1F87-6FB5-B53E-4D70EB005E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" y="1371600"/>
            <a:ext cx="6019800" cy="402837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BAC1B5-B86E-5654-2AFD-20A2D43EBBA2}"/>
              </a:ext>
            </a:extLst>
          </p:cNvPr>
          <p:cNvSpPr txBox="1"/>
          <p:nvPr/>
        </p:nvSpPr>
        <p:spPr>
          <a:xfrm>
            <a:off x="685800" y="5791200"/>
            <a:ext cx="769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Related models: logistic regression, polytomous regression, log odds models, …</a:t>
            </a:r>
          </a:p>
          <a:p>
            <a:r>
              <a:rPr lang="en-CA" dirty="0"/>
              <a:t>Goal: connect all with visualization methods</a:t>
            </a:r>
          </a:p>
        </p:txBody>
      </p:sp>
    </p:spTree>
    <p:extLst>
      <p:ext uri="{BB962C8B-B14F-4D97-AF65-F5344CB8AC3E}">
        <p14:creationId xmlns:p14="http://schemas.microsoft.com/office/powerpoint/2010/main" val="4278642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FFF28-5829-66FF-85D8-20123CCC3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Extending loglinear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3E7B84-1F33-4AD9-3161-6045A0048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CA" sz="2400" dirty="0"/>
              <a:t>Loglinear models can be extended in a variety of ways</a:t>
            </a:r>
          </a:p>
          <a:p>
            <a:r>
              <a:rPr lang="en-CA" sz="2400" dirty="0"/>
              <a:t>Models for </a:t>
            </a:r>
            <a:r>
              <a:rPr lang="en-CA" sz="2400" dirty="0">
                <a:solidFill>
                  <a:srgbClr val="0070C0"/>
                </a:solidFill>
              </a:rPr>
              <a:t>ordinal</a:t>
            </a:r>
            <a:r>
              <a:rPr lang="en-CA" sz="2400" dirty="0"/>
              <a:t> factors allow a more parsimonious description of association (linear association)</a:t>
            </a:r>
          </a:p>
          <a:p>
            <a:r>
              <a:rPr lang="en-CA" sz="2400" dirty="0"/>
              <a:t>Specialized models for </a:t>
            </a:r>
            <a:r>
              <a:rPr lang="en-CA" sz="2400" dirty="0">
                <a:solidFill>
                  <a:srgbClr val="0070C0"/>
                </a:solidFill>
              </a:rPr>
              <a:t>square tables </a:t>
            </a:r>
            <a:r>
              <a:rPr lang="en-CA" sz="2400" dirty="0"/>
              <a:t>provide more nuanced hypotheses (symmetry, quasi-symmetry)</a:t>
            </a:r>
          </a:p>
          <a:p>
            <a:r>
              <a:rPr lang="en-CA" sz="2400" dirty="0"/>
              <a:t>These ideas apply to higher-way tables</a:t>
            </a:r>
          </a:p>
          <a:p>
            <a:r>
              <a:rPr lang="en-CA" sz="2400" dirty="0"/>
              <a:t>Some of these extensions are more easily understood when loglinear models are re-cast in an equivalent but simpler or more general form (</a:t>
            </a:r>
            <a:r>
              <a:rPr lang="en-CA" sz="2400" dirty="0">
                <a:solidFill>
                  <a:srgbClr val="0070C0"/>
                </a:solidFill>
              </a:rPr>
              <a:t>logit models</a:t>
            </a:r>
            <a:r>
              <a:rPr lang="en-CA" sz="2400" dirty="0"/>
              <a:t>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9712EF-0D2F-7089-9D22-015922073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215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11A23-0516-AC0B-968D-245764BA1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Loglinear models: Perspectives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53F807-C33B-24D4-0FBB-930C6B09A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4050EE-FE08-91B2-17F7-A8A67324C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524" y="1533762"/>
            <a:ext cx="8180952" cy="37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421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4A39-EE63-A6C7-5DE2-72EEDD345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Loglinear models: Perspectives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0F5582-7D9D-1ECF-9FDB-27BCF4CD5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765DFE-D6FF-0072-75D4-647A36A6FF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8171428" cy="3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985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FD31E-E758-85AA-2A99-F4CC9F6FE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Loglinear models: Perspectives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4ED53B3-E16B-828B-02A6-EF61C33A1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FF1368-3B9B-6BE1-7B4A-247BA2415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543285"/>
            <a:ext cx="8171428" cy="3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510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0795DF-49D3-A421-70F2-182F44FEC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CA" dirty="0"/>
              <a:t>Logit models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9B6610-4BB8-9ECF-B946-BCB755D06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F0560C-51EB-D3DB-11AA-15700BBC2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3A3003-FF21-4D86-99E6-A661EB055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477" y="337235"/>
            <a:ext cx="3784172" cy="3474720"/>
          </a:xfrm>
          <a:prstGeom prst="rect">
            <a:avLst/>
          </a:prstGeom>
        </p:spPr>
      </p:pic>
      <p:pic>
        <p:nvPicPr>
          <p:cNvPr id="7" name="Picture 6" descr="Chart, line chart&#10;&#10;Description automatically generated">
            <a:extLst>
              <a:ext uri="{FF2B5EF4-FFF2-40B4-BE49-F238E27FC236}">
                <a16:creationId xmlns:a16="http://schemas.microsoft.com/office/drawing/2014/main" id="{D90A6802-ED9D-46D7-9333-DB3045570E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437" y="337235"/>
            <a:ext cx="3474720" cy="347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842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5791A-293C-8E5A-2CCA-AF20B9BC3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Logit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037A4B-2626-88EF-F472-55274613E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8F52A1-5810-2E02-4A22-37C617116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28666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C39AB0-7A0F-F984-A33F-142C98ECA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256880"/>
            <a:ext cx="8171428" cy="2247619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13D4131-F5A6-B38D-44C2-845FB7037BE7}"/>
              </a:ext>
            </a:extLst>
          </p:cNvPr>
          <p:cNvSpPr/>
          <p:nvPr/>
        </p:nvSpPr>
        <p:spPr>
          <a:xfrm flipV="1">
            <a:off x="2057400" y="5369520"/>
            <a:ext cx="1028700" cy="538560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9835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8D5D4-B18C-76FB-6ADB-91DB5E536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Logit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800732-4157-CA52-466E-6EE6297B1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F1C9CC-10F1-BC5F-228B-92533A018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73" y="1219476"/>
            <a:ext cx="8171428" cy="22095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29C9788-2BBF-D2F1-8458-E03D4DFF3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368" y="3635532"/>
            <a:ext cx="8171428" cy="2514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400953-20F0-CC41-2D06-BD20B5FA74E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399" y="3546986"/>
            <a:ext cx="567813" cy="56781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B8A4240-D7D7-14CF-ED7C-FAACAD6374E3}"/>
              </a:ext>
            </a:extLst>
          </p:cNvPr>
          <p:cNvSpPr/>
          <p:nvPr/>
        </p:nvSpPr>
        <p:spPr>
          <a:xfrm>
            <a:off x="6172200" y="4535128"/>
            <a:ext cx="14478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3361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8A786-BB7B-4A5C-2C54-A90E08AF0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Logit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5707D-22EE-1679-F03C-092F22D64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600200"/>
          </a:xfrm>
        </p:spPr>
        <p:txBody>
          <a:bodyPr>
            <a:normAutofit/>
          </a:bodyPr>
          <a:lstStyle/>
          <a:p>
            <a:r>
              <a:rPr lang="en-CA" sz="2400" dirty="0"/>
              <a:t>Each logit model for a binary response, C, ≡ a loglinear model</a:t>
            </a:r>
          </a:p>
          <a:p>
            <a:pPr lvl="1"/>
            <a:r>
              <a:rPr lang="en-CA" sz="2000" dirty="0"/>
              <a:t>The </a:t>
            </a:r>
            <a:r>
              <a:rPr lang="en-CA" sz="2000" dirty="0" err="1"/>
              <a:t>loglin</a:t>
            </a:r>
            <a:r>
              <a:rPr lang="en-CA" sz="2000" dirty="0"/>
              <a:t> model must include the [AB] association of predictors</a:t>
            </a:r>
          </a:p>
          <a:p>
            <a:pPr lvl="1"/>
            <a:r>
              <a:rPr lang="en-CA" sz="2000" dirty="0"/>
              <a:t>When the response, C, has </a:t>
            </a:r>
            <a:r>
              <a:rPr lang="en-CA" sz="2000" i="1" dirty="0"/>
              <a:t>m</a:t>
            </a:r>
            <a:r>
              <a:rPr lang="en-CA" sz="2000" dirty="0"/>
              <a:t>&gt;2 levels, multinomial models have equivalent loglinear form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055D0C-BDBD-ADDD-0A25-CF4A0D877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CC1032-FB9F-574F-438D-D13F7DB00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72" y="3052633"/>
            <a:ext cx="8171428" cy="26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496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64E30-315E-1CC4-376B-563696F52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Berkeley data: loglinear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B8641-B77F-0A3A-B488-CA69FF7A4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4D0E7C-7A3D-A1DB-649A-9F2F3B839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171428" cy="37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2371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014A2-E6E5-E531-6719-57DF73E58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Berkeley data: </a:t>
            </a:r>
            <a:r>
              <a:rPr lang="en-CA" dirty="0" err="1"/>
              <a:t>glm</a:t>
            </a:r>
            <a:r>
              <a:rPr lang="en-CA" dirty="0"/>
              <a:t>() approach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B73434-AB0A-C915-3462-02AE0242A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CB92D-A2CE-30E4-6FF4-FE9E86D8175F}"/>
              </a:ext>
            </a:extLst>
          </p:cNvPr>
          <p:cNvSpPr txBox="1"/>
          <p:nvPr/>
        </p:nvSpPr>
        <p:spPr>
          <a:xfrm>
            <a:off x="457200" y="1371600"/>
            <a:ext cx="8229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GLM approach, using </a:t>
            </a:r>
            <a:r>
              <a:rPr lang="en-CA" sz="2400" dirty="0" err="1"/>
              <a:t>glm</a:t>
            </a:r>
            <a:r>
              <a:rPr lang="en-CA" sz="2400" dirty="0"/>
              <a:t>()</a:t>
            </a:r>
          </a:p>
          <a:p>
            <a:pPr marL="342900" indent="-342900">
              <a:buClr>
                <a:srgbClr val="0070C0"/>
              </a:buClr>
              <a:buSzPct val="110000"/>
              <a:buFont typeface="Arial" panose="020B0604020202020204" pitchFamily="34" charset="0"/>
              <a:buChar char="•"/>
            </a:pPr>
            <a:r>
              <a:rPr lang="en-CA" sz="2000" dirty="0"/>
              <a:t>Convert </a:t>
            </a:r>
            <a:r>
              <a:rPr lang="en-CA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UCBadmissions</a:t>
            </a:r>
            <a:r>
              <a:rPr lang="en-CA" sz="2000" dirty="0"/>
              <a:t> to a frequency data frame</a:t>
            </a:r>
          </a:p>
          <a:p>
            <a:pPr marL="342900" indent="-342900">
              <a:buClr>
                <a:srgbClr val="0070C0"/>
              </a:buClr>
              <a:buSzPct val="110000"/>
              <a:buFont typeface="Arial" panose="020B0604020202020204" pitchFamily="34" charset="0"/>
              <a:buChar char="•"/>
            </a:pPr>
            <a:r>
              <a:rPr lang="en-CA" sz="2000" dirty="0"/>
              <a:t>The </a:t>
            </a:r>
            <a:r>
              <a:rPr lang="en-CA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Freq</a:t>
            </a:r>
            <a:r>
              <a:rPr lang="en-CA" sz="2000" dirty="0"/>
              <a:t> variable is used at the response variable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B5579-3AB4-BCEA-248D-F5084C730005}"/>
              </a:ext>
            </a:extLst>
          </p:cNvPr>
          <p:cNvSpPr txBox="1"/>
          <p:nvPr/>
        </p:nvSpPr>
        <p:spPr>
          <a:xfrm>
            <a:off x="457200" y="2952929"/>
            <a:ext cx="8229600" cy="230832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berkeley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&lt;-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as.data.frame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UCBAdmissions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head(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berkeley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Admit Gender Dept Freq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1 Admitted   Male    A  512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2 Rejected   Male    A  313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3 Admitted Female    A   89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4 Rejected Female    A   19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5 Admitted   Male    B  353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6 Rejected   Male    B  207</a:t>
            </a:r>
          </a:p>
        </p:txBody>
      </p:sp>
    </p:spTree>
    <p:extLst>
      <p:ext uri="{BB962C8B-B14F-4D97-AF65-F5344CB8AC3E}">
        <p14:creationId xmlns:p14="http://schemas.microsoft.com/office/powerpoint/2010/main" val="2341480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7DF11-127E-3DD0-44A0-A6A300230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Berkeley data: </a:t>
            </a:r>
            <a:r>
              <a:rPr lang="en-CA" dirty="0" err="1"/>
              <a:t>glm</a:t>
            </a:r>
            <a:r>
              <a:rPr lang="en-CA" dirty="0"/>
              <a:t>() approach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8F8D1C-FBDE-3B35-3F47-155FB8337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336FB6-C5D9-197F-41ED-B1BA13976F72}"/>
              </a:ext>
            </a:extLst>
          </p:cNvPr>
          <p:cNvSpPr txBox="1"/>
          <p:nvPr/>
        </p:nvSpPr>
        <p:spPr>
          <a:xfrm>
            <a:off x="457200" y="1371600"/>
            <a:ext cx="8229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GLM approach, using </a:t>
            </a:r>
            <a:r>
              <a:rPr lang="en-CA" sz="2400" dirty="0" err="1"/>
              <a:t>glm</a:t>
            </a:r>
            <a:r>
              <a:rPr lang="en-CA" sz="2400" dirty="0"/>
              <a:t>()</a:t>
            </a:r>
          </a:p>
          <a:p>
            <a:pPr marL="342900" indent="-342900">
              <a:buClr>
                <a:srgbClr val="0070C0"/>
              </a:buClr>
              <a:buSzPct val="110000"/>
              <a:buFont typeface="Arial" panose="020B0604020202020204" pitchFamily="34" charset="0"/>
              <a:buChar char="•"/>
            </a:pPr>
            <a:r>
              <a:rPr lang="en-CA" sz="2400" dirty="0"/>
              <a:t>Fit the same model of </a:t>
            </a:r>
            <a:r>
              <a:rPr lang="en-CA" sz="2400" dirty="0">
                <a:solidFill>
                  <a:srgbClr val="0070C0"/>
                </a:solidFill>
              </a:rPr>
              <a:t>conditional</a:t>
            </a:r>
            <a:r>
              <a:rPr lang="en-CA" sz="2400" dirty="0"/>
              <a:t> independence, [AD][GD]</a:t>
            </a:r>
          </a:p>
          <a:p>
            <a:pPr marL="342900" indent="-342900">
              <a:buClr>
                <a:srgbClr val="0070C0"/>
              </a:buClr>
              <a:buSzPct val="110000"/>
              <a:buFont typeface="Arial" panose="020B0604020202020204" pitchFamily="34" charset="0"/>
              <a:buChar char="•"/>
            </a:pPr>
            <a:r>
              <a:rPr lang="en-CA" sz="2400" dirty="0"/>
              <a:t>This uses family = </a:t>
            </a:r>
            <a:r>
              <a:rPr lang="en-CA" sz="2400" dirty="0">
                <a:solidFill>
                  <a:srgbClr val="0070C0"/>
                </a:solidFill>
              </a:rPr>
              <a:t>“</a:t>
            </a:r>
            <a:r>
              <a:rPr lang="en-CA" sz="2400" dirty="0" err="1">
                <a:solidFill>
                  <a:srgbClr val="0070C0"/>
                </a:solidFill>
              </a:rPr>
              <a:t>poisson</a:t>
            </a:r>
            <a:r>
              <a:rPr lang="en-CA" sz="2400" dirty="0">
                <a:solidFill>
                  <a:srgbClr val="0070C0"/>
                </a:solidFill>
              </a:rPr>
              <a:t>” </a:t>
            </a:r>
            <a:r>
              <a:rPr lang="en-CA" sz="2400" dirty="0"/>
              <a:t>to give model for log(Freq)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9147A6-9A7D-BEA0-D60D-124ACE498D69}"/>
              </a:ext>
            </a:extLst>
          </p:cNvPr>
          <p:cNvSpPr txBox="1"/>
          <p:nvPr/>
        </p:nvSpPr>
        <p:spPr>
          <a:xfrm>
            <a:off x="457200" y="3048000"/>
            <a:ext cx="8229600" cy="230832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berk.glm1 &lt;-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glm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(Freq ~ </a:t>
            </a:r>
            <a:r>
              <a:rPr lang="en-CA" sz="1600" b="1" dirty="0">
                <a:latin typeface="Aptos Mono" panose="020B0009020202020204" pitchFamily="49" charset="0"/>
                <a:cs typeface="Courier New" panose="02070309020205020404" pitchFamily="49" charset="0"/>
              </a:rPr>
              <a:t>Dept * (</a:t>
            </a:r>
            <a:r>
              <a:rPr lang="en-CA" sz="1600" b="1" dirty="0" err="1">
                <a:latin typeface="Aptos Mono" panose="020B0009020202020204" pitchFamily="49" charset="0"/>
                <a:cs typeface="Courier New" panose="02070309020205020404" pitchFamily="49" charset="0"/>
              </a:rPr>
              <a:t>Gender+Admit</a:t>
            </a:r>
            <a:r>
              <a:rPr lang="en-CA" sz="1600" b="1" dirty="0">
                <a:latin typeface="Aptos Mono" panose="020B0009020202020204" pitchFamily="49" charset="0"/>
                <a:cs typeface="Courier New" panose="02070309020205020404" pitchFamily="49" charset="0"/>
              </a:rPr>
              <a:t>), 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data=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berkeley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family="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poisson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  <a:p>
            <a:endParaRPr lang="en-CA" sz="16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vcdExtra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::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LRstats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(berk.glm1)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AIC BIC LR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Df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   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berk.glm1 217 238     21.7  6     0.0014 **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E81474-17AC-7EB8-C39C-1BEC849EFEF6}"/>
              </a:ext>
            </a:extLst>
          </p:cNvPr>
          <p:cNvSpPr txBox="1"/>
          <p:nvPr/>
        </p:nvSpPr>
        <p:spPr>
          <a:xfrm>
            <a:off x="533400" y="56388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Hmm, doesn’t look like a very good fit!</a:t>
            </a:r>
          </a:p>
        </p:txBody>
      </p:sp>
    </p:spTree>
    <p:extLst>
      <p:ext uri="{BB962C8B-B14F-4D97-AF65-F5344CB8AC3E}">
        <p14:creationId xmlns:p14="http://schemas.microsoft.com/office/powerpoint/2010/main" val="3622522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D604AD-DDA3-DA21-30C6-D841961EF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8DEF9D-6804-C0A5-55CD-06BCF0C85C4D}"/>
              </a:ext>
            </a:extLst>
          </p:cNvPr>
          <p:cNvSpPr txBox="1"/>
          <p:nvPr/>
        </p:nvSpPr>
        <p:spPr>
          <a:xfrm>
            <a:off x="609600" y="609600"/>
            <a:ext cx="784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What does the mosaic plot tell us?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7D3EFB-FE46-1A8F-D69B-41932D370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19200"/>
            <a:ext cx="8171428" cy="8857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DF0184-F805-C4BF-708A-9590BACBD2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810" y="2359203"/>
            <a:ext cx="4076190" cy="37428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E37A67-8595-DB48-C5A9-B1658C2329D5}"/>
              </a:ext>
            </a:extLst>
          </p:cNvPr>
          <p:cNvSpPr txBox="1"/>
          <p:nvPr/>
        </p:nvSpPr>
        <p:spPr>
          <a:xfrm>
            <a:off x="5029200" y="2949673"/>
            <a:ext cx="3657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For a </a:t>
            </a:r>
            <a:r>
              <a:rPr lang="en-CA" dirty="0" err="1"/>
              <a:t>glm</a:t>
            </a:r>
            <a:r>
              <a:rPr lang="en-CA" dirty="0"/>
              <a:t>() model, mosaic() uses residuals from that model</a:t>
            </a:r>
          </a:p>
          <a:p>
            <a:endParaRPr lang="en-CA" dirty="0"/>
          </a:p>
          <a:p>
            <a:r>
              <a:rPr lang="en-CA" dirty="0"/>
              <a:t>Standardized residuals (“</a:t>
            </a:r>
            <a:r>
              <a:rPr lang="en-CA" dirty="0" err="1"/>
              <a:t>rstandard</a:t>
            </a:r>
            <a:r>
              <a:rPr lang="en-CA" dirty="0"/>
              <a:t>”) have better statistical properties</a:t>
            </a:r>
          </a:p>
          <a:p>
            <a:endParaRPr lang="en-CA" dirty="0"/>
          </a:p>
          <a:p>
            <a:r>
              <a:rPr lang="en-CA" dirty="0"/>
              <a:t>Here, we see that the lack of fit is confined to Dept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G</a:t>
            </a:r>
            <a:r>
              <a:rPr lang="en-CA" baseline="30000" dirty="0"/>
              <a:t>^2 </a:t>
            </a:r>
            <a:r>
              <a:rPr lang="en-CA" dirty="0"/>
              <a:t>= 21.7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Resid(4.2)</a:t>
            </a:r>
            <a:r>
              <a:rPr lang="en-CA" baseline="30000" dirty="0"/>
              <a:t>2 </a:t>
            </a:r>
            <a:r>
              <a:rPr lang="en-CA" dirty="0"/>
              <a:t>= 17.6 </a:t>
            </a:r>
          </a:p>
        </p:txBody>
      </p:sp>
    </p:spTree>
    <p:extLst>
      <p:ext uri="{BB962C8B-B14F-4D97-AF65-F5344CB8AC3E}">
        <p14:creationId xmlns:p14="http://schemas.microsoft.com/office/powerpoint/2010/main" val="3130937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CB57EAB-5B0C-1EBE-32C4-C6EC94D9E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Berkeley data: Logit approach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D622DD-FB04-328C-DCB0-291B1B92F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A5FDF5-5EDE-76CA-B4B8-D6D25D1B5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84" y="1256415"/>
            <a:ext cx="8171428" cy="15523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EBDCD1-F8A8-9B22-C384-A036D20409A1}"/>
              </a:ext>
            </a:extLst>
          </p:cNvPr>
          <p:cNvSpPr txBox="1"/>
          <p:nvPr/>
        </p:nvSpPr>
        <p:spPr>
          <a:xfrm>
            <a:off x="533400" y="3146324"/>
            <a:ext cx="8153400" cy="304698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berk.logit2 &lt;-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glm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(Admit=="Admitted" ~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Dept+Gender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data=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berkeley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600" b="1" dirty="0">
                <a:latin typeface="Aptos Mono" panose="020B0009020202020204" pitchFamily="49" charset="0"/>
                <a:cs typeface="Courier New" panose="02070309020205020404" pitchFamily="49" charset="0"/>
              </a:rPr>
              <a:t>weights=Freq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family</a:t>
            </a:r>
            <a:r>
              <a:rPr lang="en-CA" sz="1600" b="1" dirty="0">
                <a:latin typeface="Aptos Mono" panose="020B0009020202020204" pitchFamily="49" charset="0"/>
                <a:cs typeface="Courier New" panose="02070309020205020404" pitchFamily="49" charset="0"/>
              </a:rPr>
              <a:t>="binomial")</a:t>
            </a:r>
          </a:p>
          <a:p>
            <a:endParaRPr lang="en-CA" sz="16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Anova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(berk.logit2, test="Wald")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Analysis of Deviance Table (Type II tests)</a:t>
            </a:r>
          </a:p>
          <a:p>
            <a:endParaRPr lang="en-CA" sz="16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Response: Admit == "Admitted"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Df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Dept    5 534.71     &lt;2e-16 ***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Gender  1   1.53       0.22    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A5B56D-1897-3629-103D-D164AB5DB956}"/>
              </a:ext>
            </a:extLst>
          </p:cNvPr>
          <p:cNvSpPr txBox="1"/>
          <p:nvPr/>
        </p:nvSpPr>
        <p:spPr>
          <a:xfrm>
            <a:off x="6553200" y="1089299"/>
            <a:ext cx="1841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= [AD][GD]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750DF8A-8D26-5C34-3DEC-8FE942EC6FFE}"/>
              </a:ext>
            </a:extLst>
          </p:cNvPr>
          <p:cNvCxnSpPr/>
          <p:nvPr/>
        </p:nvCxnSpPr>
        <p:spPr>
          <a:xfrm flipH="1">
            <a:off x="5867400" y="1256415"/>
            <a:ext cx="609600" cy="26758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200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DC9DC-DF9A-2DEC-9C6C-BA2564CE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Plots for logit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5D49A2-88E8-7A40-6532-904725C5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C8DE44-24D9-84D4-EC5C-379E4C2EA956}"/>
              </a:ext>
            </a:extLst>
          </p:cNvPr>
          <p:cNvSpPr txBox="1"/>
          <p:nvPr/>
        </p:nvSpPr>
        <p:spPr>
          <a:xfrm>
            <a:off x="457200" y="1295400"/>
            <a:ext cx="8229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Logit models are easier to interpret because there are fewer 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Easiest to interpret from plots of the fitted &amp; observed odds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sz="2000" dirty="0"/>
              <a:t>Get these using the </a:t>
            </a:r>
            <a:r>
              <a:rPr lang="en-CA" sz="20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predict() </a:t>
            </a:r>
            <a:r>
              <a:rPr lang="en-CA" sz="2000" dirty="0"/>
              <a:t>method for the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B0198B-59E8-6F59-AB0A-105609DB1045}"/>
              </a:ext>
            </a:extLst>
          </p:cNvPr>
          <p:cNvSpPr txBox="1"/>
          <p:nvPr/>
        </p:nvSpPr>
        <p:spPr>
          <a:xfrm>
            <a:off x="533400" y="2667000"/>
            <a:ext cx="8153400" cy="329320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obs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&lt;- log(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UCBAdmissions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[1,,] /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UCBAdmissions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[2,,])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pred2 &lt;-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cbind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berkeley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[,1:3], 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fit=</a:t>
            </a:r>
            <a:r>
              <a:rPr lang="en-CA" sz="1600" b="1" dirty="0">
                <a:latin typeface="Aptos Mono" panose="020B0009020202020204" pitchFamily="49" charset="0"/>
                <a:cs typeface="Courier New" panose="02070309020205020404" pitchFamily="49" charset="0"/>
              </a:rPr>
              <a:t>predict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(berk.logit2))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pred2 &lt;-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cbind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(subset(pred2, Admit=="Admitted"),  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obs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=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as.vector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obs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head(pred2)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Admit Gender Dept   fit  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obs</a:t>
            </a:r>
            <a:endParaRPr lang="en-CA" sz="16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1  Admitted   Male    A  0.58  0.49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3  Admitted Female    A  0.68  1.54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5  Admitted   Male    B  0.54  0.53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7  Admitted Female    B  0.64  0.75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9  Admitted   Male    C -0.68 -0.54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11 Admitted Female    C -0.58 -0.66</a:t>
            </a:r>
          </a:p>
        </p:txBody>
      </p:sp>
    </p:spTree>
    <p:extLst>
      <p:ext uri="{BB962C8B-B14F-4D97-AF65-F5344CB8AC3E}">
        <p14:creationId xmlns:p14="http://schemas.microsoft.com/office/powerpoint/2010/main" val="4277949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D47260-88D3-0B5E-D1F5-3180C01E8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07D3D1-408D-A4B0-4926-8634ED5D7352}"/>
              </a:ext>
            </a:extLst>
          </p:cNvPr>
          <p:cNvSpPr txBox="1"/>
          <p:nvPr/>
        </p:nvSpPr>
        <p:spPr>
          <a:xfrm>
            <a:off x="457200" y="533400"/>
            <a:ext cx="8229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ggplot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(pred2,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(x=Dept, y=fit, group=Gender, color=Gender)) +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geom_line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(linewidth=1.4) +</a:t>
            </a:r>
          </a:p>
          <a:p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(y=</a:t>
            </a:r>
            <a:r>
              <a:rPr lang="en-CA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obs</a:t>
            </a:r>
            <a:r>
              <a:rPr lang="en-CA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size=3) + …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5E400C30-9372-3E9B-8A44-F8664B2731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83121"/>
            <a:ext cx="4763165" cy="47631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41F7EC-0BB2-F718-CD0D-2B58311B51AC}"/>
              </a:ext>
            </a:extLst>
          </p:cNvPr>
          <p:cNvSpPr txBox="1"/>
          <p:nvPr/>
        </p:nvSpPr>
        <p:spPr>
          <a:xfrm>
            <a:off x="5562600" y="2514600"/>
            <a:ext cx="3124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Large effect of Dept on admission</a:t>
            </a:r>
          </a:p>
          <a:p>
            <a:endParaRPr lang="en-CA" dirty="0"/>
          </a:p>
          <a:p>
            <a:r>
              <a:rPr lang="en-CA" dirty="0"/>
              <a:t>Small effect of Gender (NS)</a:t>
            </a:r>
          </a:p>
          <a:p>
            <a:endParaRPr lang="en-CA" dirty="0"/>
          </a:p>
          <a:p>
            <a:r>
              <a:rPr lang="en-CA" dirty="0"/>
              <a:t>Reason for lack of fit: Dept A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44F23F08-4BDF-CC37-2FB7-54A5D8B9A546}"/>
              </a:ext>
            </a:extLst>
          </p:cNvPr>
          <p:cNvSpPr/>
          <p:nvPr/>
        </p:nvSpPr>
        <p:spPr>
          <a:xfrm>
            <a:off x="1219200" y="1905000"/>
            <a:ext cx="457200" cy="3651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14716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7CADCFD-1A82-2520-EDE9-A201264D3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 better model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405238-6F92-DEC3-0265-9849D2F1B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CCD4F8-7CB0-D158-63B9-0E73EF16CF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19809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00A2F9-2AEF-B262-80A5-A37127B9B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580" y="3278251"/>
            <a:ext cx="7666667" cy="3000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AFF0448-EAF4-D6BC-D096-F2AF996DDCF6}"/>
              </a:ext>
            </a:extLst>
          </p:cNvPr>
          <p:cNvSpPr/>
          <p:nvPr/>
        </p:nvSpPr>
        <p:spPr>
          <a:xfrm>
            <a:off x="6324600" y="1865693"/>
            <a:ext cx="1447800" cy="457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0565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A936-BD12-D468-37E3-480E1E71C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E58E1A-0623-F96E-0955-4CB3F486DB08}"/>
              </a:ext>
            </a:extLst>
          </p:cNvPr>
          <p:cNvSpPr txBox="1"/>
          <p:nvPr/>
        </p:nvSpPr>
        <p:spPr>
          <a:xfrm>
            <a:off x="762000" y="533400"/>
            <a:ext cx="7848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Plot observed and fitted values from this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D3AF63-C5CB-EE07-DDB8-DE45F4D03676}"/>
              </a:ext>
            </a:extLst>
          </p:cNvPr>
          <p:cNvSpPr txBox="1"/>
          <p:nvPr/>
        </p:nvSpPr>
        <p:spPr>
          <a:xfrm>
            <a:off x="5417574" y="1875215"/>
            <a:ext cx="3124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Large effect of Dept on admission</a:t>
            </a:r>
          </a:p>
          <a:p>
            <a:endParaRPr lang="en-CA" dirty="0"/>
          </a:p>
          <a:p>
            <a:r>
              <a:rPr lang="en-CA" dirty="0"/>
              <a:t>No effect of Gender</a:t>
            </a:r>
          </a:p>
          <a:p>
            <a:endParaRPr lang="en-CA" dirty="0"/>
          </a:p>
          <a:p>
            <a:r>
              <a:rPr lang="en-CA" dirty="0"/>
              <a:t>Perfect fit now for Dept A (at the expense of 1 </a:t>
            </a:r>
            <a:r>
              <a:rPr lang="en-CA" dirty="0" err="1"/>
              <a:t>df</a:t>
            </a:r>
            <a:r>
              <a:rPr lang="en-CA" dirty="0"/>
              <a:t>)</a:t>
            </a:r>
          </a:p>
        </p:txBody>
      </p:sp>
      <p:pic>
        <p:nvPicPr>
          <p:cNvPr id="9" name="Picture 8" descr="Chart, line chart&#10;&#10;Description automatically generated">
            <a:extLst>
              <a:ext uri="{FF2B5EF4-FFF2-40B4-BE49-F238E27FC236}">
                <a16:creationId xmlns:a16="http://schemas.microsoft.com/office/drawing/2014/main" id="{E50C4D15-C711-97BD-7408-D65CC7353B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83080"/>
            <a:ext cx="4763165" cy="47631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F11912-C4E8-D686-B294-0B1A176736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39049" y="3904082"/>
            <a:ext cx="1004850" cy="10048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8694A1-FBBF-AB8F-6082-4DF952BBD4A3}"/>
              </a:ext>
            </a:extLst>
          </p:cNvPr>
          <p:cNvSpPr txBox="1"/>
          <p:nvPr/>
        </p:nvSpPr>
        <p:spPr>
          <a:xfrm>
            <a:off x="5448300" y="4030084"/>
            <a:ext cx="2209800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Lesson: </a:t>
            </a:r>
            <a:r>
              <a:rPr lang="en-CA" dirty="0" err="1"/>
              <a:t>glm</a:t>
            </a:r>
            <a:r>
              <a:rPr lang="en-CA" dirty="0"/>
              <a:t>() allows you to fit models to account for unusual cells </a:t>
            </a:r>
          </a:p>
        </p:txBody>
      </p:sp>
    </p:spTree>
    <p:extLst>
      <p:ext uri="{BB962C8B-B14F-4D97-AF65-F5344CB8AC3E}">
        <p14:creationId xmlns:p14="http://schemas.microsoft.com/office/powerpoint/2010/main" val="3110720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8258D5-A128-DC1E-FEB2-A4C824DF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CEBA57-29AD-B7C2-521A-BEAC72C55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6964"/>
            <a:ext cx="9144000" cy="49876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6A3CFEB-5E81-3F94-247D-B4CD11C4B40E}"/>
              </a:ext>
            </a:extLst>
          </p:cNvPr>
          <p:cNvSpPr txBox="1"/>
          <p:nvPr/>
        </p:nvSpPr>
        <p:spPr>
          <a:xfrm>
            <a:off x="609600" y="381000"/>
            <a:ext cx="792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800" dirty="0"/>
              <a:t>Models for Ordinal Variables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F8B53A-4827-33A8-A45C-01B3ECADAC41}"/>
              </a:ext>
            </a:extLst>
          </p:cNvPr>
          <p:cNvSpPr/>
          <p:nvPr/>
        </p:nvSpPr>
        <p:spPr>
          <a:xfrm>
            <a:off x="3352800" y="2057400"/>
            <a:ext cx="2362200" cy="381000"/>
          </a:xfrm>
          <a:prstGeom prst="rect">
            <a:avLst/>
          </a:prstGeom>
          <a:solidFill>
            <a:srgbClr val="15304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1270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3057D-FED1-6C26-8534-E4672298A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Loglinear models for ordinal variables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923DD27-BB46-5B80-F175-CD1F34F97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1600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CA" sz="2000" dirty="0"/>
              <a:t>Ordinal variables reveal themselves in different ways in exploratory plots</a:t>
            </a:r>
          </a:p>
          <a:p>
            <a:r>
              <a:rPr lang="en-CA" sz="2000" dirty="0"/>
              <a:t>In </a:t>
            </a:r>
            <a:r>
              <a:rPr lang="en-CA" sz="2000" dirty="0">
                <a:solidFill>
                  <a:srgbClr val="0070C0"/>
                </a:solidFill>
              </a:rPr>
              <a:t>correspondence analysis</a:t>
            </a:r>
            <a:r>
              <a:rPr lang="en-CA" sz="2000" dirty="0"/>
              <a:t>, one large dimension accounting for most of </a:t>
            </a:r>
            <a:r>
              <a:rPr lang="en-CA" sz="2000" dirty="0">
                <a:sym typeface="Symbol" panose="05050102010706020507" pitchFamily="18" charset="2"/>
              </a:rPr>
              <a:t></a:t>
            </a:r>
            <a:r>
              <a:rPr lang="en-CA" sz="2000" baseline="30000" dirty="0">
                <a:sym typeface="Symbol" panose="05050102010706020507" pitchFamily="18" charset="2"/>
              </a:rPr>
              <a:t>2</a:t>
            </a:r>
          </a:p>
          <a:p>
            <a:r>
              <a:rPr lang="en-CA" sz="2000" dirty="0">
                <a:sym typeface="Symbol" panose="05050102010706020507" pitchFamily="18" charset="2"/>
              </a:rPr>
              <a:t>In </a:t>
            </a:r>
            <a:r>
              <a:rPr lang="en-CA" sz="2000" dirty="0">
                <a:solidFill>
                  <a:srgbClr val="0070C0"/>
                </a:solidFill>
                <a:sym typeface="Symbol" panose="05050102010706020507" pitchFamily="18" charset="2"/>
              </a:rPr>
              <a:t>mosaic plots</a:t>
            </a:r>
            <a:r>
              <a:rPr lang="en-CA" sz="2000" dirty="0">
                <a:sym typeface="Symbol" panose="05050102010706020507" pitchFamily="18" charset="2"/>
              </a:rPr>
              <a:t>, an opposite corner pattern of residuals</a:t>
            </a:r>
            <a:endParaRPr lang="en-CA" sz="2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68565C-8D88-1129-0D25-A5869A33F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A3C754-8D1B-146E-BC2B-E0B9B3267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42" y="3479006"/>
            <a:ext cx="4000000" cy="24476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FB3132-0A32-889D-6A0F-68776BCDC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188530"/>
            <a:ext cx="3457143" cy="3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7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1A2FD5-E3CE-EB5F-4F0C-2AA5533BDF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Advantages of ordinal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23D47-72BB-1B21-FD36-1CE09EF77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More focused tests </a:t>
            </a:r>
            <a:r>
              <a:rPr lang="en-CA" dirty="0">
                <a:sym typeface="Symbol" panose="05050102010706020507" pitchFamily="18" charset="2"/>
              </a:rPr>
              <a:t> greater </a:t>
            </a:r>
            <a:r>
              <a:rPr lang="en-CA" dirty="0">
                <a:solidFill>
                  <a:srgbClr val="0070C0"/>
                </a:solidFill>
                <a:sym typeface="Symbol" panose="05050102010706020507" pitchFamily="18" charset="2"/>
              </a:rPr>
              <a:t>power</a:t>
            </a:r>
            <a:r>
              <a:rPr lang="en-CA" dirty="0">
                <a:sym typeface="Symbol" panose="05050102010706020507" pitchFamily="18" charset="2"/>
              </a:rPr>
              <a:t> to detect</a:t>
            </a:r>
          </a:p>
          <a:p>
            <a:r>
              <a:rPr lang="en-CA" dirty="0">
                <a:sym typeface="Symbol" panose="05050102010706020507" pitchFamily="18" charset="2"/>
              </a:rPr>
              <a:t>Use </a:t>
            </a:r>
            <a:r>
              <a:rPr lang="en-CA" dirty="0">
                <a:solidFill>
                  <a:srgbClr val="0070C0"/>
                </a:solidFill>
                <a:sym typeface="Symbol" panose="05050102010706020507" pitchFamily="18" charset="2"/>
              </a:rPr>
              <a:t>fewer </a:t>
            </a:r>
            <a:r>
              <a:rPr lang="en-CA" dirty="0" err="1">
                <a:solidFill>
                  <a:srgbClr val="0070C0"/>
                </a:solidFill>
                <a:sym typeface="Symbol" panose="05050102010706020507" pitchFamily="18" charset="2"/>
              </a:rPr>
              <a:t>df</a:t>
            </a:r>
            <a:r>
              <a:rPr lang="en-CA" dirty="0">
                <a:solidFill>
                  <a:srgbClr val="0070C0"/>
                </a:solidFill>
                <a:sym typeface="Symbol" panose="05050102010706020507" pitchFamily="18" charset="2"/>
              </a:rPr>
              <a:t> </a:t>
            </a:r>
            <a:r>
              <a:rPr lang="en-CA" dirty="0">
                <a:sym typeface="Symbol" panose="05050102010706020507" pitchFamily="18" charset="2"/>
              </a:rPr>
              <a:t> can fit different models between independence [A][B] and saturated [AB]</a:t>
            </a:r>
          </a:p>
          <a:p>
            <a:pPr lvl="1"/>
            <a:r>
              <a:rPr lang="en-CA" dirty="0">
                <a:sym typeface="Symbol" panose="05050102010706020507" pitchFamily="18" charset="2"/>
              </a:rPr>
              <a:t>Fewer parameters  simpler interpretation</a:t>
            </a:r>
          </a:p>
          <a:p>
            <a:pPr lvl="1"/>
            <a:r>
              <a:rPr lang="en-CA" dirty="0">
                <a:sym typeface="Symbol" panose="05050102010706020507" pitchFamily="18" charset="2"/>
              </a:rPr>
              <a:t>Fewer parameters  smaller std. errors </a:t>
            </a:r>
          </a:p>
          <a:p>
            <a:endParaRPr lang="en-CA" dirty="0"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CA" dirty="0">
                <a:sym typeface="Symbol" panose="05050102010706020507" pitchFamily="18" charset="2"/>
              </a:rPr>
              <a:t>These are similar to reasons for using:</a:t>
            </a:r>
          </a:p>
          <a:p>
            <a:r>
              <a:rPr lang="en-CA" dirty="0">
                <a:sym typeface="Symbol" panose="05050102010706020507" pitchFamily="18" charset="2"/>
              </a:rPr>
              <a:t>Cochran-Mantel-</a:t>
            </a:r>
            <a:r>
              <a:rPr lang="en-CA" dirty="0" err="1">
                <a:sym typeface="Symbol" panose="05050102010706020507" pitchFamily="18" charset="2"/>
              </a:rPr>
              <a:t>Haenzel</a:t>
            </a:r>
            <a:r>
              <a:rPr lang="en-CA" dirty="0">
                <a:sym typeface="Symbol" panose="05050102010706020507" pitchFamily="18" charset="2"/>
              </a:rPr>
              <a:t> (CMH) tests</a:t>
            </a:r>
          </a:p>
          <a:p>
            <a:r>
              <a:rPr lang="en-CA" dirty="0">
                <a:sym typeface="Symbol" panose="05050102010706020507" pitchFamily="18" charset="2"/>
              </a:rPr>
              <a:t>Testing linear (or polynomial) contrasts in ANOVA</a:t>
            </a:r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FA356-9BC3-D482-133D-4C9160A16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09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BA809-D718-569A-D004-1E11449D6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Models for ordered categories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82319-071D-979B-566E-1FC13955A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8452E5-B88F-7F93-D65F-7C505BD44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54735"/>
            <a:ext cx="8171428" cy="16190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05E3651-E5C0-D0BA-B4F5-56D9517B8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628" y="3200400"/>
            <a:ext cx="6828571" cy="2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043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3BF2F-E75B-E52E-01A0-9DB906044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History corner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215056-3793-7037-770A-98DC72D37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B9F3F7-7A95-8BA5-FCE4-2F5D72B22D54}"/>
              </a:ext>
            </a:extLst>
          </p:cNvPr>
          <p:cNvSpPr txBox="1"/>
          <p:nvPr/>
        </p:nvSpPr>
        <p:spPr>
          <a:xfrm>
            <a:off x="457200" y="1143000"/>
            <a:ext cx="5486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Original ideas for loglinear models came from Bishop, Fienberg, Holland (1974), </a:t>
            </a:r>
            <a:r>
              <a:rPr lang="en-CA" i="1" dirty="0"/>
              <a:t>Discrete Multivariate Analysis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2EBD6D-7E8F-D4EE-8849-EDC482B21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233" y="1103616"/>
            <a:ext cx="1542857" cy="13714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3BD287A-E6BC-DF88-6AB7-295F09105DAB}"/>
              </a:ext>
            </a:extLst>
          </p:cNvPr>
          <p:cNvSpPr txBox="1"/>
          <p:nvPr/>
        </p:nvSpPr>
        <p:spPr>
          <a:xfrm>
            <a:off x="685800" y="3886200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Leo Goodman, sociologist at U. Chicago worked out the extensions to a wide range of contexts: </a:t>
            </a:r>
            <a:r>
              <a:rPr lang="en-CA" dirty="0">
                <a:solidFill>
                  <a:srgbClr val="0070C0"/>
                </a:solidFill>
              </a:rPr>
              <a:t>numeric scores </a:t>
            </a:r>
            <a:r>
              <a:rPr lang="en-CA" dirty="0"/>
              <a:t>for categories, estimating </a:t>
            </a:r>
            <a:r>
              <a:rPr lang="en-CA" dirty="0">
                <a:solidFill>
                  <a:srgbClr val="0070C0"/>
                </a:solidFill>
              </a:rPr>
              <a:t>latent category scores</a:t>
            </a:r>
            <a:r>
              <a:rPr lang="en-CA" dirty="0"/>
              <a:t>, …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4F267C-303D-D690-E77B-354632C7F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709512"/>
            <a:ext cx="1433324" cy="137002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DD1B4E4-24B5-CFC7-66BB-CB76F2857F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878038"/>
            <a:ext cx="1071562" cy="10715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4C10FAA-187F-D938-76EC-6950725C23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883557"/>
            <a:ext cx="1096571" cy="11044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B5C3E9E-7BF0-3B5B-A166-F8F83D06564E}"/>
              </a:ext>
            </a:extLst>
          </p:cNvPr>
          <p:cNvSpPr txBox="1"/>
          <p:nvPr/>
        </p:nvSpPr>
        <p:spPr>
          <a:xfrm>
            <a:off x="3731995" y="1981200"/>
            <a:ext cx="30498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Established a language &amp; notation for loglinear models as ~ ANOVA for log(</a:t>
            </a:r>
            <a:r>
              <a:rPr lang="en-CA" sz="1600" dirty="0" err="1"/>
              <a:t>freq</a:t>
            </a:r>
            <a:r>
              <a:rPr lang="en-CA" sz="1600" dirty="0"/>
              <a:t>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AA84934-798F-5799-216C-BBBE71307A0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6233" y="4709512"/>
            <a:ext cx="1105738" cy="16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1673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B40E7-A362-ABD4-EE97-051CFA4F9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/>
              <a:t>Linear x Linear Model (Uniform association)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AC6959-57BF-2824-55FF-35B41F5EC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7E0309-E838-E9B9-D132-E5423F13C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372" y="1371600"/>
            <a:ext cx="8171428" cy="2533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FE8267-1BC0-F9C3-5AE9-436B6E8F1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72" y="4038600"/>
            <a:ext cx="8171428" cy="183809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5D2E969-3DBD-C171-5E56-BA117D3DA530}"/>
              </a:ext>
            </a:extLst>
          </p:cNvPr>
          <p:cNvSpPr/>
          <p:nvPr/>
        </p:nvSpPr>
        <p:spPr>
          <a:xfrm>
            <a:off x="5685504" y="3429000"/>
            <a:ext cx="762000" cy="5109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C6BA5A-A8F0-8253-E4B9-37EDF9D9F61F}"/>
              </a:ext>
            </a:extLst>
          </p:cNvPr>
          <p:cNvSpPr txBox="1"/>
          <p:nvPr/>
        </p:nvSpPr>
        <p:spPr>
          <a:xfrm>
            <a:off x="7239000" y="3001115"/>
            <a:ext cx="1447800" cy="523220"/>
          </a:xfrm>
          <a:prstGeom prst="rect">
            <a:avLst/>
          </a:prstGeom>
          <a:solidFill>
            <a:srgbClr val="92D050">
              <a:alpha val="50000"/>
            </a:srgbClr>
          </a:solidFill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rtlCol="0">
            <a:spAutoFit/>
          </a:bodyPr>
          <a:lstStyle/>
          <a:p>
            <a:r>
              <a:rPr lang="en-CA" sz="1400" dirty="0"/>
              <a:t>One more term for association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C9EF5D-9F58-A42E-BBAA-D43CBF7FAD8B}"/>
              </a:ext>
            </a:extLst>
          </p:cNvPr>
          <p:cNvCxnSpPr>
            <a:cxnSpLocks/>
          </p:cNvCxnSpPr>
          <p:nvPr/>
        </p:nvCxnSpPr>
        <p:spPr>
          <a:xfrm flipH="1">
            <a:off x="6553200" y="3200400"/>
            <a:ext cx="685800" cy="22714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472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C9B14-6238-C514-37B9-3C227793F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3200" dirty="0"/>
              <a:t>Row effects &amp; column effects: R, C, R+C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8F21A0-222B-119A-40CD-0D74761C1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D4724B-BEB3-B745-E778-57F5F913B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71600"/>
            <a:ext cx="8171428" cy="33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6100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2C87C-B8DD-F2C9-32D8-D5EBC77A6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Models for ordered categories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614F3F-734F-B37D-0FD7-14E68F168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28</a:t>
            </a:fld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82E57F5-0786-46D1-B35D-F33C3B54D38A}"/>
              </a:ext>
            </a:extLst>
          </p:cNvPr>
          <p:cNvGrpSpPr/>
          <p:nvPr/>
        </p:nvGrpSpPr>
        <p:grpSpPr>
          <a:xfrm>
            <a:off x="491616" y="2202425"/>
            <a:ext cx="8328025" cy="3719513"/>
            <a:chOff x="491616" y="2202425"/>
            <a:chExt cx="8328025" cy="371951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11EBA6B-20B0-2CCC-1D24-08538016CD18}"/>
                </a:ext>
              </a:extLst>
            </p:cNvPr>
            <p:cNvSpPr txBox="1"/>
            <p:nvPr/>
          </p:nvSpPr>
          <p:spPr>
            <a:xfrm>
              <a:off x="1933066" y="3996300"/>
              <a:ext cx="1225550" cy="5238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CA" sz="2800" dirty="0">
                  <a:latin typeface="+mn-lt"/>
                </a:rPr>
                <a:t>L × L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B47E62E-E24C-51B9-22E2-F5AE57A2DDF5}"/>
                </a:ext>
              </a:extLst>
            </p:cNvPr>
            <p:cNvSpPr txBox="1"/>
            <p:nvPr/>
          </p:nvSpPr>
          <p:spPr>
            <a:xfrm>
              <a:off x="3661854" y="2629463"/>
              <a:ext cx="792162" cy="52228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CA" sz="2800" dirty="0">
                  <a:latin typeface="+mn-lt"/>
                </a:rPr>
                <a:t>R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07F8592-ACC6-2B96-989C-CDBCB3CDBAF2}"/>
                </a:ext>
              </a:extLst>
            </p:cNvPr>
            <p:cNvSpPr txBox="1"/>
            <p:nvPr/>
          </p:nvSpPr>
          <p:spPr>
            <a:xfrm>
              <a:off x="3882516" y="4978963"/>
              <a:ext cx="792163" cy="5238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CA" sz="2800" dirty="0">
                  <a:latin typeface="+mn-lt"/>
                </a:rPr>
                <a:t>C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9DDC05D-8FB7-8D02-16A5-9CFFED794CE6}"/>
                </a:ext>
              </a:extLst>
            </p:cNvPr>
            <p:cNvSpPr txBox="1"/>
            <p:nvPr/>
          </p:nvSpPr>
          <p:spPr>
            <a:xfrm>
              <a:off x="5893879" y="2629463"/>
              <a:ext cx="1063625" cy="52228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CA" sz="2800" dirty="0">
                  <a:latin typeface="+mn-lt"/>
                </a:rPr>
                <a:t>RC(1)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E1FCECD-E768-725E-4447-F78650A53ED9}"/>
                </a:ext>
              </a:extLst>
            </p:cNvPr>
            <p:cNvSpPr txBox="1"/>
            <p:nvPr/>
          </p:nvSpPr>
          <p:spPr>
            <a:xfrm>
              <a:off x="7478204" y="3474013"/>
              <a:ext cx="1341437" cy="52228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CA" sz="2800" dirty="0">
                  <a:latin typeface="+mn-lt"/>
                </a:rPr>
                <a:t>RC(2)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31BDE8F-DED8-3420-368E-FC573CA7DEC8}"/>
                </a:ext>
              </a:extLst>
            </p:cNvPr>
            <p:cNvSpPr/>
            <p:nvPr/>
          </p:nvSpPr>
          <p:spPr>
            <a:xfrm>
              <a:off x="6051041" y="4348725"/>
              <a:ext cx="749300" cy="5238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accent1">
                  <a:shade val="95000"/>
                  <a:satMod val="105000"/>
                </a:schemeClr>
              </a:solidFill>
            </a:ln>
          </p:spPr>
          <p:txBody>
            <a:bodyPr wrap="none">
              <a:spAutoFit/>
            </a:bodyPr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CA" sz="2800" dirty="0">
                  <a:solidFill>
                    <a:prstClr val="black"/>
                  </a:solidFill>
                  <a:latin typeface="+mn-lt"/>
                </a:rPr>
                <a:t>R+C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410ED33-C7C8-AF6E-5783-8824A3B3A494}"/>
                </a:ext>
              </a:extLst>
            </p:cNvPr>
            <p:cNvCxnSpPr>
              <a:endCxn id="5" idx="1"/>
            </p:cNvCxnSpPr>
            <p:nvPr/>
          </p:nvCxnSpPr>
          <p:spPr>
            <a:xfrm>
              <a:off x="1032954" y="4258238"/>
              <a:ext cx="900112" cy="0"/>
            </a:xfrm>
            <a:prstGeom prst="straightConnector1">
              <a:avLst/>
            </a:prstGeom>
            <a:ln w="15875">
              <a:solidFill>
                <a:schemeClr val="accent1">
                  <a:shade val="95000"/>
                  <a:satMod val="10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52D0CB3-6F36-C9F2-C925-083487B0F20A}"/>
                </a:ext>
              </a:extLst>
            </p:cNvPr>
            <p:cNvCxnSpPr>
              <a:stCxn id="5" idx="0"/>
              <a:endCxn id="6" idx="1"/>
            </p:cNvCxnSpPr>
            <p:nvPr/>
          </p:nvCxnSpPr>
          <p:spPr>
            <a:xfrm flipV="1">
              <a:off x="2545841" y="2889813"/>
              <a:ext cx="1116013" cy="1106487"/>
            </a:xfrm>
            <a:prstGeom prst="straightConnector1">
              <a:avLst/>
            </a:prstGeom>
            <a:ln w="15875">
              <a:solidFill>
                <a:schemeClr val="accent1">
                  <a:shade val="95000"/>
                  <a:satMod val="10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F7DD1DC-E68E-FF9D-1811-2963505F42A7}"/>
                </a:ext>
              </a:extLst>
            </p:cNvPr>
            <p:cNvCxnSpPr>
              <a:stCxn id="5" idx="2"/>
              <a:endCxn id="7" idx="1"/>
            </p:cNvCxnSpPr>
            <p:nvPr/>
          </p:nvCxnSpPr>
          <p:spPr>
            <a:xfrm>
              <a:off x="2545841" y="4520175"/>
              <a:ext cx="1336675" cy="720725"/>
            </a:xfrm>
            <a:prstGeom prst="straightConnector1">
              <a:avLst/>
            </a:prstGeom>
            <a:ln w="15875">
              <a:solidFill>
                <a:schemeClr val="accent1">
                  <a:shade val="95000"/>
                  <a:satMod val="10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93F34E76-D4BC-45BB-C480-04B525DF5614}"/>
                </a:ext>
              </a:extLst>
            </p:cNvPr>
            <p:cNvCxnSpPr>
              <a:stCxn id="6" idx="3"/>
              <a:endCxn id="8" idx="1"/>
            </p:cNvCxnSpPr>
            <p:nvPr/>
          </p:nvCxnSpPr>
          <p:spPr>
            <a:xfrm>
              <a:off x="4454016" y="2889813"/>
              <a:ext cx="1439863" cy="0"/>
            </a:xfrm>
            <a:prstGeom prst="straightConnector1">
              <a:avLst/>
            </a:prstGeom>
            <a:ln w="15875">
              <a:solidFill>
                <a:schemeClr val="accent1">
                  <a:shade val="95000"/>
                  <a:satMod val="10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CF3F357-B691-3B53-5F23-544B5C74D434}"/>
                </a:ext>
              </a:extLst>
            </p:cNvPr>
            <p:cNvCxnSpPr>
              <a:stCxn id="6" idx="3"/>
              <a:endCxn id="10" idx="1"/>
            </p:cNvCxnSpPr>
            <p:nvPr/>
          </p:nvCxnSpPr>
          <p:spPr>
            <a:xfrm>
              <a:off x="4454016" y="2889813"/>
              <a:ext cx="1597025" cy="1720850"/>
            </a:xfrm>
            <a:prstGeom prst="straightConnector1">
              <a:avLst/>
            </a:prstGeom>
            <a:ln w="15875">
              <a:solidFill>
                <a:schemeClr val="accent1">
                  <a:shade val="95000"/>
                  <a:satMod val="10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6129436-A0A0-0255-19CE-195937D8F773}"/>
                </a:ext>
              </a:extLst>
            </p:cNvPr>
            <p:cNvCxnSpPr/>
            <p:nvPr/>
          </p:nvCxnSpPr>
          <p:spPr>
            <a:xfrm flipV="1">
              <a:off x="4674679" y="4664638"/>
              <a:ext cx="1376362" cy="630237"/>
            </a:xfrm>
            <a:prstGeom prst="straightConnector1">
              <a:avLst/>
            </a:prstGeom>
            <a:ln w="15875">
              <a:solidFill>
                <a:schemeClr val="accent1">
                  <a:shade val="95000"/>
                  <a:satMod val="10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4CABE99-3957-D307-0082-7BFBB6D5C7A9}"/>
                </a:ext>
              </a:extLst>
            </p:cNvPr>
            <p:cNvCxnSpPr>
              <a:stCxn id="7" idx="3"/>
            </p:cNvCxnSpPr>
            <p:nvPr/>
          </p:nvCxnSpPr>
          <p:spPr>
            <a:xfrm flipV="1">
              <a:off x="4674679" y="3205725"/>
              <a:ext cx="1308100" cy="2035175"/>
            </a:xfrm>
            <a:prstGeom prst="straightConnector1">
              <a:avLst/>
            </a:prstGeom>
            <a:ln w="15875">
              <a:solidFill>
                <a:schemeClr val="accent1">
                  <a:shade val="95000"/>
                  <a:satMod val="10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4DE6BD6-37D1-51B3-6888-DF778C4A23DE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6957504" y="2889813"/>
              <a:ext cx="520700" cy="846137"/>
            </a:xfrm>
            <a:prstGeom prst="straightConnector1">
              <a:avLst/>
            </a:prstGeom>
            <a:ln w="15875">
              <a:solidFill>
                <a:schemeClr val="accent1">
                  <a:shade val="95000"/>
                  <a:satMod val="10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28">
              <a:extLst>
                <a:ext uri="{FF2B5EF4-FFF2-40B4-BE49-F238E27FC236}">
                  <a16:creationId xmlns:a16="http://schemas.microsoft.com/office/drawing/2014/main" id="{E44433EF-1CBE-9B3D-E645-F03BF9B66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4216" y="4564625"/>
              <a:ext cx="650875" cy="3683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CA" altLang="en-US"/>
                <a:t>1</a:t>
              </a:r>
            </a:p>
          </p:txBody>
        </p:sp>
        <p:sp>
          <p:nvSpPr>
            <p:cNvPr id="20" name="Rectangle 29">
              <a:extLst>
                <a:ext uri="{FF2B5EF4-FFF2-40B4-BE49-F238E27FC236}">
                  <a16:creationId xmlns:a16="http://schemas.microsoft.com/office/drawing/2014/main" id="{E5E4720E-981C-7620-BE53-758296982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4416" y="2202425"/>
              <a:ext cx="428625" cy="36830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CA" altLang="en-US"/>
                <a:t>I-1</a:t>
              </a:r>
            </a:p>
          </p:txBody>
        </p:sp>
        <p:sp>
          <p:nvSpPr>
            <p:cNvPr id="21" name="Rectangle 30">
              <a:extLst>
                <a:ext uri="{FF2B5EF4-FFF2-40B4-BE49-F238E27FC236}">
                  <a16:creationId xmlns:a16="http://schemas.microsoft.com/office/drawing/2014/main" id="{B864C2C5-F748-7004-2D04-6D69C4DA4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016" y="5555225"/>
              <a:ext cx="442913" cy="366713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/>
              <a:r>
                <a:rPr lang="en-CA" altLang="en-US"/>
                <a:t>J-1</a:t>
              </a:r>
            </a:p>
          </p:txBody>
        </p:sp>
        <p:sp>
          <p:nvSpPr>
            <p:cNvPr id="22" name="Rectangle 20">
              <a:extLst>
                <a:ext uri="{FF2B5EF4-FFF2-40B4-BE49-F238E27FC236}">
                  <a16:creationId xmlns:a16="http://schemas.microsoft.com/office/drawing/2014/main" id="{23B6DF0C-5849-626B-CA99-BEE7DE6A7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5616" y="4945625"/>
              <a:ext cx="1206500" cy="36671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CA" altLang="en-US"/>
                <a:t>(I-1)+(J-1)</a:t>
              </a:r>
              <a:endParaRPr lang="en-US" altLang="en-US"/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8FC62FB2-9FF0-E0F1-8DA8-E17A33C67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1616" y="4564625"/>
              <a:ext cx="311150" cy="36671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CA" altLang="en-US" dirty="0"/>
                <a:t>0</a:t>
              </a:r>
            </a:p>
          </p:txBody>
        </p:sp>
        <p:sp>
          <p:nvSpPr>
            <p:cNvPr id="24" name="Rectangle 22">
              <a:extLst>
                <a:ext uri="{FF2B5EF4-FFF2-40B4-BE49-F238E27FC236}">
                  <a16:creationId xmlns:a16="http://schemas.microsoft.com/office/drawing/2014/main" id="{F25C0C1E-0236-EE6F-2275-DA6CEBCF7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3216" y="2202425"/>
              <a:ext cx="1409700" cy="366713"/>
            </a:xfrm>
            <a:prstGeom prst="rect">
              <a:avLst/>
            </a:prstGeom>
            <a:noFill/>
            <a:ln w="158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CA" altLang="en-US"/>
                <a:t>(I-1)+(J-1)-1</a:t>
              </a:r>
              <a:endParaRPr lang="en-US" altLang="en-US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8CB0DE4-5B3E-259D-E37F-77CFC785EF4E}"/>
              </a:ext>
            </a:extLst>
          </p:cNvPr>
          <p:cNvSpPr txBox="1"/>
          <p:nvPr/>
        </p:nvSpPr>
        <p:spPr>
          <a:xfrm>
            <a:off x="491616" y="1242575"/>
            <a:ext cx="8195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Nesting relations among models for ordinal variables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C60F5C-C1CF-41F6-892F-D431417B2003}"/>
              </a:ext>
            </a:extLst>
          </p:cNvPr>
          <p:cNvSpPr txBox="1"/>
          <p:nvPr/>
        </p:nvSpPr>
        <p:spPr>
          <a:xfrm>
            <a:off x="405606" y="4023257"/>
            <a:ext cx="794319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CA" sz="2000" dirty="0"/>
              <a:t>[A][B]</a:t>
            </a:r>
            <a:endParaRPr lang="en-CA" sz="2000" dirty="0">
              <a:latin typeface="+mn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410391-C850-4493-9295-211320AEAB15}"/>
              </a:ext>
            </a:extLst>
          </p:cNvPr>
          <p:cNvSpPr txBox="1"/>
          <p:nvPr/>
        </p:nvSpPr>
        <p:spPr>
          <a:xfrm>
            <a:off x="324136" y="5005368"/>
            <a:ext cx="900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df for association term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00FA8EA-776F-4E32-8D87-0BE342A550F1}"/>
              </a:ext>
            </a:extLst>
          </p:cNvPr>
          <p:cNvSpPr txBox="1"/>
          <p:nvPr/>
        </p:nvSpPr>
        <p:spPr>
          <a:xfrm>
            <a:off x="3506399" y="3589271"/>
            <a:ext cx="1018666" cy="646331"/>
          </a:xfrm>
          <a:custGeom>
            <a:avLst/>
            <a:gdLst>
              <a:gd name="csX0" fmla="*/ 0 w 1018666"/>
              <a:gd name="csY0" fmla="*/ 0 h 646331"/>
              <a:gd name="csX1" fmla="*/ 529706 w 1018666"/>
              <a:gd name="csY1" fmla="*/ 0 h 646331"/>
              <a:gd name="csX2" fmla="*/ 1018666 w 1018666"/>
              <a:gd name="csY2" fmla="*/ 0 h 646331"/>
              <a:gd name="csX3" fmla="*/ 1018666 w 1018666"/>
              <a:gd name="csY3" fmla="*/ 303776 h 646331"/>
              <a:gd name="csX4" fmla="*/ 1018666 w 1018666"/>
              <a:gd name="csY4" fmla="*/ 646331 h 646331"/>
              <a:gd name="csX5" fmla="*/ 529706 w 1018666"/>
              <a:gd name="csY5" fmla="*/ 646331 h 646331"/>
              <a:gd name="csX6" fmla="*/ 0 w 1018666"/>
              <a:gd name="csY6" fmla="*/ 646331 h 646331"/>
              <a:gd name="csX7" fmla="*/ 0 w 1018666"/>
              <a:gd name="csY7" fmla="*/ 329629 h 646331"/>
              <a:gd name="csX8" fmla="*/ 0 w 1018666"/>
              <a:gd name="csY8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018666" h="646331" fill="none" extrusionOk="0">
                <a:moveTo>
                  <a:pt x="0" y="0"/>
                </a:moveTo>
                <a:cubicBezTo>
                  <a:pt x="125071" y="-62293"/>
                  <a:pt x="267442" y="32324"/>
                  <a:pt x="529706" y="0"/>
                </a:cubicBezTo>
                <a:cubicBezTo>
                  <a:pt x="791970" y="-32324"/>
                  <a:pt x="880906" y="52742"/>
                  <a:pt x="1018666" y="0"/>
                </a:cubicBezTo>
                <a:cubicBezTo>
                  <a:pt x="1048404" y="110808"/>
                  <a:pt x="1016438" y="165823"/>
                  <a:pt x="1018666" y="303776"/>
                </a:cubicBezTo>
                <a:cubicBezTo>
                  <a:pt x="1020894" y="441729"/>
                  <a:pt x="1002031" y="488908"/>
                  <a:pt x="1018666" y="646331"/>
                </a:cubicBezTo>
                <a:cubicBezTo>
                  <a:pt x="789145" y="694248"/>
                  <a:pt x="708990" y="633000"/>
                  <a:pt x="529706" y="646331"/>
                </a:cubicBezTo>
                <a:cubicBezTo>
                  <a:pt x="350422" y="659662"/>
                  <a:pt x="260752" y="606483"/>
                  <a:pt x="0" y="646331"/>
                </a:cubicBezTo>
                <a:cubicBezTo>
                  <a:pt x="-13477" y="536566"/>
                  <a:pt x="22304" y="455694"/>
                  <a:pt x="0" y="329629"/>
                </a:cubicBezTo>
                <a:cubicBezTo>
                  <a:pt x="-22304" y="203564"/>
                  <a:pt x="31332" y="92530"/>
                  <a:pt x="0" y="0"/>
                </a:cubicBezTo>
                <a:close/>
              </a:path>
              <a:path w="1018666" h="646331" stroke="0" extrusionOk="0">
                <a:moveTo>
                  <a:pt x="0" y="0"/>
                </a:moveTo>
                <a:cubicBezTo>
                  <a:pt x="174801" y="-582"/>
                  <a:pt x="303531" y="56224"/>
                  <a:pt x="499146" y="0"/>
                </a:cubicBezTo>
                <a:cubicBezTo>
                  <a:pt x="694761" y="-56224"/>
                  <a:pt x="787240" y="36415"/>
                  <a:pt x="1018666" y="0"/>
                </a:cubicBezTo>
                <a:cubicBezTo>
                  <a:pt x="1044530" y="103642"/>
                  <a:pt x="999696" y="210933"/>
                  <a:pt x="1018666" y="336092"/>
                </a:cubicBezTo>
                <a:cubicBezTo>
                  <a:pt x="1037636" y="461251"/>
                  <a:pt x="1009982" y="578943"/>
                  <a:pt x="1018666" y="646331"/>
                </a:cubicBezTo>
                <a:cubicBezTo>
                  <a:pt x="800682" y="671753"/>
                  <a:pt x="691368" y="636570"/>
                  <a:pt x="529706" y="646331"/>
                </a:cubicBezTo>
                <a:cubicBezTo>
                  <a:pt x="368044" y="656092"/>
                  <a:pt x="204334" y="612626"/>
                  <a:pt x="0" y="646331"/>
                </a:cubicBezTo>
                <a:cubicBezTo>
                  <a:pt x="-34512" y="535132"/>
                  <a:pt x="5955" y="435208"/>
                  <a:pt x="0" y="336092"/>
                </a:cubicBezTo>
                <a:cubicBezTo>
                  <a:pt x="-5955" y="236976"/>
                  <a:pt x="20435" y="98742"/>
                  <a:pt x="0" y="0"/>
                </a:cubicBezTo>
                <a:close/>
              </a:path>
            </a:pathLst>
          </a:custGeom>
          <a:solidFill>
            <a:srgbClr val="FFFF00">
              <a:alpha val="30000"/>
            </a:srgbClr>
          </a:solidFill>
          <a:ln w="19050">
            <a:solidFill>
              <a:srgbClr val="0070C0">
                <a:alpha val="40000"/>
              </a:srgb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integer scores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53C6B2-6CC4-4448-A225-D739198C0DD5}"/>
              </a:ext>
            </a:extLst>
          </p:cNvPr>
          <p:cNvSpPr txBox="1"/>
          <p:nvPr/>
        </p:nvSpPr>
        <p:spPr>
          <a:xfrm>
            <a:off x="7378701" y="2505419"/>
            <a:ext cx="1144078" cy="646331"/>
          </a:xfrm>
          <a:custGeom>
            <a:avLst/>
            <a:gdLst>
              <a:gd name="csX0" fmla="*/ 0 w 1144078"/>
              <a:gd name="csY0" fmla="*/ 0 h 646331"/>
              <a:gd name="csX1" fmla="*/ 594921 w 1144078"/>
              <a:gd name="csY1" fmla="*/ 0 h 646331"/>
              <a:gd name="csX2" fmla="*/ 1144078 w 1144078"/>
              <a:gd name="csY2" fmla="*/ 0 h 646331"/>
              <a:gd name="csX3" fmla="*/ 1144078 w 1144078"/>
              <a:gd name="csY3" fmla="*/ 303776 h 646331"/>
              <a:gd name="csX4" fmla="*/ 1144078 w 1144078"/>
              <a:gd name="csY4" fmla="*/ 646331 h 646331"/>
              <a:gd name="csX5" fmla="*/ 594921 w 1144078"/>
              <a:gd name="csY5" fmla="*/ 646331 h 646331"/>
              <a:gd name="csX6" fmla="*/ 0 w 1144078"/>
              <a:gd name="csY6" fmla="*/ 646331 h 646331"/>
              <a:gd name="csX7" fmla="*/ 0 w 1144078"/>
              <a:gd name="csY7" fmla="*/ 329629 h 646331"/>
              <a:gd name="csX8" fmla="*/ 0 w 1144078"/>
              <a:gd name="csY8" fmla="*/ 0 h 6463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144078" h="646331" fill="none" extrusionOk="0">
                <a:moveTo>
                  <a:pt x="0" y="0"/>
                </a:moveTo>
                <a:cubicBezTo>
                  <a:pt x="198440" y="-20999"/>
                  <a:pt x="440142" y="62961"/>
                  <a:pt x="594921" y="0"/>
                </a:cubicBezTo>
                <a:cubicBezTo>
                  <a:pt x="749700" y="-62961"/>
                  <a:pt x="872288" y="28159"/>
                  <a:pt x="1144078" y="0"/>
                </a:cubicBezTo>
                <a:cubicBezTo>
                  <a:pt x="1173816" y="110808"/>
                  <a:pt x="1141850" y="165823"/>
                  <a:pt x="1144078" y="303776"/>
                </a:cubicBezTo>
                <a:cubicBezTo>
                  <a:pt x="1146306" y="441729"/>
                  <a:pt x="1127443" y="488908"/>
                  <a:pt x="1144078" y="646331"/>
                </a:cubicBezTo>
                <a:cubicBezTo>
                  <a:pt x="1002288" y="696921"/>
                  <a:pt x="826272" y="610753"/>
                  <a:pt x="594921" y="646331"/>
                </a:cubicBezTo>
                <a:cubicBezTo>
                  <a:pt x="363570" y="681909"/>
                  <a:pt x="256512" y="608759"/>
                  <a:pt x="0" y="646331"/>
                </a:cubicBezTo>
                <a:cubicBezTo>
                  <a:pt x="-13477" y="536566"/>
                  <a:pt x="22304" y="455694"/>
                  <a:pt x="0" y="329629"/>
                </a:cubicBezTo>
                <a:cubicBezTo>
                  <a:pt x="-22304" y="203564"/>
                  <a:pt x="31332" y="92530"/>
                  <a:pt x="0" y="0"/>
                </a:cubicBezTo>
                <a:close/>
              </a:path>
              <a:path w="1144078" h="646331" stroke="0" extrusionOk="0">
                <a:moveTo>
                  <a:pt x="0" y="0"/>
                </a:moveTo>
                <a:cubicBezTo>
                  <a:pt x="130377" y="-33185"/>
                  <a:pt x="394502" y="19125"/>
                  <a:pt x="560598" y="0"/>
                </a:cubicBezTo>
                <a:cubicBezTo>
                  <a:pt x="726694" y="-19125"/>
                  <a:pt x="1018056" y="54579"/>
                  <a:pt x="1144078" y="0"/>
                </a:cubicBezTo>
                <a:cubicBezTo>
                  <a:pt x="1169942" y="103642"/>
                  <a:pt x="1125108" y="210933"/>
                  <a:pt x="1144078" y="336092"/>
                </a:cubicBezTo>
                <a:cubicBezTo>
                  <a:pt x="1163048" y="461251"/>
                  <a:pt x="1135394" y="578943"/>
                  <a:pt x="1144078" y="646331"/>
                </a:cubicBezTo>
                <a:cubicBezTo>
                  <a:pt x="977133" y="695762"/>
                  <a:pt x="723297" y="596465"/>
                  <a:pt x="594921" y="646331"/>
                </a:cubicBezTo>
                <a:cubicBezTo>
                  <a:pt x="466545" y="696197"/>
                  <a:pt x="147361" y="606417"/>
                  <a:pt x="0" y="646331"/>
                </a:cubicBezTo>
                <a:cubicBezTo>
                  <a:pt x="-34512" y="535132"/>
                  <a:pt x="5955" y="435208"/>
                  <a:pt x="0" y="336092"/>
                </a:cubicBezTo>
                <a:cubicBezTo>
                  <a:pt x="-5955" y="236976"/>
                  <a:pt x="20435" y="98742"/>
                  <a:pt x="0" y="0"/>
                </a:cubicBezTo>
                <a:close/>
              </a:path>
            </a:pathLst>
          </a:custGeom>
          <a:solidFill>
            <a:srgbClr val="FFFF00">
              <a:alpha val="30000"/>
            </a:srgbClr>
          </a:solidFill>
          <a:ln w="19050"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estimated scores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1D7D64-E6EB-9D0E-9059-87C133524E28}"/>
              </a:ext>
            </a:extLst>
          </p:cNvPr>
          <p:cNvSpPr txBox="1"/>
          <p:nvPr/>
        </p:nvSpPr>
        <p:spPr>
          <a:xfrm>
            <a:off x="116831" y="3544598"/>
            <a:ext cx="15694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/>
              <a:t>Independence</a:t>
            </a:r>
          </a:p>
        </p:txBody>
      </p:sp>
    </p:spTree>
    <p:extLst>
      <p:ext uri="{BB962C8B-B14F-4D97-AF65-F5344CB8AC3E}">
        <p14:creationId xmlns:p14="http://schemas.microsoft.com/office/powerpoint/2010/main" val="36038135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7E05A-87EC-4306-A38E-3C8EA4A72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Mental impairment &amp; 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66BAA1-93F1-436E-82B9-F6B9EB4DE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C96CA0-87E6-4AEB-81B3-B4007CF45024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on mental health status of NYC youth in relation to parents’ SES</a:t>
            </a:r>
          </a:p>
          <a:p>
            <a:r>
              <a:rPr lang="en-US" dirty="0"/>
              <a:t>Note that </a:t>
            </a:r>
            <a:r>
              <a:rPr lang="en-US" dirty="0" err="1"/>
              <a:t>ses</a:t>
            </a:r>
            <a:r>
              <a:rPr lang="en-US" dirty="0"/>
              <a:t> &amp; mental have been declared as </a:t>
            </a:r>
            <a:r>
              <a:rPr lang="en-US" dirty="0">
                <a:solidFill>
                  <a:srgbClr val="0070C0"/>
                </a:solidFill>
              </a:rPr>
              <a:t>ordered</a:t>
            </a:r>
            <a:r>
              <a:rPr lang="en-US" dirty="0"/>
              <a:t> factors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A4B340-EAA2-41AC-9A77-23763C239C5A}"/>
              </a:ext>
            </a:extLst>
          </p:cNvPr>
          <p:cNvSpPr txBox="1"/>
          <p:nvPr/>
        </p:nvSpPr>
        <p:spPr>
          <a:xfrm>
            <a:off x="457200" y="4052721"/>
            <a:ext cx="82296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Mental.tab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xtabs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(Freq ~ mental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ses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data=Mental))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ses</a:t>
            </a:r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mental       1   2   3   4   5   6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Well      64  57  57  72  36  21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Mild      94  94 105 141  97  71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Moderate  58  54  65  77  54  54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Impaired  46  40  60  94  78  71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B106D2-77B4-438E-88E4-9E41E6B4C820}"/>
              </a:ext>
            </a:extLst>
          </p:cNvPr>
          <p:cNvSpPr txBox="1"/>
          <p:nvPr/>
        </p:nvSpPr>
        <p:spPr>
          <a:xfrm>
            <a:off x="439994" y="2133600"/>
            <a:ext cx="8229600" cy="101566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&gt; str(Mental)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'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data.frame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':	24 obs. of  3 variables: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$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ses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 :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Ord.factor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w/ 6 levels "1"&lt;"2"&lt;"3"&lt;"4"&lt;..: 1 1 1 1 2 2 2 2 3 3 ...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$ mental: </a:t>
            </a:r>
            <a:r>
              <a:rPr lang="en-US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Ord.factor</a:t>
            </a:r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w/ 4 levels "Well"&lt;"Mild"&lt;..: 1 2 3 4 1 2 3 4 1 2 ...</a:t>
            </a:r>
          </a:p>
          <a:p>
            <a:r>
              <a:rPr lang="en-US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$ Freq  : int  64 94 58 46 57 94 54 40 57 105 ...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570656-959C-4B32-9F3E-28E460E9BCD1}"/>
              </a:ext>
            </a:extLst>
          </p:cNvPr>
          <p:cNvSpPr txBox="1"/>
          <p:nvPr/>
        </p:nvSpPr>
        <p:spPr>
          <a:xfrm>
            <a:off x="457200" y="33528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Display it as a 2-way table</a:t>
            </a:r>
          </a:p>
        </p:txBody>
      </p:sp>
    </p:spTree>
    <p:extLst>
      <p:ext uri="{BB962C8B-B14F-4D97-AF65-F5344CB8AC3E}">
        <p14:creationId xmlns:p14="http://schemas.microsoft.com/office/powerpoint/2010/main" val="14463760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A5D7D-9507-495F-9A30-CAF1B522F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Mental impairment &amp; 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901042-8561-42DA-8825-4C3F1FFD3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DCE9AF-847C-4B0A-AEE6-6989310C63B1}"/>
              </a:ext>
            </a:extLst>
          </p:cNvPr>
          <p:cNvSpPr txBox="1"/>
          <p:nvPr/>
        </p:nvSpPr>
        <p:spPr>
          <a:xfrm>
            <a:off x="457200" y="12192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Fit  and test the independence model using </a:t>
            </a:r>
            <a:r>
              <a:rPr lang="en-US" sz="2400" dirty="0" err="1"/>
              <a:t>glm</a:t>
            </a:r>
            <a:r>
              <a:rPr lang="en-US" sz="2400" dirty="0"/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F931A8-D902-44B4-B42B-7544F65EFFF2}"/>
              </a:ext>
            </a:extLst>
          </p:cNvPr>
          <p:cNvSpPr txBox="1"/>
          <p:nvPr/>
        </p:nvSpPr>
        <p:spPr>
          <a:xfrm>
            <a:off x="533400" y="1828800"/>
            <a:ext cx="8153400" cy="2308324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indep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&lt;-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glm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(Freq ~ mental +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ses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family =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poisson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data = Mental)</a:t>
            </a:r>
          </a:p>
          <a:p>
            <a:endParaRPr lang="en-US" sz="16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vcdExtra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::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LRstats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indep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AIC    BIC LR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Df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indep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209.59 220.19   47.418 15  3.155e-05 ***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A3A3C4-356B-25CE-BC45-D6CBFDBDB3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798" y="4499861"/>
            <a:ext cx="2028628" cy="18933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62BA15-21EC-D129-2C7C-057BD29C82E1}"/>
              </a:ext>
            </a:extLst>
          </p:cNvPr>
          <p:cNvSpPr txBox="1"/>
          <p:nvPr/>
        </p:nvSpPr>
        <p:spPr>
          <a:xfrm>
            <a:off x="2819400" y="4479808"/>
            <a:ext cx="1676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FIT!</a:t>
            </a:r>
          </a:p>
          <a:p>
            <a:r>
              <a:rPr lang="en-CA" dirty="0"/>
              <a:t>Or FIT NOT!</a:t>
            </a:r>
          </a:p>
          <a:p>
            <a:r>
              <a:rPr lang="en-CA" dirty="0"/>
              <a:t>There is no TRY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EC22AC-855D-1591-5CBF-9C2517D87ECF}"/>
              </a:ext>
            </a:extLst>
          </p:cNvPr>
          <p:cNvSpPr txBox="1"/>
          <p:nvPr/>
        </p:nvSpPr>
        <p:spPr>
          <a:xfrm>
            <a:off x="6286500" y="3209826"/>
            <a:ext cx="53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dirty="0"/>
              <a:t>❌</a:t>
            </a:r>
          </a:p>
        </p:txBody>
      </p:sp>
    </p:spTree>
    <p:extLst>
      <p:ext uri="{BB962C8B-B14F-4D97-AF65-F5344CB8AC3E}">
        <p14:creationId xmlns:p14="http://schemas.microsoft.com/office/powerpoint/2010/main" val="361192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0AF84-79ED-4B2D-BFF0-964118DEB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Yoda: Look at the mosaic, Luke!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7C961E8-D069-46BD-8596-1395719E5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B7E451-CBA8-4FC7-90F6-F6DA648AF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544510"/>
            <a:ext cx="4662942" cy="40848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B6A187-5ACE-4E73-9259-A6B3DEFA5215}"/>
              </a:ext>
            </a:extLst>
          </p:cNvPr>
          <p:cNvSpPr txBox="1"/>
          <p:nvPr/>
        </p:nvSpPr>
        <p:spPr>
          <a:xfrm>
            <a:off x="5334000" y="2514600"/>
            <a:ext cx="328954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Departures from independence show the classic opposite corner pattern</a:t>
            </a:r>
          </a:p>
          <a:p>
            <a:endParaRPr lang="en-US" dirty="0"/>
          </a:p>
          <a:p>
            <a:r>
              <a:rPr lang="en-US" dirty="0"/>
              <a:t>The mosaic uses </a:t>
            </a:r>
            <a:r>
              <a:rPr lang="en-US" dirty="0">
                <a:solidFill>
                  <a:srgbClr val="0070C0"/>
                </a:solidFill>
              </a:rPr>
              <a:t>discrete</a:t>
            </a:r>
            <a:r>
              <a:rPr lang="en-US" dirty="0"/>
              <a:t> shading levels, so it is useful to show residuals in the cells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1932CB-BFC9-459C-85F3-457087A829B7}"/>
              </a:ext>
            </a:extLst>
          </p:cNvPr>
          <p:cNvSpPr txBox="1"/>
          <p:nvPr/>
        </p:nvSpPr>
        <p:spPr>
          <a:xfrm>
            <a:off x="457200" y="1183640"/>
            <a:ext cx="8229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mosaic(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indep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residuals_type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="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rstandard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",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labeling=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labeling_residuals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main="Mental health data: Independence")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079A9-EF69-88F0-6219-D4D9826D27EC}"/>
              </a:ext>
            </a:extLst>
          </p:cNvPr>
          <p:cNvSpPr txBox="1"/>
          <p:nvPr/>
        </p:nvSpPr>
        <p:spPr>
          <a:xfrm>
            <a:off x="5334000" y="4800600"/>
            <a:ext cx="32766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NB: This shading scheme: </a:t>
            </a:r>
            <a:r>
              <a:rPr lang="en-CA" sz="1600" b="1" dirty="0">
                <a:solidFill>
                  <a:schemeClr val="accent6">
                    <a:lumMod val="50000"/>
                  </a:schemeClr>
                </a:solidFill>
                <a:latin typeface="Aptos Mono" panose="020B0009020202020204" pitchFamily="49" charset="0"/>
              </a:rPr>
              <a:t>shading=</a:t>
            </a:r>
            <a:r>
              <a:rPr lang="en-CA" sz="1600" b="1" dirty="0" err="1">
                <a:solidFill>
                  <a:schemeClr val="accent6">
                    <a:lumMod val="50000"/>
                  </a:schemeClr>
                </a:solidFill>
                <a:latin typeface="Aptos Mono" panose="020B0009020202020204" pitchFamily="49" charset="0"/>
              </a:rPr>
              <a:t>shading_Friendly</a:t>
            </a:r>
            <a:r>
              <a:rPr lang="en-CA" sz="1600" b="1" dirty="0">
                <a:solidFill>
                  <a:schemeClr val="accent6">
                    <a:lumMod val="50000"/>
                  </a:schemeClr>
                </a:solidFill>
                <a:latin typeface="Aptos Mono" panose="020B0009020202020204" pitchFamily="49" charset="0"/>
              </a:rPr>
              <a:t> </a:t>
            </a:r>
            <a:r>
              <a:rPr lang="en-CA" sz="1600" dirty="0"/>
              <a:t>was designed for B/W reproduction.</a:t>
            </a:r>
          </a:p>
          <a:p>
            <a:r>
              <a:rPr lang="en-CA" sz="1600" dirty="0"/>
              <a:t>What would be better?</a:t>
            </a:r>
          </a:p>
        </p:txBody>
      </p:sp>
    </p:spTree>
    <p:extLst>
      <p:ext uri="{BB962C8B-B14F-4D97-AF65-F5344CB8AC3E}">
        <p14:creationId xmlns:p14="http://schemas.microsoft.com/office/powerpoint/2010/main" val="274900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4A276-BB95-4313-9A44-D52488D6E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Local odds ratios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B29123-3674-468A-9890-F89B240C5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4EBA34-69CB-4AE8-A8F5-D0D520833F9E}"/>
              </a:ext>
            </a:extLst>
          </p:cNvPr>
          <p:cNvSpPr txBox="1"/>
          <p:nvPr/>
        </p:nvSpPr>
        <p:spPr>
          <a:xfrm>
            <a:off x="457200" y="12954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ordered tables, useful to examine the </a:t>
            </a:r>
            <a:r>
              <a:rPr lang="en-US" dirty="0">
                <a:solidFill>
                  <a:srgbClr val="0070C0"/>
                </a:solidFill>
              </a:rPr>
              <a:t>local log odds ratios </a:t>
            </a:r>
            <a:r>
              <a:rPr lang="en-US" dirty="0"/>
              <a:t>for successive 2 x 2 sub-tables</a:t>
            </a:r>
          </a:p>
          <a:p>
            <a:r>
              <a:rPr lang="en-US" dirty="0"/>
              <a:t>These would all be </a:t>
            </a:r>
            <a:r>
              <a:rPr lang="en-US" dirty="0">
                <a:sym typeface="Symbol" panose="05050102010706020507" pitchFamily="18" charset="2"/>
              </a:rPr>
              <a:t> 0 under independence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F8C46D-3D3D-4001-81A1-FD0C086D59BC}"/>
              </a:ext>
            </a:extLst>
          </p:cNvPr>
          <p:cNvSpPr txBox="1"/>
          <p:nvPr/>
        </p:nvSpPr>
        <p:spPr>
          <a:xfrm>
            <a:off x="457200" y="2448826"/>
            <a:ext cx="8229600" cy="2893100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(LMT &lt;-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loddsratio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(t(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mental.tab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)))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log odds ratios for mental and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ses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ses</a:t>
            </a:r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mental                  1:2    2:3     3:4    4:5    5:6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Well:Mild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0.1158 0.1107  0.0612 0.3191  0.227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Mild:Moderate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-0.0715 0.0747 -0.1254 0.0192  0.312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Moderate:Impaired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-0.0683 0.2201  0.2795 0.1682 -0.094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mean(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LMT$coefficients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[1] 0.103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mean(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LMT$coefficients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 |&gt; exp()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[1] 1.11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BEE6EA-29F9-4280-83B4-64A2C2A835F5}"/>
              </a:ext>
            </a:extLst>
          </p:cNvPr>
          <p:cNvSpPr txBox="1"/>
          <p:nvPr/>
        </p:nvSpPr>
        <p:spPr>
          <a:xfrm>
            <a:off x="533400" y="5562600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On average, a one-unit step down the SES scale multiplies the odds of one worse mental health classification by exp(0.103) = 1.11 (11% increase)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32D6801-A7A3-40AA-BEFB-14271A83C22F}"/>
              </a:ext>
            </a:extLst>
          </p:cNvPr>
          <p:cNvSpPr/>
          <p:nvPr/>
        </p:nvSpPr>
        <p:spPr>
          <a:xfrm>
            <a:off x="838200" y="5034483"/>
            <a:ext cx="762000" cy="3074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F14864-90E9-4F01-9DD5-D5E9B5950CD6}"/>
              </a:ext>
            </a:extLst>
          </p:cNvPr>
          <p:cNvSpPr/>
          <p:nvPr/>
        </p:nvSpPr>
        <p:spPr>
          <a:xfrm>
            <a:off x="838200" y="4579620"/>
            <a:ext cx="762000" cy="30744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357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636E1-9DCC-4718-B87E-48F2B87CF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Local odds ratios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300365-3F34-4387-B20A-A8116CBBC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33</a:t>
            </a:fld>
            <a:endParaRPr lang="en-US"/>
          </a:p>
        </p:txBody>
      </p:sp>
      <p:pic>
        <p:nvPicPr>
          <p:cNvPr id="5" name="Picture 4" descr="Shape, square&#10;&#10;Description automatically generated">
            <a:extLst>
              <a:ext uri="{FF2B5EF4-FFF2-40B4-BE49-F238E27FC236}">
                <a16:creationId xmlns:a16="http://schemas.microsoft.com/office/drawing/2014/main" id="{DBA72704-E3B3-4040-A5E9-A3FFBDF7E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000" y="2590800"/>
            <a:ext cx="7600000" cy="37047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476FB3-A7ED-41E3-9BA0-CC3918F9E25F}"/>
              </a:ext>
            </a:extLst>
          </p:cNvPr>
          <p:cNvSpPr txBox="1"/>
          <p:nvPr/>
        </p:nvSpPr>
        <p:spPr>
          <a:xfrm>
            <a:off x="457200" y="1143000"/>
            <a:ext cx="815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can plot these as area- and color-proportional shaded squares using 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corrplot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FADD28-C8D2-40B4-A5AF-B4293A53AAB5}"/>
              </a:ext>
            </a:extLst>
          </p:cNvPr>
          <p:cNvSpPr txBox="1"/>
          <p:nvPr/>
        </p:nvSpPr>
        <p:spPr>
          <a:xfrm>
            <a:off x="457200" y="1600200"/>
            <a:ext cx="81534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corrplot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as.matrix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(LMT), method="square",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is.corr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= FALSE,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tl.col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= "black",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tl.srt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= 0,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tl.offset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=1)</a:t>
            </a:r>
          </a:p>
        </p:txBody>
      </p:sp>
    </p:spTree>
    <p:extLst>
      <p:ext uri="{BB962C8B-B14F-4D97-AF65-F5344CB8AC3E}">
        <p14:creationId xmlns:p14="http://schemas.microsoft.com/office/powerpoint/2010/main" val="42552962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56FAD-3AA2-46BB-BB01-44FC1253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Fitting ordinal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EBF257-82F2-4FFB-A3CE-96D7C5CC5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75C46E-2C6E-4A0E-AA6C-FFE2FBAB2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0"/>
            <a:ext cx="8171428" cy="1333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5AA89F-7593-47EE-8628-085F717878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76600"/>
            <a:ext cx="8171428" cy="12666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E5E18E-5B1A-41F3-BB02-932E33C01539}"/>
              </a:ext>
            </a:extLst>
          </p:cNvPr>
          <p:cNvSpPr txBox="1"/>
          <p:nvPr/>
        </p:nvSpPr>
        <p:spPr>
          <a:xfrm>
            <a:off x="457200" y="5029200"/>
            <a:ext cx="8077200" cy="923330"/>
          </a:xfrm>
          <a:custGeom>
            <a:avLst/>
            <a:gdLst>
              <a:gd name="csX0" fmla="*/ 0 w 8077200"/>
              <a:gd name="csY0" fmla="*/ 0 h 923330"/>
              <a:gd name="csX1" fmla="*/ 657715 w 8077200"/>
              <a:gd name="csY1" fmla="*/ 0 h 923330"/>
              <a:gd name="csX2" fmla="*/ 1396202 w 8077200"/>
              <a:gd name="csY2" fmla="*/ 0 h 923330"/>
              <a:gd name="csX3" fmla="*/ 1811601 w 8077200"/>
              <a:gd name="csY3" fmla="*/ 0 h 923330"/>
              <a:gd name="csX4" fmla="*/ 2469315 w 8077200"/>
              <a:gd name="csY4" fmla="*/ 0 h 923330"/>
              <a:gd name="csX5" fmla="*/ 2884714 w 8077200"/>
              <a:gd name="csY5" fmla="*/ 0 h 923330"/>
              <a:gd name="csX6" fmla="*/ 3461657 w 8077200"/>
              <a:gd name="csY6" fmla="*/ 0 h 923330"/>
              <a:gd name="csX7" fmla="*/ 4119372 w 8077200"/>
              <a:gd name="csY7" fmla="*/ 0 h 923330"/>
              <a:gd name="csX8" fmla="*/ 4453999 w 8077200"/>
              <a:gd name="csY8" fmla="*/ 0 h 923330"/>
              <a:gd name="csX9" fmla="*/ 4788626 w 8077200"/>
              <a:gd name="csY9" fmla="*/ 0 h 923330"/>
              <a:gd name="csX10" fmla="*/ 5527113 w 8077200"/>
              <a:gd name="csY10" fmla="*/ 0 h 923330"/>
              <a:gd name="csX11" fmla="*/ 6104055 w 8077200"/>
              <a:gd name="csY11" fmla="*/ 0 h 923330"/>
              <a:gd name="csX12" fmla="*/ 6438682 w 8077200"/>
              <a:gd name="csY12" fmla="*/ 0 h 923330"/>
              <a:gd name="csX13" fmla="*/ 7015625 w 8077200"/>
              <a:gd name="csY13" fmla="*/ 0 h 923330"/>
              <a:gd name="csX14" fmla="*/ 8077200 w 8077200"/>
              <a:gd name="csY14" fmla="*/ 0 h 923330"/>
              <a:gd name="csX15" fmla="*/ 8077200 w 8077200"/>
              <a:gd name="csY15" fmla="*/ 452432 h 923330"/>
              <a:gd name="csX16" fmla="*/ 8077200 w 8077200"/>
              <a:gd name="csY16" fmla="*/ 923330 h 923330"/>
              <a:gd name="csX17" fmla="*/ 7742573 w 8077200"/>
              <a:gd name="csY17" fmla="*/ 923330 h 923330"/>
              <a:gd name="csX18" fmla="*/ 7004086 w 8077200"/>
              <a:gd name="csY18" fmla="*/ 923330 h 923330"/>
              <a:gd name="csX19" fmla="*/ 6346371 w 8077200"/>
              <a:gd name="csY19" fmla="*/ 923330 h 923330"/>
              <a:gd name="csX20" fmla="*/ 5688657 w 8077200"/>
              <a:gd name="csY20" fmla="*/ 923330 h 923330"/>
              <a:gd name="csX21" fmla="*/ 5030942 w 8077200"/>
              <a:gd name="csY21" fmla="*/ 923330 h 923330"/>
              <a:gd name="csX22" fmla="*/ 4615543 w 8077200"/>
              <a:gd name="csY22" fmla="*/ 923330 h 923330"/>
              <a:gd name="csX23" fmla="*/ 3877056 w 8077200"/>
              <a:gd name="csY23" fmla="*/ 923330 h 923330"/>
              <a:gd name="csX24" fmla="*/ 3300113 w 8077200"/>
              <a:gd name="csY24" fmla="*/ 923330 h 923330"/>
              <a:gd name="csX25" fmla="*/ 2965486 w 8077200"/>
              <a:gd name="csY25" fmla="*/ 923330 h 923330"/>
              <a:gd name="csX26" fmla="*/ 2388543 w 8077200"/>
              <a:gd name="csY26" fmla="*/ 923330 h 923330"/>
              <a:gd name="csX27" fmla="*/ 1892373 w 8077200"/>
              <a:gd name="csY27" fmla="*/ 923330 h 923330"/>
              <a:gd name="csX28" fmla="*/ 1396202 w 8077200"/>
              <a:gd name="csY28" fmla="*/ 923330 h 923330"/>
              <a:gd name="csX29" fmla="*/ 900031 w 8077200"/>
              <a:gd name="csY29" fmla="*/ 923330 h 923330"/>
              <a:gd name="csX30" fmla="*/ 0 w 8077200"/>
              <a:gd name="csY30" fmla="*/ 923330 h 923330"/>
              <a:gd name="csX31" fmla="*/ 0 w 8077200"/>
              <a:gd name="csY31" fmla="*/ 452432 h 923330"/>
              <a:gd name="csX32" fmla="*/ 0 w 8077200"/>
              <a:gd name="csY32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8077200" h="923330" fill="none" extrusionOk="0">
                <a:moveTo>
                  <a:pt x="0" y="0"/>
                </a:moveTo>
                <a:cubicBezTo>
                  <a:pt x="320947" y="-21353"/>
                  <a:pt x="377921" y="12170"/>
                  <a:pt x="657715" y="0"/>
                </a:cubicBezTo>
                <a:cubicBezTo>
                  <a:pt x="937509" y="-12170"/>
                  <a:pt x="1211826" y="50832"/>
                  <a:pt x="1396202" y="0"/>
                </a:cubicBezTo>
                <a:cubicBezTo>
                  <a:pt x="1580578" y="-50832"/>
                  <a:pt x="1635367" y="27156"/>
                  <a:pt x="1811601" y="0"/>
                </a:cubicBezTo>
                <a:cubicBezTo>
                  <a:pt x="1987835" y="-27156"/>
                  <a:pt x="2275912" y="67676"/>
                  <a:pt x="2469315" y="0"/>
                </a:cubicBezTo>
                <a:cubicBezTo>
                  <a:pt x="2662718" y="-67676"/>
                  <a:pt x="2740084" y="22040"/>
                  <a:pt x="2884714" y="0"/>
                </a:cubicBezTo>
                <a:cubicBezTo>
                  <a:pt x="3029344" y="-22040"/>
                  <a:pt x="3228135" y="64288"/>
                  <a:pt x="3461657" y="0"/>
                </a:cubicBezTo>
                <a:cubicBezTo>
                  <a:pt x="3695179" y="-64288"/>
                  <a:pt x="3924821" y="34609"/>
                  <a:pt x="4119372" y="0"/>
                </a:cubicBezTo>
                <a:cubicBezTo>
                  <a:pt x="4313924" y="-34609"/>
                  <a:pt x="4378678" y="3797"/>
                  <a:pt x="4453999" y="0"/>
                </a:cubicBezTo>
                <a:cubicBezTo>
                  <a:pt x="4529320" y="-3797"/>
                  <a:pt x="4713868" y="1596"/>
                  <a:pt x="4788626" y="0"/>
                </a:cubicBezTo>
                <a:cubicBezTo>
                  <a:pt x="4863384" y="-1596"/>
                  <a:pt x="5351268" y="39646"/>
                  <a:pt x="5527113" y="0"/>
                </a:cubicBezTo>
                <a:cubicBezTo>
                  <a:pt x="5702958" y="-39646"/>
                  <a:pt x="5986615" y="46638"/>
                  <a:pt x="6104055" y="0"/>
                </a:cubicBezTo>
                <a:cubicBezTo>
                  <a:pt x="6221495" y="-46638"/>
                  <a:pt x="6351483" y="18592"/>
                  <a:pt x="6438682" y="0"/>
                </a:cubicBezTo>
                <a:cubicBezTo>
                  <a:pt x="6525881" y="-18592"/>
                  <a:pt x="6800404" y="26505"/>
                  <a:pt x="7015625" y="0"/>
                </a:cubicBezTo>
                <a:cubicBezTo>
                  <a:pt x="7230846" y="-26505"/>
                  <a:pt x="7558822" y="49981"/>
                  <a:pt x="8077200" y="0"/>
                </a:cubicBezTo>
                <a:cubicBezTo>
                  <a:pt x="8120335" y="95677"/>
                  <a:pt x="8031080" y="333879"/>
                  <a:pt x="8077200" y="452432"/>
                </a:cubicBezTo>
                <a:cubicBezTo>
                  <a:pt x="8123320" y="570985"/>
                  <a:pt x="8043148" y="780915"/>
                  <a:pt x="8077200" y="923330"/>
                </a:cubicBezTo>
                <a:cubicBezTo>
                  <a:pt x="7998604" y="957887"/>
                  <a:pt x="7867678" y="900643"/>
                  <a:pt x="7742573" y="923330"/>
                </a:cubicBezTo>
                <a:cubicBezTo>
                  <a:pt x="7617468" y="946017"/>
                  <a:pt x="7254107" y="911209"/>
                  <a:pt x="7004086" y="923330"/>
                </a:cubicBezTo>
                <a:cubicBezTo>
                  <a:pt x="6754065" y="935451"/>
                  <a:pt x="6500440" y="913410"/>
                  <a:pt x="6346371" y="923330"/>
                </a:cubicBezTo>
                <a:cubicBezTo>
                  <a:pt x="6192303" y="933250"/>
                  <a:pt x="5927655" y="854963"/>
                  <a:pt x="5688657" y="923330"/>
                </a:cubicBezTo>
                <a:cubicBezTo>
                  <a:pt x="5449659" y="991697"/>
                  <a:pt x="5268188" y="873090"/>
                  <a:pt x="5030942" y="923330"/>
                </a:cubicBezTo>
                <a:cubicBezTo>
                  <a:pt x="4793697" y="973570"/>
                  <a:pt x="4710643" y="895500"/>
                  <a:pt x="4615543" y="923330"/>
                </a:cubicBezTo>
                <a:cubicBezTo>
                  <a:pt x="4520443" y="951160"/>
                  <a:pt x="4128304" y="849195"/>
                  <a:pt x="3877056" y="923330"/>
                </a:cubicBezTo>
                <a:cubicBezTo>
                  <a:pt x="3625808" y="997465"/>
                  <a:pt x="3423129" y="888101"/>
                  <a:pt x="3300113" y="923330"/>
                </a:cubicBezTo>
                <a:cubicBezTo>
                  <a:pt x="3177097" y="958559"/>
                  <a:pt x="3050699" y="884745"/>
                  <a:pt x="2965486" y="923330"/>
                </a:cubicBezTo>
                <a:cubicBezTo>
                  <a:pt x="2880273" y="961915"/>
                  <a:pt x="2581982" y="868830"/>
                  <a:pt x="2388543" y="923330"/>
                </a:cubicBezTo>
                <a:cubicBezTo>
                  <a:pt x="2195104" y="977830"/>
                  <a:pt x="2074528" y="920570"/>
                  <a:pt x="1892373" y="923330"/>
                </a:cubicBezTo>
                <a:cubicBezTo>
                  <a:pt x="1710218" y="926090"/>
                  <a:pt x="1577489" y="908721"/>
                  <a:pt x="1396202" y="923330"/>
                </a:cubicBezTo>
                <a:cubicBezTo>
                  <a:pt x="1214915" y="937939"/>
                  <a:pt x="1132171" y="886560"/>
                  <a:pt x="900031" y="923330"/>
                </a:cubicBezTo>
                <a:cubicBezTo>
                  <a:pt x="667891" y="960100"/>
                  <a:pt x="449815" y="912693"/>
                  <a:pt x="0" y="923330"/>
                </a:cubicBezTo>
                <a:cubicBezTo>
                  <a:pt x="-46194" y="824821"/>
                  <a:pt x="34042" y="566725"/>
                  <a:pt x="0" y="452432"/>
                </a:cubicBezTo>
                <a:cubicBezTo>
                  <a:pt x="-34042" y="338139"/>
                  <a:pt x="46518" y="217312"/>
                  <a:pt x="0" y="0"/>
                </a:cubicBezTo>
                <a:close/>
              </a:path>
              <a:path w="8077200" h="923330" stroke="0" extrusionOk="0">
                <a:moveTo>
                  <a:pt x="0" y="0"/>
                </a:moveTo>
                <a:cubicBezTo>
                  <a:pt x="167901" y="-57789"/>
                  <a:pt x="271892" y="53616"/>
                  <a:pt x="496171" y="0"/>
                </a:cubicBezTo>
                <a:cubicBezTo>
                  <a:pt x="720450" y="-53616"/>
                  <a:pt x="720963" y="30330"/>
                  <a:pt x="830798" y="0"/>
                </a:cubicBezTo>
                <a:cubicBezTo>
                  <a:pt x="940633" y="-30330"/>
                  <a:pt x="1246528" y="76603"/>
                  <a:pt x="1569285" y="0"/>
                </a:cubicBezTo>
                <a:cubicBezTo>
                  <a:pt x="1892042" y="-76603"/>
                  <a:pt x="1822831" y="32081"/>
                  <a:pt x="2065455" y="0"/>
                </a:cubicBezTo>
                <a:cubicBezTo>
                  <a:pt x="2308079" y="-32081"/>
                  <a:pt x="2415430" y="8907"/>
                  <a:pt x="2561626" y="0"/>
                </a:cubicBezTo>
                <a:cubicBezTo>
                  <a:pt x="2707822" y="-8907"/>
                  <a:pt x="2971095" y="45026"/>
                  <a:pt x="3300113" y="0"/>
                </a:cubicBezTo>
                <a:cubicBezTo>
                  <a:pt x="3629131" y="-45026"/>
                  <a:pt x="3587007" y="2867"/>
                  <a:pt x="3715512" y="0"/>
                </a:cubicBezTo>
                <a:cubicBezTo>
                  <a:pt x="3844017" y="-2867"/>
                  <a:pt x="4208274" y="58486"/>
                  <a:pt x="4453999" y="0"/>
                </a:cubicBezTo>
                <a:cubicBezTo>
                  <a:pt x="4699724" y="-58486"/>
                  <a:pt x="5043655" y="52905"/>
                  <a:pt x="5192486" y="0"/>
                </a:cubicBezTo>
                <a:cubicBezTo>
                  <a:pt x="5341317" y="-52905"/>
                  <a:pt x="5548218" y="65309"/>
                  <a:pt x="5769429" y="0"/>
                </a:cubicBezTo>
                <a:cubicBezTo>
                  <a:pt x="5990640" y="-65309"/>
                  <a:pt x="6335969" y="61873"/>
                  <a:pt x="6507915" y="0"/>
                </a:cubicBezTo>
                <a:cubicBezTo>
                  <a:pt x="6679861" y="-61873"/>
                  <a:pt x="6775020" y="10851"/>
                  <a:pt x="7004086" y="0"/>
                </a:cubicBezTo>
                <a:cubicBezTo>
                  <a:pt x="7233152" y="-10851"/>
                  <a:pt x="7360327" y="52790"/>
                  <a:pt x="7500257" y="0"/>
                </a:cubicBezTo>
                <a:cubicBezTo>
                  <a:pt x="7640187" y="-52790"/>
                  <a:pt x="7869026" y="18661"/>
                  <a:pt x="8077200" y="0"/>
                </a:cubicBezTo>
                <a:cubicBezTo>
                  <a:pt x="8120703" y="102521"/>
                  <a:pt x="8072724" y="304944"/>
                  <a:pt x="8077200" y="452432"/>
                </a:cubicBezTo>
                <a:cubicBezTo>
                  <a:pt x="8081676" y="599920"/>
                  <a:pt x="8067710" y="716220"/>
                  <a:pt x="8077200" y="923330"/>
                </a:cubicBezTo>
                <a:cubicBezTo>
                  <a:pt x="7898824" y="925146"/>
                  <a:pt x="7560267" y="873234"/>
                  <a:pt x="7419485" y="923330"/>
                </a:cubicBezTo>
                <a:cubicBezTo>
                  <a:pt x="7278704" y="973426"/>
                  <a:pt x="6985817" y="876227"/>
                  <a:pt x="6842542" y="923330"/>
                </a:cubicBezTo>
                <a:cubicBezTo>
                  <a:pt x="6699267" y="970433"/>
                  <a:pt x="6630476" y="891574"/>
                  <a:pt x="6507915" y="923330"/>
                </a:cubicBezTo>
                <a:cubicBezTo>
                  <a:pt x="6385354" y="955086"/>
                  <a:pt x="6222924" y="882915"/>
                  <a:pt x="6092517" y="923330"/>
                </a:cubicBezTo>
                <a:cubicBezTo>
                  <a:pt x="5962110" y="963745"/>
                  <a:pt x="5661784" y="844094"/>
                  <a:pt x="5354030" y="923330"/>
                </a:cubicBezTo>
                <a:cubicBezTo>
                  <a:pt x="5046276" y="1002566"/>
                  <a:pt x="5053874" y="913225"/>
                  <a:pt x="4777087" y="923330"/>
                </a:cubicBezTo>
                <a:cubicBezTo>
                  <a:pt x="4500300" y="933435"/>
                  <a:pt x="4492059" y="904206"/>
                  <a:pt x="4361688" y="923330"/>
                </a:cubicBezTo>
                <a:cubicBezTo>
                  <a:pt x="4231317" y="942454"/>
                  <a:pt x="3944477" y="885247"/>
                  <a:pt x="3784745" y="923330"/>
                </a:cubicBezTo>
                <a:cubicBezTo>
                  <a:pt x="3625013" y="961413"/>
                  <a:pt x="3593839" y="898052"/>
                  <a:pt x="3450118" y="923330"/>
                </a:cubicBezTo>
                <a:cubicBezTo>
                  <a:pt x="3306397" y="948608"/>
                  <a:pt x="3232741" y="897125"/>
                  <a:pt x="3115491" y="923330"/>
                </a:cubicBezTo>
                <a:cubicBezTo>
                  <a:pt x="2998241" y="949535"/>
                  <a:pt x="2718415" y="910315"/>
                  <a:pt x="2538549" y="923330"/>
                </a:cubicBezTo>
                <a:cubicBezTo>
                  <a:pt x="2358683" y="936345"/>
                  <a:pt x="2271701" y="897403"/>
                  <a:pt x="2123150" y="923330"/>
                </a:cubicBezTo>
                <a:cubicBezTo>
                  <a:pt x="1974599" y="949257"/>
                  <a:pt x="1658981" y="882936"/>
                  <a:pt x="1465435" y="923330"/>
                </a:cubicBezTo>
                <a:cubicBezTo>
                  <a:pt x="1271889" y="963724"/>
                  <a:pt x="1194013" y="916757"/>
                  <a:pt x="1050036" y="923330"/>
                </a:cubicBezTo>
                <a:cubicBezTo>
                  <a:pt x="906059" y="929903"/>
                  <a:pt x="251531" y="915568"/>
                  <a:pt x="0" y="923330"/>
                </a:cubicBezTo>
                <a:cubicBezTo>
                  <a:pt x="-33552" y="793396"/>
                  <a:pt x="3563" y="583318"/>
                  <a:pt x="0" y="489365"/>
                </a:cubicBezTo>
                <a:cubicBezTo>
                  <a:pt x="-3563" y="395413"/>
                  <a:pt x="25826" y="181492"/>
                  <a:pt x="0" y="0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txBody>
          <a:bodyPr wrap="square" rtlCol="0">
            <a:spAutoFit/>
          </a:bodyPr>
          <a:lstStyle/>
          <a:p>
            <a:r>
              <a:rPr lang="en-US" dirty="0"/>
              <a:t>Recall: in R, an interaction term,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A:B </a:t>
            </a:r>
            <a:r>
              <a:rPr lang="en-US" dirty="0"/>
              <a:t>is represented by the </a:t>
            </a:r>
            <a:r>
              <a:rPr lang="en-US" dirty="0">
                <a:solidFill>
                  <a:srgbClr val="0070C0"/>
                </a:solidFill>
              </a:rPr>
              <a:t>product</a:t>
            </a:r>
            <a:r>
              <a:rPr lang="en-US" dirty="0"/>
              <a:t>, a</a:t>
            </a:r>
            <a:r>
              <a:rPr lang="en-US" baseline="-25000" dirty="0"/>
              <a:t>i</a:t>
            </a:r>
            <a:r>
              <a:rPr lang="en-US" dirty="0"/>
              <a:t> × </a:t>
            </a:r>
            <a:r>
              <a:rPr lang="en-US" dirty="0" err="1"/>
              <a:t>b</a:t>
            </a:r>
            <a:r>
              <a:rPr lang="en-US" baseline="-25000" dirty="0" err="1"/>
              <a:t>j</a:t>
            </a:r>
            <a:r>
              <a:rPr lang="en-US" dirty="0"/>
              <a:t> of the parameters, a</a:t>
            </a:r>
            <a:r>
              <a:rPr lang="en-US" baseline="-25000" dirty="0"/>
              <a:t>i</a:t>
            </a:r>
            <a:r>
              <a:rPr lang="en-US" dirty="0"/>
              <a:t>, </a:t>
            </a:r>
            <a:r>
              <a:rPr lang="en-US" dirty="0" err="1"/>
              <a:t>b</a:t>
            </a:r>
            <a:r>
              <a:rPr lang="en-US" baseline="-25000" dirty="0" err="1"/>
              <a:t>j</a:t>
            </a:r>
            <a:r>
              <a:rPr lang="en-US" dirty="0"/>
              <a:t>,  for the factors.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Rscore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Cscore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here are just </a:t>
            </a:r>
            <a:r>
              <a:rPr lang="en-US" dirty="0">
                <a:solidFill>
                  <a:srgbClr val="0070C0"/>
                </a:solidFill>
              </a:rPr>
              <a:t>numbers</a:t>
            </a:r>
            <a:r>
              <a:rPr lang="en-US" dirty="0"/>
              <a:t>, so are not estimated parameters</a:t>
            </a:r>
          </a:p>
        </p:txBody>
      </p:sp>
    </p:spTree>
    <p:extLst>
      <p:ext uri="{BB962C8B-B14F-4D97-AF65-F5344CB8AC3E}">
        <p14:creationId xmlns:p14="http://schemas.microsoft.com/office/powerpoint/2010/main" val="22427619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E48C-0061-478A-ACE0-6886FD8BA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1393EEF-4C09-492B-A07B-DC50BA81E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D9792C-F70F-4DB6-B817-2706B805F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00" y="1219200"/>
            <a:ext cx="8200000" cy="23523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ACB0C1-51D0-4FF5-8661-B058A9E5E4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20" y="3733800"/>
            <a:ext cx="8171428" cy="9238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CC5A05-3D69-D6A3-4BAA-32BE14FFD3D6}"/>
              </a:ext>
            </a:extLst>
          </p:cNvPr>
          <p:cNvSpPr txBox="1"/>
          <p:nvPr/>
        </p:nvSpPr>
        <p:spPr>
          <a:xfrm>
            <a:off x="6504673" y="278756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75F3B-726F-E408-E6FC-3408411E706C}"/>
              </a:ext>
            </a:extLst>
          </p:cNvPr>
          <p:cNvSpPr txBox="1"/>
          <p:nvPr/>
        </p:nvSpPr>
        <p:spPr>
          <a:xfrm>
            <a:off x="6504673" y="2558960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FD303D-7086-84C2-CBE1-DE27ECD17BA0}"/>
              </a:ext>
            </a:extLst>
          </p:cNvPr>
          <p:cNvSpPr txBox="1"/>
          <p:nvPr/>
        </p:nvSpPr>
        <p:spPr>
          <a:xfrm>
            <a:off x="6504673" y="2328637"/>
            <a:ext cx="533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✅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3B5F04B-7DAD-67F5-41B9-21EB28F2F742}"/>
              </a:ext>
            </a:extLst>
          </p:cNvPr>
          <p:cNvSpPr/>
          <p:nvPr/>
        </p:nvSpPr>
        <p:spPr>
          <a:xfrm>
            <a:off x="1610627" y="2825660"/>
            <a:ext cx="990600" cy="3048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337297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B29ED-950C-485C-B64F-FD6CFCC49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A39011-9B51-45BF-8306-4D2B3AB09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9DF168-DD51-4737-A87D-BEAE49F21C0E}"/>
              </a:ext>
            </a:extLst>
          </p:cNvPr>
          <p:cNvSpPr txBox="1"/>
          <p:nvPr/>
        </p:nvSpPr>
        <p:spPr>
          <a:xfrm>
            <a:off x="457200" y="12192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When overall tests are unclear, you can carry out tests of nested sets of models using </a:t>
            </a:r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b="1" dirty="0">
                <a:cs typeface="Courier New" panose="02070309020205020404" pitchFamily="49" charset="0"/>
              </a:rPr>
              <a:t>,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giving tests of </a:t>
            </a:r>
            <a:r>
              <a:rPr lang="en-US" dirty="0">
                <a:sym typeface="Symbol" panose="05050102010706020507" pitchFamily="18" charset="2"/>
              </a:rPr>
              <a:t></a:t>
            </a:r>
            <a:r>
              <a:rPr lang="en-US" dirty="0"/>
              <a:t>G</a:t>
            </a:r>
            <a:r>
              <a:rPr lang="en-US" baseline="30000" dirty="0"/>
              <a:t>2</a:t>
            </a:r>
            <a:r>
              <a:rPr lang="en-US" dirty="0"/>
              <a:t>.</a:t>
            </a:r>
          </a:p>
          <a:p>
            <a:r>
              <a:rPr lang="en-US" dirty="0"/>
              <a:t>The </a:t>
            </a:r>
            <a:r>
              <a:rPr lang="en-US" dirty="0" err="1"/>
              <a:t>indep</a:t>
            </a:r>
            <a:r>
              <a:rPr lang="en-US" dirty="0"/>
              <a:t>, </a:t>
            </a:r>
            <a:r>
              <a:rPr lang="en-US" dirty="0" err="1"/>
              <a:t>linlin</a:t>
            </a:r>
            <a:r>
              <a:rPr lang="en-US" dirty="0"/>
              <a:t> and row effect models are one nested set: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DF8ADC-FEE2-448D-AF86-64E4E61E7B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619" y="2590800"/>
            <a:ext cx="8104762" cy="27142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14748F-BC9A-4C26-BC9F-BA7859EA7619}"/>
              </a:ext>
            </a:extLst>
          </p:cNvPr>
          <p:cNvSpPr txBox="1"/>
          <p:nvPr/>
        </p:nvSpPr>
        <p:spPr>
          <a:xfrm>
            <a:off x="519619" y="5562600"/>
            <a:ext cx="81047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i="1" dirty="0"/>
              <a:t>L</a:t>
            </a:r>
            <a:r>
              <a:rPr lang="en-US" dirty="0"/>
              <a:t> × </a:t>
            </a:r>
            <a:r>
              <a:rPr lang="en-US" i="1" dirty="0"/>
              <a:t>L</a:t>
            </a:r>
            <a:r>
              <a:rPr lang="en-US" dirty="0"/>
              <a:t> model is a </a:t>
            </a:r>
            <a:r>
              <a:rPr lang="en-US" dirty="0" err="1"/>
              <a:t>signif</a:t>
            </a:r>
            <a:r>
              <a:rPr lang="en-US" dirty="0"/>
              <a:t>. improvement; the R model is not</a:t>
            </a:r>
          </a:p>
        </p:txBody>
      </p:sp>
    </p:spTree>
    <p:extLst>
      <p:ext uri="{BB962C8B-B14F-4D97-AF65-F5344CB8AC3E}">
        <p14:creationId xmlns:p14="http://schemas.microsoft.com/office/powerpoint/2010/main" val="9516444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79B8-CA1E-4CB6-B8C7-961D97495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models: Mosaic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8D63FE-985D-4987-A027-C9620CE88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 descr="A picture containing calendar&#10;&#10;Description automatically generated">
            <a:extLst>
              <a:ext uri="{FF2B5EF4-FFF2-40B4-BE49-F238E27FC236}">
                <a16:creationId xmlns:a16="http://schemas.microsoft.com/office/drawing/2014/main" id="{8A300D5C-DE85-40BC-8728-B522D935B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4" y="2067560"/>
            <a:ext cx="3729240" cy="3931920"/>
          </a:xfrm>
          <a:prstGeom prst="rect">
            <a:avLst/>
          </a:prstGeom>
        </p:spPr>
      </p:pic>
      <p:pic>
        <p:nvPicPr>
          <p:cNvPr id="7" name="Picture 6" descr="Calendar&#10;&#10;Description automatically generated">
            <a:extLst>
              <a:ext uri="{FF2B5EF4-FFF2-40B4-BE49-F238E27FC236}">
                <a16:creationId xmlns:a16="http://schemas.microsoft.com/office/drawing/2014/main" id="{932505C5-7672-437B-8457-B8E069329B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1" y="2067560"/>
            <a:ext cx="3729240" cy="39319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2108B6D-692A-4195-98CC-20142AC851EF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Beyond statistical tests, mosaic plots show the remaining structure in the residuals, unaccounted for in a given model.</a:t>
            </a:r>
          </a:p>
        </p:txBody>
      </p:sp>
    </p:spTree>
    <p:extLst>
      <p:ext uri="{BB962C8B-B14F-4D97-AF65-F5344CB8AC3E}">
        <p14:creationId xmlns:p14="http://schemas.microsoft.com/office/powerpoint/2010/main" val="7825850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DFE12-D204-4185-93B2-096431429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the </a:t>
            </a:r>
            <a:r>
              <a:rPr lang="en-US" i="1" dirty="0"/>
              <a:t>L</a:t>
            </a:r>
            <a:r>
              <a:rPr lang="en-US" dirty="0"/>
              <a:t> × </a:t>
            </a:r>
            <a:r>
              <a:rPr lang="en-US" i="1" dirty="0"/>
              <a:t>L</a:t>
            </a:r>
            <a:r>
              <a:rPr lang="en-US" dirty="0"/>
              <a:t>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BE50A8-6A77-4567-803F-9AA791934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D9B88-2312-4FE6-9DA5-203620DC9E52}"/>
              </a:ext>
            </a:extLst>
          </p:cNvPr>
          <p:cNvSpPr txBox="1"/>
          <p:nvPr/>
        </p:nvSpPr>
        <p:spPr>
          <a:xfrm>
            <a:off x="533400" y="1981200"/>
            <a:ext cx="8153400" cy="1323439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coef(</a:t>
            </a:r>
            <a:r>
              <a:rPr lang="fr-FR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linlin</a:t>
            </a:r>
            <a:r>
              <a:rPr lang="fr-FR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)[["</a:t>
            </a:r>
            <a:r>
              <a:rPr lang="fr-FR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Rscore:Cscore</a:t>
            </a:r>
            <a:r>
              <a:rPr lang="fr-FR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"]]</a:t>
            </a:r>
          </a:p>
          <a:p>
            <a:r>
              <a:rPr lang="fr-FR" sz="1600" dirty="0">
                <a:latin typeface="Aptos Mono" panose="020B0009020202020204" pitchFamily="49" charset="0"/>
                <a:cs typeface="Courier New" panose="02070309020205020404" pitchFamily="49" charset="0"/>
              </a:rPr>
              <a:t>[1] 0.09069</a:t>
            </a:r>
          </a:p>
          <a:p>
            <a:endParaRPr lang="fr-FR" sz="16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fr-FR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coef(</a:t>
            </a:r>
            <a:r>
              <a:rPr lang="fr-FR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linlin</a:t>
            </a:r>
            <a:r>
              <a:rPr lang="fr-FR" sz="1600" dirty="0">
                <a:latin typeface="Aptos Mono" panose="020B0009020202020204" pitchFamily="49" charset="0"/>
                <a:cs typeface="Courier New" panose="02070309020205020404" pitchFamily="49" charset="0"/>
              </a:rPr>
              <a:t>)[["</a:t>
            </a:r>
            <a:r>
              <a:rPr lang="fr-FR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Rscore:Cscore</a:t>
            </a:r>
            <a:r>
              <a:rPr lang="fr-FR" sz="1600" dirty="0">
                <a:latin typeface="Aptos Mono" panose="020B0009020202020204" pitchFamily="49" charset="0"/>
                <a:cs typeface="Courier New" panose="02070309020205020404" pitchFamily="49" charset="0"/>
              </a:rPr>
              <a:t>"]] |&gt; </a:t>
            </a:r>
            <a:r>
              <a:rPr lang="fr-FR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exp</a:t>
            </a:r>
            <a:r>
              <a:rPr lang="fr-FR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fr-FR" sz="1600" dirty="0">
                <a:latin typeface="Aptos Mono" panose="020B0009020202020204" pitchFamily="49" charset="0"/>
                <a:cs typeface="Courier New" panose="02070309020205020404" pitchFamily="49" charset="0"/>
              </a:rPr>
              <a:t>[1] 1.095</a:t>
            </a:r>
            <a:endParaRPr lang="en-US" sz="1600" dirty="0">
              <a:latin typeface="Aptos Mono" panose="020B00090202020202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A61156-D9F8-45AC-9B00-F1D18DEEF91B}"/>
              </a:ext>
            </a:extLst>
          </p:cNvPr>
          <p:cNvSpPr txBox="1"/>
          <p:nvPr/>
        </p:nvSpPr>
        <p:spPr>
          <a:xfrm>
            <a:off x="5334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the </a:t>
            </a:r>
            <a:r>
              <a:rPr lang="en-US" i="1" dirty="0"/>
              <a:t>L</a:t>
            </a:r>
            <a:r>
              <a:rPr lang="en-US" dirty="0"/>
              <a:t> × </a:t>
            </a:r>
            <a:r>
              <a:rPr lang="en-US" i="1" dirty="0"/>
              <a:t>L</a:t>
            </a:r>
            <a:r>
              <a:rPr lang="en-US" dirty="0"/>
              <a:t> model, the parameter </a:t>
            </a:r>
            <a:r>
              <a:rPr lang="el-GR" dirty="0"/>
              <a:t>γ</a:t>
            </a:r>
            <a:r>
              <a:rPr lang="en-US" dirty="0"/>
              <a:t> is the constant local odds ratio. e</a:t>
            </a:r>
            <a:r>
              <a:rPr lang="el-GR" baseline="30000" dirty="0"/>
              <a:t>γ</a:t>
            </a:r>
            <a:r>
              <a:rPr lang="en-US" dirty="0"/>
              <a:t> is the multiplier of the odds for a one-step change in mental or </a:t>
            </a:r>
            <a:r>
              <a:rPr lang="en-US" dirty="0" err="1"/>
              <a:t>ses</a:t>
            </a:r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3652D0-9C93-46BB-B615-F3BDBDFF7D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810000"/>
            <a:ext cx="8171428" cy="1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7188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372C5-CD90-4EDA-9A4B-0C78B06CB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Log-multiplicative (RC)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3B3EB7-19BA-4BD1-BA43-B01A4134B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ECCD15-A446-4193-92F3-CE0FFAA759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95400"/>
            <a:ext cx="8171428" cy="246666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F2C269A-1723-4CD0-A63E-DD7CA120B4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3922402"/>
            <a:ext cx="8171428" cy="2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327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EA4F7-7633-4530-B1AF-596DD5FBE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Log-multiplicative (RC)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F5052F-89E2-4688-B7ED-8EAE52848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3CCF12-489F-4475-90BD-80B638F09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95400"/>
            <a:ext cx="8171428" cy="24476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53782E-4FF4-4DE8-9658-C90B961A9D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47819"/>
            <a:ext cx="8171428" cy="14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149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AEF46-42FD-4E08-AD59-08CC17A1C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Generalized </a:t>
            </a:r>
            <a:r>
              <a:rPr lang="en-US" i="1" dirty="0"/>
              <a:t>nonlinear</a:t>
            </a:r>
            <a:r>
              <a:rPr lang="en-US" dirty="0"/>
              <a:t>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D692BC-91DC-4868-8562-6618AD4C5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A545CF-4AA5-46C3-BC1C-6F18A461B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71600"/>
            <a:ext cx="8171428" cy="3419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1590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BC3D6-EE53-410F-8F89-2D2923C9A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Mental impairment &amp; 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0F1F3B-F890-4FF6-9F6E-019F59239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370926-F011-4DAE-B652-15F4CD1BB2F7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Fit the RC(1) and RC(2) model by adding terms using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Aptos Mono" panose="020B0009020202020204" pitchFamily="49" charset="0"/>
              </a:rPr>
              <a:t>Mult() </a:t>
            </a:r>
            <a:r>
              <a:rPr lang="en-US" dirty="0"/>
              <a:t>to the independence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7979C4-11E0-4758-8B8E-31897E7D517F}"/>
              </a:ext>
            </a:extLst>
          </p:cNvPr>
          <p:cNvSpPr txBox="1"/>
          <p:nvPr/>
        </p:nvSpPr>
        <p:spPr>
          <a:xfrm>
            <a:off x="457200" y="1828800"/>
            <a:ext cx="82296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library(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gnm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indep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&lt;- </a:t>
            </a:r>
            <a:r>
              <a:rPr lang="en-US" sz="1400" b="1" dirty="0" err="1">
                <a:latin typeface="Aptos Mono" panose="020B0009020202020204" pitchFamily="49" charset="0"/>
                <a:cs typeface="Courier New" panose="02070309020205020404" pitchFamily="49" charset="0"/>
              </a:rPr>
              <a:t>gnm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(Freq ~ mental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ses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family =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poisson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data = Mental, verbose=FALSE)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RC1 &lt;- update(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indep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. ~ . + </a:t>
            </a:r>
            <a:r>
              <a:rPr lang="en-US" sz="1400" b="1" dirty="0" err="1">
                <a:latin typeface="Aptos Mono" panose="020B0009020202020204" pitchFamily="49" charset="0"/>
                <a:cs typeface="Courier New" panose="02070309020205020404" pitchFamily="49" charset="0"/>
              </a:rPr>
              <a:t>Mult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(mental,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ses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RC2 &lt;- update(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indep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. ~ . + </a:t>
            </a:r>
            <a:r>
              <a:rPr lang="en-US" sz="1400" b="1" dirty="0">
                <a:latin typeface="Aptos Mono" panose="020B0009020202020204" pitchFamily="49" charset="0"/>
                <a:cs typeface="Courier New" panose="02070309020205020404" pitchFamily="49" charset="0"/>
              </a:rPr>
              <a:t>instances(</a:t>
            </a:r>
            <a:r>
              <a:rPr lang="en-US" sz="1400" b="1" dirty="0" err="1">
                <a:latin typeface="Aptos Mono" panose="020B0009020202020204" pitchFamily="49" charset="0"/>
                <a:cs typeface="Courier New" panose="02070309020205020404" pitchFamily="49" charset="0"/>
              </a:rPr>
              <a:t>Mult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(mental,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ses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),2))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465598-E2CA-4DBD-82E3-23B21086780B}"/>
              </a:ext>
            </a:extLst>
          </p:cNvPr>
          <p:cNvSpPr txBox="1"/>
          <p:nvPr/>
        </p:nvSpPr>
        <p:spPr>
          <a:xfrm>
            <a:off x="457200" y="3124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Compare models with GOF tests and AIC, BIC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4ED80A-6B87-4048-A1E6-BEE9D09276A6}"/>
              </a:ext>
            </a:extLst>
          </p:cNvPr>
          <p:cNvSpPr txBox="1"/>
          <p:nvPr/>
        </p:nvSpPr>
        <p:spPr>
          <a:xfrm>
            <a:off x="457200" y="3600033"/>
            <a:ext cx="8229600" cy="246221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vcdExtra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::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LRstats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indep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linlin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roweff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coleff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RC1, RC2)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AIC BIC LR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Df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indep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210 220     47.4 15    3.2e-05 ***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linlin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174 186      9.9 14       0.77   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roweff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174 189      6.3 12       0.90   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coleff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179 196      6.8 10       0.74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RC1    180 199      3.6  8       0.89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RC2    187 211      0.5  3       0.91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</p:spTree>
    <p:extLst>
      <p:ext uri="{BB962C8B-B14F-4D97-AF65-F5344CB8AC3E}">
        <p14:creationId xmlns:p14="http://schemas.microsoft.com/office/powerpoint/2010/main" val="14904988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95A98-AAE7-4FDB-BE07-8541FF809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1D9D2B-D5B4-4BCF-AFB7-C7D104AB4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2971E-8E78-4577-94D5-CCC93C29DB93}"/>
              </a:ext>
            </a:extLst>
          </p:cNvPr>
          <p:cNvSpPr txBox="1"/>
          <p:nvPr/>
        </p:nvSpPr>
        <p:spPr>
          <a:xfrm>
            <a:off x="533400" y="2529840"/>
            <a:ext cx="8153400" cy="246221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anova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linlin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RC1, RC2, test="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Analysis of Deviance Table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Model 1: Freq ~ mental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ses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Rscore:Cscore</a:t>
            </a:r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Model 2: Freq ~ mental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ses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Mult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(mental,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ses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Model 3: Freq ~ mental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ses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+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Mult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(mental,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ses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inst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= 1) +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           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Mult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(mental,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ses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inst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= 2)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Resid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Df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Resid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Dev Df Deviance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(&gt;Chi)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1        14       9.90                   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2         8       3.57  6     6.32     0.39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3         3       0.52  5     3.05     0.69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0D93AC-B034-472E-A83B-7688CDB9877B}"/>
              </a:ext>
            </a:extLst>
          </p:cNvPr>
          <p:cNvSpPr txBox="1"/>
          <p:nvPr/>
        </p:nvSpPr>
        <p:spPr>
          <a:xfrm>
            <a:off x="457200" y="12954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anova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again gives tests of </a:t>
            </a:r>
            <a:r>
              <a:rPr lang="en-US" dirty="0">
                <a:sym typeface="Symbol" panose="05050102010706020507" pitchFamily="18" charset="2"/>
              </a:rPr>
              <a:t></a:t>
            </a:r>
            <a:r>
              <a:rPr lang="el-GR" dirty="0">
                <a:sym typeface="Symbol" panose="05050102010706020507" pitchFamily="18" charset="2"/>
              </a:rPr>
              <a:t>χ</a:t>
            </a:r>
            <a:r>
              <a:rPr lang="en-US" baseline="30000" dirty="0">
                <a:sym typeface="Symbol" panose="05050102010706020507" pitchFamily="18" charset="2"/>
              </a:rPr>
              <a:t>2</a:t>
            </a:r>
            <a:r>
              <a:rPr lang="en-US" dirty="0">
                <a:sym typeface="Symbol" panose="05050102010706020507" pitchFamily="18" charset="2"/>
              </a:rPr>
              <a:t> for nested models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estimated RC scores better than integer scores in the L x L model?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so, do we need more than one dimension?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54AFF8-E947-4E87-8FD5-B47D8FF6C60C}"/>
              </a:ext>
            </a:extLst>
          </p:cNvPr>
          <p:cNvSpPr txBox="1"/>
          <p:nvPr/>
        </p:nvSpPr>
        <p:spPr>
          <a:xfrm>
            <a:off x="609600" y="5257800"/>
            <a:ext cx="807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Neither RC model shows a significant advantage over the L x L model</a:t>
            </a:r>
          </a:p>
        </p:txBody>
      </p:sp>
    </p:spTree>
    <p:extLst>
      <p:ext uri="{BB962C8B-B14F-4D97-AF65-F5344CB8AC3E}">
        <p14:creationId xmlns:p14="http://schemas.microsoft.com/office/powerpoint/2010/main" val="26671459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B9ED-AD43-40A8-82B4-B37178A9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Comparing models: Mosaic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C6E468-86A1-4466-8CAD-0722FA2B6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44</a:t>
            </a:fld>
            <a:endParaRPr lang="en-US"/>
          </a:p>
        </p:txBody>
      </p:sp>
      <p:pic>
        <p:nvPicPr>
          <p:cNvPr id="4" name="Picture 3" descr="Calendar&#10;&#10;Description automatically generated">
            <a:extLst>
              <a:ext uri="{FF2B5EF4-FFF2-40B4-BE49-F238E27FC236}">
                <a16:creationId xmlns:a16="http://schemas.microsoft.com/office/drawing/2014/main" id="{97F5A6F7-9E0A-4FF6-9DEC-F0E2F66EF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" y="2057400"/>
            <a:ext cx="3729240" cy="3931920"/>
          </a:xfrm>
          <a:prstGeom prst="rect">
            <a:avLst/>
          </a:prstGeom>
        </p:spPr>
      </p:pic>
      <p:pic>
        <p:nvPicPr>
          <p:cNvPr id="6" name="Picture 5" descr="A picture containing shape&#10;&#10;Description automatically generated">
            <a:extLst>
              <a:ext uri="{FF2B5EF4-FFF2-40B4-BE49-F238E27FC236}">
                <a16:creationId xmlns:a16="http://schemas.microsoft.com/office/drawing/2014/main" id="{909A0D89-9B69-4E2A-8F83-58ACE7BA2B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057400"/>
            <a:ext cx="3729240" cy="393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4214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D619-BF4F-462A-BF8B-B9101F59A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RC scores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342B14-156E-4AA4-AAD5-EA5562533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60D423-6A6A-4B32-AF29-004B6D492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12095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C9040F-7F73-4A93-A2BC-EC2CC148D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07473"/>
            <a:ext cx="4438095" cy="34190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2A3380-CC85-4CF2-B05C-D7BE019E1C38}"/>
              </a:ext>
            </a:extLst>
          </p:cNvPr>
          <p:cNvSpPr txBox="1"/>
          <p:nvPr/>
        </p:nvSpPr>
        <p:spPr>
          <a:xfrm>
            <a:off x="5410200" y="2555240"/>
            <a:ext cx="3276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mental</a:t>
            </a:r>
            <a:r>
              <a:rPr lang="en-US" dirty="0"/>
              <a:t>: mild &amp; moderate not that different, but ordered correctly</a:t>
            </a:r>
          </a:p>
          <a:p>
            <a:endParaRPr lang="en-US" dirty="0"/>
          </a:p>
          <a:p>
            <a:r>
              <a:rPr lang="en-US" dirty="0" err="1">
                <a:solidFill>
                  <a:srgbClr val="0070C0"/>
                </a:solidFill>
              </a:rPr>
              <a:t>ses</a:t>
            </a:r>
            <a:r>
              <a:rPr lang="en-US" dirty="0"/>
              <a:t>: approx. linear, except for</a:t>
            </a:r>
          </a:p>
          <a:p>
            <a:r>
              <a:rPr lang="en-US" dirty="0" err="1"/>
              <a:t>ses</a:t>
            </a:r>
            <a:r>
              <a:rPr lang="en-US" dirty="0"/>
              <a:t> = (1,2), which don’t differ</a:t>
            </a:r>
          </a:p>
          <a:p>
            <a:endParaRPr lang="en-US" dirty="0"/>
          </a:p>
          <a:p>
            <a:r>
              <a:rPr lang="en-US" dirty="0"/>
              <a:t>Similar to what we saw in CA</a:t>
            </a:r>
          </a:p>
          <a:p>
            <a:endParaRPr lang="en-US" dirty="0"/>
          </a:p>
          <a:p>
            <a:r>
              <a:rPr lang="en-US" dirty="0"/>
              <a:t>When this matters, RC models provide the statistical machinery for inference</a:t>
            </a:r>
          </a:p>
        </p:txBody>
      </p:sp>
    </p:spTree>
    <p:extLst>
      <p:ext uri="{BB962C8B-B14F-4D97-AF65-F5344CB8AC3E}">
        <p14:creationId xmlns:p14="http://schemas.microsoft.com/office/powerpoint/2010/main" val="18588663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AFAA6-5744-4791-A9EF-9998C1FEA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RC scores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DF57B03-7213-418D-8BA2-5C636CCDF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AAFCE7-AEDA-434D-A776-755ADF60B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2562724"/>
            <a:ext cx="8171428" cy="399047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0680519-333B-463C-AACA-12BE9ED9509A}"/>
              </a:ext>
            </a:extLst>
          </p:cNvPr>
          <p:cNvSpPr txBox="1"/>
          <p:nvPr/>
        </p:nvSpPr>
        <p:spPr>
          <a:xfrm>
            <a:off x="457200" y="1219200"/>
            <a:ext cx="8229600" cy="830997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rc2 &lt;-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rc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Mental.tab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nd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=2, weighting="marginal", se="jackknife")</a:t>
            </a:r>
          </a:p>
          <a:p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coords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&lt;- plot(rc2,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conf.ellipses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=0.68,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cex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=1.5, </a:t>
            </a:r>
          </a:p>
          <a:p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rev.axes</a:t>
            </a:r>
            <a:r>
              <a:rPr lang="en-US" sz="1600" dirty="0">
                <a:latin typeface="Aptos Mono" panose="020B0009020202020204" pitchFamily="49" charset="0"/>
                <a:cs typeface="Courier New" panose="02070309020205020404" pitchFamily="49" charset="0"/>
              </a:rPr>
              <a:t>=c(TRUE, FALSE))</a:t>
            </a:r>
          </a:p>
        </p:txBody>
      </p:sp>
    </p:spTree>
    <p:extLst>
      <p:ext uri="{BB962C8B-B14F-4D97-AF65-F5344CB8AC3E}">
        <p14:creationId xmlns:p14="http://schemas.microsoft.com/office/powerpoint/2010/main" val="26291853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FC24B-D147-4CDE-833A-F166CFC0D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Square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7832139-D487-482F-8AAA-4091D073E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E30777-A2B4-4AD9-B1F3-0E766A741746}"/>
              </a:ext>
            </a:extLst>
          </p:cNvPr>
          <p:cNvSpPr txBox="1"/>
          <p:nvPr/>
        </p:nvSpPr>
        <p:spPr>
          <a:xfrm>
            <a:off x="457200" y="12192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Square tables arise when the row and column variables have the </a:t>
            </a:r>
            <a:r>
              <a:rPr lang="en-US" dirty="0">
                <a:solidFill>
                  <a:srgbClr val="0070C0"/>
                </a:solidFill>
              </a:rPr>
              <a:t>same</a:t>
            </a:r>
            <a:r>
              <a:rPr lang="en-US" dirty="0"/>
              <a:t> categories, often </a:t>
            </a:r>
            <a:r>
              <a:rPr lang="en-US" dirty="0">
                <a:solidFill>
                  <a:srgbClr val="0070C0"/>
                </a:solidFill>
              </a:rPr>
              <a:t>ordered</a:t>
            </a:r>
          </a:p>
          <a:p>
            <a:r>
              <a:rPr lang="en-US" dirty="0"/>
              <a:t>Special loglinear models allow us to tease apart different </a:t>
            </a:r>
            <a:r>
              <a:rPr lang="en-US" dirty="0">
                <a:solidFill>
                  <a:srgbClr val="0070C0"/>
                </a:solidFill>
              </a:rPr>
              <a:t>reasons</a:t>
            </a:r>
            <a:r>
              <a:rPr lang="en-US" dirty="0"/>
              <a:t> for association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3647F5-B547-4EA2-8AB3-961C6F275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2599949"/>
            <a:ext cx="7942857" cy="35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80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D39D6-04D8-41DA-9324-6E3516E96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Square tables: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C92F0-F0A8-4598-BC0A-18128610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BF4404-58C7-4F15-BD22-3A9898F16190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such cases, general association is a given, because of the diagonal cells</a:t>
            </a:r>
          </a:p>
          <a:p>
            <a:r>
              <a:rPr lang="en-US" dirty="0"/>
              <a:t>More interesting models concern the nature of association in off-diagonal cells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C8E176-6930-498B-9437-82C7E63F8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2124267"/>
            <a:ext cx="8171428" cy="1533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E3043C-A99D-4299-92F6-D93260F0C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3789066"/>
            <a:ext cx="8171428" cy="2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7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E048F-37F9-4887-9C64-7DD5A9AC3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Square tables: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46D4CC-45CC-4B07-A4ED-0C446D719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75C4DF-0758-4331-851B-A24F26DA4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219200"/>
            <a:ext cx="8171428" cy="18571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1D882B-56BD-49AD-9559-DBBECA5A009A}"/>
              </a:ext>
            </a:extLst>
          </p:cNvPr>
          <p:cNvSpPr txBox="1"/>
          <p:nvPr/>
        </p:nvSpPr>
        <p:spPr>
          <a:xfrm>
            <a:off x="457200" y="3352800"/>
            <a:ext cx="8229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Diag</a:t>
            </a:r>
            <a:r>
              <a:rPr lang="en-US" dirty="0"/>
              <a:t> adds </a:t>
            </a:r>
            <a:r>
              <a:rPr lang="en-US" i="1" dirty="0"/>
              <a:t>k</a:t>
            </a:r>
            <a:r>
              <a:rPr lang="en-US" dirty="0"/>
              <a:t> parameters to fit </a:t>
            </a:r>
            <a:r>
              <a:rPr lang="en-US" dirty="0">
                <a:solidFill>
                  <a:srgbClr val="0070C0"/>
                </a:solidFill>
              </a:rPr>
              <a:t>diagonal cells</a:t>
            </a:r>
            <a:r>
              <a:rPr lang="en-US" dirty="0"/>
              <a:t>, beyond independence</a:t>
            </a:r>
          </a:p>
          <a:p>
            <a:r>
              <a:rPr lang="en-US" dirty="0" err="1"/>
              <a:t>Symm</a:t>
            </a:r>
            <a:r>
              <a:rPr lang="en-US" dirty="0"/>
              <a:t> adds k x (k+1) parameters to fit a </a:t>
            </a:r>
            <a:r>
              <a:rPr lang="en-US" dirty="0">
                <a:solidFill>
                  <a:srgbClr val="0070C0"/>
                </a:solidFill>
              </a:rPr>
              <a:t>symmetric pattern </a:t>
            </a:r>
            <a:r>
              <a:rPr lang="en-US" dirty="0"/>
              <a:t>of association</a:t>
            </a:r>
          </a:p>
          <a:p>
            <a:endParaRPr lang="en-US" dirty="0"/>
          </a:p>
          <a:p>
            <a:r>
              <a:rPr lang="en-US" dirty="0"/>
              <a:t>More general </a:t>
            </a:r>
            <a:r>
              <a:rPr lang="en-US" dirty="0">
                <a:solidFill>
                  <a:srgbClr val="0070C0"/>
                </a:solidFill>
              </a:rPr>
              <a:t>topological</a:t>
            </a:r>
            <a:r>
              <a:rPr lang="en-US" dirty="0"/>
              <a:t> models allow an </a:t>
            </a:r>
            <a:r>
              <a:rPr lang="en-US" dirty="0">
                <a:solidFill>
                  <a:srgbClr val="0070C0"/>
                </a:solidFill>
              </a:rPr>
              <a:t>arbitrary </a:t>
            </a:r>
            <a:r>
              <a:rPr lang="en-US" dirty="0"/>
              <a:t>pattern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of association, but more parsimonious than the independence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F3AFCC-28DE-4EA2-B520-5D7C498C9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809" y="5070636"/>
            <a:ext cx="2952381" cy="1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7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C142C-79B4-42FF-8616-CD6FCE184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Square tables: Using </a:t>
            </a:r>
            <a:r>
              <a:rPr lang="en-US" dirty="0" err="1"/>
              <a:t>gnm</a:t>
            </a:r>
            <a:r>
              <a:rPr lang="en-US" dirty="0"/>
              <a:t>()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B0A5C5-E250-4364-9E23-65E8ED0D6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86494F-5D78-4806-943C-36F7373F70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95400"/>
            <a:ext cx="8171428" cy="18571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C60CD2-1F20-426A-A890-9B679E7D5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324505"/>
            <a:ext cx="8171428" cy="22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90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AEA08-A1A4-4F67-A21D-A87EE711F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Example: Visual acuity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9EA52D-2D5E-4F9B-AA6F-E38D9EA1F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54943-1514-48BE-866F-3BDCDE863E22}"/>
              </a:ext>
            </a:extLst>
          </p:cNvPr>
          <p:cNvSpPr txBox="1"/>
          <p:nvPr/>
        </p:nvSpPr>
        <p:spPr>
          <a:xfrm>
            <a:off x="457200" y="1295400"/>
            <a:ext cx="8229600" cy="107721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data("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VisualAcuity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", package="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women &lt;- subset(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VisualAcuity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gender=="female", select=-gender)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sieve(Freq ~ right + left, data=women, shade = TRUE,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main = "Unaided distance vision data")</a:t>
            </a:r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D945C561-A47A-4D38-A28C-7ABCCB585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40" y="2543176"/>
            <a:ext cx="3607637" cy="39319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B3732D-186F-4B9B-B451-23D2FD774E83}"/>
              </a:ext>
            </a:extLst>
          </p:cNvPr>
          <p:cNvSpPr txBox="1"/>
          <p:nvPr/>
        </p:nvSpPr>
        <p:spPr>
          <a:xfrm>
            <a:off x="4800600" y="3276600"/>
            <a:ext cx="38862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Diagonal cells clearly dominate</a:t>
            </a:r>
          </a:p>
          <a:p>
            <a:endParaRPr lang="en-US" dirty="0"/>
          </a:p>
          <a:p>
            <a:r>
              <a:rPr lang="en-US" dirty="0"/>
              <a:t>What associations remain, ignoring these?</a:t>
            </a:r>
          </a:p>
          <a:p>
            <a:endParaRPr lang="en-US" dirty="0"/>
          </a:p>
          <a:p>
            <a:r>
              <a:rPr lang="en-US" dirty="0"/>
              <a:t>Is there evidence for quasi-symmetry?</a:t>
            </a:r>
          </a:p>
          <a:p>
            <a:endParaRPr lang="en-US" dirty="0"/>
          </a:p>
          <a:p>
            <a:r>
              <a:rPr lang="en-US" dirty="0"/>
              <a:t>A more complete analysis could examine gender in relation to these</a:t>
            </a:r>
          </a:p>
          <a:p>
            <a:r>
              <a:rPr lang="en-US" dirty="0"/>
              <a:t>associations</a:t>
            </a:r>
          </a:p>
        </p:txBody>
      </p:sp>
    </p:spTree>
    <p:extLst>
      <p:ext uri="{BB962C8B-B14F-4D97-AF65-F5344CB8AC3E}">
        <p14:creationId xmlns:p14="http://schemas.microsoft.com/office/powerpoint/2010/main" val="408629470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729F1-1E53-4E10-A4EF-EE5B80EF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Fitting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CC2138-5C29-4AF2-A8DD-11940543F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FB36F-3724-4D1D-AAD9-F8054788DC34}"/>
              </a:ext>
            </a:extLst>
          </p:cNvPr>
          <p:cNvSpPr txBox="1"/>
          <p:nvPr/>
        </p:nvSpPr>
        <p:spPr>
          <a:xfrm>
            <a:off x="457200" y="1649849"/>
            <a:ext cx="82296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indep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glm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(Freq ~ right + left,  data = women, family =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poisson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quasi &lt;- update(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indep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. ~ . + </a:t>
            </a:r>
            <a:r>
              <a:rPr lang="en-US" sz="1400" b="1" dirty="0" err="1">
                <a:latin typeface="Aptos Mono" panose="020B0009020202020204" pitchFamily="49" charset="0"/>
                <a:cs typeface="Courier New" panose="02070309020205020404" pitchFamily="49" charset="0"/>
              </a:rPr>
              <a:t>Diag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(right, left))</a:t>
            </a:r>
          </a:p>
          <a:p>
            <a:endParaRPr lang="en-US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symm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glm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(Freq ~ </a:t>
            </a:r>
            <a:r>
              <a:rPr lang="en-US" sz="1400" b="1" dirty="0" err="1">
                <a:latin typeface="Aptos Mono" panose="020B0009020202020204" pitchFamily="49" charset="0"/>
                <a:cs typeface="Courier New" panose="02070309020205020404" pitchFamily="49" charset="0"/>
              </a:rPr>
              <a:t>Symm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(right, left), data = women, family =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poisson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qsymm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&lt;- update(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symm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. ~ right + left + 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D993D-03ED-4629-8B0B-0A0B67E136E1}"/>
              </a:ext>
            </a:extLst>
          </p:cNvPr>
          <p:cNvSpPr txBox="1"/>
          <p:nvPr/>
        </p:nvSpPr>
        <p:spPr>
          <a:xfrm>
            <a:off x="457200" y="3911600"/>
            <a:ext cx="8229600" cy="203132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vcdExtra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::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LRstats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indep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quasi,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symm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qsymm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AIC  BIC LR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Df 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indep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6803 6808     6672  9     &lt;2e-16 ***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quasi  338  347      199  5     &lt;2e-16 ***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symm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157  164       19  6     0.0038 ** 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qsymm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151  161        7  3     0.0638 .  </a:t>
            </a:r>
          </a:p>
          <a:p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701FB5-3824-49C2-AF90-22E3224597FD}"/>
              </a:ext>
            </a:extLst>
          </p:cNvPr>
          <p:cNvSpPr txBox="1"/>
          <p:nvPr/>
        </p:nvSpPr>
        <p:spPr>
          <a:xfrm>
            <a:off x="457200" y="1169075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Start with the independence model, then 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update() </a:t>
            </a:r>
            <a:r>
              <a:rPr lang="en-US" dirty="0"/>
              <a:t>to add other terms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ABC4DF-8270-4695-97AB-C91ECA88A69D}"/>
              </a:ext>
            </a:extLst>
          </p:cNvPr>
          <p:cNvSpPr txBox="1"/>
          <p:nvPr/>
        </p:nvSpPr>
        <p:spPr>
          <a:xfrm>
            <a:off x="457200" y="3048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quasi-symmetry model (</a:t>
            </a:r>
            <a:r>
              <a:rPr lang="en-US" dirty="0" err="1"/>
              <a:t>qsymm</a:t>
            </a:r>
            <a:r>
              <a:rPr lang="en-US" dirty="0"/>
              <a:t>) fits reasonably well; none of the others do by LR G</a:t>
            </a:r>
            <a:r>
              <a:rPr lang="en-US" baseline="30000" dirty="0"/>
              <a:t>2</a:t>
            </a:r>
            <a:r>
              <a:rPr lang="en-US" dirty="0"/>
              <a:t> tests or AIC, BIC; </a:t>
            </a:r>
            <a:r>
              <a:rPr lang="en-US" dirty="0" err="1"/>
              <a:t>qsymm</a:t>
            </a:r>
            <a:r>
              <a:rPr lang="en-US" dirty="0"/>
              <a:t> is best by AIC, BIC</a:t>
            </a:r>
          </a:p>
        </p:txBody>
      </p:sp>
    </p:spTree>
    <p:extLst>
      <p:ext uri="{BB962C8B-B14F-4D97-AF65-F5344CB8AC3E}">
        <p14:creationId xmlns:p14="http://schemas.microsoft.com/office/powerpoint/2010/main" val="4284471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0B36A-F4A5-4F8C-8135-C237725A8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model fits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485D9D-EEDB-4DD1-AC0F-03A43A680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53</a:t>
            </a:fld>
            <a:endParaRPr lang="en-US"/>
          </a:p>
        </p:txBody>
      </p:sp>
      <p:pic>
        <p:nvPicPr>
          <p:cNvPr id="5" name="Picture 4" descr="Chart, bar chart&#10;&#10;Description automatically generated">
            <a:extLst>
              <a:ext uri="{FF2B5EF4-FFF2-40B4-BE49-F238E27FC236}">
                <a16:creationId xmlns:a16="http://schemas.microsoft.com/office/drawing/2014/main" id="{76686F1D-63ED-463C-95C6-AEF4D88ED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163685"/>
            <a:ext cx="4114800" cy="4244740"/>
          </a:xfrm>
          <a:prstGeom prst="rect">
            <a:avLst/>
          </a:prstGeom>
        </p:spPr>
      </p:pic>
      <p:pic>
        <p:nvPicPr>
          <p:cNvPr id="7" name="Picture 6" descr="Chart&#10;&#10;Description automatically generated">
            <a:extLst>
              <a:ext uri="{FF2B5EF4-FFF2-40B4-BE49-F238E27FC236}">
                <a16:creationId xmlns:a16="http://schemas.microsoft.com/office/drawing/2014/main" id="{4F7FDAC3-9A2C-480D-BB45-F58305604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290" y="2163685"/>
            <a:ext cx="4114800" cy="42898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CDB4B3-01D4-4376-B4AE-1135502DB3A7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Quasi-independence</a:t>
            </a:r>
            <a:r>
              <a:rPr lang="en-US" dirty="0"/>
              <a:t>: The diagonal cells are forced to fit </a:t>
            </a:r>
            <a:r>
              <a:rPr lang="en-US" dirty="0">
                <a:solidFill>
                  <a:srgbClr val="0070C0"/>
                </a:solidFill>
              </a:rPr>
              <a:t>exactly</a:t>
            </a:r>
            <a:r>
              <a:rPr lang="en-US" dirty="0"/>
              <a:t>.  </a:t>
            </a:r>
          </a:p>
          <a:p>
            <a:r>
              <a:rPr lang="en-US" dirty="0"/>
              <a:t>Lack-of-fit appears in the </a:t>
            </a:r>
            <a:r>
              <a:rPr lang="en-US" dirty="0">
                <a:solidFill>
                  <a:srgbClr val="0070C0"/>
                </a:solidFill>
              </a:rPr>
              <a:t>symmetrically opposite </a:t>
            </a:r>
            <a:r>
              <a:rPr lang="en-US" dirty="0"/>
              <a:t>cells</a:t>
            </a:r>
          </a:p>
        </p:txBody>
      </p:sp>
    </p:spTree>
    <p:extLst>
      <p:ext uri="{BB962C8B-B14F-4D97-AF65-F5344CB8AC3E}">
        <p14:creationId xmlns:p14="http://schemas.microsoft.com/office/powerpoint/2010/main" val="202275739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DF82E-3E5E-D542-6B4C-505C40FF6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Hauser79 data: Occupational mobility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3872E7-4D69-D595-1596-E7054A888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030F4A-8D26-3492-E6B7-E6F1E5ADF82F}"/>
              </a:ext>
            </a:extLst>
          </p:cNvPr>
          <p:cNvSpPr txBox="1"/>
          <p:nvPr/>
        </p:nvSpPr>
        <p:spPr>
          <a:xfrm>
            <a:off x="457200" y="2017455"/>
            <a:ext cx="2819400" cy="255454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data(Hauser79, package=“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vcdExtra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”)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head(Hauser79)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Son Father Freq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1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UpNM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UpNM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1414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2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LoNM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UpNM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521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3 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UpM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UpNM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302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4 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UpNM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643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5 Farm  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UpNM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40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6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UpNM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LoNM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724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CE45A4-CF8D-33DE-8C9C-23F9271E1967}"/>
              </a:ext>
            </a:extLst>
          </p:cNvPr>
          <p:cNvSpPr txBox="1"/>
          <p:nvPr/>
        </p:nvSpPr>
        <p:spPr>
          <a:xfrm>
            <a:off x="3429000" y="2052697"/>
            <a:ext cx="5257800" cy="206210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&gt;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structable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(~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Father+Son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, data=Hauser79)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Son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UpNM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LoNM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UpM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</a:t>
            </a:r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Farm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Father                             </a:t>
            </a:r>
          </a:p>
          <a:p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UpNM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1414  521  302  643   40</a:t>
            </a:r>
          </a:p>
          <a:p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LoNM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724  524  254  703   48</a:t>
            </a:r>
          </a:p>
          <a:p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UpM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798  648  856 1676  108</a:t>
            </a:r>
          </a:p>
          <a:p>
            <a:r>
              <a:rPr lang="en-CA" sz="16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LoM</a:t>
            </a:r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756  914  771 3325  237</a:t>
            </a:r>
          </a:p>
          <a:p>
            <a:r>
              <a:rPr lang="en-CA" sz="1600" dirty="0">
                <a:latin typeface="Aptos Mono" panose="020B0009020202020204" pitchFamily="49" charset="0"/>
                <a:cs typeface="Courier New" panose="02070309020205020404" pitchFamily="49" charset="0"/>
              </a:rPr>
              <a:t>Farm        409  357  441 1611 1832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035B3-EE76-ECFD-5DEC-F4ADD22BA562}"/>
              </a:ext>
            </a:extLst>
          </p:cNvPr>
          <p:cNvSpPr txBox="1"/>
          <p:nvPr/>
        </p:nvSpPr>
        <p:spPr>
          <a:xfrm>
            <a:off x="457200" y="10668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Square tables of occupational categories are a prime example of where various models provide substantiative interpretations of aspects of occupational mobility</a:t>
            </a:r>
          </a:p>
        </p:txBody>
      </p:sp>
    </p:spTree>
    <p:extLst>
      <p:ext uri="{BB962C8B-B14F-4D97-AF65-F5344CB8AC3E}">
        <p14:creationId xmlns:p14="http://schemas.microsoft.com/office/powerpoint/2010/main" val="21734530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5CC5E-3BF3-095B-67A0-AC30F1DF3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More models, more mosaics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E23F58-A702-35D9-3F75-32496D35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06EC7A-1CDF-8185-7011-5D907054401C}"/>
              </a:ext>
            </a:extLst>
          </p:cNvPr>
          <p:cNvSpPr txBox="1"/>
          <p:nvPr/>
        </p:nvSpPr>
        <p:spPr>
          <a:xfrm>
            <a:off x="457200" y="11430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For the Hauser79 data on occupational mobility, there are a wide variety of models to consider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142CF-1BD8-0525-5AFF-477EE45A73D7}"/>
              </a:ext>
            </a:extLst>
          </p:cNvPr>
          <p:cNvSpPr txBox="1"/>
          <p:nvPr/>
        </p:nvSpPr>
        <p:spPr>
          <a:xfrm>
            <a:off x="609600" y="1981200"/>
            <a:ext cx="8077200" cy="378565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library(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gnm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hauser.indep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&lt;- 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gnm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(Freq ~ Father + Son, </a:t>
            </a:r>
          </a:p>
          <a:p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 data=Hauser79, family=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poisson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hauser.quasi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&lt;- update(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hauser.indep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, ~ . + </a:t>
            </a:r>
            <a:r>
              <a:rPr lang="en-CA" sz="1200" b="1" dirty="0" err="1">
                <a:latin typeface="Aptos Mono" panose="020B0009020202020204" pitchFamily="49" charset="0"/>
                <a:cs typeface="Courier New" panose="02070309020205020404" pitchFamily="49" charset="0"/>
              </a:rPr>
              <a:t>Diag</a:t>
            </a:r>
            <a:r>
              <a:rPr lang="en-CA" sz="1200" b="1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200" b="1" dirty="0" err="1">
                <a:latin typeface="Aptos Mono" panose="020B0009020202020204" pitchFamily="49" charset="0"/>
                <a:cs typeface="Courier New" panose="02070309020205020404" pitchFamily="49" charset="0"/>
              </a:rPr>
              <a:t>Father,Son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hauser.qsymm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&lt;- update(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hauser.indep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, ~ . + </a:t>
            </a:r>
            <a:r>
              <a:rPr lang="en-CA" sz="1200" b="1" dirty="0" err="1">
                <a:latin typeface="Aptos Mono" panose="020B0009020202020204" pitchFamily="49" charset="0"/>
                <a:cs typeface="Courier New" panose="02070309020205020404" pitchFamily="49" charset="0"/>
              </a:rPr>
              <a:t>Diag</a:t>
            </a:r>
            <a:r>
              <a:rPr lang="en-CA" sz="1200" b="1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200" b="1" dirty="0" err="1">
                <a:latin typeface="Aptos Mono" panose="020B0009020202020204" pitchFamily="49" charset="0"/>
                <a:cs typeface="Courier New" panose="02070309020205020404" pitchFamily="49" charset="0"/>
              </a:rPr>
              <a:t>Father,Son</a:t>
            </a:r>
            <a:r>
              <a:rPr lang="en-CA" sz="1200" b="1" dirty="0">
                <a:latin typeface="Aptos Mono" panose="020B0009020202020204" pitchFamily="49" charset="0"/>
                <a:cs typeface="Courier New" panose="02070309020205020404" pitchFamily="49" charset="0"/>
              </a:rPr>
              <a:t>) 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+ </a:t>
            </a:r>
            <a:r>
              <a:rPr lang="en-CA" sz="1200" b="1" dirty="0" err="1">
                <a:latin typeface="Aptos Mono" panose="020B0009020202020204" pitchFamily="49" charset="0"/>
                <a:cs typeface="Courier New" panose="02070309020205020404" pitchFamily="49" charset="0"/>
              </a:rPr>
              <a:t>Symm</a:t>
            </a:r>
            <a:r>
              <a:rPr lang="en-CA" sz="1200" b="1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200" b="1" dirty="0" err="1">
                <a:latin typeface="Aptos Mono" panose="020B0009020202020204" pitchFamily="49" charset="0"/>
                <a:cs typeface="Courier New" panose="02070309020205020404" pitchFamily="49" charset="0"/>
              </a:rPr>
              <a:t>Father,Son</a:t>
            </a:r>
            <a:r>
              <a:rPr lang="en-CA" sz="1200" b="1" dirty="0">
                <a:latin typeface="Aptos Mono" panose="020B0009020202020204" pitchFamily="49" charset="0"/>
                <a:cs typeface="Courier New" panose="02070309020205020404" pitchFamily="49" charset="0"/>
              </a:rPr>
              <a:t>) 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endParaRPr lang="en-CA" sz="12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rgbClr val="00B050"/>
                </a:solidFill>
                <a:latin typeface="Aptos Mono" panose="020B0009020202020204" pitchFamily="49" charset="0"/>
                <a:cs typeface="Courier New" panose="02070309020205020404" pitchFamily="49" charset="0"/>
              </a:rPr>
              <a:t># numeric scores</a:t>
            </a:r>
          </a:p>
          <a:p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Fscore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&lt;- 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as.numeric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(Hauser79$Father)</a:t>
            </a:r>
          </a:p>
          <a:p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Sscore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&lt;- 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as.numeric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(Hauser79$Son)</a:t>
            </a:r>
          </a:p>
          <a:p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hauser.UA     &lt;- update(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hauser.indep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, ~ . + 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Fscore:Sscore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hauser.roweff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&lt;- update(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hauser.indep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, ~ . + 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Father:Sscore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hauser.UAdiag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&lt;- update(hauser.UA, ~ . + 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Diag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Father,Son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))</a:t>
            </a:r>
          </a:p>
          <a:p>
            <a:endParaRPr lang="en-CA" sz="12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rgbClr val="00B050"/>
                </a:solidFill>
                <a:latin typeface="Aptos Mono" panose="020B0009020202020204" pitchFamily="49" charset="0"/>
                <a:cs typeface="Courier New" panose="02070309020205020404" pitchFamily="49" charset="0"/>
              </a:rPr>
              <a:t># RC models, estimating category scores</a:t>
            </a:r>
          </a:p>
          <a:p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hauser.RC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&lt;- update(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hauser.indep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, ~ . + Mult(Father, Son), verbose=FALSE)</a:t>
            </a:r>
          </a:p>
          <a:p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hauser.RCdiag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&lt;- update(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hauser.RC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, ~ . + 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Diag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(Father, Son), verbose=FALSE)</a:t>
            </a:r>
          </a:p>
          <a:p>
            <a:endParaRPr lang="en-CA" sz="12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200" dirty="0">
                <a:solidFill>
                  <a:srgbClr val="00B050"/>
                </a:solidFill>
                <a:latin typeface="Aptos Mono" panose="020B0009020202020204" pitchFamily="49" charset="0"/>
                <a:cs typeface="Courier New" panose="02070309020205020404" pitchFamily="49" charset="0"/>
              </a:rPr>
              <a:t># crossings models</a:t>
            </a:r>
          </a:p>
          <a:p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hauser.CR &lt;- update(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hauser.indep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, ~ . + Crossings(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Father,Son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hauser.CRdiag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&lt;- update(hauser.CR, ~ . + 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Diag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Father,Son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963868-D975-7CD1-18DD-B78B9D6FFE69}"/>
              </a:ext>
            </a:extLst>
          </p:cNvPr>
          <p:cNvSpPr txBox="1"/>
          <p:nvPr/>
        </p:nvSpPr>
        <p:spPr>
          <a:xfrm>
            <a:off x="609600" y="6019800"/>
            <a:ext cx="807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/>
              <a:t>Crossings: perhaps different difficulty crossing from one level to the next</a:t>
            </a:r>
          </a:p>
        </p:txBody>
      </p:sp>
    </p:spTree>
    <p:extLst>
      <p:ext uri="{BB962C8B-B14F-4D97-AF65-F5344CB8AC3E}">
        <p14:creationId xmlns:p14="http://schemas.microsoft.com/office/powerpoint/2010/main" val="4195683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E7749-57BF-E4E1-41B9-CDA68A8AB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More models, more mosaics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C1D8C4-0392-68C3-EF1F-7F5A2231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56</a:t>
            </a:fld>
            <a:endParaRPr lang="en-US"/>
          </a:p>
        </p:txBody>
      </p:sp>
      <p:pic>
        <p:nvPicPr>
          <p:cNvPr id="5" name="Picture 4" descr="Chart, diagram, bar chart&#10;&#10;Description automatically generated">
            <a:extLst>
              <a:ext uri="{FF2B5EF4-FFF2-40B4-BE49-F238E27FC236}">
                <a16:creationId xmlns:a16="http://schemas.microsoft.com/office/drawing/2014/main" id="{5030B194-B747-AF08-A994-950220EF5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1143000"/>
            <a:ext cx="2503296" cy="2664000"/>
          </a:xfrm>
          <a:prstGeom prst="rect">
            <a:avLst/>
          </a:prstGeom>
        </p:spPr>
      </p:pic>
      <p:pic>
        <p:nvPicPr>
          <p:cNvPr id="7" name="Picture 6" descr="Chart, diagram&#10;&#10;Description automatically generated">
            <a:extLst>
              <a:ext uri="{FF2B5EF4-FFF2-40B4-BE49-F238E27FC236}">
                <a16:creationId xmlns:a16="http://schemas.microsoft.com/office/drawing/2014/main" id="{EA35160A-97FC-C1B4-F7E1-6BC4716BC1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199" y="1143000"/>
            <a:ext cx="2515312" cy="2664000"/>
          </a:xfrm>
          <a:prstGeom prst="rect">
            <a:avLst/>
          </a:prstGeom>
        </p:spPr>
      </p:pic>
      <p:pic>
        <p:nvPicPr>
          <p:cNvPr id="9" name="Picture 8" descr="Diagram&#10;&#10;Description automatically generated">
            <a:extLst>
              <a:ext uri="{FF2B5EF4-FFF2-40B4-BE49-F238E27FC236}">
                <a16:creationId xmlns:a16="http://schemas.microsoft.com/office/drawing/2014/main" id="{710A055C-AF10-B3B7-6B07-4D4DA94EAB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092144"/>
            <a:ext cx="2509117" cy="2664000"/>
          </a:xfrm>
          <a:prstGeom prst="rect">
            <a:avLst/>
          </a:prstGeom>
        </p:spPr>
      </p:pic>
      <p:pic>
        <p:nvPicPr>
          <p:cNvPr id="11" name="Picture 10" descr="Diagram&#10;&#10;Description automatically generated with low confidence">
            <a:extLst>
              <a:ext uri="{FF2B5EF4-FFF2-40B4-BE49-F238E27FC236}">
                <a16:creationId xmlns:a16="http://schemas.microsoft.com/office/drawing/2014/main" id="{E4C6AA0E-4FF5-5702-24FB-C3C27A9592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5199" y="3978450"/>
            <a:ext cx="2509117" cy="26640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A49FFA-849F-4C49-9974-12E63225E247}"/>
              </a:ext>
            </a:extLst>
          </p:cNvPr>
          <p:cNvSpPr txBox="1"/>
          <p:nvPr/>
        </p:nvSpPr>
        <p:spPr>
          <a:xfrm>
            <a:off x="6248400" y="1369874"/>
            <a:ext cx="243839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Mosaic plots reveal the pattern of lack-of-fit</a:t>
            </a:r>
          </a:p>
          <a:p>
            <a:endParaRPr lang="en-CA" dirty="0"/>
          </a:p>
          <a:p>
            <a:r>
              <a:rPr lang="en-CA" dirty="0"/>
              <a:t>For more sensitive comparisons, we need model fit statistics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975DA9-BF68-272E-6385-F8D70BCF2385}"/>
              </a:ext>
            </a:extLst>
          </p:cNvPr>
          <p:cNvSpPr txBox="1"/>
          <p:nvPr/>
        </p:nvSpPr>
        <p:spPr>
          <a:xfrm>
            <a:off x="6248400" y="3429000"/>
            <a:ext cx="243839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Q: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How to interpret  quasi-independence?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Quasi-symmetry?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/>
              <a:t>RC?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600" dirty="0" err="1"/>
              <a:t>RC+Diag</a:t>
            </a:r>
            <a:r>
              <a:rPr lang="en-CA" sz="1600" dirty="0"/>
              <a:t>()?</a:t>
            </a:r>
          </a:p>
        </p:txBody>
      </p:sp>
    </p:spTree>
    <p:extLst>
      <p:ext uri="{BB962C8B-B14F-4D97-AF65-F5344CB8AC3E}">
        <p14:creationId xmlns:p14="http://schemas.microsoft.com/office/powerpoint/2010/main" val="175938297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C9170-4FB9-D3BB-00CE-5508BBD1B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 comparisons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3C018E-3E45-2DCB-0CF7-D783E84F3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E6E595-8133-5D86-9FD4-57F9DC9EDE44}"/>
              </a:ext>
            </a:extLst>
          </p:cNvPr>
          <p:cNvSpPr txBox="1"/>
          <p:nvPr/>
        </p:nvSpPr>
        <p:spPr>
          <a:xfrm>
            <a:off x="457200" y="1573649"/>
            <a:ext cx="8229600" cy="116955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modlist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&lt;-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glmlist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hauser.indep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hauser.roweff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hauser.UA,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hauser.UAdiag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hauser.quasi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hauser.qsymm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 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hauser.topo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hauser.RC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hauser.CR,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hauser.CRdiag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)</a:t>
            </a:r>
          </a:p>
          <a:p>
            <a:endParaRPr lang="en-CA" sz="1400" dirty="0">
              <a:latin typeface="Aptos Mono" panose="020B0009020202020204" pitchFamily="49" charset="0"/>
              <a:cs typeface="Courier New" panose="02070309020205020404" pitchFamily="49" charset="0"/>
            </a:endParaRPr>
          </a:p>
          <a:p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LRstats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modlist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, </a:t>
            </a:r>
            <a:r>
              <a:rPr lang="en-CA" sz="14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sortby</a:t>
            </a:r>
            <a:r>
              <a:rPr lang="en-CA" sz="1400" dirty="0">
                <a:latin typeface="Aptos Mono" panose="020B0009020202020204" pitchFamily="49" charset="0"/>
                <a:cs typeface="Courier New" panose="02070309020205020404" pitchFamily="49" charset="0"/>
              </a:rPr>
              <a:t> = "BIC")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D8CC8F-F24B-9911-7ADB-6B7FBF167EE8}"/>
              </a:ext>
            </a:extLst>
          </p:cNvPr>
          <p:cNvSpPr txBox="1"/>
          <p:nvPr/>
        </p:nvSpPr>
        <p:spPr>
          <a:xfrm>
            <a:off x="533400" y="3342144"/>
            <a:ext cx="8153400" cy="2677656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               AIC    BIC LR 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Df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Pr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(&gt;</a:t>
            </a:r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Chisq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hauser.indep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6390.8 6401.8   6170.1 16  &lt; 2.2e-16 ***</a:t>
            </a:r>
          </a:p>
          <a:p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hauser.UA     2503.4 2515.6   2280.7 15  &lt; 2.2e-16 ***</a:t>
            </a:r>
          </a:p>
          <a:p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hauser.roweff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2308.9 2324.7   2080.2 12  &lt; 2.2e-16 ***</a:t>
            </a:r>
          </a:p>
          <a:p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hauser.RC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    920.2  939.7    685.4  9  &lt; 2.2e-16 ***</a:t>
            </a:r>
          </a:p>
          <a:p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hauser.quasi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 914.1  931.1    683.3 11  &lt; 2.2e-16 ***</a:t>
            </a:r>
          </a:p>
          <a:p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hauser.CR      318.6  334.5     89.9 12  5.131e-14 ***</a:t>
            </a:r>
          </a:p>
          <a:p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hauser.UAdiag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305.7  324.0     73.0 10  1.161e-11 ***</a:t>
            </a:r>
          </a:p>
          <a:p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hauser.CRdiag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298.9  318.5     64.2  9  2.030e-10 ***</a:t>
            </a:r>
          </a:p>
          <a:p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hauser.topo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  295.3  311.1     66.6 12  1.397e-09 ***</a:t>
            </a:r>
          </a:p>
          <a:p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hauser.qsymm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   268.2  291.3     27.4  6  0.0001193 ***</a:t>
            </a:r>
          </a:p>
          <a:p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CA" sz="1200" dirty="0" err="1">
                <a:latin typeface="Aptos Mono" panose="020B0009020202020204" pitchFamily="49" charset="0"/>
                <a:cs typeface="Courier New" panose="02070309020205020404" pitchFamily="49" charset="0"/>
              </a:rPr>
              <a:t>Signif</a:t>
            </a:r>
            <a:r>
              <a:rPr lang="en-CA" sz="1200" dirty="0">
                <a:latin typeface="Aptos Mono" panose="020B00090202020202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E00E77-7CF3-DE6F-269D-38CFE5CBE5DE}"/>
              </a:ext>
            </a:extLst>
          </p:cNvPr>
          <p:cNvSpPr txBox="1"/>
          <p:nvPr/>
        </p:nvSpPr>
        <p:spPr>
          <a:xfrm>
            <a:off x="457200" y="10668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Collect the models in a </a:t>
            </a:r>
            <a:r>
              <a:rPr lang="en-CA" b="1" dirty="0" err="1">
                <a:solidFill>
                  <a:schemeClr val="accent6">
                    <a:lumMod val="50000"/>
                  </a:schemeClr>
                </a:solidFill>
                <a:latin typeface="Aptos Mono" panose="020B0009020202020204" pitchFamily="49" charset="0"/>
              </a:rPr>
              <a:t>glmlist</a:t>
            </a:r>
            <a:r>
              <a:rPr lang="en-CA" b="1" dirty="0">
                <a:solidFill>
                  <a:schemeClr val="accent6">
                    <a:lumMod val="50000"/>
                  </a:schemeClr>
                </a:solidFill>
                <a:latin typeface="Aptos Mono" panose="020B0009020202020204" pitchFamily="49" charset="0"/>
              </a:rPr>
              <a:t>() </a:t>
            </a:r>
            <a:r>
              <a:rPr lang="en-CA" dirty="0"/>
              <a:t>and compare them using </a:t>
            </a:r>
            <a:r>
              <a:rPr lang="en-CA" dirty="0" err="1"/>
              <a:t>LRstats</a:t>
            </a:r>
            <a:r>
              <a:rPr lang="en-CA" dirty="0"/>
              <a:t>():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0B5C9F-D7D4-5015-79FA-08ECBE6C88F4}"/>
              </a:ext>
            </a:extLst>
          </p:cNvPr>
          <p:cNvSpPr txBox="1"/>
          <p:nvPr/>
        </p:nvSpPr>
        <p:spPr>
          <a:xfrm>
            <a:off x="457200" y="2880717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Sorting by BIC shows the best models at the bottom: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877787-2464-105D-D2BC-D37A54656C6F}"/>
              </a:ext>
            </a:extLst>
          </p:cNvPr>
          <p:cNvSpPr txBox="1"/>
          <p:nvPr/>
        </p:nvSpPr>
        <p:spPr>
          <a:xfrm>
            <a:off x="457200" y="6111895"/>
            <a:ext cx="678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The quasi-symmetry model is best, but still shows some lack of fit</a:t>
            </a:r>
          </a:p>
        </p:txBody>
      </p:sp>
    </p:spTree>
    <p:extLst>
      <p:ext uri="{BB962C8B-B14F-4D97-AF65-F5344CB8AC3E}">
        <p14:creationId xmlns:p14="http://schemas.microsoft.com/office/powerpoint/2010/main" val="292206817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1E5A4-FBA6-7897-B62D-0C9DC4207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Model comparison plots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4DBC9E-691F-158F-4FB1-00FA4EAC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58</a:t>
            </a:fld>
            <a:endParaRPr lang="en-US" dirty="0"/>
          </a:p>
        </p:txBody>
      </p:sp>
      <p:pic>
        <p:nvPicPr>
          <p:cNvPr id="5" name="Picture 4" descr="Chart, scatter chart&#10;&#10;Description automatically generated">
            <a:extLst>
              <a:ext uri="{FF2B5EF4-FFF2-40B4-BE49-F238E27FC236}">
                <a16:creationId xmlns:a16="http://schemas.microsoft.com/office/drawing/2014/main" id="{9ED45C43-3298-4C95-4630-DFDE5DD85A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095186"/>
            <a:ext cx="5809695" cy="44881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EE09E3-18CE-4A78-1F7D-F159359B2E1B}"/>
              </a:ext>
            </a:extLst>
          </p:cNvPr>
          <p:cNvSpPr txBox="1"/>
          <p:nvPr/>
        </p:nvSpPr>
        <p:spPr>
          <a:xfrm>
            <a:off x="457200" y="1143000"/>
            <a:ext cx="8229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When there are more than a few models, a </a:t>
            </a:r>
            <a:r>
              <a:rPr lang="en-CA" dirty="0">
                <a:solidFill>
                  <a:srgbClr val="0070C0"/>
                </a:solidFill>
              </a:rPr>
              <a:t>model comparison plot </a:t>
            </a:r>
            <a:r>
              <a:rPr lang="en-CA" dirty="0"/>
              <a:t>can show the trade-off between goodness-of-fit and parsimony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This sorts the models by both </a:t>
            </a:r>
            <a:r>
              <a:rPr lang="en-CA" dirty="0">
                <a:solidFill>
                  <a:srgbClr val="0070C0"/>
                </a:solidFill>
              </a:rPr>
              <a:t>fit</a:t>
            </a:r>
            <a:r>
              <a:rPr lang="en-CA" dirty="0"/>
              <a:t> &amp; </a:t>
            </a:r>
            <a:r>
              <a:rPr lang="en-CA" dirty="0">
                <a:solidFill>
                  <a:srgbClr val="0070C0"/>
                </a:solidFill>
              </a:rPr>
              <a:t>complexity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C1537C-2A51-11F8-9812-18ADF4C8FF4C}"/>
              </a:ext>
            </a:extLst>
          </p:cNvPr>
          <p:cNvSpPr txBox="1"/>
          <p:nvPr/>
        </p:nvSpPr>
        <p:spPr>
          <a:xfrm>
            <a:off x="6553200" y="2133600"/>
            <a:ext cx="21336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Plot BIC vs. </a:t>
            </a:r>
            <a:r>
              <a:rPr lang="en-CA" dirty="0" err="1"/>
              <a:t>df</a:t>
            </a:r>
            <a:endParaRPr lang="en-CA" dirty="0"/>
          </a:p>
          <a:p>
            <a:endParaRPr lang="en-CA" dirty="0"/>
          </a:p>
          <a:p>
            <a:r>
              <a:rPr lang="en-CA" dirty="0"/>
              <a:t>Can also use AIC, or G</a:t>
            </a:r>
            <a:r>
              <a:rPr lang="en-CA" baseline="30000" dirty="0"/>
              <a:t>2</a:t>
            </a:r>
            <a:r>
              <a:rPr lang="en-CA" dirty="0"/>
              <a:t> / </a:t>
            </a:r>
            <a:r>
              <a:rPr lang="en-CA" dirty="0" err="1"/>
              <a:t>df</a:t>
            </a:r>
            <a:r>
              <a:rPr lang="en-CA" dirty="0"/>
              <a:t> in this plot</a:t>
            </a:r>
          </a:p>
          <a:p>
            <a:endParaRPr lang="en-CA" dirty="0"/>
          </a:p>
          <a:p>
            <a:r>
              <a:rPr lang="en-CA" dirty="0"/>
              <a:t>Plot on log scale to emphasize </a:t>
            </a:r>
            <a:r>
              <a:rPr lang="en-CA" dirty="0" err="1"/>
              <a:t>diff</a:t>
            </a:r>
            <a:r>
              <a:rPr lang="en-CA" baseline="30000" dirty="0" err="1"/>
              <a:t>ce</a:t>
            </a:r>
            <a:r>
              <a:rPr lang="en-CA" dirty="0"/>
              <a:t> among better models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440B79-5401-31F1-836E-19793B9382F2}"/>
              </a:ext>
            </a:extLst>
          </p:cNvPr>
          <p:cNvSpPr txBox="1"/>
          <p:nvPr/>
        </p:nvSpPr>
        <p:spPr>
          <a:xfrm>
            <a:off x="6629400" y="4953000"/>
            <a:ext cx="205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And, the winner is:</a:t>
            </a:r>
          </a:p>
          <a:p>
            <a:r>
              <a:rPr lang="en-CA" dirty="0"/>
              <a:t>Quasi-symmetry!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632AF6B-2DD7-A347-9006-298CC2A14BF2}"/>
              </a:ext>
            </a:extLst>
          </p:cNvPr>
          <p:cNvSpPr/>
          <p:nvPr/>
        </p:nvSpPr>
        <p:spPr>
          <a:xfrm>
            <a:off x="838200" y="5257800"/>
            <a:ext cx="1143000" cy="6858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32936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DDD1-6CDF-478F-98A2-FB115D1A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complex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9B372-7B43-44C6-A37B-7D04F8932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Extensions of these methods occur in a variety of contexts: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Panel surveys</a:t>
            </a:r>
            <a:r>
              <a:rPr lang="en-US" sz="2000" dirty="0"/>
              <a:t>, where attitude items are analyzed over time &amp; space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Social mobility </a:t>
            </a:r>
            <a:r>
              <a:rPr lang="en-US" sz="2000" dirty="0"/>
              <a:t>data, where occupational status of parents and children may admit subtly different models across </a:t>
            </a:r>
            <a:r>
              <a:rPr lang="en-US" sz="2000" dirty="0">
                <a:solidFill>
                  <a:srgbClr val="0070C0"/>
                </a:solidFill>
              </a:rPr>
              <a:t>strata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Migration</a:t>
            </a:r>
            <a:r>
              <a:rPr lang="en-US" sz="2000" dirty="0"/>
              <a:t> data, where geographical &amp; political factors require special treatment (e.g., mover-stayer models)</a:t>
            </a:r>
          </a:p>
          <a:p>
            <a:r>
              <a:rPr lang="en-US" sz="2400" dirty="0"/>
              <a:t>These often involve: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ordinal variables</a:t>
            </a:r>
            <a:r>
              <a:rPr lang="en-US" sz="2000" dirty="0"/>
              <a:t>: support for abortion, occupational status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square tables</a:t>
            </a:r>
            <a:r>
              <a:rPr lang="en-US" sz="2000" dirty="0"/>
              <a:t>: husbands/wives, fathers/sons</a:t>
            </a:r>
          </a:p>
          <a:p>
            <a:pPr lvl="1"/>
            <a:r>
              <a:rPr lang="en-US" sz="2000" dirty="0">
                <a:solidFill>
                  <a:srgbClr val="0070C0"/>
                </a:solidFill>
              </a:rPr>
              <a:t>strata</a:t>
            </a:r>
            <a:r>
              <a:rPr lang="en-US" sz="2000" dirty="0"/>
              <a:t> or layers to control for other factors or analyze change over time or differences over geography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AAD476-50A9-485B-9DAD-35974BC7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88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3026A-C0EC-4F41-AB3D-46B45BEE4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More complex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EB2CE-1BFC-40B3-A124-044EF9BCC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18889E-B640-4857-B3D3-57194F9A7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86" y="1305324"/>
            <a:ext cx="8171428" cy="31904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77F03A-362C-4F0C-BC72-213DF55E0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724400"/>
            <a:ext cx="8171428" cy="10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5986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EDF5B-5DAB-4600-9B57-5098BD46A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Models for stratified mobility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C364D4-9338-42B1-98CC-5ED6918C7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A9E62-0B62-4486-A66F-F34D190A5B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200"/>
            <a:ext cx="8171428" cy="9619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FFB70F-8389-4CA2-9164-089D79646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86" y="2286000"/>
            <a:ext cx="8171428" cy="10380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8FB597-16CA-4FD7-BF13-24E1B7615F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20" y="3573556"/>
            <a:ext cx="8171428" cy="2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2231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0ECD4-7892-4A9D-BBD7-EFE68E397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Example: Social mobility in US, UK &amp; Japan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0D0356-67A5-471C-A551-20BC945A5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62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720560-1A76-4647-B679-EB0864DD0119}"/>
              </a:ext>
            </a:extLst>
          </p:cNvPr>
          <p:cNvSpPr txBox="1"/>
          <p:nvPr/>
        </p:nvSpPr>
        <p:spPr>
          <a:xfrm>
            <a:off x="457200" y="1676400"/>
            <a:ext cx="8229600" cy="2462213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data(Yamaguchi87, package="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Yama.tab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xtabs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(Freq ~ Father + Son + Country, data=Yamaguchi87)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structable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Country+Son~Father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Yama.tab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[,,1:2])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Country   US                       UK                 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Son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UpNM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LoNM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Farm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UpNM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LoNM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Farm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Father                                                          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UpNM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1275  364  274  272   17  474  129   87  124   11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LoNM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1055  597  394  443   31  300  218  171  220    8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1043  587 1045  951   47  438  254  669  703   16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1159  791 1323 2046   52  601  388  932 1789   37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Farm            666  496 1031 1632  646   76   56  125  295  191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4DA6E9-2E63-4A57-9400-661DD92F36A8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 from Yamaguchi (1987): Cross-national comparison of occupational mobility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CC5AAE-2BD1-4EC4-B066-3AC26E83491A}"/>
              </a:ext>
            </a:extLst>
          </p:cNvPr>
          <p:cNvSpPr txBox="1"/>
          <p:nvPr/>
        </p:nvSpPr>
        <p:spPr>
          <a:xfrm>
            <a:off x="457200" y="4495800"/>
            <a:ext cx="8229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Is occupational mobility the same for all countries? (No layer effects)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If not, how do they differ?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Are there simple models that describe mobility?</a:t>
            </a:r>
          </a:p>
          <a:p>
            <a:r>
              <a:rPr lang="en-US" dirty="0"/>
              <a:t>See: 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demo(“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yamaguchi-xie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”, package=“</a:t>
            </a:r>
            <a:r>
              <a:rPr lang="en-US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vcdExtra</a:t>
            </a:r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”)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8864CD8-FF19-D5C2-2671-7DA3C5467DA3}"/>
              </a:ext>
            </a:extLst>
          </p:cNvPr>
          <p:cNvCxnSpPr/>
          <p:nvPr/>
        </p:nvCxnSpPr>
        <p:spPr>
          <a:xfrm>
            <a:off x="4781550" y="2590800"/>
            <a:ext cx="0" cy="1447800"/>
          </a:xfrm>
          <a:prstGeom prst="line">
            <a:avLst/>
          </a:prstGeom>
          <a:ln w="158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87375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48255-F462-4E50-A0C1-3988BF6B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Explore: Try MCA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90515A-12D0-41BC-9D67-5B5DBF435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61C3CB-9BCF-4E06-8002-276F47CCB7CB}"/>
              </a:ext>
            </a:extLst>
          </p:cNvPr>
          <p:cNvSpPr txBox="1"/>
          <p:nvPr/>
        </p:nvSpPr>
        <p:spPr>
          <a:xfrm>
            <a:off x="5803900" y="1371600"/>
            <a:ext cx="3429000" cy="98488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/>
              <a:t>library(ca)</a:t>
            </a:r>
          </a:p>
          <a:p>
            <a:r>
              <a:rPr lang="en-US" sz="1400" dirty="0" err="1"/>
              <a:t>Yama.dft</a:t>
            </a:r>
            <a:r>
              <a:rPr lang="en-US" sz="1400" dirty="0"/>
              <a:t> &lt;- </a:t>
            </a:r>
            <a:r>
              <a:rPr lang="en-US" sz="1400" dirty="0" err="1"/>
              <a:t>expand.dft</a:t>
            </a:r>
            <a:r>
              <a:rPr lang="en-US" sz="1400" dirty="0"/>
              <a:t>(Yamaguchi87)</a:t>
            </a:r>
          </a:p>
          <a:p>
            <a:r>
              <a:rPr lang="en-US" sz="1400" dirty="0" err="1"/>
              <a:t>yama.mjca</a:t>
            </a:r>
            <a:r>
              <a:rPr lang="en-US" sz="1400" dirty="0"/>
              <a:t> &lt;- </a:t>
            </a:r>
            <a:r>
              <a:rPr lang="en-US" sz="1400" dirty="0" err="1"/>
              <a:t>mjca</a:t>
            </a:r>
            <a:r>
              <a:rPr lang="en-US" sz="1400" dirty="0"/>
              <a:t>(</a:t>
            </a:r>
            <a:r>
              <a:rPr lang="en-US" sz="1400" dirty="0" err="1"/>
              <a:t>Yama.dft</a:t>
            </a:r>
            <a:r>
              <a:rPr lang="en-US" sz="1400" dirty="0"/>
              <a:t>)</a:t>
            </a:r>
          </a:p>
          <a:p>
            <a:r>
              <a:rPr lang="en-US" sz="1400" dirty="0"/>
              <a:t>plot(</a:t>
            </a:r>
            <a:r>
              <a:rPr lang="en-US" sz="1400" dirty="0" err="1"/>
              <a:t>yama.mjca</a:t>
            </a:r>
            <a:r>
              <a:rPr lang="en-US" sz="1400" dirty="0"/>
              <a:t>, what=c("</a:t>
            </a:r>
            <a:r>
              <a:rPr lang="en-US" sz="1400" dirty="0" err="1"/>
              <a:t>none","all</a:t>
            </a:r>
            <a:r>
              <a:rPr lang="en-US" sz="1600" dirty="0"/>
              <a:t>"))</a:t>
            </a:r>
          </a:p>
        </p:txBody>
      </p:sp>
      <p:pic>
        <p:nvPicPr>
          <p:cNvPr id="6" name="Picture 5" descr="Chart&#10;&#10;Description automatically generated">
            <a:extLst>
              <a:ext uri="{FF2B5EF4-FFF2-40B4-BE49-F238E27FC236}">
                <a16:creationId xmlns:a16="http://schemas.microsoft.com/office/drawing/2014/main" id="{8DA96EC8-680F-4C98-80D8-710A7DE45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047432"/>
            <a:ext cx="5609829" cy="548640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D19749C-0A06-4179-9F56-CA43E57AEBDB}"/>
              </a:ext>
            </a:extLst>
          </p:cNvPr>
          <p:cNvCxnSpPr/>
          <p:nvPr/>
        </p:nvCxnSpPr>
        <p:spPr>
          <a:xfrm>
            <a:off x="990600" y="2971800"/>
            <a:ext cx="838200" cy="53340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FFD48D2-B0E5-4247-BF12-FAD9C1016F8F}"/>
              </a:ext>
            </a:extLst>
          </p:cNvPr>
          <p:cNvCxnSpPr/>
          <p:nvPr/>
        </p:nvCxnSpPr>
        <p:spPr>
          <a:xfrm>
            <a:off x="1905000" y="3581400"/>
            <a:ext cx="1981200" cy="0"/>
          </a:xfrm>
          <a:prstGeom prst="line">
            <a:avLst/>
          </a:prstGeom>
          <a:ln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ECD55EE-DEC5-4D37-BF37-6B90082F998F}"/>
              </a:ext>
            </a:extLst>
          </p:cNvPr>
          <p:cNvSpPr txBox="1"/>
          <p:nvPr/>
        </p:nvSpPr>
        <p:spPr>
          <a:xfrm>
            <a:off x="5762229" y="2895600"/>
            <a:ext cx="315317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Dimensions have reasonable interpretations</a:t>
            </a:r>
          </a:p>
          <a:p>
            <a:r>
              <a:rPr lang="en-US" sz="1600" dirty="0"/>
              <a:t>Farm differs from others</a:t>
            </a:r>
          </a:p>
          <a:p>
            <a:r>
              <a:rPr lang="en-US" sz="1600" dirty="0"/>
              <a:t>All sons seem to move up!</a:t>
            </a:r>
          </a:p>
          <a:p>
            <a:endParaRPr lang="en-US" sz="1600" dirty="0"/>
          </a:p>
          <a:p>
            <a:r>
              <a:rPr lang="en-US" sz="1600" dirty="0"/>
              <a:t>How does this relate to theories of mobility?</a:t>
            </a:r>
          </a:p>
          <a:p>
            <a:endParaRPr lang="en-US" sz="1600" dirty="0"/>
          </a:p>
          <a:p>
            <a:r>
              <a:rPr lang="en-US" sz="1600" dirty="0"/>
              <a:t>How to understand country effects?</a:t>
            </a:r>
          </a:p>
        </p:txBody>
      </p:sp>
    </p:spTree>
    <p:extLst>
      <p:ext uri="{BB962C8B-B14F-4D97-AF65-F5344CB8AC3E}">
        <p14:creationId xmlns:p14="http://schemas.microsoft.com/office/powerpoint/2010/main" val="13695954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F4F4-633E-4020-AF09-6EBED9877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Yamaguchi data: Baseline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F2337A0-F582-4ECD-A114-6F3B670F9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917A85-E263-47A0-9285-89F6F32716E6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minimal, null model asserts Father </a:t>
            </a:r>
            <a:r>
              <a:rPr lang="en-US" dirty="0">
                <a:sym typeface="Symbol" panose="05050102010706020507" pitchFamily="18" charset="2"/>
              </a:rPr>
              <a:t></a:t>
            </a:r>
            <a:r>
              <a:rPr lang="en-US" dirty="0"/>
              <a:t>  Son | Country = [FC][SC] = (F+S)*C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4FD7E0-CF32-4B3B-8365-BDCE98FE7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79972"/>
            <a:ext cx="8171428" cy="7047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012FFD7-A534-4FA9-9A21-274FB60A1C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0"/>
            <a:ext cx="4076190" cy="37142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A46D64-5D17-4936-828B-93C3008DA691}"/>
              </a:ext>
            </a:extLst>
          </p:cNvPr>
          <p:cNvSpPr txBox="1"/>
          <p:nvPr/>
        </p:nvSpPr>
        <p:spPr>
          <a:xfrm>
            <a:off x="4953000" y="3048000"/>
            <a:ext cx="36756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Within country, diagonal cells for F=S dominate</a:t>
            </a:r>
          </a:p>
          <a:p>
            <a:endParaRPr lang="en-US" dirty="0"/>
          </a:p>
          <a:p>
            <a:r>
              <a:rPr lang="en-US" dirty="0"/>
              <a:t>Much more data for US; least for Japan </a:t>
            </a:r>
          </a:p>
        </p:txBody>
      </p:sp>
    </p:spTree>
    <p:extLst>
      <p:ext uri="{BB962C8B-B14F-4D97-AF65-F5344CB8AC3E}">
        <p14:creationId xmlns:p14="http://schemas.microsoft.com/office/powerpoint/2010/main" val="144307293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33F8F-5B34-4DE5-8554-FF32BFD92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Yamaguchi data: Baseline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32654F-959C-4876-AD84-3CAF2FF14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C155A4-3909-44DE-8953-E087887EC157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expect F </a:t>
            </a:r>
            <a:r>
              <a:rPr lang="en-US" dirty="0">
                <a:sym typeface="Symbol" panose="05050102010706020507" pitchFamily="18" charset="2"/>
              </a:rPr>
              <a:t> S. Ignore diagonal cells with quasi-independence  Quasi-perfect mobility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A8A178-FE38-4135-BB4B-801C4D4C5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00314"/>
            <a:ext cx="8171428" cy="5142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59652B-56CB-4DA5-AA4D-F1B4875B1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0"/>
            <a:ext cx="4076190" cy="37238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2E670CD-8E2F-45CF-810D-CAA22EAA8C24}"/>
              </a:ext>
            </a:extLst>
          </p:cNvPr>
          <p:cNvSpPr txBox="1"/>
          <p:nvPr/>
        </p:nvSpPr>
        <p:spPr>
          <a:xfrm>
            <a:off x="4953000" y="3048000"/>
            <a:ext cx="36756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term </a:t>
            </a:r>
            <a:r>
              <a:rPr lang="en-US" dirty="0" err="1"/>
              <a:t>Diag</a:t>
            </a:r>
            <a:r>
              <a:rPr lang="en-US" dirty="0"/>
              <a:t>(F, S):Country fits diagonal cells perfectly w/in each country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9997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F0B98D-6B43-49E2-9C4C-D0560130C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57960"/>
            <a:ext cx="8085714" cy="238095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DACB69B-1E74-49BA-81CD-C0B222C81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Models for homogeneous associations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63B94D-D4D4-4EF4-93F9-72C93442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933942-AFCE-413C-B8D1-3524DD1845F7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gnm</a:t>
            </a:r>
            <a:r>
              <a:rPr lang="en-US" dirty="0"/>
              <a:t>(): easy to fit collections of models using update() to the </a:t>
            </a:r>
            <a:r>
              <a:rPr lang="en-US" dirty="0" err="1"/>
              <a:t>yamaDiag</a:t>
            </a:r>
            <a:r>
              <a:rPr lang="en-US" dirty="0"/>
              <a:t> model. </a:t>
            </a:r>
          </a:p>
          <a:p>
            <a:r>
              <a:rPr lang="en-US" dirty="0"/>
              <a:t>These have no Country term, so they assert same associations for all countries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A17942-C83A-43D5-B54C-B140034ACD8D}"/>
              </a:ext>
            </a:extLst>
          </p:cNvPr>
          <p:cNvSpPr txBox="1"/>
          <p:nvPr/>
        </p:nvSpPr>
        <p:spPr>
          <a:xfrm>
            <a:off x="457200" y="2094131"/>
            <a:ext cx="82296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Rscore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as.numeric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(Yamaguchi87$Father)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Cscore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as.numeric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(Yamaguchi87$Son)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yamaRo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&lt;- update(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yamaDiag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~ .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Father:Cscore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yamaCo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&lt;- update(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yamaDiag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~ .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Rscore:Son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yamaRpCo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update(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yamaDiag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~ .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Father:Cscore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Rscore:Son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yamaRCo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&lt;- update(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yamaDiag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~ .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Father,Son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yamaFIo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&lt;- update(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yamaDiag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~ .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Father:Son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814466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94610-1E2A-4FC5-BD2B-C8E280D04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Models for heterogeneous associations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27800B-D001-47B9-AB4F-CC4C45A25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A2CE7-C594-46CB-AAC0-362BD565296D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Can combine these with models including layer (Country) effects</a:t>
            </a:r>
          </a:p>
          <a:p>
            <a:r>
              <a:rPr lang="en-US" dirty="0"/>
              <a:t>Log-multiplicative (UNIDIFF) models add a term </a:t>
            </a:r>
            <a:r>
              <a:rPr lang="en-US" dirty="0" err="1"/>
              <a:t>Mult</a:t>
            </a:r>
            <a:r>
              <a:rPr lang="en-US" dirty="0"/>
              <a:t>(…, Exp(Country))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F03A59-C249-486D-968B-5E67624F4805}"/>
              </a:ext>
            </a:extLst>
          </p:cNvPr>
          <p:cNvSpPr txBox="1"/>
          <p:nvPr/>
        </p:nvSpPr>
        <p:spPr>
          <a:xfrm>
            <a:off x="457200" y="2286000"/>
            <a:ext cx="8229600" cy="138499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yamaRx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&lt;- update(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yamaDiag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~ .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Father:Cscore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Exp(Country)))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yamaCx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&lt;- update(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yamaDiag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~ .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Rscore:Son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Exp(Country)))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yamaRpCx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update(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yamaDiag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~ .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Father:Cscore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Rscore:Son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Exp(Country)))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yamaRCx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&lt;- update(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yamaDiag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~ .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(Father, Son, Exp(Country)))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yamaFIx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&lt;- update(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yamaDiag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~ . +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Mult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Father:Son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Exp(Country)))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D1F8C0-ED77-4F42-A479-E68FE4B98DF6}"/>
              </a:ext>
            </a:extLst>
          </p:cNvPr>
          <p:cNvSpPr txBox="1"/>
          <p:nvPr/>
        </p:nvSpPr>
        <p:spPr>
          <a:xfrm>
            <a:off x="533400" y="4114800"/>
            <a:ext cx="800100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We now have quite a collection of alternative models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to compare them?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 to interpret the associations they imply about Father, Son mobility across countries?</a:t>
            </a:r>
          </a:p>
        </p:txBody>
      </p:sp>
    </p:spTree>
    <p:extLst>
      <p:ext uri="{BB962C8B-B14F-4D97-AF65-F5344CB8AC3E}">
        <p14:creationId xmlns:p14="http://schemas.microsoft.com/office/powerpoint/2010/main" val="11077714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D612B-ECEE-4CF9-A071-C1129337F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Yamaguchi data: Comparing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FD87DC-9787-48A4-88CA-16EF3CD3D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C9B55A-044E-446E-B864-E484D6FA5907}"/>
              </a:ext>
            </a:extLst>
          </p:cNvPr>
          <p:cNvSpPr txBox="1"/>
          <p:nvPr/>
        </p:nvSpPr>
        <p:spPr>
          <a:xfrm>
            <a:off x="457200" y="1676400"/>
            <a:ext cx="8229600" cy="440120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models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glmlist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yamaNull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yamaDiag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yamaRo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yamaRx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yamaCo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yamaCx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yamaRpCo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yamaRpCx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yamaRCo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yamaRCx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yamaFIo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yamaFIx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(models)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Likelihood summary table: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AIC  BIC LR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Df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(&gt;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Chisq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    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yamaNull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6168 6231     5592 48    &lt; 2e-16 ***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yamaDiag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1943 2040     1336 33    &lt; 2e-16 ***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yamaRo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771  877      156 29    &lt; 2e-16 ***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yamaRx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766  877      148 27    &lt; 2e-16 ***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yamaCo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682  789       68 29    6.1e-05 ***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yamaCx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677  789       59 27    0.00038 ***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yamaRpCo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659  773       39 26    0.05089 .  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yamaRpCx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658  776       33 24    0.10341    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yamaRCo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658  772       38 26    0.06423 .  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yamaRCx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657  775       32 24    0.12399    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yamaFIo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665  788       36 22    0.02878 *  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yamaFIx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664  791       31 20    0.05599 .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3024DF-9C48-4D12-B9C5-4D3413A9807D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and related methods facilitate model comparisons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19A2EBD1-AFF3-4EAB-9477-767F0A56D60F}"/>
              </a:ext>
            </a:extLst>
          </p:cNvPr>
          <p:cNvSpPr/>
          <p:nvPr/>
        </p:nvSpPr>
        <p:spPr>
          <a:xfrm>
            <a:off x="5562600" y="3429000"/>
            <a:ext cx="304800" cy="762000"/>
          </a:xfrm>
          <a:prstGeom prst="righ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D21B3EDC-53F2-4E6E-A4B0-0C5FA05CDF09}"/>
              </a:ext>
            </a:extLst>
          </p:cNvPr>
          <p:cNvSpPr/>
          <p:nvPr/>
        </p:nvSpPr>
        <p:spPr>
          <a:xfrm>
            <a:off x="5562600" y="4344908"/>
            <a:ext cx="304800" cy="1141492"/>
          </a:xfrm>
          <a:prstGeom prst="righ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C647B4-4697-400C-A083-856E0E1B0C06}"/>
              </a:ext>
            </a:extLst>
          </p:cNvPr>
          <p:cNvSpPr txBox="1"/>
          <p:nvPr/>
        </p:nvSpPr>
        <p:spPr>
          <a:xfrm>
            <a:off x="6172200" y="3429000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Homogeneous,</a:t>
            </a:r>
          </a:p>
          <a:p>
            <a:r>
              <a:rPr lang="en-US" dirty="0" err="1"/>
              <a:t>Father:Son</a:t>
            </a:r>
            <a:r>
              <a:rPr lang="en-US" dirty="0"/>
              <a:t> models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018E3A-FE30-4D82-A485-C2EC0438806F}"/>
              </a:ext>
            </a:extLst>
          </p:cNvPr>
          <p:cNvSpPr txBox="1"/>
          <p:nvPr/>
        </p:nvSpPr>
        <p:spPr>
          <a:xfrm>
            <a:off x="6172200" y="4535269"/>
            <a:ext cx="220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Heteroogeneous</a:t>
            </a:r>
            <a:r>
              <a:rPr lang="en-US" dirty="0"/>
              <a:t>,</a:t>
            </a:r>
          </a:p>
          <a:p>
            <a:r>
              <a:rPr lang="en-US" dirty="0" err="1"/>
              <a:t>Father:Son</a:t>
            </a:r>
            <a:r>
              <a:rPr lang="en-US" dirty="0"/>
              <a:t> models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BD5B249D-26EA-4DFF-A983-37C816F4690C}"/>
              </a:ext>
            </a:extLst>
          </p:cNvPr>
          <p:cNvSpPr/>
          <p:nvPr/>
        </p:nvSpPr>
        <p:spPr>
          <a:xfrm>
            <a:off x="5562600" y="2974618"/>
            <a:ext cx="304800" cy="386834"/>
          </a:xfrm>
          <a:prstGeom prst="rightBrac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5E3229-31BF-47AC-9CA2-A8069A798FBE}"/>
              </a:ext>
            </a:extLst>
          </p:cNvPr>
          <p:cNvSpPr txBox="1"/>
          <p:nvPr/>
        </p:nvSpPr>
        <p:spPr>
          <a:xfrm>
            <a:off x="6172200" y="2974618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Baseline models</a:t>
            </a:r>
          </a:p>
        </p:txBody>
      </p:sp>
    </p:spTree>
    <p:extLst>
      <p:ext uri="{BB962C8B-B14F-4D97-AF65-F5344CB8AC3E}">
        <p14:creationId xmlns:p14="http://schemas.microsoft.com/office/powerpoint/2010/main" val="26092520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DFE81-181D-4B6E-9DB1-4E0869475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Yamaguchi data: Comparing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0F167-32BA-487C-AB1E-AB4C4DFC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EE85CF-F914-44E1-A721-5F4AFE51AA2D}"/>
              </a:ext>
            </a:extLst>
          </p:cNvPr>
          <p:cNvSpPr txBox="1"/>
          <p:nvPr/>
        </p:nvSpPr>
        <p:spPr>
          <a:xfrm>
            <a:off x="457200" y="1219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Easier to understand by plotting the criteria for these models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544AE1-B3F7-4FB7-991D-BD130B16D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67" y="2560320"/>
            <a:ext cx="4666667" cy="41904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773AF0-BCBF-448F-AA51-C2717069EF54}"/>
              </a:ext>
            </a:extLst>
          </p:cNvPr>
          <p:cNvSpPr txBox="1"/>
          <p:nvPr/>
        </p:nvSpPr>
        <p:spPr>
          <a:xfrm>
            <a:off x="533400" y="1752600"/>
            <a:ext cx="81534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BIC &lt;- matrix(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(models)$BIC[-(1:2)], 5, 2,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byrow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(BIC, …)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1DF5C5-52CA-405B-AF10-CFC4BAF23B4F}"/>
              </a:ext>
            </a:extLst>
          </p:cNvPr>
          <p:cNvSpPr txBox="1"/>
          <p:nvPr/>
        </p:nvSpPr>
        <p:spPr>
          <a:xfrm>
            <a:off x="5257800" y="3048000"/>
            <a:ext cx="3429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BIC strongly prefers homogeneous models</a:t>
            </a:r>
          </a:p>
          <a:p>
            <a:endParaRPr lang="en-US" dirty="0"/>
          </a:p>
          <a:p>
            <a:r>
              <a:rPr lang="en-US" dirty="0"/>
              <a:t>Little </a:t>
            </a:r>
            <a:r>
              <a:rPr lang="en-US" dirty="0" err="1"/>
              <a:t>diff</a:t>
            </a:r>
            <a:r>
              <a:rPr lang="en-US" baseline="30000" dirty="0" err="1"/>
              <a:t>ce</a:t>
            </a:r>
            <a:r>
              <a:rPr lang="en-US" dirty="0"/>
              <a:t> among Col, </a:t>
            </a:r>
            <a:r>
              <a:rPr lang="en-US" dirty="0" err="1"/>
              <a:t>Row+Col</a:t>
            </a:r>
            <a:r>
              <a:rPr lang="en-US" dirty="0"/>
              <a:t>, RC(1) models</a:t>
            </a:r>
          </a:p>
          <a:p>
            <a:endParaRPr lang="en-US" dirty="0"/>
          </a:p>
          <a:p>
            <a:pPr marL="285750" indent="-285750">
              <a:buFont typeface="Symbol" panose="05050102010706020507" pitchFamily="18" charset="2"/>
              <a:buChar char="®"/>
            </a:pPr>
            <a:r>
              <a:rPr lang="en-US" dirty="0">
                <a:sym typeface="Symbol" panose="05050102010706020507" pitchFamily="18" charset="2"/>
              </a:rPr>
              <a:t>R:C association ~ Row scores (fathers’ status)</a:t>
            </a:r>
          </a:p>
          <a:p>
            <a:endParaRPr lang="en-US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672517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DFE81-181D-4B6E-9DB1-4E0869475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Yamaguchi data: Comparing models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40F167-32BA-487C-AB1E-AB4C4DFC4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EE85CF-F914-44E1-A721-5F4AFE51AA2D}"/>
              </a:ext>
            </a:extLst>
          </p:cNvPr>
          <p:cNvSpPr txBox="1"/>
          <p:nvPr/>
        </p:nvSpPr>
        <p:spPr>
          <a:xfrm>
            <a:off x="457200" y="12192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Easier to understand by plotting the criteria for these models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ECBF89-27D5-4BF0-83B2-46DD6E2EB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467" y="2560320"/>
            <a:ext cx="4666667" cy="41904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3F6524-DE03-4668-9B0A-B66B0D610A32}"/>
              </a:ext>
            </a:extLst>
          </p:cNvPr>
          <p:cNvSpPr txBox="1"/>
          <p:nvPr/>
        </p:nvSpPr>
        <p:spPr>
          <a:xfrm>
            <a:off x="533400" y="1752600"/>
            <a:ext cx="81534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AIC &lt;- matrix(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LRstats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(models)$AIC[-(1:2)], 5, 2,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byrow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=TRUE)</a:t>
            </a:r>
          </a:p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(AIC, …)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D82953-F4DE-4A39-84B2-CDEEA4A11331}"/>
              </a:ext>
            </a:extLst>
          </p:cNvPr>
          <p:cNvSpPr txBox="1"/>
          <p:nvPr/>
        </p:nvSpPr>
        <p:spPr>
          <a:xfrm>
            <a:off x="5257800" y="3048000"/>
            <a:ext cx="3429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AIC slightly prefers heterogeneous models</a:t>
            </a:r>
          </a:p>
          <a:p>
            <a:endParaRPr lang="en-US" dirty="0"/>
          </a:p>
          <a:p>
            <a:r>
              <a:rPr lang="en-US" dirty="0"/>
              <a:t>Row + Col &amp; RC(1) fit best</a:t>
            </a:r>
          </a:p>
          <a:p>
            <a:endParaRPr lang="en-US" dirty="0"/>
          </a:p>
          <a:p>
            <a:pPr marL="285750" indent="-285750">
              <a:buFont typeface="Symbol" panose="05050102010706020507" pitchFamily="18" charset="2"/>
              <a:buChar char="®"/>
            </a:pPr>
            <a:r>
              <a:rPr lang="en-US" dirty="0">
                <a:sym typeface="Symbol" panose="05050102010706020507" pitchFamily="18" charset="2"/>
              </a:rPr>
              <a:t>R:C association ~ ordinal scores</a:t>
            </a:r>
          </a:p>
          <a:p>
            <a:pPr marL="285750" indent="-285750">
              <a:buFont typeface="Symbol" panose="05050102010706020507" pitchFamily="18" charset="2"/>
              <a:buChar char="®"/>
            </a:pPr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Model summary plots make sense of multiple models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85274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06210-6EC3-494D-B8F3-1501853C6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associations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3C4C6A0-E8DF-49B5-BB35-A70EECF54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71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655583-E8CA-47ED-8BCE-6964BC901E50}"/>
              </a:ext>
            </a:extLst>
          </p:cNvPr>
          <p:cNvSpPr txBox="1"/>
          <p:nvPr/>
        </p:nvSpPr>
        <p:spPr>
          <a:xfrm>
            <a:off x="457200" y="1879600"/>
            <a:ext cx="8153400" cy="4185761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library(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logmult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yamaUni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unidiff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as.table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Yama.tab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Layer coefficients: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US     UK  Japan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1.000  1.206  0.931  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Layer intrinsic association coefficients: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US     UK  Japan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0.412  0.497  0.383  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Full two-way interaction coefficients: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Son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Father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UpNM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LoNM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Farm  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UpNM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1.0063   0.3024  -0.4399  -0.6048  -0.4394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LoNM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0.4644   0.5228  -0.2547  -0.3856  -0.5121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0.0214  -0.0268   0.2557  -0.0972  -0.5828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-0.2056  -0.1028   0.0891   0.2632  -0.6504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Farm  -0.5320  -0.3026   0.0101   0.2592   2.074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54EE54-233B-41EC-9129-B750D7D91B32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logmult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-US" sz="1600" b="1" dirty="0" err="1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unidiff</a:t>
            </a:r>
            <a:r>
              <a:rPr lang="en-US" sz="1600" b="1" dirty="0">
                <a:solidFill>
                  <a:schemeClr val="accent6">
                    <a:lumMod val="50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</a:t>
            </a:r>
            <a:r>
              <a:rPr lang="en-US" dirty="0"/>
              <a:t>uses </a:t>
            </a:r>
            <a:r>
              <a:rPr lang="en-US" dirty="0" err="1"/>
              <a:t>gnm</a:t>
            </a:r>
            <a:r>
              <a:rPr lang="en-US" dirty="0"/>
              <a:t>() for fitting, but makes summaries &amp; plotting easier</a:t>
            </a:r>
          </a:p>
        </p:txBody>
      </p:sp>
    </p:spTree>
    <p:extLst>
      <p:ext uri="{BB962C8B-B14F-4D97-AF65-F5344CB8AC3E}">
        <p14:creationId xmlns:p14="http://schemas.microsoft.com/office/powerpoint/2010/main" val="368997879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88F4C-9CB0-41C4-ABCF-41241C482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associations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E88DC7-B367-4DBC-979C-A5AEE4842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72</a:t>
            </a:fld>
            <a:endParaRPr lang="en-US"/>
          </a:p>
        </p:txBody>
      </p:sp>
      <p:pic>
        <p:nvPicPr>
          <p:cNvPr id="5" name="Picture 4" descr="Chart, box and whisker chart&#10;&#10;Description automatically generated">
            <a:extLst>
              <a:ext uri="{FF2B5EF4-FFF2-40B4-BE49-F238E27FC236}">
                <a16:creationId xmlns:a16="http://schemas.microsoft.com/office/drawing/2014/main" id="{21B95D60-2B12-402F-B4E0-A36FCF20F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2349057"/>
            <a:ext cx="5669280" cy="38820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ED4A0A-3AC4-4CE6-837A-6C307782A27C}"/>
              </a:ext>
            </a:extLst>
          </p:cNvPr>
          <p:cNvSpPr txBox="1"/>
          <p:nvPr/>
        </p:nvSpPr>
        <p:spPr>
          <a:xfrm>
            <a:off x="457200" y="11430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Plotting the </a:t>
            </a:r>
            <a:r>
              <a:rPr lang="en-US" dirty="0" err="1"/>
              <a:t>unidiff</a:t>
            </a:r>
            <a:r>
              <a:rPr lang="en-US" dirty="0"/>
              <a:t> object plots the layer association coefficients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B66922-3B00-41AC-8F56-B0DD1F322BC6}"/>
              </a:ext>
            </a:extLst>
          </p:cNvPr>
          <p:cNvSpPr txBox="1"/>
          <p:nvPr/>
        </p:nvSpPr>
        <p:spPr>
          <a:xfrm>
            <a:off x="533400" y="1664732"/>
            <a:ext cx="8153400" cy="36933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dirty="0">
                <a:latin typeface="Courier New" panose="02070309020205020404" pitchFamily="49" charset="0"/>
                <a:cs typeface="Courier New" panose="02070309020205020404" pitchFamily="49" charset="0"/>
              </a:rPr>
              <a:t>plot(yamaUni, cex=3, col="red", pch=16)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B81C5C-7371-41FF-A10B-71BFD231A2E7}"/>
              </a:ext>
            </a:extLst>
          </p:cNvPr>
          <p:cNvSpPr txBox="1"/>
          <p:nvPr/>
        </p:nvSpPr>
        <p:spPr>
          <a:xfrm>
            <a:off x="6400800" y="2505670"/>
            <a:ext cx="2209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Father – Son association is ordered UK &gt; US &gt; Japan</a:t>
            </a:r>
          </a:p>
        </p:txBody>
      </p:sp>
    </p:spTree>
    <p:extLst>
      <p:ext uri="{BB962C8B-B14F-4D97-AF65-F5344CB8AC3E}">
        <p14:creationId xmlns:p14="http://schemas.microsoft.com/office/powerpoint/2010/main" val="332100870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BBDD5-FB81-4BC2-9F19-370A39FC5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associations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2DE8DD-9888-42A0-9485-0E6A8ABD8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E66246-7C8C-475E-948F-B37A50E4961A}"/>
              </a:ext>
            </a:extLst>
          </p:cNvPr>
          <p:cNvSpPr txBox="1"/>
          <p:nvPr/>
        </p:nvSpPr>
        <p:spPr>
          <a:xfrm>
            <a:off x="4572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common association parameters, </a:t>
            </a:r>
            <a:r>
              <a:rPr lang="en-US" dirty="0">
                <a:sym typeface="Symbol" panose="05050102010706020507" pitchFamily="18" charset="2"/>
              </a:rPr>
              <a:t></a:t>
            </a:r>
            <a:r>
              <a:rPr lang="en-US" baseline="-25000" dirty="0" err="1">
                <a:sym typeface="Symbol" panose="05050102010706020507" pitchFamily="18" charset="2"/>
              </a:rPr>
              <a:t>ij</a:t>
            </a:r>
            <a:r>
              <a:rPr lang="en-US" baseline="30000" dirty="0" err="1">
                <a:sym typeface="Symbol" panose="05050102010706020507" pitchFamily="18" charset="2"/>
              </a:rPr>
              <a:t>RC</a:t>
            </a:r>
            <a:r>
              <a:rPr lang="en-US" dirty="0">
                <a:sym typeface="Symbol" panose="05050102010706020507" pitchFamily="18" charset="2"/>
              </a:rPr>
              <a:t> are contained in the </a:t>
            </a:r>
            <a:r>
              <a:rPr lang="en-US" dirty="0" err="1">
                <a:sym typeface="Symbol" panose="05050102010706020507" pitchFamily="18" charset="2"/>
              </a:rPr>
              <a:t>unidiff</a:t>
            </a:r>
            <a:r>
              <a:rPr lang="en-US" dirty="0">
                <a:sym typeface="Symbol" panose="05050102010706020507" pitchFamily="18" charset="2"/>
              </a:rPr>
              <a:t> object.</a:t>
            </a:r>
          </a:p>
          <a:p>
            <a:r>
              <a:rPr lang="en-US" dirty="0">
                <a:sym typeface="Symbol" panose="05050102010706020507" pitchFamily="18" charset="2"/>
              </a:rPr>
              <a:t>Can extract these and plot in various ways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A89631-8DA6-49FC-B099-57D23CFF2BBC}"/>
              </a:ext>
            </a:extLst>
          </p:cNvPr>
          <p:cNvSpPr txBox="1"/>
          <p:nvPr/>
        </p:nvSpPr>
        <p:spPr>
          <a:xfrm>
            <a:off x="533400" y="2133600"/>
            <a:ext cx="8153400" cy="3785652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inter &lt;-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yamaUni$unidiff$interaction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names(inter)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[1] "Estimate"   "Std. Error"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inter.mat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&lt;- matrix(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inter$Estimate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5, 5, 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dimnames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Yama.tab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)[1:2])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inter.mat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Son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Father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UpNM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LoNM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Farm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UpNM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1.0063  0.3024 -0.4399 -0.6048 -0.439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LoNM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0.4644  0.5228 -0.2547 -0.3856 -0.512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0.0214 -0.0268  0.2557 -0.0972 -0.583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LoM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-0.2056 -0.1028  0.0891  0.2632 -0.650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Farm -0.5320 -0.3026  0.0101  0.2592  2.075</a:t>
            </a:r>
          </a:p>
        </p:txBody>
      </p:sp>
    </p:spTree>
    <p:extLst>
      <p:ext uri="{BB962C8B-B14F-4D97-AF65-F5344CB8AC3E}">
        <p14:creationId xmlns:p14="http://schemas.microsoft.com/office/powerpoint/2010/main" val="161583794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C10B-0C11-46E6-B2DE-579BA4F0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associations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9ADEA8-2FA3-401D-99D5-E3FB98B04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BAC26-0EEF-4936-853F-06D9A62E3505}"/>
              </a:ext>
            </a:extLst>
          </p:cNvPr>
          <p:cNvSpPr txBox="1"/>
          <p:nvPr/>
        </p:nvSpPr>
        <p:spPr>
          <a:xfrm>
            <a:off x="457200" y="12192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Plot these as shaded squares using </a:t>
            </a:r>
            <a:r>
              <a:rPr lang="en-US" sz="2000" dirty="0" err="1"/>
              <a:t>corrplot</a:t>
            </a:r>
            <a:r>
              <a:rPr lang="en-US" sz="2000" dirty="0"/>
              <a:t>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EB3FB4-928B-4E13-A296-E87DDD23D8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852692"/>
            <a:ext cx="5319343" cy="4659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7990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C10B-0C11-46E6-B2DE-579BA4F07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associations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9ADEA8-2FA3-401D-99D5-E3FB98B04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BAC26-0EEF-4936-853F-06D9A62E3505}"/>
              </a:ext>
            </a:extLst>
          </p:cNvPr>
          <p:cNvSpPr txBox="1"/>
          <p:nvPr/>
        </p:nvSpPr>
        <p:spPr>
          <a:xfrm>
            <a:off x="457200" y="12192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Plot these as a line plot using </a:t>
            </a:r>
            <a:r>
              <a:rPr lang="en-US" sz="2000" dirty="0" err="1"/>
              <a:t>matplot</a:t>
            </a:r>
            <a:r>
              <a:rPr lang="en-US" sz="2000" dirty="0"/>
              <a:t>()</a:t>
            </a:r>
          </a:p>
        </p:txBody>
      </p:sp>
      <p:pic>
        <p:nvPicPr>
          <p:cNvPr id="6" name="Picture 5" descr="Chart, line chart&#10;&#10;Description automatically generated">
            <a:extLst>
              <a:ext uri="{FF2B5EF4-FFF2-40B4-BE49-F238E27FC236}">
                <a16:creationId xmlns:a16="http://schemas.microsoft.com/office/drawing/2014/main" id="{42D72F11-C41D-4C58-9AEB-1624BC6BC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2502844"/>
            <a:ext cx="6344620" cy="43456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F441B2-EF01-4192-8169-B629CE62F569}"/>
              </a:ext>
            </a:extLst>
          </p:cNvPr>
          <p:cNvSpPr txBox="1"/>
          <p:nvPr/>
        </p:nvSpPr>
        <p:spPr>
          <a:xfrm>
            <a:off x="533400" y="1727200"/>
            <a:ext cx="8153400" cy="584775"/>
          </a:xfrm>
          <a:prstGeom prst="rect">
            <a:avLst/>
          </a:prstGeom>
          <a:solidFill>
            <a:schemeClr val="accent6">
              <a:lumMod val="20000"/>
              <a:lumOff val="80000"/>
              <a:alpha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matplot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(t(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inter.mat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), type="b",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pch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=15:19,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cex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=1.5,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xaxt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="n"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xlab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="Father's status",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ylab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="Association estimate" )</a:t>
            </a:r>
          </a:p>
        </p:txBody>
      </p:sp>
    </p:spTree>
    <p:extLst>
      <p:ext uri="{BB962C8B-B14F-4D97-AF65-F5344CB8AC3E}">
        <p14:creationId xmlns:p14="http://schemas.microsoft.com/office/powerpoint/2010/main" val="358878037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01A37-60F6-4434-8A9C-958F1FFBE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D88E33-704A-4736-8639-353743DFB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Loglinear models, as originally formulated, were quite general, but treated all table variables as </a:t>
            </a:r>
            <a:r>
              <a:rPr lang="en-US" sz="2400" dirty="0">
                <a:solidFill>
                  <a:srgbClr val="0070C0"/>
                </a:solidFill>
              </a:rPr>
              <a:t>unordered</a:t>
            </a:r>
            <a:r>
              <a:rPr lang="en-US" sz="2400" dirty="0"/>
              <a:t> factors</a:t>
            </a:r>
          </a:p>
          <a:p>
            <a:pPr lvl="1"/>
            <a:r>
              <a:rPr lang="en-US" sz="2000" dirty="0"/>
              <a:t>The GLM perspective is more general, allowing quantitative predictors and handling </a:t>
            </a:r>
            <a:r>
              <a:rPr lang="en-US" sz="2000" dirty="0">
                <a:solidFill>
                  <a:srgbClr val="0070C0"/>
                </a:solidFill>
              </a:rPr>
              <a:t>ordinal factors</a:t>
            </a:r>
          </a:p>
          <a:p>
            <a:pPr lvl="1"/>
            <a:r>
              <a:rPr lang="en-US" sz="2000" dirty="0"/>
              <a:t>The logit model give a simplified approach when one variable is a </a:t>
            </a:r>
            <a:r>
              <a:rPr lang="en-US" sz="2000" dirty="0">
                <a:solidFill>
                  <a:srgbClr val="0070C0"/>
                </a:solidFill>
              </a:rPr>
              <a:t>response</a:t>
            </a:r>
          </a:p>
          <a:p>
            <a:r>
              <a:rPr lang="en-US" sz="2400" dirty="0"/>
              <a:t>Models for </a:t>
            </a:r>
            <a:r>
              <a:rPr lang="en-US" sz="2400" dirty="0">
                <a:solidFill>
                  <a:srgbClr val="0070C0"/>
                </a:solidFill>
              </a:rPr>
              <a:t>ordered factors </a:t>
            </a:r>
            <a:r>
              <a:rPr lang="en-US" sz="2400" dirty="0"/>
              <a:t>give more powerful &amp; focused tests</a:t>
            </a:r>
          </a:p>
          <a:p>
            <a:pPr lvl="1"/>
            <a:r>
              <a:rPr lang="en-US" sz="2000" dirty="0"/>
              <a:t>L × L, R, C and R+C models </a:t>
            </a:r>
            <a:r>
              <a:rPr lang="en-US" sz="2000" dirty="0">
                <a:solidFill>
                  <a:srgbClr val="0070C0"/>
                </a:solidFill>
              </a:rPr>
              <a:t>assign scores </a:t>
            </a:r>
            <a:r>
              <a:rPr lang="en-US" sz="2000" dirty="0"/>
              <a:t>to the factors</a:t>
            </a:r>
          </a:p>
          <a:p>
            <a:pPr lvl="1"/>
            <a:r>
              <a:rPr lang="en-US" sz="2000" dirty="0"/>
              <a:t>RC(1) and RC(2) models</a:t>
            </a:r>
            <a:r>
              <a:rPr lang="en-US" sz="2000" dirty="0">
                <a:solidFill>
                  <a:srgbClr val="0070C0"/>
                </a:solidFill>
              </a:rPr>
              <a:t> estimate </a:t>
            </a:r>
            <a:r>
              <a:rPr lang="en-US" sz="2000" dirty="0"/>
              <a:t>the scores from the data</a:t>
            </a:r>
          </a:p>
          <a:p>
            <a:r>
              <a:rPr lang="en-US" sz="2400" dirty="0"/>
              <a:t>Models for </a:t>
            </a:r>
            <a:r>
              <a:rPr lang="en-US" sz="2400" dirty="0">
                <a:solidFill>
                  <a:srgbClr val="0070C0"/>
                </a:solidFill>
              </a:rPr>
              <a:t>square tables </a:t>
            </a:r>
            <a:r>
              <a:rPr lang="en-US" sz="2400" dirty="0"/>
              <a:t>allow testing structured questions</a:t>
            </a:r>
          </a:p>
          <a:p>
            <a:pPr lvl="1"/>
            <a:r>
              <a:rPr lang="en-US" sz="2000" dirty="0"/>
              <a:t>Quasi-independence: ignoring diagonals</a:t>
            </a:r>
          </a:p>
          <a:p>
            <a:pPr lvl="1"/>
            <a:r>
              <a:rPr lang="en-US" sz="2000" dirty="0"/>
              <a:t>symmetry &amp; quasi-symmetry</a:t>
            </a:r>
          </a:p>
          <a:p>
            <a:pPr lvl="1"/>
            <a:r>
              <a:rPr lang="en-US" sz="2000" dirty="0"/>
              <a:t>theory-specific “topological” models</a:t>
            </a:r>
          </a:p>
          <a:p>
            <a:r>
              <a:rPr lang="en-US" sz="2400" dirty="0"/>
              <a:t>These methods can be readily combined to analyze complex tables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A4E862-A4EC-4C1B-A162-34D314E2E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02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42037-62BC-BA93-9CFB-41BD09509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Looking ahead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B65AE-335D-5918-CE09-7CDC70461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We can go further by considering count data models, g(y) = log(y) = X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β</a:t>
            </a: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</a:t>
            </a: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where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</a:t>
            </a: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~ Poisson()</a:t>
            </a:r>
          </a:p>
          <a:p>
            <a:pPr lvl="1"/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for interactions, nonlinearity,</a:t>
            </a:r>
          </a:p>
          <a:p>
            <a:pPr lvl="1"/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Diagnostics for outliers, leverage, influence</a:t>
            </a:r>
          </a:p>
          <a:p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But perhaps </a:t>
            </a:r>
            <a:r>
              <a:rPr lang="en-CA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poisson</a:t>
            </a: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assumption, mean = var() fails</a:t>
            </a:r>
          </a:p>
          <a:p>
            <a:pPr lvl="1"/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Quasi-</a:t>
            </a:r>
            <a:r>
              <a:rPr lang="en-CA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poisson</a:t>
            </a: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Estimate overdispersion parameter</a:t>
            </a:r>
          </a:p>
          <a:p>
            <a:pPr lvl="1"/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Neg. binomial model, </a:t>
            </a:r>
            <a:r>
              <a:rPr lang="el-G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ε ~ </a:t>
            </a:r>
            <a:r>
              <a:rPr lang="en-CA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Nbin</a:t>
            </a:r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is more general</a:t>
            </a:r>
          </a:p>
          <a:p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Excess zeros: sometimes reason for lots of zeros</a:t>
            </a:r>
          </a:p>
          <a:p>
            <a:pPr lvl="1"/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Zero-inflated models</a:t>
            </a:r>
          </a:p>
          <a:p>
            <a:pPr lvl="1"/>
            <a:r>
              <a:rPr lang="en-CA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Hurdle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37F1CB-15F0-B7BA-C1E9-A4519F3C1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CEA8B5-71CD-1BC8-F547-DD68DA32D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457200" y="259092"/>
            <a:ext cx="741812" cy="7315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ACB6F56-63EE-EC0D-A393-8C8DDEA1D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4988" y="274046"/>
            <a:ext cx="741812" cy="731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53691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7926</TotalTime>
  <Words>5208</Words>
  <Application>Microsoft Office PowerPoint</Application>
  <PresentationFormat>On-screen Show (4:3)</PresentationFormat>
  <Paragraphs>692</Paragraphs>
  <Slides>77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4" baseType="lpstr">
      <vt:lpstr>Arial</vt:lpstr>
      <vt:lpstr>Symbol</vt:lpstr>
      <vt:lpstr>Aptos Mono</vt:lpstr>
      <vt:lpstr>Wingdings</vt:lpstr>
      <vt:lpstr>Courier New</vt:lpstr>
      <vt:lpstr>Calibri</vt:lpstr>
      <vt:lpstr>1_Office Theme</vt:lpstr>
      <vt:lpstr>Extending loglinear models</vt:lpstr>
      <vt:lpstr>Today’s topics</vt:lpstr>
      <vt:lpstr>Visual overview: Models for frequency tables </vt:lpstr>
      <vt:lpstr>Extending loglinear models</vt:lpstr>
      <vt:lpstr>Loglinear models: Perspectives</vt:lpstr>
      <vt:lpstr>Loglinear models: Perspectives</vt:lpstr>
      <vt:lpstr>Loglinear models: Perspectives</vt:lpstr>
      <vt:lpstr>Logit models</vt:lpstr>
      <vt:lpstr>Logit models</vt:lpstr>
      <vt:lpstr>Logit models</vt:lpstr>
      <vt:lpstr>Logit models</vt:lpstr>
      <vt:lpstr>Berkeley data: loglinear approach</vt:lpstr>
      <vt:lpstr>Berkeley data: glm() approach</vt:lpstr>
      <vt:lpstr>Berkeley data: glm() approach</vt:lpstr>
      <vt:lpstr>PowerPoint Presentation</vt:lpstr>
      <vt:lpstr>Berkeley data: Logit approach</vt:lpstr>
      <vt:lpstr>Plots for logit models</vt:lpstr>
      <vt:lpstr>PowerPoint Presentation</vt:lpstr>
      <vt:lpstr>A better model</vt:lpstr>
      <vt:lpstr>PowerPoint Presentation</vt:lpstr>
      <vt:lpstr>PowerPoint Presentation</vt:lpstr>
      <vt:lpstr>Loglinear models for ordinal variables</vt:lpstr>
      <vt:lpstr>Advantages of ordinal models</vt:lpstr>
      <vt:lpstr>Models for ordered categories</vt:lpstr>
      <vt:lpstr>History corner</vt:lpstr>
      <vt:lpstr>Linear x Linear Model (Uniform association)</vt:lpstr>
      <vt:lpstr>Row effects &amp; column effects: R, C, R+C</vt:lpstr>
      <vt:lpstr>Models for ordered categories</vt:lpstr>
      <vt:lpstr>Example: Mental impairment &amp; SES</vt:lpstr>
      <vt:lpstr>Example: Mental impairment &amp; SES</vt:lpstr>
      <vt:lpstr>Yoda: Look at the mosaic, Luke!</vt:lpstr>
      <vt:lpstr>Local odds ratios</vt:lpstr>
      <vt:lpstr>Local odds ratios</vt:lpstr>
      <vt:lpstr>Fitting ordinal models</vt:lpstr>
      <vt:lpstr>Comparing models</vt:lpstr>
      <vt:lpstr>Comparing models</vt:lpstr>
      <vt:lpstr>Comparing models: Mosaic plots</vt:lpstr>
      <vt:lpstr>Interpreting the L × L model</vt:lpstr>
      <vt:lpstr>Log-multiplicative (RC) models</vt:lpstr>
      <vt:lpstr>Log-multiplicative (RC) models</vt:lpstr>
      <vt:lpstr>Generalized nonlinear models</vt:lpstr>
      <vt:lpstr>Example: Mental impairment &amp; SES</vt:lpstr>
      <vt:lpstr>Comparing models</vt:lpstr>
      <vt:lpstr>Comparing models: Mosaic plots</vt:lpstr>
      <vt:lpstr>Visualizing RC scores</vt:lpstr>
      <vt:lpstr>Visualizing RC scores</vt:lpstr>
      <vt:lpstr>Square tables</vt:lpstr>
      <vt:lpstr>Square tables: Models</vt:lpstr>
      <vt:lpstr>Square tables: Models</vt:lpstr>
      <vt:lpstr>Square tables: Using gnm()</vt:lpstr>
      <vt:lpstr>Example: Visual acuity</vt:lpstr>
      <vt:lpstr>Fitting models</vt:lpstr>
      <vt:lpstr>Visualizing model fits</vt:lpstr>
      <vt:lpstr>Hauser79 data: Occupational mobility</vt:lpstr>
      <vt:lpstr>More models, more mosaics</vt:lpstr>
      <vt:lpstr>More models, more mosaics</vt:lpstr>
      <vt:lpstr>Model comparisons</vt:lpstr>
      <vt:lpstr>Model comparison plots</vt:lpstr>
      <vt:lpstr>More complex models</vt:lpstr>
      <vt:lpstr>More complex models</vt:lpstr>
      <vt:lpstr>Models for stratified mobility tables</vt:lpstr>
      <vt:lpstr>Example: Social mobility in US, UK &amp; Japan</vt:lpstr>
      <vt:lpstr>Explore: Try MCA</vt:lpstr>
      <vt:lpstr>Yamaguchi data: Baseline models</vt:lpstr>
      <vt:lpstr>Yamaguchi data: Baseline models</vt:lpstr>
      <vt:lpstr>Models for homogeneous associations</vt:lpstr>
      <vt:lpstr>Models for heterogeneous associations</vt:lpstr>
      <vt:lpstr>Yamaguchi data: Comparing models</vt:lpstr>
      <vt:lpstr>Yamaguchi data: Comparing models</vt:lpstr>
      <vt:lpstr>Yamaguchi data: Comparing models</vt:lpstr>
      <vt:lpstr>Interpreting associations</vt:lpstr>
      <vt:lpstr>Visualizing associations</vt:lpstr>
      <vt:lpstr>Visualizing associations</vt:lpstr>
      <vt:lpstr>Visualizing associations</vt:lpstr>
      <vt:lpstr>Visualizing associations</vt:lpstr>
      <vt:lpstr>Summary</vt:lpstr>
      <vt:lpstr>Looking ahead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08-Loglin2</dc:title>
  <dc:creator>Michael Friendly</dc:creator>
  <cp:lastModifiedBy>Michael L Friendly</cp:lastModifiedBy>
  <cp:revision>112</cp:revision>
  <dcterms:created xsi:type="dcterms:W3CDTF">2017-10-14T20:35:56Z</dcterms:created>
  <dcterms:modified xsi:type="dcterms:W3CDTF">2026-03-05T18:36:42Z</dcterms:modified>
</cp:coreProperties>
</file>