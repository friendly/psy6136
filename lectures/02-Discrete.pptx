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55"/>
  </p:notesMasterIdLst>
  <p:handoutMasterIdLst>
    <p:handoutMasterId r:id="rId56"/>
  </p:handoutMasterIdLst>
  <p:sldIdLst>
    <p:sldId id="256" r:id="rId2"/>
    <p:sldId id="257" r:id="rId3"/>
    <p:sldId id="258" r:id="rId4"/>
    <p:sldId id="309" r:id="rId5"/>
    <p:sldId id="300" r:id="rId6"/>
    <p:sldId id="259" r:id="rId7"/>
    <p:sldId id="260" r:id="rId8"/>
    <p:sldId id="261" r:id="rId9"/>
    <p:sldId id="262" r:id="rId10"/>
    <p:sldId id="263" r:id="rId11"/>
    <p:sldId id="264" r:id="rId12"/>
    <p:sldId id="307" r:id="rId13"/>
    <p:sldId id="266" r:id="rId14"/>
    <p:sldId id="301" r:id="rId15"/>
    <p:sldId id="267" r:id="rId16"/>
    <p:sldId id="268" r:id="rId17"/>
    <p:sldId id="269" r:id="rId18"/>
    <p:sldId id="302" r:id="rId19"/>
    <p:sldId id="270" r:id="rId20"/>
    <p:sldId id="303" r:id="rId21"/>
    <p:sldId id="308" r:id="rId22"/>
    <p:sldId id="271" r:id="rId23"/>
    <p:sldId id="304" r:id="rId24"/>
    <p:sldId id="272" r:id="rId25"/>
    <p:sldId id="305" r:id="rId26"/>
    <p:sldId id="273" r:id="rId27"/>
    <p:sldId id="306" r:id="rId28"/>
    <p:sldId id="274" r:id="rId29"/>
    <p:sldId id="275" r:id="rId30"/>
    <p:sldId id="276" r:id="rId31"/>
    <p:sldId id="299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57"/>
    </p:embeddedFont>
    <p:embeddedFont>
      <p:font typeface="Consolas" panose="020B0609020204030204" pitchFamily="49" charset="0"/>
      <p:regular r:id="rId58"/>
      <p:bold r:id="rId59"/>
      <p:italic r:id="rId60"/>
      <p:boldItalic r:id="rId6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3DF49A0-D095-4219-9CD9-3F0673EF11BF}">
          <p14:sldIdLst>
            <p14:sldId id="256"/>
            <p14:sldId id="257"/>
            <p14:sldId id="258"/>
            <p14:sldId id="309"/>
            <p14:sldId id="300"/>
            <p14:sldId id="259"/>
            <p14:sldId id="260"/>
            <p14:sldId id="261"/>
            <p14:sldId id="262"/>
            <p14:sldId id="263"/>
            <p14:sldId id="264"/>
            <p14:sldId id="307"/>
            <p14:sldId id="266"/>
          </p14:sldIdLst>
        </p14:section>
        <p14:section name="Binomial" id="{29A50A7B-EE13-4D95-AC2C-94ECD8BED150}">
          <p14:sldIdLst>
            <p14:sldId id="301"/>
            <p14:sldId id="267"/>
            <p14:sldId id="268"/>
          </p14:sldIdLst>
        </p14:section>
        <p14:section name="Poisson" id="{496C5C5C-A823-45E1-8483-211DC81BBB75}">
          <p14:sldIdLst>
            <p14:sldId id="269"/>
            <p14:sldId id="302"/>
            <p14:sldId id="270"/>
            <p14:sldId id="303"/>
            <p14:sldId id="308"/>
          </p14:sldIdLst>
        </p14:section>
        <p14:section name="Negative binomial" id="{5883FE3A-0D25-4F3B-8E40-64CCFD144D5C}">
          <p14:sldIdLst>
            <p14:sldId id="271"/>
            <p14:sldId id="304"/>
            <p14:sldId id="272"/>
            <p14:sldId id="305"/>
          </p14:sldIdLst>
        </p14:section>
        <p14:section name="Fitting" id="{97DFD32E-116D-44EA-9BFC-E22BB3CAD8B3}">
          <p14:sldIdLst>
            <p14:sldId id="273"/>
            <p14:sldId id="306"/>
            <p14:sldId id="274"/>
            <p14:sldId id="275"/>
            <p14:sldId id="276"/>
          </p14:sldIdLst>
        </p14:section>
        <p14:section name="Graphing discrete distns" id="{5E21118E-C643-4841-B364-CB52E3665C03}">
          <p14:sldIdLst>
            <p14:sldId id="299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Ord plots" id="{D2BC0FD9-D35A-4BCC-AC52-3C05B6B5AC94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  <p14:section name="PhD pubs" id="{74595AFF-3E30-425D-ACC3-7495AFA20E39}">
          <p14:sldIdLst>
            <p14:sldId id="294"/>
            <p14:sldId id="295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124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5" Type="http://schemas.openxmlformats.org/officeDocument/2006/relationships/slide" Target="slides/slide4.xml"/><Relationship Id="rId61" Type="http://schemas.openxmlformats.org/officeDocument/2006/relationships/font" Target="fonts/font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4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8CB518-5683-48E4-96BC-0A4DD0E8317B}" type="datetimeFigureOut">
              <a:rPr lang="en-CA" smtClean="0"/>
              <a:t>2025-12-12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DDDEFC-718D-4AF9-80F1-24BEE22366D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9409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1787: The Federalist Papers were written and published to urge New Yorkers to ratify the proposed United States Constitution, which was drafted in Philadelphia in the summer of 1787.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DDEFC-718D-4AF9-80F1-24BEE22366D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82001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Usually, we hope a given type of distribution will fit the data well. But lack-of-fit is also important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DDEFC-718D-4AF9-80F1-24BEE22366D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35868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DDEFC-718D-4AF9-80F1-24BEE22366D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59349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Stigler’s </a:t>
            </a:r>
            <a:r>
              <a:rPr lang="en-CA"/>
              <a:t>law examples : Pythagorean theorem, Occam's razor, Halley's comet, Avogadro's number, Coriolis force, Gresham's law, Venn diagrams,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DDEFC-718D-4AF9-80F1-24BEE22366D6}" type="slidenum">
              <a:rPr lang="en-CA" smtClean="0"/>
              <a:t>20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3586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12/12/2025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12/12/2025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12/12/2025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12/12/2025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12/12/2025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iendly.github.io/6135/R/arbuthnot-gg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80/00031305.2022.2046159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1.jpeg"/><Relationship Id="rId5" Type="http://schemas.openxmlformats.org/officeDocument/2006/relationships/hyperlink" Target="http://www.medicine.mcgill.ca/epidemiology/hanley/Gosset/" TargetMode="Externa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276600"/>
            <a:ext cx="7772400" cy="860425"/>
          </a:xfrm>
        </p:spPr>
        <p:txBody>
          <a:bodyPr/>
          <a:lstStyle/>
          <a:p>
            <a:r>
              <a:rPr lang="en-US" dirty="0"/>
              <a:t>Discrete distributions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</a:rPr>
              <a:t>http://friendly.github.io/psy6136 </a:t>
            </a: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52FE026C-B6BB-4882-B245-6DD335E655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E021FD92-E614-410F-B023-7E710648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495800"/>
            <a:ext cx="1495928" cy="17308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587F0B-F53A-4D16-946B-A9550AF6D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35820"/>
            <a:ext cx="6714286" cy="2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44FF4-A6BA-41F6-8198-6DAD576CE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Discrete distributions: Basic ideas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A77F0-C410-4300-8516-C91DE3BE6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Quantitative data: often assumed Normal (</a:t>
            </a:r>
            <a:r>
              <a:rPr lang="el-GR" dirty="0"/>
              <a:t>μ</a:t>
            </a:r>
            <a:r>
              <a:rPr lang="en-US" dirty="0"/>
              <a:t>, </a:t>
            </a:r>
            <a:r>
              <a:rPr lang="en-US" dirty="0">
                <a:sym typeface="Symbol" panose="05050102010706020507" pitchFamily="18" charset="2"/>
              </a:rPr>
              <a:t></a:t>
            </a:r>
            <a:r>
              <a:rPr lang="en-US" baseline="30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) – unreasonable for CDA</a:t>
            </a:r>
            <a:endParaRPr lang="en-US" dirty="0"/>
          </a:p>
          <a:p>
            <a:r>
              <a:rPr lang="en-US" dirty="0"/>
              <a:t>Binomial, Poisson, Negative binomial, … are the building blocks for CDA</a:t>
            </a:r>
          </a:p>
          <a:p>
            <a:r>
              <a:rPr lang="en-US" dirty="0"/>
              <a:t>They form the basis for modeling techniques</a:t>
            </a:r>
          </a:p>
          <a:p>
            <a:pPr lvl="1"/>
            <a:r>
              <a:rPr lang="en-US" dirty="0"/>
              <a:t>logistic regression, generalized linear models, Poisson regression</a:t>
            </a:r>
          </a:p>
          <a:p>
            <a:r>
              <a:rPr lang="en-US" dirty="0"/>
              <a:t>Data:</a:t>
            </a:r>
          </a:p>
          <a:p>
            <a:pPr lvl="1"/>
            <a:r>
              <a:rPr lang="en-US" dirty="0"/>
              <a:t>outcome variable (</a:t>
            </a:r>
            <a:r>
              <a:rPr lang="en-US" i="1" dirty="0"/>
              <a:t>k</a:t>
            </a:r>
            <a:r>
              <a:rPr lang="en-US" dirty="0"/>
              <a:t> = 0, 1, 2, … )</a:t>
            </a:r>
          </a:p>
          <a:p>
            <a:pPr lvl="1"/>
            <a:r>
              <a:rPr lang="en-US" dirty="0"/>
              <a:t>counts of occurrences (</a:t>
            </a:r>
            <a:r>
              <a:rPr lang="en-US" i="1" dirty="0" err="1"/>
              <a:t>n</a:t>
            </a:r>
            <a:r>
              <a:rPr lang="en-US" i="1" baseline="-25000" dirty="0" err="1"/>
              <a:t>k</a:t>
            </a:r>
            <a:r>
              <a:rPr lang="en-US" dirty="0"/>
              <a:t>): accidents, words in text, males in families of size </a:t>
            </a:r>
            <a:r>
              <a:rPr lang="en-US" i="1" dirty="0"/>
              <a:t>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A6B6B-722B-44AC-8D51-8A9E9AF56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22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1D0A2-B7B0-466F-A752-B8C2C266F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Examples: binomial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0B7DE-A898-4A94-8977-0F85C00FB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0B4D1-ACC3-463D-868F-B1B0E77A1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67" y="1834147"/>
            <a:ext cx="8133333" cy="46761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9A642E-CF15-44C1-B7D3-443F98242116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Human sex ratio (Geissler, 1889): </a:t>
            </a:r>
            <a:r>
              <a:rPr lang="en-US" b="1" dirty="0"/>
              <a:t>Is there evidence that </a:t>
            </a:r>
            <a:r>
              <a:rPr lang="en-US" b="1" dirty="0" err="1"/>
              <a:t>Pr</a:t>
            </a:r>
            <a:r>
              <a:rPr lang="en-US" b="1" dirty="0"/>
              <a:t>(male) = 0.5?</a:t>
            </a:r>
          </a:p>
        </p:txBody>
      </p:sp>
    </p:spTree>
    <p:extLst>
      <p:ext uri="{BB962C8B-B14F-4D97-AF65-F5344CB8AC3E}">
        <p14:creationId xmlns:p14="http://schemas.microsoft.com/office/powerpoint/2010/main" val="365417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8E014-5183-5582-44F9-1D24B0819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Why did this matter? -- </a:t>
            </a:r>
            <a:r>
              <a:rPr lang="en-CA" dirty="0" err="1"/>
              <a:t>Arbuthot</a:t>
            </a:r>
            <a:endParaRPr lang="en-CA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F8748F-561C-398B-11A6-647655606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 descr="A graph of a number of men and women&#10;&#10;AI-generated content may be incorrect.">
            <a:extLst>
              <a:ext uri="{FF2B5EF4-FFF2-40B4-BE49-F238E27FC236}">
                <a16:creationId xmlns:a16="http://schemas.microsoft.com/office/drawing/2014/main" id="{3199AF51-3534-B336-B3D8-03B733D079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30496"/>
            <a:ext cx="5547365" cy="39624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10DDAE-D07C-C1F6-6718-08D0E67CAD5B}"/>
              </a:ext>
            </a:extLst>
          </p:cNvPr>
          <p:cNvSpPr txBox="1"/>
          <p:nvPr/>
        </p:nvSpPr>
        <p:spPr>
          <a:xfrm>
            <a:off x="457200" y="1143000"/>
            <a:ext cx="82296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John </a:t>
            </a:r>
            <a:r>
              <a:rPr lang="en-CA" dirty="0" err="1"/>
              <a:t>Arbuthot</a:t>
            </a:r>
            <a:r>
              <a:rPr lang="en-CA" dirty="0"/>
              <a:t> (1710) had gathered data  on the ratios of male to female christenings in London from 1629-1710, 81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He showed that in EVERY year Males &gt; Females 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Calculated the FIRST significance test: like tossing 81 coins, and getting all heads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Argued that the result must be due to divine providence: God likes more boys than girls!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263ADA-9327-CDE1-DB2B-CAEA45C8F7DB}"/>
              </a:ext>
            </a:extLst>
          </p:cNvPr>
          <p:cNvSpPr txBox="1"/>
          <p:nvPr/>
        </p:nvSpPr>
        <p:spPr>
          <a:xfrm>
            <a:off x="6096000" y="4711698"/>
            <a:ext cx="2819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Data: </a:t>
            </a:r>
            <a:r>
              <a:rPr lang="en-CA" sz="1400" dirty="0" err="1"/>
              <a:t>HistData</a:t>
            </a:r>
            <a:r>
              <a:rPr lang="en-CA" sz="1400" dirty="0"/>
              <a:t>::Arbuthnot</a:t>
            </a:r>
          </a:p>
          <a:p>
            <a:r>
              <a:rPr lang="en-CA" sz="1400" dirty="0" err="1"/>
              <a:t>ggplot</a:t>
            </a:r>
            <a:r>
              <a:rPr lang="en-CA" sz="1400" dirty="0"/>
              <a:t> script: </a:t>
            </a:r>
            <a:r>
              <a:rPr lang="en-CA" sz="1400" dirty="0">
                <a:hlinkClick r:id="rId3"/>
              </a:rPr>
              <a:t>https://friendly.github.io/6135/R/arbuthnot-gg.html</a:t>
            </a:r>
            <a:r>
              <a:rPr lang="en-CA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38001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48031-E510-19CC-5E78-5C1AE1499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Poisson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5640339-1A0B-1943-59D3-B3A922CD2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10D38-6B78-36A2-DD70-BE33AA3D6BDF}"/>
              </a:ext>
            </a:extLst>
          </p:cNvPr>
          <p:cNvSpPr txBox="1"/>
          <p:nvPr/>
        </p:nvSpPr>
        <p:spPr>
          <a:xfrm>
            <a:off x="457200" y="11430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L. Von </a:t>
            </a:r>
            <a:r>
              <a:rPr lang="en-CA" dirty="0" err="1"/>
              <a:t>Bortkiewicz</a:t>
            </a:r>
            <a:r>
              <a:rPr lang="en-CA" dirty="0"/>
              <a:t> (1898) tallied the numbers of deaths by horse or mule kicks in 10 corps of the Prussian army over 20 years, </a:t>
            </a:r>
            <a:r>
              <a:rPr lang="en-CA" dirty="0">
                <a:sym typeface="Symbol" panose="05050102010706020507" pitchFamily="18" charset="2"/>
              </a:rPr>
              <a:t> </a:t>
            </a:r>
            <a:r>
              <a:rPr lang="en-CA" dirty="0"/>
              <a:t>200 corps-years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In how many corps-years were there 0, 1, 2, … deaths?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This is among the earliest examples of a Poisson 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4870A-62F9-ECE1-0E6F-1CA1B3DBC920}"/>
              </a:ext>
            </a:extLst>
          </p:cNvPr>
          <p:cNvSpPr txBox="1"/>
          <p:nvPr/>
        </p:nvSpPr>
        <p:spPr>
          <a:xfrm>
            <a:off x="457200" y="2638961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HorseKicks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package="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HorseKicks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nDeaths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0   1   2   3   4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109  65  22   3   1</a:t>
            </a:r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AF03879E-56BF-11CE-07CB-9181103F1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874856"/>
            <a:ext cx="4852704" cy="28307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E7BEAF-7184-872B-8CEE-CB979D958695}"/>
              </a:ext>
            </a:extLst>
          </p:cNvPr>
          <p:cNvSpPr txBox="1"/>
          <p:nvPr/>
        </p:nvSpPr>
        <p:spPr>
          <a:xfrm>
            <a:off x="4724400" y="4267200"/>
            <a:ext cx="396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Poisson distribution arises as that of the probability of 0, 1, 2, …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70C0"/>
                </a:solidFill>
              </a:rPr>
              <a:t>Rare</a:t>
            </a:r>
            <a:r>
              <a:rPr lang="en-CA" dirty="0"/>
              <a:t> events, that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Occur with </a:t>
            </a:r>
            <a:r>
              <a:rPr lang="en-CA" dirty="0">
                <a:solidFill>
                  <a:srgbClr val="0070C0"/>
                </a:solidFill>
              </a:rPr>
              <a:t>constant</a:t>
            </a:r>
            <a:r>
              <a:rPr lang="en-CA" dirty="0"/>
              <a:t> probability</a:t>
            </a:r>
          </a:p>
        </p:txBody>
      </p:sp>
    </p:spTree>
    <p:extLst>
      <p:ext uri="{BB962C8B-B14F-4D97-AF65-F5344CB8AC3E}">
        <p14:creationId xmlns:p14="http://schemas.microsoft.com/office/powerpoint/2010/main" val="309589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F1B42-0BEF-43EF-A7B0-280A2CC70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Examples: count data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7D333-31B0-459D-BF1E-7C874F6DED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200400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Federalist papers: Disputed authorship</a:t>
            </a:r>
          </a:p>
          <a:p>
            <a:r>
              <a:rPr lang="en-US" sz="2000" dirty="0"/>
              <a:t>77 essays by Alexander Hamilton, John Jay, James Madison to persuade voters to ratify the US constitution, all signed with pseudonym “Publius”</a:t>
            </a:r>
          </a:p>
          <a:p>
            <a:pPr lvl="1"/>
            <a:r>
              <a:rPr lang="en-US" sz="1800" dirty="0"/>
              <a:t>Who wrote each?</a:t>
            </a:r>
          </a:p>
          <a:p>
            <a:pPr lvl="1"/>
            <a:r>
              <a:rPr lang="en-US" sz="1800" dirty="0"/>
              <a:t>65 known, 12 disputed (H &amp; M both claimed sole authorship)</a:t>
            </a:r>
          </a:p>
          <a:p>
            <a:r>
              <a:rPr lang="en-US" sz="2000" dirty="0" err="1"/>
              <a:t>Mosteller</a:t>
            </a:r>
            <a:r>
              <a:rPr lang="en-US" sz="2000" dirty="0"/>
              <a:t> &amp; Wallace (1984): analysis of frequency </a:t>
            </a:r>
            <a:r>
              <a:rPr lang="en-US" sz="2000" dirty="0" err="1"/>
              <a:t>dist</a:t>
            </a:r>
            <a:r>
              <a:rPr lang="en-US" sz="2000" baseline="30000" dirty="0" err="1"/>
              <a:t>n</a:t>
            </a:r>
            <a:r>
              <a:rPr lang="en-US" sz="2000" dirty="0" err="1"/>
              <a:t>s</a:t>
            </a:r>
            <a:r>
              <a:rPr lang="en-US" sz="2000" dirty="0"/>
              <a:t> of key “marker” words: from, </a:t>
            </a:r>
            <a:r>
              <a:rPr lang="en-US" sz="2000" b="1" dirty="0"/>
              <a:t>may</a:t>
            </a:r>
            <a:r>
              <a:rPr lang="en-US" sz="2000" dirty="0"/>
              <a:t>, whilst, …</a:t>
            </a:r>
          </a:p>
          <a:p>
            <a:r>
              <a:rPr lang="en-US" sz="2000" dirty="0"/>
              <a:t>e.g., blocks of 200 words: occurrences (</a:t>
            </a:r>
            <a:r>
              <a:rPr lang="en-US" sz="2000" i="1" dirty="0"/>
              <a:t>k</a:t>
            </a:r>
            <a:r>
              <a:rPr lang="en-US" sz="2000" dirty="0"/>
              <a:t>) of “may” in how many blocks (</a:t>
            </a:r>
            <a:r>
              <a:rPr lang="en-US" sz="2000" i="1" dirty="0" err="1"/>
              <a:t>n</a:t>
            </a:r>
            <a:r>
              <a:rPr lang="en-US" sz="2000" i="1" baseline="-25000" dirty="0" err="1"/>
              <a:t>k</a:t>
            </a:r>
            <a:r>
              <a:rPr lang="en-US" sz="20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F99E38-16CE-4978-857E-996C40289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080A8-28EA-40D9-B9CF-FAABAFECEA3D}"/>
              </a:ext>
            </a:extLst>
          </p:cNvPr>
          <p:cNvSpPr txBox="1"/>
          <p:nvPr/>
        </p:nvSpPr>
        <p:spPr>
          <a:xfrm>
            <a:off x="838200" y="4371975"/>
            <a:ext cx="7848600" cy="147732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&gt; data(Federalist, package = "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vcd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&gt; Federalist</a:t>
            </a:r>
          </a:p>
          <a:p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nMay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0   1   2   3   4   5   6 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156  63  29   8   4   1   1 </a:t>
            </a:r>
          </a:p>
        </p:txBody>
      </p:sp>
    </p:spTree>
    <p:extLst>
      <p:ext uri="{BB962C8B-B14F-4D97-AF65-F5344CB8AC3E}">
        <p14:creationId xmlns:p14="http://schemas.microsoft.com/office/powerpoint/2010/main" val="3088756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B341F-0487-425D-BBD1-0ECB76CF8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Count data: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8C394B-164D-42CE-8D79-6BF53BEB4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C088C4-8A41-45AD-B182-D08D62E8B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95400"/>
            <a:ext cx="5895238" cy="25618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F0B16A-5C12-4138-B956-5CC63CA6F400}"/>
              </a:ext>
            </a:extLst>
          </p:cNvPr>
          <p:cNvSpPr txBox="1"/>
          <p:nvPr/>
        </p:nvSpPr>
        <p:spPr>
          <a:xfrm>
            <a:off x="762000" y="4038600"/>
            <a:ext cx="769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each word (“from”, “may”, “whilst”, 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Fit a probability model [Poisson(</a:t>
            </a:r>
            <a:r>
              <a:rPr lang="en-US" sz="2400" dirty="0">
                <a:sym typeface="Symbol" panose="05050102010706020507" pitchFamily="18" charset="2"/>
              </a:rPr>
              <a:t></a:t>
            </a:r>
            <a:r>
              <a:rPr lang="en-US" sz="2400" dirty="0"/>
              <a:t>), </a:t>
            </a:r>
            <a:r>
              <a:rPr lang="en-US" sz="2400" dirty="0" err="1"/>
              <a:t>NegBin</a:t>
            </a:r>
            <a:r>
              <a:rPr lang="en-US" sz="2400" dirty="0"/>
              <a:t>(</a:t>
            </a:r>
            <a:r>
              <a:rPr lang="en-US" sz="2400" dirty="0">
                <a:sym typeface="Symbol" panose="05050102010706020507" pitchFamily="18" charset="2"/>
              </a:rPr>
              <a:t>, </a:t>
            </a:r>
            <a:r>
              <a:rPr lang="en-CA" sz="2400" dirty="0">
                <a:sym typeface="Symbol" panose="05050102010706020507" pitchFamily="18" charset="2"/>
              </a:rPr>
              <a:t>p</a:t>
            </a:r>
            <a:r>
              <a:rPr lang="en-US" sz="2400" dirty="0">
                <a:sym typeface="Symbol" panose="05050102010706020507" pitchFamily="18" charset="2"/>
              </a:rPr>
              <a:t>)]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Estimate parameters (</a:t>
            </a:r>
            <a:r>
              <a:rPr lang="en-US" sz="2400" dirty="0">
                <a:sym typeface="Symbol" panose="05050102010706020507" pitchFamily="18" charset="2"/>
              </a:rPr>
              <a:t>,p)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Symbol" panose="05050102010706020507" pitchFamily="18" charset="2"/>
              </a:rPr>
              <a:t> Calculate log Odds (Hamilton vs. Madison)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ym typeface="Symbol" panose="05050102010706020507" pitchFamily="18" charset="2"/>
              </a:rPr>
              <a:t> All 12 disputed papers most likely written by </a:t>
            </a:r>
            <a:r>
              <a:rPr lang="en-US" sz="2400" dirty="0">
                <a:solidFill>
                  <a:srgbClr val="0070C0"/>
                </a:solidFill>
                <a:sym typeface="Symbol" panose="05050102010706020507" pitchFamily="18" charset="2"/>
              </a:rPr>
              <a:t>Madison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6463B9-4F2A-6B94-5914-B2D0A5BB7BF1}"/>
              </a:ext>
            </a:extLst>
          </p:cNvPr>
          <p:cNvSpPr txBox="1"/>
          <p:nvPr/>
        </p:nvSpPr>
        <p:spPr>
          <a:xfrm>
            <a:off x="762000" y="6019800"/>
            <a:ext cx="769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(pioneered the use of cross-validation to assess model fit)</a:t>
            </a:r>
          </a:p>
        </p:txBody>
      </p:sp>
    </p:spTree>
    <p:extLst>
      <p:ext uri="{BB962C8B-B14F-4D97-AF65-F5344CB8AC3E}">
        <p14:creationId xmlns:p14="http://schemas.microsoft.com/office/powerpoint/2010/main" val="4134526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25B66-68E7-4EBC-9B41-42367669B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Type-token distributions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8F15E8-46C1-4198-A2B1-0FCF7383E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4219D-5A0E-4C4D-8AF1-95BCF8DF4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324" y="1447800"/>
            <a:ext cx="8190476" cy="45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723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4E10B0-026C-4487-BBF1-FCCDDBC5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9B562A-E133-464B-B63B-ADF3EEAC4FDA}"/>
              </a:ext>
            </a:extLst>
          </p:cNvPr>
          <p:cNvSpPr txBox="1"/>
          <p:nvPr/>
        </p:nvSpPr>
        <p:spPr>
          <a:xfrm>
            <a:off x="609600" y="685800"/>
            <a:ext cx="43434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data(Butterfly, package="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vcd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barplot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(Butterfly,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xlab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= "Number of individuals",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ylab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= "Number of species",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col = "pink",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cex.lab</a:t>
            </a:r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= 1.5)</a:t>
            </a:r>
          </a:p>
        </p:txBody>
      </p:sp>
      <p:pic>
        <p:nvPicPr>
          <p:cNvPr id="6" name="Picture 5" descr="Chart, histogram&#10;&#10;Description automatically generated">
            <a:extLst>
              <a:ext uri="{FF2B5EF4-FFF2-40B4-BE49-F238E27FC236}">
                <a16:creationId xmlns:a16="http://schemas.microsoft.com/office/drawing/2014/main" id="{E80C4765-042D-415A-9CC1-5C8EC418AF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895600"/>
            <a:ext cx="7001852" cy="35914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3673B7-321B-47AF-B5A0-4E62F74D53F3}"/>
              </a:ext>
            </a:extLst>
          </p:cNvPr>
          <p:cNvSpPr txBox="1"/>
          <p:nvPr/>
        </p:nvSpPr>
        <p:spPr>
          <a:xfrm>
            <a:off x="3352800" y="2362200"/>
            <a:ext cx="5105400" cy="1200329"/>
          </a:xfrm>
          <a:prstGeom prst="rect">
            <a:avLst/>
          </a:prstGeom>
          <a:solidFill>
            <a:schemeClr val="tx2">
              <a:lumMod val="40000"/>
              <a:lumOff val="60000"/>
              <a:alpha val="3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Questions</a:t>
            </a:r>
            <a:r>
              <a:rPr lang="en-US" dirty="0"/>
              <a:t>:</a:t>
            </a:r>
          </a:p>
          <a:p>
            <a:r>
              <a:rPr lang="en-US" dirty="0"/>
              <a:t>What is the total pop. of butterflies in Malaysia?</a:t>
            </a:r>
          </a:p>
          <a:p>
            <a:r>
              <a:rPr lang="en-US" dirty="0"/>
              <a:t>How many wolves remain in Canada NWT?</a:t>
            </a:r>
          </a:p>
          <a:p>
            <a:r>
              <a:rPr lang="en-US" dirty="0"/>
              <a:t>How many words did Shakespeare know?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95EEE2-A837-4A88-96D9-D2296CF7E548}"/>
              </a:ext>
            </a:extLst>
          </p:cNvPr>
          <p:cNvSpPr txBox="1"/>
          <p:nvPr/>
        </p:nvSpPr>
        <p:spPr>
          <a:xfrm>
            <a:off x="3352800" y="3733800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Answers depend on estimating </a:t>
            </a:r>
            <a:r>
              <a:rPr lang="en-US" sz="2400" dirty="0" err="1"/>
              <a:t>Pr</a:t>
            </a:r>
            <a:r>
              <a:rPr lang="en-US" sz="2400" dirty="0"/>
              <a:t>(k=0)</a:t>
            </a:r>
          </a:p>
        </p:txBody>
      </p:sp>
    </p:spTree>
    <p:extLst>
      <p:ext uri="{BB962C8B-B14F-4D97-AF65-F5344CB8AC3E}">
        <p14:creationId xmlns:p14="http://schemas.microsoft.com/office/powerpoint/2010/main" val="1117740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480DAE-A153-4941-BF70-D2F3FFE9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Discrete distributions: Questions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F44D0-DC62-4DB8-8A42-A6AEC0291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General questions</a:t>
            </a:r>
          </a:p>
          <a:p>
            <a:pPr lvl="1"/>
            <a:r>
              <a:rPr lang="en-US" dirty="0"/>
              <a:t>What process gave rise to the distribution?</a:t>
            </a:r>
          </a:p>
          <a:p>
            <a:pPr lvl="1"/>
            <a:r>
              <a:rPr lang="en-US" dirty="0"/>
              <a:t>What is the form: uniform, binomial, Poisson, negative binomial, … ?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/>
              <a:t>Fit &amp; estimate parameters</a:t>
            </a:r>
          </a:p>
          <a:p>
            <a:pPr lvl="2"/>
            <a:r>
              <a:rPr lang="en-US" dirty="0"/>
              <a:t>Visualize goodness of fit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/>
              <a:t>Use in some larger context to tell a story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i="1" dirty="0"/>
              <a:t>Families in Saxony</a:t>
            </a:r>
            <a:r>
              <a:rPr lang="en-US" dirty="0"/>
              <a:t>: might expect Bin(n=12, p); p=0.5?</a:t>
            </a:r>
          </a:p>
          <a:p>
            <a:pPr lvl="1"/>
            <a:r>
              <a:rPr lang="en-US" i="1" dirty="0" err="1"/>
              <a:t>HorseKicks</a:t>
            </a:r>
            <a:r>
              <a:rPr lang="en-US" dirty="0"/>
              <a:t>: Poisson (</a:t>
            </a:r>
            <a:r>
              <a:rPr lang="en-US" dirty="0">
                <a:sym typeface="Symbol" panose="05050102010706020507" pitchFamily="18" charset="2"/>
              </a:rPr>
              <a:t>); here,  = mean = 0.61</a:t>
            </a:r>
            <a:endParaRPr lang="en-US" dirty="0"/>
          </a:p>
          <a:p>
            <a:pPr lvl="1"/>
            <a:r>
              <a:rPr lang="en-US" i="1" dirty="0"/>
              <a:t>Federalist papers</a:t>
            </a:r>
            <a:r>
              <a:rPr lang="en-US" dirty="0"/>
              <a:t>: Perhaps Poisson(</a:t>
            </a:r>
            <a:r>
              <a:rPr lang="en-US" dirty="0">
                <a:sym typeface="Symbol" panose="05050102010706020507" pitchFamily="18" charset="2"/>
              </a:rPr>
              <a:t>) or </a:t>
            </a:r>
            <a:r>
              <a:rPr lang="en-US" dirty="0" err="1">
                <a:sym typeface="Symbol" panose="05050102010706020507" pitchFamily="18" charset="2"/>
              </a:rPr>
              <a:t>NegBin</a:t>
            </a:r>
            <a:r>
              <a:rPr lang="en-US" sz="2400" dirty="0"/>
              <a:t> (</a:t>
            </a:r>
            <a:r>
              <a:rPr lang="en-US" sz="2400" dirty="0">
                <a:sym typeface="Symbol" panose="05050102010706020507" pitchFamily="18" charset="2"/>
              </a:rPr>
              <a:t>, </a:t>
            </a:r>
            <a:r>
              <a:rPr lang="en-CA" dirty="0">
                <a:sym typeface="Symbol" panose="05050102010706020507" pitchFamily="18" charset="2"/>
              </a:rPr>
              <a:t>p</a:t>
            </a:r>
            <a:r>
              <a:rPr lang="en-US" sz="2400" dirty="0">
                <a:sym typeface="Symbol" panose="05050102010706020507" pitchFamily="18" charset="2"/>
              </a:rPr>
              <a:t>)</a:t>
            </a:r>
            <a:endParaRPr lang="en-US" dirty="0">
              <a:sym typeface="Symbol" panose="05050102010706020507" pitchFamily="18" charset="2"/>
            </a:endParaRPr>
          </a:p>
          <a:p>
            <a:pPr lvl="1"/>
            <a:r>
              <a:rPr lang="en-US" i="1" dirty="0">
                <a:sym typeface="Symbol" panose="05050102010706020507" pitchFamily="18" charset="2"/>
              </a:rPr>
              <a:t>Butterfly data</a:t>
            </a:r>
            <a:r>
              <a:rPr lang="en-US" dirty="0">
                <a:sym typeface="Symbol" panose="05050102010706020507" pitchFamily="18" charset="2"/>
              </a:rPr>
              <a:t>: Perhaps a log-series distribution?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179D5A-5DFF-45A8-8237-1B1F5C0AE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512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E5DC2-14E0-4093-ABEE-58D6F799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discrete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26208-103D-4F6A-A274-049F8FC24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EAC6D5-40CD-4558-BD67-22034648E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9200"/>
            <a:ext cx="8171428" cy="1809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436F5F-9939-4FE1-B137-DA870717BA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90" y="3754442"/>
            <a:ext cx="8190476" cy="1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385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9041-E4BF-6E6C-6933-4BBC82A90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Common discrete distributions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B707E-97EB-DD8B-ACDF-37D58816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024EA2C6-DBAF-EDA1-A270-9FE4D66E28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5068529"/>
                  </p:ext>
                </p:extLst>
              </p:nvPr>
            </p:nvGraphicFramePr>
            <p:xfrm>
              <a:off x="457200" y="1407164"/>
              <a:ext cx="8229600" cy="49276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464689213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067458921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548656342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951206783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826657873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672865144"/>
                        </a:ext>
                      </a:extLst>
                    </a:gridCol>
                  </a:tblGrid>
                  <a:tr h="752236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Distribution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Counts, </a:t>
                          </a:r>
                          <a:r>
                            <a:rPr lang="en-CA" i="1" dirty="0"/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Values of </a:t>
                          </a:r>
                          <a:r>
                            <a:rPr lang="en-CA" i="1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 err="1"/>
                            <a:t>Pr</a:t>
                          </a:r>
                          <a:r>
                            <a:rPr lang="en-CA" dirty="0"/>
                            <a:t>(</a:t>
                          </a:r>
                          <a:r>
                            <a:rPr lang="en-CA" i="1" dirty="0"/>
                            <a:t>X=k</a:t>
                          </a:r>
                          <a:r>
                            <a:rPr lang="en-CA" dirty="0"/>
                            <a:t>)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Mean, E(X)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Var, V(X)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3164507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Bernoulli(p)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Success in 1 trial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k={0, 1}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CA" sz="18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sz="1800" i="0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1−</m:t>
                                        </m:r>
                                        <m: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CA" sz="18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1−</m:t>
                                    </m:r>
                                    <m: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CA" i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03408837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Binomial(</a:t>
                          </a:r>
                          <a:r>
                            <a:rPr lang="en-CA" sz="1600" dirty="0" err="1"/>
                            <a:t>n,p</a:t>
                          </a:r>
                          <a:r>
                            <a:rPr lang="en-CA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successes in n trials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0, 1, …, 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CA" sz="14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CA" sz="14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CA" sz="1400" i="1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𝑛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CA" sz="1400" i="1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𝑘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sSup>
                                  <m:sSupPr>
                                    <m:ctrlPr>
                                      <a:rPr lang="en-CA" sz="1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CA" sz="1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CA" sz="1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CA" sz="14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sz="1400" i="0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1−</m:t>
                                        </m:r>
                                        <m:r>
                                          <a:rPr lang="en-CA" sz="14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CA" sz="1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  <m:r>
                                      <a:rPr lang="en-CA" sz="14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−</m:t>
                                    </m:r>
                                    <m:r>
                                      <a:rPr lang="en-CA" sz="14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i="1" dirty="0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𝑛𝑝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(1−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CA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9637409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Geometric(p)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trials to 1</a:t>
                          </a:r>
                          <a:r>
                            <a:rPr lang="en-CA" baseline="30000" dirty="0"/>
                            <a:t>st</a:t>
                          </a:r>
                          <a:r>
                            <a:rPr lang="en-CA" dirty="0"/>
                            <a:t> success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0, 1, 2, 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CA" sz="180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𝑝</m:t>
                                </m:r>
                                <m:sSup>
                                  <m:sSupPr>
                                    <m:ctrlP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sz="1800" i="0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1−</m:t>
                                        </m:r>
                                        <m: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en-CA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CA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CA" sz="2400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CA" sz="24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num>
                                      <m:den>
                                        <m:r>
                                          <a:rPr lang="en-CA" sz="24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en-CA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A" sz="18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CA" sz="1800" b="0" i="1" smtClean="0"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en-CA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num>
                                  <m:den>
                                    <m:r>
                                      <a:rPr lang="en-CA" sz="18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CA" sz="1800" b="0" i="1" baseline="300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60097535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Neg. binomial(</a:t>
                          </a:r>
                          <a:r>
                            <a:rPr lang="en-CA" sz="1600" dirty="0" err="1"/>
                            <a:t>k,p</a:t>
                          </a:r>
                          <a:r>
                            <a:rPr lang="en-CA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trials to k</a:t>
                          </a:r>
                          <a:r>
                            <a:rPr lang="en-CA" baseline="30000" dirty="0"/>
                            <a:t>th</a:t>
                          </a:r>
                          <a:r>
                            <a:rPr lang="en-CA" dirty="0"/>
                            <a:t> success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0, 1, 2, …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CA" sz="12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plcHide m:val="on"/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CA" sz="12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a:rPr lang="en-CA" sz="1200" i="1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𝑛</m:t>
                                          </m:r>
                                          <m:r>
                                            <a:rPr lang="en-CA" sz="1200" i="0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+</m:t>
                                          </m:r>
                                          <m:r>
                                            <a:rPr lang="en-CA" sz="1200" i="1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𝑘</m:t>
                                          </m:r>
                                          <m:r>
                                            <a:rPr lang="en-CA" sz="1200" i="0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−1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CA" sz="1200" i="1" kern="1200">
                                              <a:solidFill>
                                                <a:schemeClr val="dk1"/>
                                              </a:solidFill>
                                              <a:latin typeface="Cambria Math" panose="02040503050406030204" pitchFamily="18" charset="0"/>
                                              <a:ea typeface="+mn-ea"/>
                                              <a:cs typeface="+mn-cs"/>
                                            </a:rPr>
                                            <m:t>𝑘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  <m:sSup>
                                  <m:sSupPr>
                                    <m:ctrlPr>
                                      <a:rPr lang="en-CA" sz="12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CA" sz="12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CA" sz="12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CA" sz="12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CA" sz="12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CA" sz="1200" i="0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1−</m:t>
                                        </m:r>
                                        <m:r>
                                          <a:rPr lang="en-CA" sz="12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CA" sz="12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CA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kumimoji="0" lang="en-CA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(1−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)</m:t>
                                        </m:r>
                                      </m:num>
                                      <m:den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kumimoji="0" lang="en-CA" sz="24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(1−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)</m:t>
                                        </m:r>
                                      </m:num>
                                      <m:den>
                                        <m:r>
                                          <a:rPr kumimoji="0" lang="en-CA" sz="24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𝑝</m:t>
                                        </m:r>
                                        <m:r>
                                          <a:rPr kumimoji="0" lang="en-CA" sz="2400" b="0" i="1" u="none" strike="noStrike" kern="1200" cap="none" spc="0" normalizeH="0" baseline="3000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15915387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Poisson(</a:t>
                          </a:r>
                          <a:r>
                            <a:rPr lang="el-GR" sz="1600" dirty="0"/>
                            <a:t>λ</a:t>
                          </a:r>
                          <a:r>
                            <a:rPr lang="en-CA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events in interval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0, 1, 2, …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CA" sz="180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𝜆</m:t>
                                        </m:r>
                                      </m:e>
                                      <m:sup>
                                        <m: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𝑘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CA" sz="1800" i="0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−</m:t>
                                        </m:r>
                                        <m:r>
                                          <a:rPr lang="en-CA" sz="1800" i="1" kern="120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𝜆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CA" sz="1800" i="1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𝑘</m:t>
                                    </m:r>
                                    <m:r>
                                      <a:rPr lang="en-CA" sz="1800" i="0" kern="120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!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dirty="0"/>
                            <a:t>λ</a:t>
                          </a:r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dirty="0"/>
                            <a:t>λ</a:t>
                          </a:r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099392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Log series(p)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types observed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0, 1, 2, 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5516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024EA2C6-DBAF-EDA1-A270-9FE4D66E28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5068529"/>
                  </p:ext>
                </p:extLst>
              </p:nvPr>
            </p:nvGraphicFramePr>
            <p:xfrm>
              <a:off x="457200" y="1407164"/>
              <a:ext cx="8229600" cy="49276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1600">
                      <a:extLst>
                        <a:ext uri="{9D8B030D-6E8A-4147-A177-3AD203B41FA5}">
                          <a16:colId xmlns:a16="http://schemas.microsoft.com/office/drawing/2014/main" val="464689213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067458921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548656342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951206783"/>
                        </a:ext>
                      </a:extLst>
                    </a:gridCol>
                    <a:gridCol w="1143000">
                      <a:extLst>
                        <a:ext uri="{9D8B030D-6E8A-4147-A177-3AD203B41FA5}">
                          <a16:colId xmlns:a16="http://schemas.microsoft.com/office/drawing/2014/main" val="1826657873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3672865144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Distribution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Counts, </a:t>
                          </a:r>
                          <a:r>
                            <a:rPr lang="en-CA" i="1" dirty="0"/>
                            <a:t>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Values of </a:t>
                          </a:r>
                          <a:r>
                            <a:rPr lang="en-CA" i="1" dirty="0"/>
                            <a:t>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 err="1"/>
                            <a:t>Pr</a:t>
                          </a:r>
                          <a:r>
                            <a:rPr lang="en-CA" dirty="0"/>
                            <a:t>(</a:t>
                          </a:r>
                          <a:r>
                            <a:rPr lang="en-CA" i="1" dirty="0"/>
                            <a:t>X=k</a:t>
                          </a:r>
                          <a:r>
                            <a:rPr lang="en-CA" dirty="0"/>
                            <a:t>)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Mean, E(X)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Var, V(X)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13164507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Bernoulli(p)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Success in 1 trial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k={0, 1}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333" t="-140909" r="-139000" b="-5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2674" t="-140909" r="-122995" b="-5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889" t="-140909" r="-2222" b="-5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03408837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Binomial(</a:t>
                          </a:r>
                          <a:r>
                            <a:rPr lang="en-CA" sz="1600" dirty="0" err="1"/>
                            <a:t>n,p</a:t>
                          </a:r>
                          <a:r>
                            <a:rPr lang="en-CA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successes in n trials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0, 1, …, 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333" t="-240909" r="-139000" b="-4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2674" t="-240909" r="-122995" b="-4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889" t="-240909" r="-2222" b="-4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9637409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Geometric(p)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trials to 1</a:t>
                          </a:r>
                          <a:r>
                            <a:rPr lang="en-CA" baseline="30000" dirty="0"/>
                            <a:t>st</a:t>
                          </a:r>
                          <a:r>
                            <a:rPr lang="en-CA" dirty="0"/>
                            <a:t> success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0, 1, 2, 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333" t="-340909" r="-139000" b="-3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2674" t="-340909" r="-122995" b="-3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889" t="-340909" r="-2222" b="-3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0097535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Neg. binomial(</a:t>
                          </a:r>
                          <a:r>
                            <a:rPr lang="en-CA" sz="1600" dirty="0" err="1"/>
                            <a:t>k,p</a:t>
                          </a:r>
                          <a:r>
                            <a:rPr lang="en-CA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trials to k</a:t>
                          </a:r>
                          <a:r>
                            <a:rPr lang="en-CA" baseline="30000" dirty="0"/>
                            <a:t>th</a:t>
                          </a:r>
                          <a:r>
                            <a:rPr lang="en-CA" dirty="0"/>
                            <a:t> success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0, 1, 2, …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333" t="-440909" r="-139000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2674" t="-440909" r="-122995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889" t="-440909" r="-2222" b="-2090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5915387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Poisson(</a:t>
                          </a:r>
                          <a:r>
                            <a:rPr lang="el-GR" sz="1600" dirty="0"/>
                            <a:t>λ</a:t>
                          </a:r>
                          <a:r>
                            <a:rPr lang="en-CA" sz="1600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events in interval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CA" dirty="0"/>
                            <a:t>0, 1, 2, …</a:t>
                          </a:r>
                        </a:p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13333" t="-540909" r="-139000" b="-1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dirty="0"/>
                            <a:t>λ</a:t>
                          </a:r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l-GR" sz="1800" dirty="0"/>
                            <a:t>λ</a:t>
                          </a:r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7099392"/>
                      </a:ext>
                    </a:extLst>
                  </a:tr>
                  <a:tr h="668867">
                    <a:tc>
                      <a:txBody>
                        <a:bodyPr/>
                        <a:lstStyle/>
                        <a:p>
                          <a:r>
                            <a:rPr lang="en-CA" sz="1600" dirty="0"/>
                            <a:t>Log series(p)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# of types observed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CA" dirty="0"/>
                            <a:t>0, 1, 2, …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CA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4551698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9F0551A8-C3ED-BA89-D4F3-467900D9C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522" y="5715000"/>
            <a:ext cx="1018186" cy="61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417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F172-62FB-468B-8ADC-96AE45B58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Discrete distributions: 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95F33-6CAB-44DF-8A35-00E434CA13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1981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 functions: {d__, p__, q__, r__}</a:t>
                </a:r>
              </a:p>
              <a:p>
                <a:r>
                  <a:rPr lang="en-U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d___</a:t>
                </a:r>
                <a:r>
                  <a:rPr lang="en-US" sz="1800" dirty="0"/>
                  <a:t>   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d</a:t>
                </a:r>
                <a:r>
                  <a:rPr lang="en-US" sz="1800" dirty="0">
                    <a:solidFill>
                      <a:srgbClr val="0070C0"/>
                    </a:solidFill>
                  </a:rPr>
                  <a:t>ensity</a:t>
                </a:r>
                <a:r>
                  <a:rPr lang="en-US" sz="1800" dirty="0"/>
                  <a:t> function, </a:t>
                </a:r>
                <a:r>
                  <a:rPr lang="en-US" sz="1800" dirty="0" err="1"/>
                  <a:t>Pr</a:t>
                </a:r>
                <a:r>
                  <a:rPr lang="en-US" sz="1800" dirty="0"/>
                  <a:t>(X=k) = p(k)</a:t>
                </a:r>
              </a:p>
              <a:p>
                <a:r>
                  <a:rPr lang="en-U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p___</a:t>
                </a:r>
                <a:r>
                  <a:rPr lang="en-US" sz="1800" dirty="0"/>
                  <a:t>    </a:t>
                </a:r>
                <a:r>
                  <a:rPr lang="en-US" sz="1800" dirty="0">
                    <a:solidFill>
                      <a:srgbClr val="0070C0"/>
                    </a:solidFill>
                  </a:rPr>
                  <a:t>cumulative</a:t>
                </a:r>
                <a:r>
                  <a:rPr lang="en-US" sz="1800" dirty="0"/>
                  <a:t> </a:t>
                </a:r>
                <a:r>
                  <a:rPr lang="en-US" sz="1800" b="1" dirty="0"/>
                  <a:t>p</a:t>
                </a:r>
                <a:r>
                  <a:rPr lang="en-US" sz="1800" dirty="0"/>
                  <a:t>robability, F(k)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1800" dirty="0"/>
              </a:p>
              <a:p>
                <a:r>
                  <a:rPr lang="en-U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q___</a:t>
                </a:r>
                <a:r>
                  <a:rPr lang="en-US" sz="1800" dirty="0"/>
                  <a:t>   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q</a:t>
                </a:r>
                <a:r>
                  <a:rPr lang="en-US" sz="1800" dirty="0">
                    <a:solidFill>
                      <a:srgbClr val="0070C0"/>
                    </a:solidFill>
                  </a:rPr>
                  <a:t>uantile</a:t>
                </a:r>
                <a:r>
                  <a:rPr lang="en-US" sz="1800" dirty="0"/>
                  <a:t> function, find k = F</a:t>
                </a:r>
                <a:r>
                  <a:rPr lang="en-US" sz="1800" baseline="30000" dirty="0"/>
                  <a:t>-1</a:t>
                </a:r>
                <a:r>
                  <a:rPr lang="en-US" sz="1800" dirty="0"/>
                  <a:t> (p), smallest value such that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)≥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800" dirty="0"/>
              </a:p>
              <a:p>
                <a:r>
                  <a:rPr lang="en-US" sz="18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r___</a:t>
                </a:r>
                <a:r>
                  <a:rPr lang="en-US" sz="1800" dirty="0"/>
                  <a:t>    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r</a:t>
                </a:r>
                <a:r>
                  <a:rPr lang="en-US" sz="1800" dirty="0">
                    <a:solidFill>
                      <a:srgbClr val="0070C0"/>
                    </a:solidFill>
                  </a:rPr>
                  <a:t>andom</a:t>
                </a:r>
                <a:r>
                  <a:rPr lang="en-US" sz="1800" dirty="0"/>
                  <a:t> number generator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995F33-6CAB-44DF-8A35-00E434CA13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1981200"/>
              </a:xfrm>
              <a:blipFill>
                <a:blip r:embed="rId2"/>
                <a:stretch>
                  <a:fillRect l="-1481" t="-3077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26F7B1-182E-4E4F-AC64-44304C35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E96D1198-CEC8-45C5-92B0-60F93D5D7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124200"/>
            <a:ext cx="8229600" cy="19953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2D3115-F6E3-71F2-ECCA-1B80DE2EAE3D}"/>
              </a:ext>
            </a:extLst>
          </p:cNvPr>
          <p:cNvSpPr txBox="1"/>
          <p:nvPr/>
        </p:nvSpPr>
        <p:spPr>
          <a:xfrm>
            <a:off x="1295400" y="5268466"/>
            <a:ext cx="63246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sv-SE" sz="1600" dirty="0"/>
              <a:t>&gt; dbinom(0:4, size=4, p=1/2)                </a:t>
            </a:r>
            <a:r>
              <a:rPr lang="sv-SE" sz="1600" dirty="0">
                <a:solidFill>
                  <a:srgbClr val="00B050"/>
                </a:solidFill>
              </a:rPr>
              <a:t># number of H in 4 coin tosses</a:t>
            </a:r>
          </a:p>
          <a:p>
            <a:r>
              <a:rPr lang="sv-SE" sz="1600" dirty="0"/>
              <a:t>[1] 0.0625 0.2500 0.3750 0.2500 0.0625</a:t>
            </a:r>
          </a:p>
          <a:p>
            <a:r>
              <a:rPr lang="pt-BR" sz="1600" dirty="0"/>
              <a:t>&gt; dpois(0:4, lambda=3)                          </a:t>
            </a:r>
            <a:r>
              <a:rPr lang="pt-BR" sz="1600" dirty="0">
                <a:solidFill>
                  <a:srgbClr val="00B050"/>
                </a:solidFill>
              </a:rPr>
              <a:t># poisson, with </a:t>
            </a:r>
            <a:r>
              <a:rPr lang="pt-BR" sz="1600" dirty="0">
                <a:solidFill>
                  <a:srgbClr val="00B050"/>
                </a:solidFill>
                <a:sym typeface="Symbol" panose="05050102010706020507" pitchFamily="18" charset="2"/>
              </a:rPr>
              <a:t></a:t>
            </a:r>
            <a:r>
              <a:rPr lang="pt-BR" sz="1600" dirty="0">
                <a:solidFill>
                  <a:srgbClr val="00B050"/>
                </a:solidFill>
              </a:rPr>
              <a:t> = 3</a:t>
            </a:r>
          </a:p>
          <a:p>
            <a:r>
              <a:rPr lang="pt-BR" sz="1600" dirty="0"/>
              <a:t>[1] 0.0498 0.1494 0.2240 0.2240 0.1680</a:t>
            </a:r>
            <a:endParaRPr lang="en-CA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3233F-B389-A82B-6829-1E01575E0252}"/>
              </a:ext>
            </a:extLst>
          </p:cNvPr>
          <p:cNvSpPr txBox="1"/>
          <p:nvPr/>
        </p:nvSpPr>
        <p:spPr>
          <a:xfrm>
            <a:off x="533400" y="5257800"/>
            <a:ext cx="685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e.g.,</a:t>
            </a:r>
          </a:p>
        </p:txBody>
      </p:sp>
    </p:spTree>
    <p:extLst>
      <p:ext uri="{BB962C8B-B14F-4D97-AF65-F5344CB8AC3E}">
        <p14:creationId xmlns:p14="http://schemas.microsoft.com/office/powerpoint/2010/main" val="3622795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45EDA-B45A-AC68-B9AE-ACE99309B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What is “binomial”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75777-D3C4-BD67-81BE-1C029263D4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981200"/>
          </a:xfrm>
        </p:spPr>
        <p:txBody>
          <a:bodyPr/>
          <a:lstStyle/>
          <a:p>
            <a:pPr marL="0" indent="0">
              <a:buNone/>
            </a:pPr>
            <a:r>
              <a:rPr lang="en-CA" dirty="0"/>
              <a:t>Bi-no-mi-al /</a:t>
            </a:r>
            <a:r>
              <a:rPr lang="en-CA" dirty="0" err="1"/>
              <a:t>bīˈnōmēəl</a:t>
            </a:r>
            <a:r>
              <a:rPr lang="en-CA" dirty="0"/>
              <a:t>/</a:t>
            </a:r>
          </a:p>
          <a:p>
            <a:r>
              <a:rPr lang="en-CA" sz="2000" b="1" dirty="0"/>
              <a:t>Taxonomy</a:t>
            </a:r>
            <a:r>
              <a:rPr lang="en-CA" sz="2000" dirty="0"/>
              <a:t>: A </a:t>
            </a:r>
            <a:r>
              <a:rPr lang="en-CA" sz="2000" dirty="0">
                <a:solidFill>
                  <a:srgbClr val="0070C0"/>
                </a:solidFill>
              </a:rPr>
              <a:t>two-part name</a:t>
            </a:r>
            <a:r>
              <a:rPr lang="en-CA" sz="2000" dirty="0"/>
              <a:t>, (genus, species) e.g.,  </a:t>
            </a:r>
            <a:r>
              <a:rPr lang="en-CA" sz="2000" i="1" dirty="0"/>
              <a:t>Elephas maximus </a:t>
            </a:r>
            <a:r>
              <a:rPr lang="en-CA" sz="2000" dirty="0"/>
              <a:t>for the Asian elephant</a:t>
            </a:r>
          </a:p>
          <a:p>
            <a:r>
              <a:rPr lang="en-CA" sz="2000" b="1" dirty="0"/>
              <a:t>Mathematics</a:t>
            </a:r>
            <a:r>
              <a:rPr lang="en-CA" sz="2000" dirty="0"/>
              <a:t>: An algebraic expression of a sum of </a:t>
            </a:r>
            <a:r>
              <a:rPr lang="en-CA" sz="2000" dirty="0">
                <a:solidFill>
                  <a:srgbClr val="0070C0"/>
                </a:solidFill>
              </a:rPr>
              <a:t>two terms</a:t>
            </a:r>
            <a:r>
              <a:rPr lang="en-CA" sz="2000" dirty="0"/>
              <a:t>, (x + y) or expansion, (x + y)</a:t>
            </a:r>
            <a:r>
              <a:rPr lang="en-CA" sz="2000" baseline="30000" dirty="0"/>
              <a:t>n</a:t>
            </a:r>
          </a:p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B8CA3-A4A3-C5CE-E08A-5E05970D7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4EBD017C-BC94-48BD-7D32-E845109CCE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429000"/>
            <a:ext cx="4414208" cy="227056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DF1C69-393E-996A-B2C0-ABE759B2BC5C}"/>
              </a:ext>
            </a:extLst>
          </p:cNvPr>
          <p:cNvSpPr txBox="1"/>
          <p:nvPr/>
        </p:nvSpPr>
        <p:spPr>
          <a:xfrm>
            <a:off x="5486400" y="3429000"/>
            <a:ext cx="32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Coefficients of terms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3F5B21-D348-6FB8-822A-78324557B3EE}"/>
              </a:ext>
            </a:extLst>
          </p:cNvPr>
          <p:cNvSpPr txBox="1"/>
          <p:nvPr/>
        </p:nvSpPr>
        <p:spPr>
          <a:xfrm>
            <a:off x="4114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CA" dirty="0"/>
          </a:p>
        </p:txBody>
      </p:sp>
      <p:pic>
        <p:nvPicPr>
          <p:cNvPr id="9" name="Picture 8" descr="Shape&#10;&#10;Description automatically generated with medium confidence">
            <a:extLst>
              <a:ext uri="{FF2B5EF4-FFF2-40B4-BE49-F238E27FC236}">
                <a16:creationId xmlns:a16="http://schemas.microsoft.com/office/drawing/2014/main" id="{A2FBE6A5-CEDB-DC5F-F330-225C06C8D3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4153200"/>
            <a:ext cx="2714496" cy="6570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D1BE58-A7CF-1FF6-AFB9-460938FDA755}"/>
              </a:ext>
            </a:extLst>
          </p:cNvPr>
          <p:cNvSpPr txBox="1"/>
          <p:nvPr/>
        </p:nvSpPr>
        <p:spPr>
          <a:xfrm>
            <a:off x="5867400" y="5181600"/>
            <a:ext cx="2485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(Pascal’s triangle)</a:t>
            </a:r>
          </a:p>
        </p:txBody>
      </p:sp>
    </p:spTree>
    <p:extLst>
      <p:ext uri="{BB962C8B-B14F-4D97-AF65-F5344CB8AC3E}">
        <p14:creationId xmlns:p14="http://schemas.microsoft.com/office/powerpoint/2010/main" val="3838850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8E191-4B75-498D-D00E-A31293528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Binomial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055593EF-102A-04AA-3B72-85D9ACA019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0959" y="4038599"/>
                <a:ext cx="8229600" cy="268287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CA" sz="2000" dirty="0"/>
                  <a:t>Examples</a:t>
                </a:r>
              </a:p>
              <a:p>
                <a:r>
                  <a:rPr lang="en-CA" sz="1800" dirty="0"/>
                  <a:t>Toss 10 fair coins– how many heads?   Bin(10, ½)</a:t>
                </a:r>
              </a:p>
              <a:p>
                <a:r>
                  <a:rPr lang="en-CA" sz="1800" dirty="0"/>
                  <a:t>Toss 12 fair dice– how many 5s or 6s?  Bin(12, 1/3)</a:t>
                </a:r>
              </a:p>
              <a:p>
                <a:pPr marL="0" indent="0">
                  <a:buNone/>
                </a:pPr>
                <a:r>
                  <a:rPr lang="en-CA" sz="2000" dirty="0"/>
                  <a:t>Mean, variance, skewness:                                </a:t>
                </a:r>
              </a:p>
              <a:p>
                <a:pPr marL="0" indent="0">
                  <a:buNone/>
                </a:pPr>
                <a:r>
                  <a:rPr lang="en-CA" sz="2000" dirty="0"/>
                  <a:t>       Mean[X]   =   n p                           MLE from data: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a:rPr lang="en-CA" sz="2000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CA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num>
                      <m:den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CA" sz="20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CA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pHide m:val="on"/>
                            <m:ctrlPr>
                              <a:rPr lang="en-CA" sz="20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CA" sz="2000" b="0" i="1" smtClean="0">
                                <a:latin typeface="Cambria Math" panose="02040503050406030204" pitchFamily="18" charset="0"/>
                              </a:rPr>
                              <m:t> ×</m:t>
                            </m:r>
                            <m:r>
                              <a:rPr lang="en-CA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𝑛𝑘</m:t>
                            </m:r>
                            <m:r>
                              <a:rPr lang="en-CA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/</m:t>
                            </m:r>
                            <m:nary>
                              <m:naryPr>
                                <m:chr m:val="∑"/>
                                <m:limLoc m:val="subSup"/>
                                <m:supHide m:val="on"/>
                                <m:ctrlP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9"/>
                                  </m:rP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  <m:sup/>
                              <m:e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CA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CA" sz="2000" b="0" i="1" baseline="-2500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nary>
                          </m:e>
                        </m:nary>
                      </m:num>
                      <m:den>
                        <m:r>
                          <a:rPr lang="en-CA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CA" sz="2000" dirty="0"/>
              </a:p>
              <a:p>
                <a:pPr marL="0" indent="0">
                  <a:buNone/>
                </a:pPr>
                <a:r>
                  <a:rPr lang="en-CA" sz="2000" dirty="0"/>
                  <a:t>           Var[X]   =  n p (1-p) = n p q</a:t>
                </a:r>
              </a:p>
              <a:p>
                <a:pPr marL="0" indent="0">
                  <a:buNone/>
                </a:pPr>
                <a:r>
                  <a:rPr lang="en-CA" sz="2000" dirty="0"/>
                  <a:t>          Skew[X] = n p q (q-p)</a:t>
                </a:r>
              </a:p>
              <a:p>
                <a:pPr marL="0" indent="0">
                  <a:buNone/>
                </a:pPr>
                <a:endParaRPr lang="en-CA" sz="2000" dirty="0"/>
              </a:p>
              <a:p>
                <a:pPr marL="0" indent="0">
                  <a:buNone/>
                </a:pPr>
                <a:endParaRPr lang="en-CA" sz="2000" dirty="0"/>
              </a:p>
            </p:txBody>
          </p:sp>
        </mc:Choice>
        <mc:Fallback xmlns="">
          <p:sp>
            <p:nvSpPr>
              <p:cNvPr id="20" name="Content Placeholder 19">
                <a:extLst>
                  <a:ext uri="{FF2B5EF4-FFF2-40B4-BE49-F238E27FC236}">
                    <a16:creationId xmlns:a16="http://schemas.microsoft.com/office/drawing/2014/main" id="{055593EF-102A-04AA-3B72-85D9ACA019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0959" y="4038599"/>
                <a:ext cx="8229600" cy="2682876"/>
              </a:xfrm>
              <a:blipFill>
                <a:blip r:embed="rId2"/>
                <a:stretch>
                  <a:fillRect l="-815" t="-2268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539D82-2D52-9A40-B2DB-ABF5F90E3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EECD76-2D1E-4315-B6DF-02617F288968}"/>
              </a:ext>
            </a:extLst>
          </p:cNvPr>
          <p:cNvGrpSpPr/>
          <p:nvPr/>
        </p:nvGrpSpPr>
        <p:grpSpPr>
          <a:xfrm>
            <a:off x="381000" y="1425460"/>
            <a:ext cx="8247619" cy="2248014"/>
            <a:chOff x="381000" y="1425460"/>
            <a:chExt cx="8247619" cy="224801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97A4BFE-2807-93AE-87DD-BCBA285F1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81000" y="1521093"/>
              <a:ext cx="8247619" cy="2152381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A88547D-37B9-3508-1051-2A9912202940}"/>
                </a:ext>
              </a:extLst>
            </p:cNvPr>
            <p:cNvSpPr txBox="1"/>
            <p:nvPr/>
          </p:nvSpPr>
          <p:spPr>
            <a:xfrm>
              <a:off x="4504809" y="1425460"/>
              <a:ext cx="1295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/>
                <a:t># ways to get k out of 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A28FC1B-771B-CED0-EDB0-FBEDF25E5EC4}"/>
                </a:ext>
              </a:extLst>
            </p:cNvPr>
            <p:cNvSpPr txBox="1"/>
            <p:nvPr/>
          </p:nvSpPr>
          <p:spPr>
            <a:xfrm>
              <a:off x="5943600" y="1533182"/>
              <a:ext cx="1219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 err="1"/>
                <a:t>Pr</a:t>
              </a:r>
              <a:r>
                <a:rPr lang="en-CA" sz="1400" dirty="0"/>
                <a:t>(k events)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6738A7-1B30-7CCE-EDED-642A4A7A31B9}"/>
                </a:ext>
              </a:extLst>
            </p:cNvPr>
            <p:cNvSpPr txBox="1"/>
            <p:nvPr/>
          </p:nvSpPr>
          <p:spPr>
            <a:xfrm>
              <a:off x="7162800" y="1425460"/>
              <a:ext cx="1219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sz="1400" dirty="0" err="1"/>
                <a:t>Pr</a:t>
              </a:r>
              <a:r>
                <a:rPr lang="en-CA" sz="1400" dirty="0"/>
                <a:t>(n-k non-events)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61D93F0-0431-045A-65BC-9DA2F7D94B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14309" y="1691072"/>
              <a:ext cx="381000" cy="30480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6F1DB30-9CC1-4BB8-8483-6D9FA9A90F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38700" y="1687070"/>
              <a:ext cx="1219200" cy="45446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802F6A7-883E-73CF-9A14-289A353D84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48300" y="1717970"/>
              <a:ext cx="1799709" cy="42356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32845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7BC83-0A5F-D227-72DF-E6887D043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Binomial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F82AF-8969-4FD3-F109-8D739BC34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4308DA17-2309-4473-E5EB-105EFF21BD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1894389"/>
            <a:ext cx="7391400" cy="34920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42AE03-E805-2B08-CCFF-971840C04F7F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Binomial distributions for k = 0, 1, 2, …, 12 successes in n=12 trials, for 4 values of 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7D05C-5403-A633-4FAC-81254894A86C}"/>
              </a:ext>
            </a:extLst>
          </p:cNvPr>
          <p:cNvSpPr txBox="1"/>
          <p:nvPr/>
        </p:nvSpPr>
        <p:spPr>
          <a:xfrm>
            <a:off x="6172200" y="6275585"/>
            <a:ext cx="312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DDAR Fig 3.9, pp 76-77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AE6C89-A2EE-C6E5-E432-219EF79F0303}"/>
              </a:ext>
            </a:extLst>
          </p:cNvPr>
          <p:cNvSpPr txBox="1"/>
          <p:nvPr/>
        </p:nvSpPr>
        <p:spPr>
          <a:xfrm>
            <a:off x="876300" y="5325426"/>
            <a:ext cx="4114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Mean = n 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Variance is maximum when p = ½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Skewed when p ≠ ½</a:t>
            </a:r>
          </a:p>
        </p:txBody>
      </p:sp>
    </p:spTree>
    <p:extLst>
      <p:ext uri="{BB962C8B-B14F-4D97-AF65-F5344CB8AC3E}">
        <p14:creationId xmlns:p14="http://schemas.microsoft.com/office/powerpoint/2010/main" val="2152457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7A6A5-9A77-0606-7071-388AD545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Poisson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66474C-7C1F-A131-C740-91073D70C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F5DCE8-521D-6630-8EB7-0BADD4F40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43" y="1447800"/>
            <a:ext cx="8085714" cy="5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362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D7819-093C-AFCA-4E91-B5C0AC38F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Poisson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EF08AD-9906-DFF7-C7B7-EF96E5D8A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 descr="Chart, line chart&#10;&#10;Description automatically generated">
            <a:extLst>
              <a:ext uri="{FF2B5EF4-FFF2-40B4-BE49-F238E27FC236}">
                <a16:creationId xmlns:a16="http://schemas.microsoft.com/office/drawing/2014/main" id="{B9F7E10B-8527-67C9-E750-EA32045A7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85112"/>
            <a:ext cx="7348752" cy="49728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1D36A3-DEF4-DE54-E045-D41CDAA20F92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Poisson distributions for </a:t>
            </a:r>
            <a:r>
              <a:rPr lang="en-CA" sz="2400" dirty="0">
                <a:sym typeface="Symbol" panose="05050102010706020507" pitchFamily="18" charset="2"/>
              </a:rPr>
              <a:t> = ½, 1, 2, 3, 6</a:t>
            </a:r>
            <a:endParaRPr lang="en-CA" sz="2400" dirty="0"/>
          </a:p>
        </p:txBody>
      </p:sp>
    </p:spTree>
    <p:extLst>
      <p:ext uri="{BB962C8B-B14F-4D97-AF65-F5344CB8AC3E}">
        <p14:creationId xmlns:p14="http://schemas.microsoft.com/office/powerpoint/2010/main" val="36162101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436E4-6A7C-0963-ECED-7BCBFE83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Poisson distribution: Properties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5658B4-5D1F-979E-91B7-22440133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1FCF2A-532E-C257-6B13-CFAAA18029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7086600" cy="30151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5FD514-C579-1448-8D4D-C7AC8551B3C5}"/>
              </a:ext>
            </a:extLst>
          </p:cNvPr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Poisson distributions for </a:t>
            </a:r>
            <a:r>
              <a:rPr lang="en-CA" sz="2400" dirty="0">
                <a:sym typeface="Symbol" panose="05050102010706020507" pitchFamily="18" charset="2"/>
              </a:rPr>
              <a:t> = 1, 4, 10</a:t>
            </a:r>
            <a:endParaRPr lang="en-CA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AE580B-701A-721A-24B1-B2BE2E871444}"/>
              </a:ext>
            </a:extLst>
          </p:cNvPr>
          <p:cNvSpPr txBox="1"/>
          <p:nvPr/>
        </p:nvSpPr>
        <p:spPr>
          <a:xfrm>
            <a:off x="609600" y="4800600"/>
            <a:ext cx="2895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Mean, variance, skewness</a:t>
            </a:r>
            <a:r>
              <a:rPr lang="en-CA" dirty="0"/>
              <a:t>:</a:t>
            </a:r>
          </a:p>
          <a:p>
            <a:r>
              <a:rPr lang="en-CA" dirty="0"/>
              <a:t>     Mean[X]  =   </a:t>
            </a:r>
            <a:r>
              <a:rPr lang="en-CA" dirty="0">
                <a:sym typeface="Symbol" panose="05050102010706020507" pitchFamily="18" charset="2"/>
              </a:rPr>
              <a:t></a:t>
            </a:r>
          </a:p>
          <a:p>
            <a:r>
              <a:rPr lang="en-CA" dirty="0"/>
              <a:t>          Var[X]  =  </a:t>
            </a:r>
            <a:r>
              <a:rPr lang="en-CA" dirty="0">
                <a:sym typeface="Symbol" panose="05050102010706020507" pitchFamily="18" charset="2"/>
              </a:rPr>
              <a:t></a:t>
            </a:r>
          </a:p>
          <a:p>
            <a:r>
              <a:rPr lang="en-CA" dirty="0">
                <a:sym typeface="Symbol" panose="05050102010706020507" pitchFamily="18" charset="2"/>
              </a:rPr>
              <a:t>    Skew[X]     =   </a:t>
            </a:r>
            <a:r>
              <a:rPr lang="en-CA" baseline="30000" dirty="0">
                <a:sym typeface="Symbol" panose="05050102010706020507" pitchFamily="18" charset="2"/>
              </a:rPr>
              <a:t>-1/2</a:t>
            </a:r>
          </a:p>
          <a:p>
            <a:endParaRPr lang="en-CA" dirty="0">
              <a:sym typeface="Symbol" panose="05050102010706020507" pitchFamily="18" charset="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8B057D-532D-5879-C0FD-2FCB1A0FF832}"/>
              </a:ext>
            </a:extLst>
          </p:cNvPr>
          <p:cNvSpPr txBox="1"/>
          <p:nvPr/>
        </p:nvSpPr>
        <p:spPr>
          <a:xfrm>
            <a:off x="7696200" y="1809313"/>
            <a:ext cx="1143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DDAR Fig 3.10, p 81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B04E69-38F0-00B3-5B30-6810F85B98A9}"/>
              </a:ext>
            </a:extLst>
          </p:cNvPr>
          <p:cNvSpPr txBox="1"/>
          <p:nvPr/>
        </p:nvSpPr>
        <p:spPr>
          <a:xfrm>
            <a:off x="4924424" y="4800600"/>
            <a:ext cx="3686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Properties:</a:t>
            </a:r>
          </a:p>
          <a:p>
            <a:r>
              <a:rPr lang="en-CA" dirty="0"/>
              <a:t>Sum of Pois (</a:t>
            </a:r>
            <a:r>
              <a:rPr lang="en-CA" dirty="0">
                <a:sym typeface="Symbol" panose="05050102010706020507" pitchFamily="18" charset="2"/>
              </a:rPr>
              <a:t></a:t>
            </a:r>
            <a:r>
              <a:rPr lang="en-CA" baseline="-25000" dirty="0">
                <a:sym typeface="Symbol" panose="05050102010706020507" pitchFamily="18" charset="2"/>
              </a:rPr>
              <a:t>1</a:t>
            </a:r>
            <a:r>
              <a:rPr lang="en-CA" dirty="0">
                <a:sym typeface="Symbol" panose="05050102010706020507" pitchFamily="18" charset="2"/>
              </a:rPr>
              <a:t>, </a:t>
            </a:r>
            <a:r>
              <a:rPr lang="en-CA" baseline="-25000" dirty="0">
                <a:sym typeface="Symbol" panose="05050102010706020507" pitchFamily="18" charset="2"/>
              </a:rPr>
              <a:t>2</a:t>
            </a:r>
            <a:r>
              <a:rPr lang="en-CA" dirty="0">
                <a:sym typeface="Symbol" panose="05050102010706020507" pitchFamily="18" charset="2"/>
              </a:rPr>
              <a:t>,</a:t>
            </a:r>
            <a:r>
              <a:rPr lang="en-CA" baseline="-25000" dirty="0">
                <a:sym typeface="Symbol" panose="05050102010706020507" pitchFamily="18" charset="2"/>
              </a:rPr>
              <a:t>3</a:t>
            </a:r>
            <a:r>
              <a:rPr lang="en-CA" dirty="0">
                <a:sym typeface="Symbol" panose="05050102010706020507" pitchFamily="18" charset="2"/>
              </a:rPr>
              <a:t>, …) = Pois(∑</a:t>
            </a:r>
            <a:r>
              <a:rPr lang="en-CA" baseline="-25000" dirty="0" err="1">
                <a:sym typeface="Symbol" panose="05050102010706020507" pitchFamily="18" charset="2"/>
              </a:rPr>
              <a:t>i</a:t>
            </a:r>
            <a:r>
              <a:rPr lang="en-CA" dirty="0">
                <a:sym typeface="Symbol" panose="05050102010706020507" pitchFamily="18" charset="2"/>
              </a:rPr>
              <a:t>)</a:t>
            </a:r>
          </a:p>
          <a:p>
            <a:r>
              <a:rPr lang="en-CA" dirty="0">
                <a:sym typeface="Symbol" panose="05050102010706020507" pitchFamily="18" charset="2"/>
              </a:rPr>
              <a:t>Approaches N(, ) as n  ∞</a:t>
            </a:r>
            <a:endParaRPr lang="en-CA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44695CE-A0D3-A92C-9FE3-293406D8494E}"/>
              </a:ext>
            </a:extLst>
          </p:cNvPr>
          <p:cNvGrpSpPr/>
          <p:nvPr/>
        </p:nvGrpSpPr>
        <p:grpSpPr>
          <a:xfrm>
            <a:off x="3305175" y="5269228"/>
            <a:ext cx="1495425" cy="445772"/>
            <a:chOff x="3124200" y="5269228"/>
            <a:chExt cx="1495425" cy="445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DD5E400-64B2-A8F3-3DC7-3408880E50F6}"/>
                    </a:ext>
                  </a:extLst>
                </p:cNvPr>
                <p:cNvSpPr txBox="1"/>
                <p:nvPr/>
              </p:nvSpPr>
              <p:spPr>
                <a:xfrm>
                  <a:off x="3171825" y="5269228"/>
                  <a:ext cx="1447800" cy="3843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dirty="0"/>
                    <a:t>MLE: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</m:acc>
                      <m:r>
                        <a:rPr lang="en-CA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DD5E400-64B2-A8F3-3DC7-3408880E50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1825" y="5269228"/>
                  <a:ext cx="1447800" cy="384336"/>
                </a:xfrm>
                <a:prstGeom prst="rect">
                  <a:avLst/>
                </a:prstGeom>
                <a:blipFill>
                  <a:blip r:embed="rId3"/>
                  <a:stretch>
                    <a:fillRect l="-3361" t="-7937" r="-4202" b="-25397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45109D0-A93D-A851-5A12-61199CDFC469}"/>
                </a:ext>
              </a:extLst>
            </p:cNvPr>
            <p:cNvSpPr/>
            <p:nvPr/>
          </p:nvSpPr>
          <p:spPr>
            <a:xfrm>
              <a:off x="3124200" y="5269228"/>
              <a:ext cx="1295400" cy="4457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266230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7729-17C6-8593-7325-D41CA09F2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CA" sz="2800" dirty="0"/>
              <a:t>History: Who discovered the “Poisson” distribution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3BF21B-45FF-9A09-D78B-1EE6B2AEE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b="1" dirty="0"/>
              <a:t>Stigler’s Law</a:t>
            </a:r>
            <a:r>
              <a:rPr lang="en-CA" sz="2000" dirty="0"/>
              <a:t>: No discovery in science is ever named for its primary originator</a:t>
            </a:r>
          </a:p>
          <a:p>
            <a:r>
              <a:rPr lang="en-CA" sz="2000" dirty="0"/>
              <a:t>De </a:t>
            </a:r>
            <a:r>
              <a:rPr lang="en-CA" sz="2000" dirty="0" err="1"/>
              <a:t>Moivre</a:t>
            </a:r>
            <a:r>
              <a:rPr lang="en-CA" sz="2000" dirty="0"/>
              <a:t> (1718) – Approximation to binomial as </a:t>
            </a:r>
            <a:r>
              <a:rPr lang="en-CA" sz="2000" i="1" dirty="0"/>
              <a:t>n</a:t>
            </a:r>
            <a:r>
              <a:rPr lang="en-CA" sz="2000" dirty="0"/>
              <a:t> gets largish</a:t>
            </a:r>
          </a:p>
          <a:p>
            <a:r>
              <a:rPr lang="en-CA" sz="2000" b="1" dirty="0"/>
              <a:t>Poisson (1837) </a:t>
            </a:r>
            <a:r>
              <a:rPr lang="en-CA" sz="2000" dirty="0"/>
              <a:t>– </a:t>
            </a:r>
            <a:r>
              <a:rPr lang="en-CA" sz="2000" i="1" dirty="0" err="1"/>
              <a:t>Reserches</a:t>
            </a:r>
            <a:r>
              <a:rPr lang="en-CA" sz="2000" i="1" dirty="0"/>
              <a:t> sur la </a:t>
            </a:r>
            <a:r>
              <a:rPr lang="en-CA" sz="2000" i="1" dirty="0" err="1"/>
              <a:t>Probabilité</a:t>
            </a:r>
            <a:r>
              <a:rPr lang="en-CA" sz="2000" i="1" dirty="0"/>
              <a:t> des </a:t>
            </a:r>
            <a:r>
              <a:rPr lang="en-CA" sz="2000" i="1" dirty="0" err="1"/>
              <a:t>jugements</a:t>
            </a:r>
            <a:r>
              <a:rPr lang="en-CA" sz="2000" i="1" dirty="0"/>
              <a:t> </a:t>
            </a:r>
            <a:r>
              <a:rPr lang="en-CA" sz="2000" i="1" dirty="0" err="1"/>
              <a:t>en</a:t>
            </a:r>
            <a:r>
              <a:rPr lang="en-CA" sz="2000" i="1" dirty="0"/>
              <a:t> Matière </a:t>
            </a:r>
            <a:r>
              <a:rPr lang="en-CA" sz="2000" i="1" dirty="0" err="1"/>
              <a:t>criminelle</a:t>
            </a:r>
            <a:r>
              <a:rPr lang="en-CA" sz="2000" dirty="0"/>
              <a:t>… -- Derives e</a:t>
            </a:r>
            <a:r>
              <a:rPr lang="en-CA" sz="2000" baseline="30000" dirty="0"/>
              <a:t>-</a:t>
            </a:r>
            <a:r>
              <a:rPr lang="en-CA" sz="2000" baseline="30000" dirty="0">
                <a:sym typeface="Symbol" panose="05050102010706020507" pitchFamily="18" charset="2"/>
              </a:rPr>
              <a:t> </a:t>
            </a:r>
            <a:r>
              <a:rPr lang="en-CA" sz="2000" dirty="0">
                <a:sym typeface="Symbol" panose="05050102010706020507" pitchFamily="18" charset="2"/>
              </a:rPr>
              <a:t></a:t>
            </a:r>
            <a:r>
              <a:rPr lang="en-CA" sz="2000" baseline="30000" dirty="0">
                <a:sym typeface="Symbol" panose="05050102010706020507" pitchFamily="18" charset="2"/>
              </a:rPr>
              <a:t>k</a:t>
            </a:r>
            <a:r>
              <a:rPr lang="en-CA" sz="2000" dirty="0">
                <a:sym typeface="Symbol" panose="05050102010706020507" pitchFamily="18" charset="2"/>
              </a:rPr>
              <a:t> / k!</a:t>
            </a:r>
            <a:endParaRPr lang="en-CA" sz="2000" dirty="0"/>
          </a:p>
          <a:p>
            <a:pPr lvl="1"/>
            <a:r>
              <a:rPr lang="en-CA" sz="1600" dirty="0"/>
              <a:t>Stigler says main result anticipated by De </a:t>
            </a:r>
            <a:r>
              <a:rPr lang="en-CA" sz="1600" dirty="0" err="1"/>
              <a:t>Moivre</a:t>
            </a:r>
            <a:endParaRPr lang="en-CA" sz="1600" dirty="0"/>
          </a:p>
          <a:p>
            <a:r>
              <a:rPr lang="en-CA" sz="2000" dirty="0"/>
              <a:t>S. Newcomb (1860) – </a:t>
            </a:r>
            <a:r>
              <a:rPr lang="en-CA" sz="2000" i="1" dirty="0"/>
              <a:t>Notes on a Theory of Probability</a:t>
            </a:r>
          </a:p>
          <a:p>
            <a:pPr lvl="1"/>
            <a:r>
              <a:rPr lang="en-CA" sz="1600" dirty="0"/>
              <a:t>First attempt at using this as a fit to </a:t>
            </a:r>
            <a:r>
              <a:rPr lang="en-CA" sz="1600" dirty="0">
                <a:solidFill>
                  <a:srgbClr val="0070C0"/>
                </a:solidFill>
              </a:rPr>
              <a:t>data</a:t>
            </a:r>
          </a:p>
          <a:p>
            <a:pPr lvl="1"/>
            <a:r>
              <a:rPr lang="en-CA" sz="1600" dirty="0"/>
              <a:t>Observations of stars: </a:t>
            </a:r>
            <a:r>
              <a:rPr lang="en-CA" sz="1600" dirty="0" err="1"/>
              <a:t>Pr</a:t>
            </a:r>
            <a:r>
              <a:rPr lang="en-CA" sz="1600" dirty="0"/>
              <a:t>(any small space, 1</a:t>
            </a:r>
            <a:r>
              <a:rPr lang="en-CA" sz="1600" baseline="30000" dirty="0"/>
              <a:t>o</a:t>
            </a:r>
            <a:r>
              <a:rPr lang="en-CA" sz="1600" dirty="0"/>
              <a:t>) contains s stars, s = 0, 1, 2, …</a:t>
            </a:r>
          </a:p>
          <a:p>
            <a:r>
              <a:rPr lang="en-CA" sz="2000" dirty="0"/>
              <a:t>Von </a:t>
            </a:r>
            <a:r>
              <a:rPr lang="en-CA" sz="2000" dirty="0" err="1"/>
              <a:t>Bortkiewicz</a:t>
            </a:r>
            <a:r>
              <a:rPr lang="en-CA" sz="2000" dirty="0"/>
              <a:t> (1898) – </a:t>
            </a:r>
            <a:r>
              <a:rPr lang="en-CA" sz="2000" i="1" dirty="0"/>
              <a:t>Law of Small Numbers</a:t>
            </a:r>
          </a:p>
          <a:p>
            <a:pPr lvl="1"/>
            <a:r>
              <a:rPr lang="en-CA" sz="1600" dirty="0"/>
              <a:t>Re-derives Poisson as limiting case of binomial</a:t>
            </a:r>
          </a:p>
          <a:p>
            <a:pPr lvl="1"/>
            <a:r>
              <a:rPr lang="en-CA" sz="1600" dirty="0"/>
              <a:t>Several data sets (Horse kicks &amp; others) – “agreement between theory and observation leave nothing to be desired”</a:t>
            </a:r>
          </a:p>
          <a:p>
            <a:r>
              <a:rPr lang="en-CA" sz="2000" dirty="0" err="1"/>
              <a:t>Gosset</a:t>
            </a:r>
            <a:r>
              <a:rPr lang="en-CA" sz="2000" dirty="0"/>
              <a:t> (1907): </a:t>
            </a:r>
            <a:r>
              <a:rPr lang="en-CA" sz="2000" dirty="0" err="1"/>
              <a:t>Heamacytometer</a:t>
            </a:r>
            <a:r>
              <a:rPr lang="en-CA" sz="2000" dirty="0"/>
              <a:t> Counts</a:t>
            </a:r>
          </a:p>
          <a:p>
            <a:pPr lvl="1"/>
            <a:r>
              <a:rPr lang="en-CA" sz="1600" dirty="0"/>
              <a:t>“</a:t>
            </a:r>
            <a:r>
              <a:rPr lang="en-CA" sz="1600" dirty="0" err="1"/>
              <a:t>Student”’s</a:t>
            </a:r>
            <a:r>
              <a:rPr lang="en-CA" sz="1600" dirty="0"/>
              <a:t> first paper – first rigorous treatment of the Poisson for count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6A2827-5124-0315-9493-04AD2399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A15BB1-F912-11AB-81E7-C43EF8B60F00}"/>
              </a:ext>
            </a:extLst>
          </p:cNvPr>
          <p:cNvSpPr txBox="1"/>
          <p:nvPr/>
        </p:nvSpPr>
        <p:spPr>
          <a:xfrm>
            <a:off x="609600" y="6019800"/>
            <a:ext cx="8001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See: Hanley &amp; Bhatnagar (2022) The “Poisson” Distribution: History, </a:t>
            </a:r>
            <a:r>
              <a:rPr lang="en-CA" sz="1600" dirty="0" err="1"/>
              <a:t>Reenactments</a:t>
            </a:r>
            <a:r>
              <a:rPr lang="en-CA" sz="1600" dirty="0"/>
              <a:t>, Adaptations, </a:t>
            </a:r>
            <a:r>
              <a:rPr lang="en-CA" sz="1600" i="1" dirty="0"/>
              <a:t>The American Statistician</a:t>
            </a:r>
            <a:r>
              <a:rPr lang="en-CA" sz="1600" dirty="0"/>
              <a:t>, 76:4, 363-371, </a:t>
            </a:r>
            <a:r>
              <a:rPr lang="en-CA" sz="1600" dirty="0">
                <a:hlinkClick r:id="rId3"/>
              </a:rPr>
              <a:t>DOI: 10.1080/00031305.2022.2046159  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74431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3BC0836B-458B-DC2C-2C63-AB64A959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 err="1"/>
              <a:t>Gosset</a:t>
            </a:r>
            <a:r>
              <a:rPr lang="en-CA" dirty="0"/>
              <a:t>: </a:t>
            </a:r>
            <a:r>
              <a:rPr lang="en-CA" sz="4400" dirty="0" err="1"/>
              <a:t>Heamacytometer</a:t>
            </a:r>
            <a:r>
              <a:rPr lang="en-CA" sz="4400" dirty="0"/>
              <a:t> Counts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64C00-F709-942B-802D-2F6A3E029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pic>
        <p:nvPicPr>
          <p:cNvPr id="5" name="gosset-drop-001">
            <a:hlinkClick r:id="" action="ppaction://media"/>
            <a:extLst>
              <a:ext uri="{FF2B5EF4-FFF2-40B4-BE49-F238E27FC236}">
                <a16:creationId xmlns:a16="http://schemas.microsoft.com/office/drawing/2014/main" id="{92F7DFBB-FED6-7319-DC1B-C04A26FA17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81600" y="2095500"/>
            <a:ext cx="3048000" cy="3238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E342F8E-AB78-593F-ABE4-B4AB7543882F}"/>
              </a:ext>
            </a:extLst>
          </p:cNvPr>
          <p:cNvSpPr txBox="1"/>
          <p:nvPr/>
        </p:nvSpPr>
        <p:spPr>
          <a:xfrm>
            <a:off x="533400" y="5892225"/>
            <a:ext cx="807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Source: 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5"/>
              </a:rPr>
              <a:t>http://www.medicine.mcgill.ca/epidemiology/hanley/Gosset/</a:t>
            </a:r>
            <a:r>
              <a:rPr kumimoji="0" lang="en-CA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C6C880-AA81-9933-4DD1-7E9C52FDA7D2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Number of blood cells observed in a 20 x 20 grid on a slide</a:t>
            </a:r>
          </a:p>
        </p:txBody>
      </p:sp>
      <p:pic>
        <p:nvPicPr>
          <p:cNvPr id="13" name="Picture 12" descr="A picture containing rain&#10;&#10;Description automatically generated">
            <a:extLst>
              <a:ext uri="{FF2B5EF4-FFF2-40B4-BE49-F238E27FC236}">
                <a16:creationId xmlns:a16="http://schemas.microsoft.com/office/drawing/2014/main" id="{4B03E304-D2DA-EAAB-55EF-489042375ED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6" y="2097024"/>
            <a:ext cx="3236976" cy="3236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837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6CDE-6A2F-C4EC-3E0E-1F16AC95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Negative binomial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59E0C3-045A-0223-F267-6C78300A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5330B1-1FB8-497A-301F-18D6CF1B9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52381" cy="3809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56EE8A-9135-B98F-2075-9DE1E8E6F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141941"/>
            <a:ext cx="2428571" cy="11714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B7213E-5C89-D14F-825A-1B062AB0D7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5132417"/>
            <a:ext cx="4590476" cy="1190476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BA0AA6A-F42E-C7F9-F3B2-524CBEF76D8F}"/>
              </a:ext>
            </a:extLst>
          </p:cNvPr>
          <p:cNvSpPr/>
          <p:nvPr/>
        </p:nvSpPr>
        <p:spPr>
          <a:xfrm>
            <a:off x="6669368" y="5704505"/>
            <a:ext cx="1807308" cy="5191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00972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6CDE-6A2F-C4EC-3E0E-1F16AC951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Negative binomial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59E0C3-045A-0223-F267-6C78300A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616DC5C-CCB9-1B10-8BF1-6AB953193058}"/>
              </a:ext>
            </a:extLst>
          </p:cNvPr>
          <p:cNvGrpSpPr/>
          <p:nvPr/>
        </p:nvGrpSpPr>
        <p:grpSpPr>
          <a:xfrm>
            <a:off x="2667000" y="5132417"/>
            <a:ext cx="4590476" cy="1190476"/>
            <a:chOff x="3886200" y="5132417"/>
            <a:chExt cx="4590476" cy="1190476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7B7213E-5C89-D14F-825A-1B062AB0D7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886200" y="5132417"/>
              <a:ext cx="4590476" cy="1190476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BA0AA6A-F42E-C7F9-F3B2-524CBEF76D8F}"/>
                </a:ext>
              </a:extLst>
            </p:cNvPr>
            <p:cNvSpPr/>
            <p:nvPr/>
          </p:nvSpPr>
          <p:spPr>
            <a:xfrm>
              <a:off x="6669368" y="5704505"/>
              <a:ext cx="1807308" cy="51911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64C36A43-A342-E26D-F8B2-459C6259CB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20971"/>
            <a:ext cx="8171428" cy="26761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BE3F87-4B93-8CD3-8A2E-BB7C7F578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998122"/>
            <a:ext cx="8171428" cy="9428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93B0373-54B9-C061-DF85-713C174CAE2B}"/>
              </a:ext>
            </a:extLst>
          </p:cNvPr>
          <p:cNvSpPr txBox="1"/>
          <p:nvPr/>
        </p:nvSpPr>
        <p:spPr>
          <a:xfrm>
            <a:off x="685800" y="54102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Properties:</a:t>
            </a:r>
          </a:p>
        </p:txBody>
      </p:sp>
    </p:spTree>
    <p:extLst>
      <p:ext uri="{BB962C8B-B14F-4D97-AF65-F5344CB8AC3E}">
        <p14:creationId xmlns:p14="http://schemas.microsoft.com/office/powerpoint/2010/main" val="1495640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00682B-36F2-CDD2-083B-432337AD6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0CDC1B-AF08-AA1B-80D3-F8406CAF8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0999"/>
            <a:ext cx="5334000" cy="52585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F476C4-24E5-C3FD-553C-5558AB4C067B}"/>
              </a:ext>
            </a:extLst>
          </p:cNvPr>
          <p:cNvSpPr txBox="1"/>
          <p:nvPr/>
        </p:nvSpPr>
        <p:spPr>
          <a:xfrm>
            <a:off x="6248400" y="1219200"/>
            <a:ext cx="251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Negative binomial distributions for</a:t>
            </a:r>
          </a:p>
          <a:p>
            <a:r>
              <a:rPr lang="en-CA" i="1" dirty="0"/>
              <a:t>n</a:t>
            </a:r>
            <a:r>
              <a:rPr lang="en-CA" dirty="0"/>
              <a:t> = 2, 4, 6</a:t>
            </a:r>
          </a:p>
          <a:p>
            <a:r>
              <a:rPr lang="en-CA" i="1" dirty="0"/>
              <a:t>p</a:t>
            </a:r>
            <a:r>
              <a:rPr lang="en-CA" dirty="0"/>
              <a:t> = 0.2, 0.3, 0.4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8215D7-3FE2-78DA-BB67-EE66A375CAC6}"/>
              </a:ext>
            </a:extLst>
          </p:cNvPr>
          <p:cNvSpPr txBox="1"/>
          <p:nvPr/>
        </p:nvSpPr>
        <p:spPr>
          <a:xfrm>
            <a:off x="6257925" y="57912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DDAR Fig 3.13, p 85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5704E2-7443-8808-E646-6E5907172632}"/>
              </a:ext>
            </a:extLst>
          </p:cNvPr>
          <p:cNvSpPr txBox="1"/>
          <p:nvPr/>
        </p:nvSpPr>
        <p:spPr>
          <a:xfrm>
            <a:off x="6400800" y="2667000"/>
            <a:ext cx="220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Mean:</a:t>
            </a:r>
          </a:p>
          <a:p>
            <a:r>
              <a:rPr lang="en-CA" dirty="0"/>
              <a:t>Increases with </a:t>
            </a:r>
            <a:r>
              <a:rPr lang="en-CA" i="1" dirty="0"/>
              <a:t>n</a:t>
            </a:r>
          </a:p>
          <a:p>
            <a:r>
              <a:rPr lang="en-CA" dirty="0"/>
              <a:t>Decreases with </a:t>
            </a:r>
            <a:r>
              <a:rPr lang="en-CA" i="1" dirty="0"/>
              <a:t>p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A1873A-BF10-FB82-6C6C-031C6079EEB6}"/>
              </a:ext>
            </a:extLst>
          </p:cNvPr>
          <p:cNvGrpSpPr/>
          <p:nvPr/>
        </p:nvGrpSpPr>
        <p:grpSpPr>
          <a:xfrm>
            <a:off x="228600" y="609600"/>
            <a:ext cx="457200" cy="4419600"/>
            <a:chOff x="228600" y="609600"/>
            <a:chExt cx="457200" cy="4419600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AD45817-C2F1-36A0-F31A-D6A71AA43D23}"/>
                </a:ext>
              </a:extLst>
            </p:cNvPr>
            <p:cNvCxnSpPr/>
            <p:nvPr/>
          </p:nvCxnSpPr>
          <p:spPr>
            <a:xfrm>
              <a:off x="457200" y="978932"/>
              <a:ext cx="0" cy="4050268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triangle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E004F7C-0388-43D9-1478-6EF075D1A45B}"/>
                </a:ext>
              </a:extLst>
            </p:cNvPr>
            <p:cNvSpPr txBox="1"/>
            <p:nvPr/>
          </p:nvSpPr>
          <p:spPr>
            <a:xfrm>
              <a:off x="228600" y="609600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>
                  <a:solidFill>
                    <a:srgbClr val="FF0000"/>
                  </a:solidFill>
                </a:rPr>
                <a:t>p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539B271-785C-34E5-3C9D-018492746855}"/>
              </a:ext>
            </a:extLst>
          </p:cNvPr>
          <p:cNvGrpSpPr/>
          <p:nvPr/>
        </p:nvGrpSpPr>
        <p:grpSpPr>
          <a:xfrm>
            <a:off x="1447800" y="914400"/>
            <a:ext cx="4038600" cy="369332"/>
            <a:chOff x="1371600" y="4082534"/>
            <a:chExt cx="4038600" cy="369332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5A202E4-6C1C-AC45-3AEA-CBB543F6A7C5}"/>
                </a:ext>
              </a:extLst>
            </p:cNvPr>
            <p:cNvCxnSpPr/>
            <p:nvPr/>
          </p:nvCxnSpPr>
          <p:spPr>
            <a:xfrm>
              <a:off x="1752600" y="4267200"/>
              <a:ext cx="3657600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EB25FB1-179B-7838-2BA4-ED84B8B96E81}"/>
                </a:ext>
              </a:extLst>
            </p:cNvPr>
            <p:cNvSpPr txBox="1"/>
            <p:nvPr/>
          </p:nvSpPr>
          <p:spPr>
            <a:xfrm>
              <a:off x="1371600" y="4082534"/>
              <a:ext cx="457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>
                  <a:solidFill>
                    <a:srgbClr val="FF0000"/>
                  </a:solidFill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1195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93BFD2-2068-2762-683B-F66D81A3D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Quiz: Name that distribution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AB8BEE-838D-455E-A62B-FC3DF4EC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D22F06-F234-2F02-35C6-CCB860D677CE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1. Weldon tossed 12 dice 26,306 times &amp; tallied the number of times a 5 or 6 occurred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543A42-346C-9AF6-F39B-DEC162CC655B}"/>
              </a:ext>
            </a:extLst>
          </p:cNvPr>
          <p:cNvSpPr txBox="1"/>
          <p:nvPr/>
        </p:nvSpPr>
        <p:spPr>
          <a:xfrm>
            <a:off x="457200" y="1521192"/>
            <a:ext cx="6096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WeldonDice</a:t>
            </a:r>
          </a:p>
          <a:p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n56</a:t>
            </a:r>
          </a:p>
          <a:p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0    1    2    3    4    5    6    7    8    9   10+ </a:t>
            </a:r>
          </a:p>
          <a:p>
            <a:r>
              <a:rPr lang="pt-BR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185 1149 3265 5475 6114 5194 3067 1331  403  105   18 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9FF7D-3A90-5720-A2A0-4027AEECE650}"/>
              </a:ext>
            </a:extLst>
          </p:cNvPr>
          <p:cNvSpPr txBox="1"/>
          <p:nvPr/>
        </p:nvSpPr>
        <p:spPr>
          <a:xfrm>
            <a:off x="457200" y="2667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2. Pele practices penalty kicks for the upcoming 1958 FIFA World Cup. His average scoring has been p=0.4. What is the probability it will take him </a:t>
            </a:r>
            <a:r>
              <a:rPr lang="en-CA" dirty="0">
                <a:solidFill>
                  <a:srgbClr val="0070C0"/>
                </a:solidFill>
              </a:rPr>
              <a:t>1, 2, … shots </a:t>
            </a:r>
            <a:r>
              <a:rPr lang="en-CA" dirty="0"/>
              <a:t>to score a goal?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9E9FDF-90E6-DF1E-E8D6-CA113CD7FEDA}"/>
              </a:ext>
            </a:extLst>
          </p:cNvPr>
          <p:cNvSpPr txBox="1"/>
          <p:nvPr/>
        </p:nvSpPr>
        <p:spPr>
          <a:xfrm>
            <a:off x="457200" y="4235301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3. A Geiger counter records the number of scintillations of </a:t>
            </a:r>
            <a:r>
              <a:rPr lang="el-GR" dirty="0"/>
              <a:t>α</a:t>
            </a:r>
            <a:r>
              <a:rPr lang="en-CA" dirty="0"/>
              <a:t> particles from a radioactive source, with an average rate of 20/msec.  What is the probability of  observing 40 in a 1 msec. interval?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3CDF5E-AA38-17EE-CF87-7DC8A8F4913E}"/>
              </a:ext>
            </a:extLst>
          </p:cNvPr>
          <p:cNvSpPr txBox="1"/>
          <p:nvPr/>
        </p:nvSpPr>
        <p:spPr>
          <a:xfrm>
            <a:off x="457200" y="5574268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4. What is the distribution of the </a:t>
            </a:r>
            <a:r>
              <a:rPr lang="en-CA" dirty="0">
                <a:solidFill>
                  <a:srgbClr val="0070C0"/>
                </a:solidFill>
              </a:rPr>
              <a:t>time between </a:t>
            </a:r>
            <a:r>
              <a:rPr lang="en-CA" dirty="0"/>
              <a:t>Geiger counter ticks?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87D5A1-ADBB-A443-3E84-7602540C5247}"/>
              </a:ext>
            </a:extLst>
          </p:cNvPr>
          <p:cNvSpPr txBox="1"/>
          <p:nvPr/>
        </p:nvSpPr>
        <p:spPr>
          <a:xfrm>
            <a:off x="4343400" y="3429000"/>
            <a:ext cx="4267200" cy="52322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sv-S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dnbinom(1:5, size=1, p=0.4)</a:t>
            </a:r>
          </a:p>
          <a:p>
            <a:r>
              <a:rPr lang="sv-SE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[1] 0.240 0.144 0.086 0.052 0.031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A61BD3-19DB-5EC2-9D6C-E0B6F1005AB0}"/>
              </a:ext>
            </a:extLst>
          </p:cNvPr>
          <p:cNvSpPr txBox="1"/>
          <p:nvPr/>
        </p:nvSpPr>
        <p:spPr>
          <a:xfrm>
            <a:off x="6781800" y="1992868"/>
            <a:ext cx="190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Bin(n=12, p=1/3)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762E13-E9ED-75E2-718B-FF3F0D9BFBF9}"/>
              </a:ext>
            </a:extLst>
          </p:cNvPr>
          <p:cNvSpPr txBox="1"/>
          <p:nvPr/>
        </p:nvSpPr>
        <p:spPr>
          <a:xfrm>
            <a:off x="2133600" y="3473450"/>
            <a:ext cx="175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 err="1">
                <a:solidFill>
                  <a:srgbClr val="FF0000"/>
                </a:solidFill>
              </a:rPr>
              <a:t>Nbin</a:t>
            </a:r>
            <a:r>
              <a:rPr lang="en-CA" dirty="0">
                <a:solidFill>
                  <a:srgbClr val="FF0000"/>
                </a:solidFill>
              </a:rPr>
              <a:t>(n=1, p=0.4)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5D0069-9754-2C0E-808B-ABA6BD13449B}"/>
              </a:ext>
            </a:extLst>
          </p:cNvPr>
          <p:cNvSpPr txBox="1"/>
          <p:nvPr/>
        </p:nvSpPr>
        <p:spPr>
          <a:xfrm>
            <a:off x="2133600" y="5159600"/>
            <a:ext cx="1161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Pois(</a:t>
            </a:r>
            <a:r>
              <a:rPr lang="el-GR" dirty="0">
                <a:solidFill>
                  <a:srgbClr val="FF0000"/>
                </a:solidFill>
              </a:rPr>
              <a:t>λ</a:t>
            </a:r>
            <a:r>
              <a:rPr lang="en-CA" dirty="0">
                <a:solidFill>
                  <a:srgbClr val="FF0000"/>
                </a:solidFill>
              </a:rPr>
              <a:t>=20</a:t>
            </a:r>
            <a:r>
              <a:rPr lang="en-CA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D1820A-0ABF-8D5C-2FF6-47D0F26D9CC4}"/>
              </a:ext>
            </a:extLst>
          </p:cNvPr>
          <p:cNvSpPr txBox="1"/>
          <p:nvPr/>
        </p:nvSpPr>
        <p:spPr>
          <a:xfrm>
            <a:off x="2133600" y="6019800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rgbClr val="FF0000"/>
                </a:solidFill>
              </a:rPr>
              <a:t>Exponential </a:t>
            </a:r>
            <a:r>
              <a:rPr lang="en-CA" dirty="0" err="1">
                <a:solidFill>
                  <a:srgbClr val="FF0000"/>
                </a:solidFill>
              </a:rPr>
              <a:t>dist</a:t>
            </a:r>
            <a:r>
              <a:rPr lang="en-CA" baseline="30000" dirty="0" err="1">
                <a:solidFill>
                  <a:srgbClr val="FF0000"/>
                </a:solidFill>
              </a:rPr>
              <a:t>n</a:t>
            </a:r>
            <a:r>
              <a:rPr lang="en-CA" dirty="0">
                <a:solidFill>
                  <a:srgbClr val="FF0000"/>
                </a:solidFill>
              </a:rPr>
              <a:t>, </a:t>
            </a:r>
            <a:r>
              <a:rPr lang="en-CA" dirty="0" err="1">
                <a:solidFill>
                  <a:srgbClr val="FF0000"/>
                </a:solidFill>
              </a:rPr>
              <a:t>Pr</a:t>
            </a:r>
            <a:r>
              <a:rPr lang="en-CA" dirty="0">
                <a:solidFill>
                  <a:srgbClr val="FF0000"/>
                </a:solidFill>
              </a:rPr>
              <a:t>(X=k) = </a:t>
            </a:r>
            <a:r>
              <a:rPr lang="el-GR" dirty="0">
                <a:solidFill>
                  <a:srgbClr val="FF0000"/>
                </a:solidFill>
              </a:rPr>
              <a:t>λ</a:t>
            </a:r>
            <a:r>
              <a:rPr lang="en-CA" dirty="0">
                <a:solidFill>
                  <a:srgbClr val="FF0000"/>
                </a:solidFill>
              </a:rPr>
              <a:t> e</a:t>
            </a:r>
            <a:r>
              <a:rPr lang="en-CA" baseline="30000" dirty="0">
                <a:solidFill>
                  <a:srgbClr val="FF0000"/>
                </a:solidFill>
              </a:rPr>
              <a:t>-</a:t>
            </a:r>
            <a:r>
              <a:rPr lang="el-GR" baseline="30000" dirty="0">
                <a:solidFill>
                  <a:srgbClr val="FF0000"/>
                </a:solidFill>
              </a:rPr>
              <a:t>λ</a:t>
            </a:r>
            <a:r>
              <a:rPr lang="en-CA" baseline="30000" dirty="0">
                <a:solidFill>
                  <a:srgbClr val="FF0000"/>
                </a:solidFill>
              </a:rPr>
              <a:t>k</a:t>
            </a:r>
            <a:r>
              <a:rPr lang="en-CA" dirty="0">
                <a:solidFill>
                  <a:srgbClr val="FF0000"/>
                </a:solidFill>
              </a:rPr>
              <a:t> , mean = 1/</a:t>
            </a:r>
            <a:r>
              <a:rPr lang="el-GR" dirty="0">
                <a:solidFill>
                  <a:srgbClr val="FF0000"/>
                </a:solidFill>
              </a:rPr>
              <a:t>λ</a:t>
            </a:r>
            <a:r>
              <a:rPr lang="en-CA" baseline="300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00495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19492E-F1B9-68F8-F240-6579BB26A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 discrete distributions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AF1900D-14EC-69CA-9C7E-E8608DBFF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CE249C-1246-B3EF-4D0E-83257BF23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23809" cy="17238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774A59-FFE4-3173-021B-1CC469D97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3" y="3276600"/>
            <a:ext cx="8152381" cy="6476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D66F04-D004-2701-1072-41A2385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104" y="4105409"/>
            <a:ext cx="8161905" cy="2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53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0A22-FFE7-3491-9D8B-F6B900C7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Fitting: Weldon’s dice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E71A76-3CF4-564B-61DC-459E475B5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A4581D-0AF2-FF0C-156F-D37E2D0DDE67}"/>
              </a:ext>
            </a:extLst>
          </p:cNvPr>
          <p:cNvSpPr txBox="1"/>
          <p:nvPr/>
        </p:nvSpPr>
        <p:spPr>
          <a:xfrm>
            <a:off x="457200" y="1784152"/>
            <a:ext cx="8229600" cy="461664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WeldonDice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package="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Weldon.df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as.data.frame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WeldonDice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convert to data frame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Prob &lt;- </a:t>
            </a:r>
            <a:r>
              <a:rPr lang="en-CA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dbinom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(0:12, 12, 1/3)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binomial probabilities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Prob &lt;- c(Prob[1:10], sum(Prob[11:13]))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sum values for 10+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Exp= round(sum(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WeldonDice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)*Prob)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expected frequencies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Diff =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Weldon.df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[,"Freq"] - Exp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raw residuals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Diff^2 /Exp                      </a:t>
            </a:r>
            <a:r>
              <a:rPr lang="en-CA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contribution to </a:t>
            </a:r>
            <a:r>
              <a:rPr lang="en-CA" sz="1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chisquare</a:t>
            </a:r>
            <a:endParaRPr lang="en-CA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Weldon.df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Prob=round(Prob,5), Exp, Diff,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n56 Freq    Prob  Exp Diff </a:t>
            </a:r>
            <a:r>
              <a:rPr lang="en-CA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endParaRPr lang="en-CA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    0  185 0.00771  203  -18 1.596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2    1 1149 0.04624 1216  -67 3.692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3    2 3265 0.12717 3345  -80 1.913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4    3 5475 0.21195 5576 -101 1.829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5    4 6114 0.23845 6273 -159 4.030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6    5 5194 0.19076 5018  176 6.173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7    6 3067 0.11127 2927  140 6.696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8    7 1331 0.04769 1255   76 4.602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9    8  403 0.01490  392   11 0.309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10   9  105 0.00331   87   18 3.724</a:t>
            </a:r>
          </a:p>
          <a:p>
            <a:r>
              <a:rPr lang="en-CA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11 10+   18 0.00054   14    4 1.143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B9E246-D312-55F7-D9A7-0F63DE6BBEDB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Basic, naïve calculation of expected frequencies for a binomial distribution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09FE80D-509B-F465-AA04-A1446862F192}"/>
              </a:ext>
            </a:extLst>
          </p:cNvPr>
          <p:cNvGrpSpPr/>
          <p:nvPr/>
        </p:nvGrpSpPr>
        <p:grpSpPr>
          <a:xfrm>
            <a:off x="5181600" y="4419600"/>
            <a:ext cx="3429000" cy="674132"/>
            <a:chOff x="5181600" y="4419600"/>
            <a:chExt cx="3429000" cy="674132"/>
          </a:xfrm>
          <a:solidFill>
            <a:schemeClr val="bg1"/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B6113BC-EA36-D359-2197-AF2A883F1434}"/>
                    </a:ext>
                  </a:extLst>
                </p:cNvPr>
                <p:cNvSpPr txBox="1"/>
                <p:nvPr/>
              </p:nvSpPr>
              <p:spPr>
                <a:xfrm>
                  <a:off x="5181600" y="4419600"/>
                  <a:ext cx="3429000" cy="369332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CA" dirty="0"/>
                    <a:t>Doesn’t calculate the MLE,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CA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CA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</m:oMath>
                  </a14:m>
                  <a:endParaRPr lang="en-CA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EB6113BC-EA36-D359-2197-AF2A883F1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0" y="4419600"/>
                  <a:ext cx="3429000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1421" t="-8197" b="-24590"/>
                  </a:stretch>
                </a:blipFill>
              </p:spPr>
              <p:txBody>
                <a:bodyPr/>
                <a:lstStyle/>
                <a:p>
                  <a:r>
                    <a:rPr lang="en-C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BD24A7B-51D8-F52C-6D6D-F0DB12F7515C}"/>
                </a:ext>
              </a:extLst>
            </p:cNvPr>
            <p:cNvSpPr txBox="1"/>
            <p:nvPr/>
          </p:nvSpPr>
          <p:spPr>
            <a:xfrm>
              <a:off x="5181600" y="4724400"/>
              <a:ext cx="3429000" cy="3693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Manually sum k ≥ 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5486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8648A-9296-1363-C998-9B9CFCD5E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Fitting &amp; graphing discrete distributions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BD0984-70FC-F24E-1868-B8CA83039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In R, the </a:t>
            </a:r>
            <a:r>
              <a:rPr lang="en-CA" sz="2400" dirty="0" err="1">
                <a:solidFill>
                  <a:schemeClr val="accent2">
                    <a:lumMod val="75000"/>
                  </a:schemeClr>
                </a:solidFill>
              </a:rPr>
              <a:t>vcd</a:t>
            </a:r>
            <a:r>
              <a:rPr lang="en-CA" sz="2400" dirty="0"/>
              <a:t> and </a:t>
            </a:r>
            <a:r>
              <a:rPr lang="en-CA" sz="2400" dirty="0" err="1">
                <a:solidFill>
                  <a:schemeClr val="accent2">
                    <a:lumMod val="75000"/>
                  </a:schemeClr>
                </a:solidFill>
              </a:rPr>
              <a:t>vcdExtra</a:t>
            </a:r>
            <a:r>
              <a:rPr lang="en-CA" sz="2400" dirty="0"/>
              <a:t> packages provide functions to fit, visualize and diagnose discrete distributions</a:t>
            </a:r>
          </a:p>
          <a:p>
            <a:pPr marL="0" indent="0">
              <a:buNone/>
            </a:pPr>
            <a:endParaRPr lang="en-CA" sz="2400" dirty="0"/>
          </a:p>
          <a:p>
            <a:r>
              <a:rPr lang="en-CA" sz="2400" b="1" dirty="0"/>
              <a:t>Fitting</a:t>
            </a:r>
            <a:r>
              <a:rPr lang="en-CA" sz="2400" dirty="0"/>
              <a:t>: </a:t>
            </a:r>
            <a:r>
              <a:rPr lang="en-CA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goodfit</a:t>
            </a:r>
            <a:r>
              <a:rPr lang="en-CA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     </a:t>
            </a:r>
            <a:r>
              <a:rPr lang="en-CA" sz="2400" dirty="0"/>
              <a:t>fits uniform, binomial, Poisson,  </a:t>
            </a:r>
          </a:p>
          <a:p>
            <a:pPr marL="0" indent="0">
              <a:buNone/>
            </a:pPr>
            <a:r>
              <a:rPr lang="en-CA" sz="2400" dirty="0"/>
              <a:t>                                                         neg bin, geometric, logseries, …</a:t>
            </a:r>
          </a:p>
          <a:p>
            <a:r>
              <a:rPr lang="en-CA" sz="2400" b="1" dirty="0"/>
              <a:t>Graphing</a:t>
            </a:r>
            <a:r>
              <a:rPr lang="en-CA" sz="2400" dirty="0"/>
              <a:t>: </a:t>
            </a:r>
            <a:r>
              <a:rPr lang="en-CA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rootogram()  </a:t>
            </a:r>
            <a:r>
              <a:rPr lang="en-CA" sz="2400" dirty="0"/>
              <a:t>assess departure between </a:t>
            </a:r>
          </a:p>
          <a:p>
            <a:pPr marL="0" indent="0">
              <a:buNone/>
            </a:pPr>
            <a:r>
              <a:rPr lang="en-CA" sz="2400" dirty="0"/>
              <a:t>                                                         observed, fitted counts</a:t>
            </a:r>
          </a:p>
          <a:p>
            <a:r>
              <a:rPr lang="en-CA" sz="2400" b="1" dirty="0"/>
              <a:t>Ord plot</a:t>
            </a:r>
            <a:r>
              <a:rPr lang="en-CA" sz="2400" dirty="0"/>
              <a:t>: </a:t>
            </a:r>
            <a:r>
              <a:rPr lang="en-CA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Ordplot</a:t>
            </a:r>
            <a:r>
              <a:rPr lang="en-CA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    </a:t>
            </a:r>
            <a:r>
              <a:rPr lang="en-CA" sz="2400" dirty="0"/>
              <a:t>diagnose form of a discrete </a:t>
            </a:r>
          </a:p>
          <a:p>
            <a:pPr marL="0" indent="0">
              <a:buNone/>
            </a:pPr>
            <a:r>
              <a:rPr lang="en-CA" sz="2400" dirty="0"/>
              <a:t>                                                         distribution</a:t>
            </a:r>
          </a:p>
          <a:p>
            <a:r>
              <a:rPr lang="en-CA" sz="2400" b="1" dirty="0"/>
              <a:t>Robust plots</a:t>
            </a:r>
            <a:r>
              <a:rPr lang="en-CA" sz="2400" dirty="0"/>
              <a:t>: </a:t>
            </a:r>
            <a:r>
              <a:rPr lang="en-CA" sz="2400" dirty="0" err="1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distplot</a:t>
            </a:r>
            <a:r>
              <a:rPr lang="en-CA" sz="240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 </a:t>
            </a:r>
            <a:r>
              <a:rPr lang="en-CA" sz="2400" dirty="0"/>
              <a:t>handle problems with </a:t>
            </a:r>
          </a:p>
          <a:p>
            <a:pPr marL="0" indent="0">
              <a:buNone/>
            </a:pPr>
            <a:r>
              <a:rPr lang="en-CA" sz="2400" dirty="0"/>
              <a:t>                                                          discrepant counts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AA3777-8315-892F-B0E8-8902FD1D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5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65B35-A255-29A7-B470-7BE1F625E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Saxony families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E5782-7BCD-D448-3996-7748CE236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6AB1B-77B7-80F3-2E18-A6208A061568}"/>
              </a:ext>
            </a:extLst>
          </p:cNvPr>
          <p:cNvSpPr txBox="1"/>
          <p:nvPr/>
        </p:nvSpPr>
        <p:spPr>
          <a:xfrm>
            <a:off x="457200" y="1295400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 data(Saxony, package="</a:t>
            </a:r>
            <a:r>
              <a:rPr lang="en-CA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vcd</a:t>
            </a:r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 Saxony</a:t>
            </a:r>
          </a:p>
          <a:p>
            <a:r>
              <a:rPr lang="en-CA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nMales</a:t>
            </a:r>
            <a:endParaRPr lang="en-CA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0    1    2    3    4    5    6    7    8    9   10   11   12 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3   24  104  286  670 1033 1343 1112  829  478  181   45    7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D1DA77-2043-D1B9-8991-BA263BA4A468}"/>
              </a:ext>
            </a:extLst>
          </p:cNvPr>
          <p:cNvSpPr txBox="1"/>
          <p:nvPr/>
        </p:nvSpPr>
        <p:spPr>
          <a:xfrm>
            <a:off x="457200" y="28956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Use </a:t>
            </a:r>
            <a:r>
              <a:rPr lang="en-CA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goodfit</a:t>
            </a:r>
            <a:r>
              <a:rPr lang="en-CA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CA" sz="2400" dirty="0"/>
              <a:t>to fit the binomial; test with </a:t>
            </a:r>
            <a:r>
              <a:rPr lang="en-CA" sz="24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DEDF79-B858-AB17-01ED-4B36ED16B0BF}"/>
              </a:ext>
            </a:extLst>
          </p:cNvPr>
          <p:cNvSpPr txBox="1"/>
          <p:nvPr/>
        </p:nvSpPr>
        <p:spPr>
          <a:xfrm>
            <a:off x="533400" y="3657600"/>
            <a:ext cx="80772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Sax.fit</a:t>
            </a:r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goodfit</a:t>
            </a:r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(Saxony, </a:t>
            </a:r>
            <a:r>
              <a:rPr lang="en-CA" sz="14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type = "binomial", par=list(size=12))</a:t>
            </a:r>
          </a:p>
          <a:p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 summary(</a:t>
            </a:r>
            <a:r>
              <a:rPr lang="en-CA" sz="1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Sax.fit</a:t>
            </a:r>
            <a:r>
              <a:rPr lang="en-CA" sz="1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	 Goodness-of-fit test for binomial distribution</a:t>
            </a:r>
          </a:p>
          <a:p>
            <a:endParaRPr lang="en-CA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     X^2 </a:t>
            </a:r>
            <a:r>
              <a:rPr lang="en-CA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df</a:t>
            </a:r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P(&gt; X^2)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Likelihood Ratio  97 11 6.98e-16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DFBFA-0928-FAAA-9F27-016CBEB0B07B}"/>
              </a:ext>
            </a:extLst>
          </p:cNvPr>
          <p:cNvSpPr txBox="1"/>
          <p:nvPr/>
        </p:nvSpPr>
        <p:spPr>
          <a:xfrm>
            <a:off x="6629400" y="5287626"/>
            <a:ext cx="2362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Specify parameters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C6C238-0AF9-A4E6-5912-A2B9C3F90B09}"/>
              </a:ext>
            </a:extLst>
          </p:cNvPr>
          <p:cNvCxnSpPr/>
          <p:nvPr/>
        </p:nvCxnSpPr>
        <p:spPr>
          <a:xfrm flipH="1" flipV="1">
            <a:off x="6019800" y="3989685"/>
            <a:ext cx="1371600" cy="1268353"/>
          </a:xfrm>
          <a:prstGeom prst="straightConnector1">
            <a:avLst/>
          </a:prstGeom>
          <a:ln w="19050">
            <a:solidFill>
              <a:srgbClr val="FF0000"/>
            </a:solidFill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45AA4C-FFC6-E6FC-EEAA-5159047FF8BB}"/>
              </a:ext>
            </a:extLst>
          </p:cNvPr>
          <p:cNvCxnSpPr/>
          <p:nvPr/>
        </p:nvCxnSpPr>
        <p:spPr>
          <a:xfrm>
            <a:off x="3886200" y="5181600"/>
            <a:ext cx="914400" cy="444580"/>
          </a:xfrm>
          <a:prstGeom prst="straightConnector1">
            <a:avLst/>
          </a:prstGeom>
          <a:ln w="19050">
            <a:solidFill>
              <a:srgbClr val="FF0000"/>
            </a:solidFill>
            <a:headEnd type="stealth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81BAFA9-D089-7CCA-E6A0-60851E1CE57E}"/>
              </a:ext>
            </a:extLst>
          </p:cNvPr>
          <p:cNvSpPr txBox="1"/>
          <p:nvPr/>
        </p:nvSpPr>
        <p:spPr>
          <a:xfrm>
            <a:off x="4800600" y="5456903"/>
            <a:ext cx="1066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Doesn’t fit. Why?</a:t>
            </a:r>
          </a:p>
        </p:txBody>
      </p:sp>
    </p:spTree>
    <p:extLst>
      <p:ext uri="{BB962C8B-B14F-4D97-AF65-F5344CB8AC3E}">
        <p14:creationId xmlns:p14="http://schemas.microsoft.com/office/powerpoint/2010/main" val="38856043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0008-0805-7228-24C6-51614BDF8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Example: Saxony families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C338BF-1E9A-AB0C-ED75-F68047D3B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44883-9FFD-8509-E687-EFC9674C6052}"/>
              </a:ext>
            </a:extLst>
          </p:cNvPr>
          <p:cNvSpPr txBox="1"/>
          <p:nvPr/>
        </p:nvSpPr>
        <p:spPr>
          <a:xfrm>
            <a:off x="457200" y="12192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The print() method for </a:t>
            </a:r>
            <a:r>
              <a:rPr lang="en-CA" sz="24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goodfit</a:t>
            </a:r>
            <a:r>
              <a:rPr lang="en-CA" sz="2400" dirty="0"/>
              <a:t> objects shows the details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D96954-A344-48A7-069A-E7809F996F3B}"/>
              </a:ext>
            </a:extLst>
          </p:cNvPr>
          <p:cNvSpPr txBox="1"/>
          <p:nvPr/>
        </p:nvSpPr>
        <p:spPr>
          <a:xfrm>
            <a:off x="533400" y="1905000"/>
            <a:ext cx="5791200" cy="4185761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 </a:t>
            </a:r>
            <a:r>
              <a:rPr lang="en-CA" sz="14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Sax.fit</a:t>
            </a:r>
            <a:r>
              <a:rPr lang="en-CA" sz="14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CA" sz="1400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 print</a:t>
            </a:r>
          </a:p>
          <a:p>
            <a:endParaRPr lang="en-CA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Observed and fitted values for binomial distribution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with parameters estimated by `ML' </a:t>
            </a:r>
          </a:p>
          <a:p>
            <a:endParaRPr lang="en-CA" sz="14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count observed   fitted </a:t>
            </a:r>
            <a:r>
              <a:rPr lang="en-CA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pearson</a:t>
            </a:r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residual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0        3    0.933            2.140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1       24   12.089            3.426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2      104   71.803            3.800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3      286  258.475            1.712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4      670  628.055            1.674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5     1033 1085.211           -1.585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6     1343 1367.279           -0.657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7     1112 1265.630           -4.318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8      829  854.247           -0.864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 9      478  410.013            3.358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10      181  132.836            4.179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11       45   26.082            3.704</a:t>
            </a:r>
          </a:p>
          <a:p>
            <a:r>
              <a:rPr lang="en-CA" sz="1400" dirty="0">
                <a:latin typeface="Consolas" panose="020B0609020204030204" pitchFamily="49" charset="0"/>
                <a:cs typeface="Courier New" panose="02070309020205020404" pitchFamily="49" charset="0"/>
              </a:rPr>
              <a:t>    12        7    2.347            3.037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A1E77-A77F-6AC2-680B-E0C9D948BFE1}"/>
              </a:ext>
            </a:extLst>
          </p:cNvPr>
          <p:cNvSpPr txBox="1"/>
          <p:nvPr/>
        </p:nvSpPr>
        <p:spPr>
          <a:xfrm>
            <a:off x="6553200" y="3048000"/>
            <a:ext cx="21336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Pay attention to the </a:t>
            </a:r>
            <a:r>
              <a:rPr lang="en-CA" sz="1600" dirty="0">
                <a:solidFill>
                  <a:srgbClr val="0070C0"/>
                </a:solidFill>
              </a:rPr>
              <a:t>signs</a:t>
            </a:r>
            <a:r>
              <a:rPr lang="en-CA" sz="1600" dirty="0"/>
              <a:t> &amp; </a:t>
            </a:r>
            <a:r>
              <a:rPr lang="en-CA" sz="1600" dirty="0">
                <a:solidFill>
                  <a:srgbClr val="0070C0"/>
                </a:solidFill>
              </a:rPr>
              <a:t>magnitudes</a:t>
            </a:r>
            <a:r>
              <a:rPr lang="en-CA" sz="1600" dirty="0"/>
              <a:t> of residuals, d</a:t>
            </a:r>
            <a:r>
              <a:rPr lang="en-CA" sz="1600" baseline="-25000" dirty="0"/>
              <a:t>k</a:t>
            </a:r>
          </a:p>
          <a:p>
            <a:endParaRPr lang="en-CA" sz="1600" dirty="0"/>
          </a:p>
          <a:p>
            <a:r>
              <a:rPr lang="en-CA" sz="1600" dirty="0"/>
              <a:t>Pearson </a:t>
            </a:r>
            <a:r>
              <a:rPr lang="en-CA" sz="1600" dirty="0">
                <a:sym typeface="Symbol" panose="05050102010706020507" pitchFamily="18" charset="2"/>
              </a:rPr>
              <a:t></a:t>
            </a:r>
            <a:r>
              <a:rPr lang="en-CA" sz="1600" baseline="30000" dirty="0">
                <a:sym typeface="Symbol" panose="05050102010706020507" pitchFamily="18" charset="2"/>
              </a:rPr>
              <a:t>2</a:t>
            </a:r>
            <a:r>
              <a:rPr lang="en-CA" sz="1600" dirty="0">
                <a:sym typeface="Symbol" panose="05050102010706020507" pitchFamily="18" charset="2"/>
              </a:rPr>
              <a:t> = ∑ d</a:t>
            </a:r>
            <a:r>
              <a:rPr lang="en-CA" sz="1600" baseline="-25000" dirty="0">
                <a:sym typeface="Symbol" panose="05050102010706020507" pitchFamily="18" charset="2"/>
              </a:rPr>
              <a:t>k</a:t>
            </a:r>
            <a:r>
              <a:rPr lang="en-CA" sz="1600" dirty="0">
                <a:sym typeface="Symbol" panose="05050102010706020507" pitchFamily="18" charset="2"/>
              </a:rPr>
              <a:t> </a:t>
            </a:r>
            <a:r>
              <a:rPr lang="en-CA" sz="1600" baseline="30000" dirty="0">
                <a:sym typeface="Symbol" panose="05050102010706020507" pitchFamily="18" charset="2"/>
              </a:rPr>
              <a:t>2</a:t>
            </a:r>
            <a:endParaRPr lang="en-CA" sz="1600" baseline="30000" dirty="0"/>
          </a:p>
          <a:p>
            <a:endParaRPr lang="en-CA" sz="1600" dirty="0"/>
          </a:p>
          <a:p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31118759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B8BF37-AAD8-4560-978C-0001F84C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Graphing discrete distributions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3FFFC5-0EB3-4456-82D3-D5C226C61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86750" y="6400800"/>
            <a:ext cx="514350" cy="45720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21225AB-15B9-4C79-A121-04D1DC7E2307}" type="slidenum">
              <a:rPr lang="en-US" sz="900">
                <a:solidFill>
                  <a:srgbClr val="000000">
                    <a:alpha val="70000"/>
                  </a:srgbClr>
                </a:solidFill>
              </a:rPr>
              <a:pPr>
                <a:spcAft>
                  <a:spcPts val="600"/>
                </a:spcAft>
              </a:pPr>
              <a:t>31</a:t>
            </a:fld>
            <a:endParaRPr lang="en-US" sz="900">
              <a:solidFill>
                <a:srgbClr val="000000">
                  <a:alpha val="70000"/>
                </a:srgb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B3E16DA-EFE1-4514-BF1B-3EE20391E4BA}"/>
              </a:ext>
            </a:extLst>
          </p:cNvPr>
          <p:cNvGrpSpPr/>
          <p:nvPr/>
        </p:nvGrpSpPr>
        <p:grpSpPr>
          <a:xfrm>
            <a:off x="428625" y="1899882"/>
            <a:ext cx="8115299" cy="1690264"/>
            <a:chOff x="428625" y="1899882"/>
            <a:chExt cx="8115299" cy="169026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6EB14A89-C397-4FF8-9609-63632BCBFD69}"/>
                </a:ext>
              </a:extLst>
            </p:cNvPr>
            <p:cNvSpPr/>
            <p:nvPr/>
          </p:nvSpPr>
          <p:spPr>
            <a:xfrm>
              <a:off x="428625" y="1899882"/>
              <a:ext cx="2282428" cy="144934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BD4015D-40E1-4056-84CA-E6BEE3C9DA43}"/>
                </a:ext>
              </a:extLst>
            </p:cNvPr>
            <p:cNvSpPr/>
            <p:nvPr/>
          </p:nvSpPr>
          <p:spPr>
            <a:xfrm>
              <a:off x="682228" y="2140805"/>
              <a:ext cx="2282428" cy="1449341"/>
            </a:xfrm>
            <a:custGeom>
              <a:avLst/>
              <a:gdLst>
                <a:gd name="connsiteX0" fmla="*/ 0 w 2282428"/>
                <a:gd name="connsiteY0" fmla="*/ 144934 h 1449341"/>
                <a:gd name="connsiteX1" fmla="*/ 144934 w 2282428"/>
                <a:gd name="connsiteY1" fmla="*/ 0 h 1449341"/>
                <a:gd name="connsiteX2" fmla="*/ 2137494 w 2282428"/>
                <a:gd name="connsiteY2" fmla="*/ 0 h 1449341"/>
                <a:gd name="connsiteX3" fmla="*/ 2282428 w 2282428"/>
                <a:gd name="connsiteY3" fmla="*/ 144934 h 1449341"/>
                <a:gd name="connsiteX4" fmla="*/ 2282428 w 2282428"/>
                <a:gd name="connsiteY4" fmla="*/ 1304407 h 1449341"/>
                <a:gd name="connsiteX5" fmla="*/ 2137494 w 2282428"/>
                <a:gd name="connsiteY5" fmla="*/ 1449341 h 1449341"/>
                <a:gd name="connsiteX6" fmla="*/ 144934 w 2282428"/>
                <a:gd name="connsiteY6" fmla="*/ 1449341 h 1449341"/>
                <a:gd name="connsiteX7" fmla="*/ 0 w 2282428"/>
                <a:gd name="connsiteY7" fmla="*/ 1304407 h 1449341"/>
                <a:gd name="connsiteX8" fmla="*/ 0 w 2282428"/>
                <a:gd name="connsiteY8" fmla="*/ 144934 h 144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2428" h="1449341">
                  <a:moveTo>
                    <a:pt x="0" y="144934"/>
                  </a:moveTo>
                  <a:cubicBezTo>
                    <a:pt x="0" y="64889"/>
                    <a:pt x="64889" y="0"/>
                    <a:pt x="144934" y="0"/>
                  </a:cubicBezTo>
                  <a:lnTo>
                    <a:pt x="2137494" y="0"/>
                  </a:lnTo>
                  <a:cubicBezTo>
                    <a:pt x="2217539" y="0"/>
                    <a:pt x="2282428" y="64889"/>
                    <a:pt x="2282428" y="144934"/>
                  </a:cubicBezTo>
                  <a:lnTo>
                    <a:pt x="2282428" y="1304407"/>
                  </a:lnTo>
                  <a:cubicBezTo>
                    <a:pt x="2282428" y="1384452"/>
                    <a:pt x="2217539" y="1449341"/>
                    <a:pt x="2137494" y="1449341"/>
                  </a:cubicBezTo>
                  <a:lnTo>
                    <a:pt x="144934" y="1449341"/>
                  </a:lnTo>
                  <a:cubicBezTo>
                    <a:pt x="64889" y="1449341"/>
                    <a:pt x="0" y="1384452"/>
                    <a:pt x="0" y="1304407"/>
                  </a:cubicBezTo>
                  <a:lnTo>
                    <a:pt x="0" y="144934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5320" tIns="145320" rIns="145320" bIns="145320" numCol="1" spcCol="1270" anchor="ctr" anchorCtr="0">
              <a:noAutofit/>
            </a:bodyPr>
            <a:lstStyle/>
            <a:p>
              <a:pPr marL="0" lvl="0" indent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700" kern="1200" dirty="0"/>
                <a:t>Rootograms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237EDB0-6E57-4D2B-BDA2-5C82BFED2262}"/>
                </a:ext>
              </a:extLst>
            </p:cNvPr>
            <p:cNvSpPr/>
            <p:nvPr/>
          </p:nvSpPr>
          <p:spPr>
            <a:xfrm>
              <a:off x="3218259" y="1899882"/>
              <a:ext cx="2282428" cy="144934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AE7E715-697F-43DC-805D-9F3E2D3398D3}"/>
                </a:ext>
              </a:extLst>
            </p:cNvPr>
            <p:cNvSpPr/>
            <p:nvPr/>
          </p:nvSpPr>
          <p:spPr>
            <a:xfrm>
              <a:off x="3471862" y="2140805"/>
              <a:ext cx="2282428" cy="1449341"/>
            </a:xfrm>
            <a:custGeom>
              <a:avLst/>
              <a:gdLst>
                <a:gd name="connsiteX0" fmla="*/ 0 w 2282428"/>
                <a:gd name="connsiteY0" fmla="*/ 144934 h 1449341"/>
                <a:gd name="connsiteX1" fmla="*/ 144934 w 2282428"/>
                <a:gd name="connsiteY1" fmla="*/ 0 h 1449341"/>
                <a:gd name="connsiteX2" fmla="*/ 2137494 w 2282428"/>
                <a:gd name="connsiteY2" fmla="*/ 0 h 1449341"/>
                <a:gd name="connsiteX3" fmla="*/ 2282428 w 2282428"/>
                <a:gd name="connsiteY3" fmla="*/ 144934 h 1449341"/>
                <a:gd name="connsiteX4" fmla="*/ 2282428 w 2282428"/>
                <a:gd name="connsiteY4" fmla="*/ 1304407 h 1449341"/>
                <a:gd name="connsiteX5" fmla="*/ 2137494 w 2282428"/>
                <a:gd name="connsiteY5" fmla="*/ 1449341 h 1449341"/>
                <a:gd name="connsiteX6" fmla="*/ 144934 w 2282428"/>
                <a:gd name="connsiteY6" fmla="*/ 1449341 h 1449341"/>
                <a:gd name="connsiteX7" fmla="*/ 0 w 2282428"/>
                <a:gd name="connsiteY7" fmla="*/ 1304407 h 1449341"/>
                <a:gd name="connsiteX8" fmla="*/ 0 w 2282428"/>
                <a:gd name="connsiteY8" fmla="*/ 144934 h 144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2428" h="1449341">
                  <a:moveTo>
                    <a:pt x="0" y="144934"/>
                  </a:moveTo>
                  <a:cubicBezTo>
                    <a:pt x="0" y="64889"/>
                    <a:pt x="64889" y="0"/>
                    <a:pt x="144934" y="0"/>
                  </a:cubicBezTo>
                  <a:lnTo>
                    <a:pt x="2137494" y="0"/>
                  </a:lnTo>
                  <a:cubicBezTo>
                    <a:pt x="2217539" y="0"/>
                    <a:pt x="2282428" y="64889"/>
                    <a:pt x="2282428" y="144934"/>
                  </a:cubicBezTo>
                  <a:lnTo>
                    <a:pt x="2282428" y="1304407"/>
                  </a:lnTo>
                  <a:cubicBezTo>
                    <a:pt x="2282428" y="1384452"/>
                    <a:pt x="2217539" y="1449341"/>
                    <a:pt x="2137494" y="1449341"/>
                  </a:cubicBezTo>
                  <a:lnTo>
                    <a:pt x="144934" y="1449341"/>
                  </a:lnTo>
                  <a:cubicBezTo>
                    <a:pt x="64889" y="1449341"/>
                    <a:pt x="0" y="1384452"/>
                    <a:pt x="0" y="1304407"/>
                  </a:cubicBezTo>
                  <a:lnTo>
                    <a:pt x="0" y="144934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5320" tIns="145320" rIns="145320" bIns="145320" numCol="1" spcCol="1270" anchor="ctr" anchorCtr="0">
              <a:noAutofit/>
            </a:bodyPr>
            <a:lstStyle/>
            <a:p>
              <a:pPr marL="0" lvl="0" indent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700" kern="1200"/>
                <a:t>Ord plots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99CDDEA-C14B-48C7-A991-A3E4805640CF}"/>
                </a:ext>
              </a:extLst>
            </p:cNvPr>
            <p:cNvSpPr/>
            <p:nvPr/>
          </p:nvSpPr>
          <p:spPr>
            <a:xfrm>
              <a:off x="6007893" y="1899882"/>
              <a:ext cx="2282428" cy="144934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4385616-811A-4BA5-B2D1-A3DBEE64DFD1}"/>
                </a:ext>
              </a:extLst>
            </p:cNvPr>
            <p:cNvSpPr/>
            <p:nvPr/>
          </p:nvSpPr>
          <p:spPr>
            <a:xfrm>
              <a:off x="6261496" y="2140805"/>
              <a:ext cx="2282428" cy="1449341"/>
            </a:xfrm>
            <a:custGeom>
              <a:avLst/>
              <a:gdLst>
                <a:gd name="connsiteX0" fmla="*/ 0 w 2282428"/>
                <a:gd name="connsiteY0" fmla="*/ 144934 h 1449341"/>
                <a:gd name="connsiteX1" fmla="*/ 144934 w 2282428"/>
                <a:gd name="connsiteY1" fmla="*/ 0 h 1449341"/>
                <a:gd name="connsiteX2" fmla="*/ 2137494 w 2282428"/>
                <a:gd name="connsiteY2" fmla="*/ 0 h 1449341"/>
                <a:gd name="connsiteX3" fmla="*/ 2282428 w 2282428"/>
                <a:gd name="connsiteY3" fmla="*/ 144934 h 1449341"/>
                <a:gd name="connsiteX4" fmla="*/ 2282428 w 2282428"/>
                <a:gd name="connsiteY4" fmla="*/ 1304407 h 1449341"/>
                <a:gd name="connsiteX5" fmla="*/ 2137494 w 2282428"/>
                <a:gd name="connsiteY5" fmla="*/ 1449341 h 1449341"/>
                <a:gd name="connsiteX6" fmla="*/ 144934 w 2282428"/>
                <a:gd name="connsiteY6" fmla="*/ 1449341 h 1449341"/>
                <a:gd name="connsiteX7" fmla="*/ 0 w 2282428"/>
                <a:gd name="connsiteY7" fmla="*/ 1304407 h 1449341"/>
                <a:gd name="connsiteX8" fmla="*/ 0 w 2282428"/>
                <a:gd name="connsiteY8" fmla="*/ 144934 h 144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2428" h="1449341">
                  <a:moveTo>
                    <a:pt x="0" y="144934"/>
                  </a:moveTo>
                  <a:cubicBezTo>
                    <a:pt x="0" y="64889"/>
                    <a:pt x="64889" y="0"/>
                    <a:pt x="144934" y="0"/>
                  </a:cubicBezTo>
                  <a:lnTo>
                    <a:pt x="2137494" y="0"/>
                  </a:lnTo>
                  <a:cubicBezTo>
                    <a:pt x="2217539" y="0"/>
                    <a:pt x="2282428" y="64889"/>
                    <a:pt x="2282428" y="144934"/>
                  </a:cubicBezTo>
                  <a:lnTo>
                    <a:pt x="2282428" y="1304407"/>
                  </a:lnTo>
                  <a:cubicBezTo>
                    <a:pt x="2282428" y="1384452"/>
                    <a:pt x="2217539" y="1449341"/>
                    <a:pt x="2137494" y="1449341"/>
                  </a:cubicBezTo>
                  <a:lnTo>
                    <a:pt x="144934" y="1449341"/>
                  </a:lnTo>
                  <a:cubicBezTo>
                    <a:pt x="64889" y="1449341"/>
                    <a:pt x="0" y="1384452"/>
                    <a:pt x="0" y="1304407"/>
                  </a:cubicBezTo>
                  <a:lnTo>
                    <a:pt x="0" y="144934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45320" tIns="145320" rIns="145320" bIns="145320" numCol="1" spcCol="1270" anchor="ctr" anchorCtr="0">
              <a:noAutofit/>
            </a:bodyPr>
            <a:lstStyle/>
            <a:p>
              <a:pPr marL="0" lvl="0" indent="0" algn="ctr" defTabSz="12001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700" kern="1200"/>
                <a:t>Robust distribution plots</a:t>
              </a: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438D6DC-C96D-4699-8F8D-9024DB6EF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3912926"/>
            <a:ext cx="2269940" cy="21031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C1693D-2B82-4396-9AD7-EE004D731C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715" y="3896804"/>
            <a:ext cx="2195285" cy="21353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C07119-DAE6-4CFE-84A0-A9614E060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931" y="3912926"/>
            <a:ext cx="2156532" cy="2103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613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CF25-1A1D-91AB-32FE-705BB4A4D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600" dirty="0"/>
              <a:t>What’s wrong with simple histograms?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39FA96-B1AB-6B19-6336-2CD2FB9B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AC950E-36B8-6AED-5F78-D436CEA397AB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Discrete distributions are often graphed as histograms, with a theoretical fitted distribution superimposed</a:t>
            </a:r>
          </a:p>
          <a:p>
            <a:r>
              <a:rPr lang="en-CA" dirty="0"/>
              <a:t>The plot() method for </a:t>
            </a:r>
            <a:r>
              <a:rPr lang="en-CA" dirty="0" err="1"/>
              <a:t>goodfit</a:t>
            </a:r>
            <a:r>
              <a:rPr lang="en-CA" dirty="0"/>
              <a:t> objects provides some alternatives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4E50C-73B0-4CD3-52A9-D14A53496AA0}"/>
              </a:ext>
            </a:extLst>
          </p:cNvPr>
          <p:cNvSpPr txBox="1"/>
          <p:nvPr/>
        </p:nvSpPr>
        <p:spPr>
          <a:xfrm>
            <a:off x="533400" y="2362200"/>
            <a:ext cx="79248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&gt; plot(</a:t>
            </a:r>
            <a:r>
              <a:rPr lang="en-CA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Sax.fit</a:t>
            </a:r>
            <a:r>
              <a:rPr lang="en-CA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CA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type = "standing", </a:t>
            </a:r>
            <a:r>
              <a:rPr lang="en-CA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xlab</a:t>
            </a:r>
            <a:r>
              <a:rPr lang="en-CA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= "Number of males")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E62978-7920-D475-A0A5-EC7E598523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851588"/>
            <a:ext cx="3685714" cy="35047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89949D-6BD9-D20E-4D5A-50E6FD534AC2}"/>
              </a:ext>
            </a:extLst>
          </p:cNvPr>
          <p:cNvSpPr txBox="1"/>
          <p:nvPr/>
        </p:nvSpPr>
        <p:spPr>
          <a:xfrm>
            <a:off x="5181600" y="3124200"/>
            <a:ext cx="335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Problems: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Largest frequencies dominate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Must assess deviations vs. the fitted curve</a:t>
            </a:r>
          </a:p>
        </p:txBody>
      </p:sp>
    </p:spTree>
    <p:extLst>
      <p:ext uri="{BB962C8B-B14F-4D97-AF65-F5344CB8AC3E}">
        <p14:creationId xmlns:p14="http://schemas.microsoft.com/office/powerpoint/2010/main" val="15400892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06CFD-E95C-86B2-DF6D-B06AC1DD6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Hanging rootograms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D542ED-BEEF-46A3-F8C8-2A994E86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5E5B3-B132-CB7D-D48C-77AAF634D5A8}"/>
              </a:ext>
            </a:extLst>
          </p:cNvPr>
          <p:cNvSpPr txBox="1"/>
          <p:nvPr/>
        </p:nvSpPr>
        <p:spPr>
          <a:xfrm>
            <a:off x="457200" y="1219200"/>
            <a:ext cx="82296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&gt; plot(</a:t>
            </a:r>
            <a:r>
              <a:rPr lang="en-CA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Sax.fit</a:t>
            </a:r>
            <a:r>
              <a:rPr lang="en-CA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, </a:t>
            </a:r>
            <a:r>
              <a:rPr lang="en-CA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type = "hanging", </a:t>
            </a:r>
            <a:r>
              <a:rPr lang="en-CA" sz="16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xlab</a:t>
            </a:r>
            <a:r>
              <a:rPr lang="en-CA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= "Number of males")  </a:t>
            </a:r>
            <a:r>
              <a:rPr lang="en-CA" sz="1600" dirty="0">
                <a:solidFill>
                  <a:srgbClr val="00B050"/>
                </a:solidFill>
                <a:latin typeface="Consolas" panose="020B0609020204030204" pitchFamily="49" charset="0"/>
              </a:rPr>
              <a:t># default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F23E85-8324-6F67-4D28-2DE2DD31C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33" y="2234609"/>
            <a:ext cx="8133333" cy="352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599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2429-5D40-5757-B03A-F6E5BF2DB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Deviation rootograms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9AC2E4-5C70-38B8-C59A-703528EED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E50238-3AA0-373C-0606-5F7668D5BB87}"/>
              </a:ext>
            </a:extLst>
          </p:cNvPr>
          <p:cNvSpPr txBox="1"/>
          <p:nvPr/>
        </p:nvSpPr>
        <p:spPr>
          <a:xfrm>
            <a:off x="457200" y="1371600"/>
            <a:ext cx="8229600" cy="338554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plot(</a:t>
            </a:r>
            <a:r>
              <a:rPr lang="en-CA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Sax.fit</a:t>
            </a:r>
            <a:r>
              <a:rPr lang="en-CA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CA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= "deviation", </a:t>
            </a:r>
            <a:r>
              <a:rPr lang="en-CA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CA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"Number of males")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F6DCA6C-29E1-1407-30E3-4E67666F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14600"/>
            <a:ext cx="8180952" cy="3457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C703AD-9FD6-24BF-A70B-9D0CA1BCF438}"/>
              </a:ext>
            </a:extLst>
          </p:cNvPr>
          <p:cNvSpPr txBox="1"/>
          <p:nvPr/>
        </p:nvSpPr>
        <p:spPr>
          <a:xfrm>
            <a:off x="4572000" y="5791200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What does this suggest about sex distribution of families in Saxony?</a:t>
            </a:r>
          </a:p>
        </p:txBody>
      </p:sp>
    </p:spTree>
    <p:extLst>
      <p:ext uri="{BB962C8B-B14F-4D97-AF65-F5344CB8AC3E}">
        <p14:creationId xmlns:p14="http://schemas.microsoft.com/office/powerpoint/2010/main" val="23649497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B64B-19A8-437F-AA64-2404A9A8C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Federalist papers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24799-2E4E-480D-BA43-6D8E51BC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971676-9FE7-4962-981D-85004006363D}"/>
              </a:ext>
            </a:extLst>
          </p:cNvPr>
          <p:cNvSpPr txBox="1"/>
          <p:nvPr/>
        </p:nvSpPr>
        <p:spPr>
          <a:xfrm>
            <a:off x="457200" y="1295400"/>
            <a:ext cx="68580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data(Federalist, package="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Federalist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nMay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0   1   2   3   4   5   6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156  63  29   8   4   1   1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6FA5E-85AF-4604-A4B2-97809D5C12D5}"/>
              </a:ext>
            </a:extLst>
          </p:cNvPr>
          <p:cNvSpPr txBox="1"/>
          <p:nvPr/>
        </p:nvSpPr>
        <p:spPr>
          <a:xfrm>
            <a:off x="533400" y="2907268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Fit the Poisson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BE54A-2109-46DD-8325-1AD6EB02357A}"/>
              </a:ext>
            </a:extLst>
          </p:cNvPr>
          <p:cNvSpPr txBox="1"/>
          <p:nvPr/>
        </p:nvSpPr>
        <p:spPr>
          <a:xfrm>
            <a:off x="609600" y="3505200"/>
            <a:ext cx="67056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Fed.fit0 &lt;- 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goodfit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(Federalist,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type="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summary(Fed.fit0)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Goodness-of-fit test for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distribution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X^2 df P(&gt; X^2)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25.2  5 0.000125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9BD0F-C16E-4022-B051-246DA1D1FB40}"/>
              </a:ext>
            </a:extLst>
          </p:cNvPr>
          <p:cNvSpPr txBox="1"/>
          <p:nvPr/>
        </p:nvSpPr>
        <p:spPr>
          <a:xfrm>
            <a:off x="609600" y="586740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fits very poorly!</a:t>
            </a:r>
          </a:p>
        </p:txBody>
      </p:sp>
    </p:spTree>
    <p:extLst>
      <p:ext uri="{BB962C8B-B14F-4D97-AF65-F5344CB8AC3E}">
        <p14:creationId xmlns:p14="http://schemas.microsoft.com/office/powerpoint/2010/main" val="37863735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5B64B-19A8-437F-AA64-2404A9A8C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Federalist papers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E24799-2E4E-480D-BA43-6D8E51BC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6FA5E-85AF-4604-A4B2-97809D5C12D5}"/>
              </a:ext>
            </a:extLst>
          </p:cNvPr>
          <p:cNvSpPr txBox="1"/>
          <p:nvPr/>
        </p:nvSpPr>
        <p:spPr>
          <a:xfrm>
            <a:off x="457200" y="1143000"/>
            <a:ext cx="548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Try the Negative binomial distribution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E04EB8-2540-497F-8882-142FE318F698}"/>
              </a:ext>
            </a:extLst>
          </p:cNvPr>
          <p:cNvSpPr txBox="1"/>
          <p:nvPr/>
        </p:nvSpPr>
        <p:spPr>
          <a:xfrm>
            <a:off x="609600" y="1905000"/>
            <a:ext cx="7467600" cy="181588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Fed.fit1&lt;- </a:t>
            </a:r>
            <a:r>
              <a:rPr lang="en-US" sz="16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goodfit</a:t>
            </a:r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(Federalist, 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type="</a:t>
            </a:r>
            <a:r>
              <a:rPr lang="en-US" sz="1600" b="1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nbinomial</a:t>
            </a:r>
            <a:r>
              <a:rPr lang="en-US" sz="16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summary(Fed.fit1)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Goodness-of-fit test for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nbinomial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distribution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X^2 df P(&gt; X^2)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Ratio 1.96  4    0.742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422B9C-66A1-425C-9DA3-7A58FB6E6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962400"/>
            <a:ext cx="8285714" cy="13142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0C7173-379F-B4A3-B0D8-B47F8F20FA1C}"/>
              </a:ext>
            </a:extLst>
          </p:cNvPr>
          <p:cNvSpPr txBox="1"/>
          <p:nvPr/>
        </p:nvSpPr>
        <p:spPr>
          <a:xfrm>
            <a:off x="609600" y="5688083"/>
            <a:ext cx="7772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400" dirty="0"/>
              <a:t>In their landmark study, Mosteller &amp; Wallace used a number of such words to distinguish between papers written by Madison &amp; Hamilton and then assign the “unknown” author papers --- all to James Madison</a:t>
            </a:r>
          </a:p>
        </p:txBody>
      </p:sp>
    </p:spTree>
    <p:extLst>
      <p:ext uri="{BB962C8B-B14F-4D97-AF65-F5344CB8AC3E}">
        <p14:creationId xmlns:p14="http://schemas.microsoft.com/office/powerpoint/2010/main" val="5251367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E6BE6-1044-4FC7-B547-48F9E948A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Federalist papers: Rootograms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9FCCF3-0CB5-415D-A501-1D64EEC39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4720C-7E83-4785-A2BF-781F53A2A81E}"/>
              </a:ext>
            </a:extLst>
          </p:cNvPr>
          <p:cNvSpPr txBox="1"/>
          <p:nvPr/>
        </p:nvSpPr>
        <p:spPr>
          <a:xfrm>
            <a:off x="457200" y="12954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Hanging rootograms for the Federalist papers data, comparing Poisson and Negative binomial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B92838-0C0E-4BD7-94FF-3CF73032C988}"/>
              </a:ext>
            </a:extLst>
          </p:cNvPr>
          <p:cNvSpPr txBox="1"/>
          <p:nvPr/>
        </p:nvSpPr>
        <p:spPr>
          <a:xfrm>
            <a:off x="457200" y="2076012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plot(Fed.fit0, main = "Poisson")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plot(Fed.fit1, main = "Negative binomial")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5DCAC5-B66F-49B1-9AF4-5C13D6700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44" y="3200400"/>
            <a:ext cx="8038095" cy="32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566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35CCF-AED5-4108-A251-3DA72B6AB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Butterfly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357A98-329E-4668-BC24-A7F729FA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53D545-9245-4942-99FC-0ECD05806E40}"/>
              </a:ext>
            </a:extLst>
          </p:cNvPr>
          <p:cNvSpPr txBox="1"/>
          <p:nvPr/>
        </p:nvSpPr>
        <p:spPr>
          <a:xfrm>
            <a:off x="457200" y="12954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Both Poisson and Negative binomial are terrible fits!   What to do??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BF931-FF32-48F6-8529-622B7184A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6" y="1905000"/>
            <a:ext cx="8180952" cy="45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5555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C93B2-6151-42A5-BF5C-2EB3D7DEE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Ord plots: Diagnose form of distribution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7512BE-6BC2-4DB8-9EF0-B703B1EA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3C897F-ED42-44B6-9209-28B7ED361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7787"/>
            <a:ext cx="8123809" cy="435238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CC4EAEA-65D7-79B2-BECE-66B5D24452DA}"/>
              </a:ext>
            </a:extLst>
          </p:cNvPr>
          <p:cNvSpPr/>
          <p:nvPr/>
        </p:nvSpPr>
        <p:spPr>
          <a:xfrm>
            <a:off x="2030362" y="2295832"/>
            <a:ext cx="2750574" cy="365125"/>
          </a:xfrm>
          <a:custGeom>
            <a:avLst/>
            <a:gdLst>
              <a:gd name="connsiteX0" fmla="*/ 0 w 2750574"/>
              <a:gd name="connsiteY0" fmla="*/ 0 h 365125"/>
              <a:gd name="connsiteX1" fmla="*/ 522609 w 2750574"/>
              <a:gd name="connsiteY1" fmla="*/ 0 h 365125"/>
              <a:gd name="connsiteX2" fmla="*/ 990207 w 2750574"/>
              <a:gd name="connsiteY2" fmla="*/ 0 h 365125"/>
              <a:gd name="connsiteX3" fmla="*/ 1595333 w 2750574"/>
              <a:gd name="connsiteY3" fmla="*/ 0 h 365125"/>
              <a:gd name="connsiteX4" fmla="*/ 2117942 w 2750574"/>
              <a:gd name="connsiteY4" fmla="*/ 0 h 365125"/>
              <a:gd name="connsiteX5" fmla="*/ 2750574 w 2750574"/>
              <a:gd name="connsiteY5" fmla="*/ 0 h 365125"/>
              <a:gd name="connsiteX6" fmla="*/ 2750574 w 2750574"/>
              <a:gd name="connsiteY6" fmla="*/ 365125 h 365125"/>
              <a:gd name="connsiteX7" fmla="*/ 2200459 w 2750574"/>
              <a:gd name="connsiteY7" fmla="*/ 365125 h 365125"/>
              <a:gd name="connsiteX8" fmla="*/ 1595333 w 2750574"/>
              <a:gd name="connsiteY8" fmla="*/ 365125 h 365125"/>
              <a:gd name="connsiteX9" fmla="*/ 1127735 w 2750574"/>
              <a:gd name="connsiteY9" fmla="*/ 365125 h 365125"/>
              <a:gd name="connsiteX10" fmla="*/ 577621 w 2750574"/>
              <a:gd name="connsiteY10" fmla="*/ 365125 h 365125"/>
              <a:gd name="connsiteX11" fmla="*/ 0 w 2750574"/>
              <a:gd name="connsiteY11" fmla="*/ 365125 h 365125"/>
              <a:gd name="connsiteX12" fmla="*/ 0 w 2750574"/>
              <a:gd name="connsiteY12" fmla="*/ 0 h 365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750574" h="365125" extrusionOk="0">
                <a:moveTo>
                  <a:pt x="0" y="0"/>
                </a:moveTo>
                <a:cubicBezTo>
                  <a:pt x="168482" y="-30666"/>
                  <a:pt x="285965" y="62493"/>
                  <a:pt x="522609" y="0"/>
                </a:cubicBezTo>
                <a:cubicBezTo>
                  <a:pt x="759253" y="-62493"/>
                  <a:pt x="842064" y="36999"/>
                  <a:pt x="990207" y="0"/>
                </a:cubicBezTo>
                <a:cubicBezTo>
                  <a:pt x="1138350" y="-36999"/>
                  <a:pt x="1454547" y="58331"/>
                  <a:pt x="1595333" y="0"/>
                </a:cubicBezTo>
                <a:cubicBezTo>
                  <a:pt x="1736119" y="-58331"/>
                  <a:pt x="1871298" y="28589"/>
                  <a:pt x="2117942" y="0"/>
                </a:cubicBezTo>
                <a:cubicBezTo>
                  <a:pt x="2364586" y="-28589"/>
                  <a:pt x="2548559" y="70934"/>
                  <a:pt x="2750574" y="0"/>
                </a:cubicBezTo>
                <a:cubicBezTo>
                  <a:pt x="2782238" y="111951"/>
                  <a:pt x="2722078" y="249509"/>
                  <a:pt x="2750574" y="365125"/>
                </a:cubicBezTo>
                <a:cubicBezTo>
                  <a:pt x="2623251" y="424087"/>
                  <a:pt x="2330273" y="331060"/>
                  <a:pt x="2200459" y="365125"/>
                </a:cubicBezTo>
                <a:cubicBezTo>
                  <a:pt x="2070645" y="399190"/>
                  <a:pt x="1858141" y="353870"/>
                  <a:pt x="1595333" y="365125"/>
                </a:cubicBezTo>
                <a:cubicBezTo>
                  <a:pt x="1332525" y="376380"/>
                  <a:pt x="1315836" y="330771"/>
                  <a:pt x="1127735" y="365125"/>
                </a:cubicBezTo>
                <a:cubicBezTo>
                  <a:pt x="939634" y="399479"/>
                  <a:pt x="744547" y="310493"/>
                  <a:pt x="577621" y="365125"/>
                </a:cubicBezTo>
                <a:cubicBezTo>
                  <a:pt x="410695" y="419757"/>
                  <a:pt x="138156" y="319815"/>
                  <a:pt x="0" y="365125"/>
                </a:cubicBezTo>
                <a:cubicBezTo>
                  <a:pt x="-35657" y="242149"/>
                  <a:pt x="17745" y="86332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058096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F26F-5070-4589-82F2-C7FCDF88A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Ord plot: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B36691-C8EB-4ADA-A44B-E720080F9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C56905-0DF6-45A2-AD85-35D0482FD4D5}"/>
              </a:ext>
            </a:extLst>
          </p:cNvPr>
          <p:cNvSpPr txBox="1"/>
          <p:nvPr/>
        </p:nvSpPr>
        <p:spPr>
          <a:xfrm>
            <a:off x="457200" y="1219200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Butterfly data</a:t>
            </a:r>
            <a:r>
              <a:rPr lang="en-US" sz="2000" dirty="0"/>
              <a:t>: The slope and intercept correctly diagnoses the </a:t>
            </a:r>
            <a:r>
              <a:rPr lang="en-US" sz="2000" dirty="0">
                <a:solidFill>
                  <a:srgbClr val="0070C0"/>
                </a:solidFill>
              </a:rPr>
              <a:t>log-series</a:t>
            </a:r>
            <a:r>
              <a:rPr lang="en-US" sz="2000" dirty="0"/>
              <a:t> distribution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C919C0-C02A-49E6-AE15-9A74901622A5}"/>
              </a:ext>
            </a:extLst>
          </p:cNvPr>
          <p:cNvSpPr txBox="1"/>
          <p:nvPr/>
        </p:nvSpPr>
        <p:spPr>
          <a:xfrm>
            <a:off x="457200" y="1988403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Ord_plot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(Butterfly,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main = "Butterfly species collected in Malaya",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gpar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=1),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=16)</a:t>
            </a:r>
          </a:p>
        </p:txBody>
      </p:sp>
      <p:pic>
        <p:nvPicPr>
          <p:cNvPr id="7" name="Picture 6" descr="Chart, scatter chart&#10;&#10;Description automatically generated">
            <a:extLst>
              <a:ext uri="{FF2B5EF4-FFF2-40B4-BE49-F238E27FC236}">
                <a16:creationId xmlns:a16="http://schemas.microsoft.com/office/drawing/2014/main" id="{648E734D-0FDF-4825-AB95-9D0628C7FB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948931"/>
            <a:ext cx="5058247" cy="38328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8781AC-4D33-4BFE-8DBC-1E059DEF194B}"/>
              </a:ext>
            </a:extLst>
          </p:cNvPr>
          <p:cNvSpPr txBox="1"/>
          <p:nvPr/>
        </p:nvSpPr>
        <p:spPr>
          <a:xfrm>
            <a:off x="6172200" y="3191470"/>
            <a:ext cx="2514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+</a:t>
            </a:r>
            <a:r>
              <a:rPr lang="en-US" dirty="0"/>
              <a:t>   slope</a:t>
            </a:r>
          </a:p>
          <a:p>
            <a:r>
              <a:rPr lang="en-US" sz="2400" dirty="0"/>
              <a:t>-</a:t>
            </a:r>
            <a:r>
              <a:rPr lang="en-US" dirty="0"/>
              <a:t>    intercept</a:t>
            </a:r>
          </a:p>
          <a:p>
            <a:r>
              <a:rPr lang="en-US" dirty="0">
                <a:sym typeface="Symbol" panose="05050102010706020507" pitchFamily="18" charset="2"/>
              </a:rPr>
              <a:t>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log-series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199B1E-168B-F91E-173B-6E2B03781D38}"/>
              </a:ext>
            </a:extLst>
          </p:cNvPr>
          <p:cNvSpPr txBox="1"/>
          <p:nvPr/>
        </p:nvSpPr>
        <p:spPr>
          <a:xfrm>
            <a:off x="6019800" y="4419600"/>
            <a:ext cx="2514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OLS line shown in black</a:t>
            </a:r>
          </a:p>
          <a:p>
            <a:r>
              <a:rPr lang="en-CA" dirty="0">
                <a:solidFill>
                  <a:srgbClr val="FF0000"/>
                </a:solidFill>
              </a:rPr>
              <a:t>WLS line shown in red</a:t>
            </a:r>
          </a:p>
        </p:txBody>
      </p:sp>
    </p:spTree>
    <p:extLst>
      <p:ext uri="{BB962C8B-B14F-4D97-AF65-F5344CB8AC3E}">
        <p14:creationId xmlns:p14="http://schemas.microsoft.com/office/powerpoint/2010/main" val="8667449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F4A4-955F-4C22-9927-C26A43E75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Ord plots: Examples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F78027-B0D3-4B3B-907C-77DA301C6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3A5185-3897-46E6-B123-59689EA2D04B}"/>
              </a:ext>
            </a:extLst>
          </p:cNvPr>
          <p:cNvSpPr txBox="1"/>
          <p:nvPr/>
        </p:nvSpPr>
        <p:spPr>
          <a:xfrm>
            <a:off x="457200" y="12192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Ord plots for the Saxony and Federalist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2B9DE-27F4-425E-8C84-D2F516F40CD3}"/>
              </a:ext>
            </a:extLst>
          </p:cNvPr>
          <p:cNvSpPr txBox="1"/>
          <p:nvPr/>
        </p:nvSpPr>
        <p:spPr>
          <a:xfrm>
            <a:off x="457200" y="1935162"/>
            <a:ext cx="82296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&gt; </a:t>
            </a:r>
            <a:r>
              <a:rPr lang="en-US" sz="1600" dirty="0" err="1"/>
              <a:t>Ord_plot</a:t>
            </a:r>
            <a:r>
              <a:rPr lang="en-US" sz="1600" dirty="0"/>
              <a:t>(Saxony, main = "Families in Saxony", </a:t>
            </a:r>
            <a:r>
              <a:rPr lang="en-US" sz="1600" dirty="0" err="1"/>
              <a:t>gp</a:t>
            </a:r>
            <a:r>
              <a:rPr lang="en-US" sz="1600" dirty="0"/>
              <a:t>=</a:t>
            </a:r>
            <a:r>
              <a:rPr lang="en-US" sz="1600" dirty="0" err="1"/>
              <a:t>gpar</a:t>
            </a:r>
            <a:r>
              <a:rPr lang="en-US" sz="1600" dirty="0"/>
              <a:t>(</a:t>
            </a:r>
            <a:r>
              <a:rPr lang="en-US" sz="1600" dirty="0" err="1"/>
              <a:t>cex</a:t>
            </a:r>
            <a:r>
              <a:rPr lang="en-US" sz="1600" dirty="0"/>
              <a:t>=1), </a:t>
            </a:r>
            <a:r>
              <a:rPr lang="en-US" sz="1600" dirty="0" err="1"/>
              <a:t>pch</a:t>
            </a:r>
            <a:r>
              <a:rPr lang="en-US" sz="1600" dirty="0"/>
              <a:t>=16)</a:t>
            </a:r>
          </a:p>
          <a:p>
            <a:r>
              <a:rPr lang="en-US" sz="1600" dirty="0"/>
              <a:t>&gt; </a:t>
            </a:r>
            <a:r>
              <a:rPr lang="en-US" sz="1600" dirty="0" err="1"/>
              <a:t>Ord_plot</a:t>
            </a:r>
            <a:r>
              <a:rPr lang="en-US" sz="1600" dirty="0"/>
              <a:t>(Federalist, main = "Instances of 'may' in Federalist papers", </a:t>
            </a:r>
            <a:r>
              <a:rPr lang="en-US" sz="1600" dirty="0" err="1"/>
              <a:t>gp</a:t>
            </a:r>
            <a:r>
              <a:rPr lang="en-US" sz="1600" dirty="0"/>
              <a:t>=</a:t>
            </a:r>
            <a:r>
              <a:rPr lang="en-US" sz="1600" dirty="0" err="1"/>
              <a:t>gpar</a:t>
            </a:r>
            <a:r>
              <a:rPr lang="en-US" sz="1600" dirty="0"/>
              <a:t>(</a:t>
            </a:r>
            <a:r>
              <a:rPr lang="en-US" sz="1600" dirty="0" err="1"/>
              <a:t>cex</a:t>
            </a:r>
            <a:r>
              <a:rPr lang="en-US" sz="1600" dirty="0"/>
              <a:t>=1), </a:t>
            </a:r>
            <a:r>
              <a:rPr lang="en-US" sz="1600" dirty="0" err="1"/>
              <a:t>pch</a:t>
            </a:r>
            <a:r>
              <a:rPr lang="en-US" sz="1600" dirty="0"/>
              <a:t>=16)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BB0228-E4D1-42FE-9170-ACCF8543A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06" y="2866567"/>
            <a:ext cx="7876190" cy="37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218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865A9-65B0-4CD1-8A1A-3C34C3F62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Robust distribution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0A026C-3650-4688-860C-C977AACF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C44DD0-D2A5-46AC-AC36-05DE8B436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74" y="1260989"/>
            <a:ext cx="7733333" cy="2352381"/>
          </a:xfrm>
          <a:prstGeom prst="rect">
            <a:avLst/>
          </a:prstGeom>
        </p:spPr>
      </p:pic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06E2DED6-3FC7-49AF-A34F-F4B439E92D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374" y="3750829"/>
            <a:ext cx="3438513" cy="26055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056DAC1-5021-404A-8B89-32AE64DF5287}"/>
              </a:ext>
            </a:extLst>
          </p:cNvPr>
          <p:cNvSpPr txBox="1"/>
          <p:nvPr/>
        </p:nvSpPr>
        <p:spPr>
          <a:xfrm>
            <a:off x="533400" y="41910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Poisson distribution, this is called a “</a:t>
            </a:r>
            <a:r>
              <a:rPr lang="en-US" dirty="0" err="1"/>
              <a:t>poissonness</a:t>
            </a:r>
            <a:r>
              <a:rPr lang="en-US" dirty="0"/>
              <a:t> plot”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DA04C8-6632-5A7B-C4C8-4726B3B531BE}"/>
              </a:ext>
            </a:extLst>
          </p:cNvPr>
          <p:cNvSpPr/>
          <p:nvPr/>
        </p:nvSpPr>
        <p:spPr>
          <a:xfrm>
            <a:off x="5619750" y="2437179"/>
            <a:ext cx="2286000" cy="381000"/>
          </a:xfrm>
          <a:custGeom>
            <a:avLst/>
            <a:gdLst>
              <a:gd name="connsiteX0" fmla="*/ 0 w 2286000"/>
              <a:gd name="connsiteY0" fmla="*/ 0 h 381000"/>
              <a:gd name="connsiteX1" fmla="*/ 548640 w 2286000"/>
              <a:gd name="connsiteY1" fmla="*/ 0 h 381000"/>
              <a:gd name="connsiteX2" fmla="*/ 1051560 w 2286000"/>
              <a:gd name="connsiteY2" fmla="*/ 0 h 381000"/>
              <a:gd name="connsiteX3" fmla="*/ 1668780 w 2286000"/>
              <a:gd name="connsiteY3" fmla="*/ 0 h 381000"/>
              <a:gd name="connsiteX4" fmla="*/ 2286000 w 2286000"/>
              <a:gd name="connsiteY4" fmla="*/ 0 h 381000"/>
              <a:gd name="connsiteX5" fmla="*/ 2286000 w 2286000"/>
              <a:gd name="connsiteY5" fmla="*/ 381000 h 381000"/>
              <a:gd name="connsiteX6" fmla="*/ 1760220 w 2286000"/>
              <a:gd name="connsiteY6" fmla="*/ 381000 h 381000"/>
              <a:gd name="connsiteX7" fmla="*/ 1234440 w 2286000"/>
              <a:gd name="connsiteY7" fmla="*/ 381000 h 381000"/>
              <a:gd name="connsiteX8" fmla="*/ 617220 w 2286000"/>
              <a:gd name="connsiteY8" fmla="*/ 381000 h 381000"/>
              <a:gd name="connsiteX9" fmla="*/ 0 w 2286000"/>
              <a:gd name="connsiteY9" fmla="*/ 381000 h 381000"/>
              <a:gd name="connsiteX10" fmla="*/ 0 w 2286000"/>
              <a:gd name="connsiteY10" fmla="*/ 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86000" h="381000" extrusionOk="0">
                <a:moveTo>
                  <a:pt x="0" y="0"/>
                </a:moveTo>
                <a:cubicBezTo>
                  <a:pt x="243433" y="-22851"/>
                  <a:pt x="341956" y="22249"/>
                  <a:pt x="548640" y="0"/>
                </a:cubicBezTo>
                <a:cubicBezTo>
                  <a:pt x="755324" y="-22249"/>
                  <a:pt x="808088" y="12238"/>
                  <a:pt x="1051560" y="0"/>
                </a:cubicBezTo>
                <a:cubicBezTo>
                  <a:pt x="1295032" y="-12238"/>
                  <a:pt x="1485148" y="52911"/>
                  <a:pt x="1668780" y="0"/>
                </a:cubicBezTo>
                <a:cubicBezTo>
                  <a:pt x="1852412" y="-52911"/>
                  <a:pt x="2060640" y="24251"/>
                  <a:pt x="2286000" y="0"/>
                </a:cubicBezTo>
                <a:cubicBezTo>
                  <a:pt x="2320247" y="174285"/>
                  <a:pt x="2259712" y="207173"/>
                  <a:pt x="2286000" y="381000"/>
                </a:cubicBezTo>
                <a:cubicBezTo>
                  <a:pt x="2132951" y="403329"/>
                  <a:pt x="1979918" y="348299"/>
                  <a:pt x="1760220" y="381000"/>
                </a:cubicBezTo>
                <a:cubicBezTo>
                  <a:pt x="1540522" y="413701"/>
                  <a:pt x="1444559" y="339913"/>
                  <a:pt x="1234440" y="381000"/>
                </a:cubicBezTo>
                <a:cubicBezTo>
                  <a:pt x="1024321" y="422087"/>
                  <a:pt x="860099" y="356954"/>
                  <a:pt x="617220" y="381000"/>
                </a:cubicBezTo>
                <a:cubicBezTo>
                  <a:pt x="374341" y="405046"/>
                  <a:pt x="272882" y="365425"/>
                  <a:pt x="0" y="381000"/>
                </a:cubicBezTo>
                <a:cubicBezTo>
                  <a:pt x="-17722" y="281923"/>
                  <a:pt x="44794" y="152456"/>
                  <a:pt x="0" y="0"/>
                </a:cubicBezTo>
                <a:close/>
              </a:path>
            </a:pathLst>
          </a:custGeom>
          <a:noFill/>
          <a:ln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094031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8844F-D986-46FB-8C32-D2BEE1D87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Poissonness</a:t>
            </a:r>
            <a:r>
              <a:rPr lang="en-US" dirty="0"/>
              <a:t> plot: Details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3F01A2-F98D-4082-9976-2BB6A7F93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E6CD7D-E0E4-4091-9B96-30CA429A4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04" y="1371600"/>
            <a:ext cx="8009524" cy="27809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3714AD-9E54-4103-92C8-B959BD278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328989"/>
            <a:ext cx="8000000" cy="192381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E345CDB-218C-4087-8E10-61F5DCD24CD7}"/>
              </a:ext>
            </a:extLst>
          </p:cNvPr>
          <p:cNvSpPr/>
          <p:nvPr/>
        </p:nvSpPr>
        <p:spPr>
          <a:xfrm>
            <a:off x="5066900" y="3493167"/>
            <a:ext cx="17526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687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992F-7AEE-414F-84A1-380A24DBA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Other distributions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05CB8E-A75E-4083-92B5-911C519A2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444B08-F285-4BD8-B9AF-1AAA30DB2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61905" cy="18857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A24CA8-F7C4-42C5-9AF6-E74BB6945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57" y="3422374"/>
            <a:ext cx="8257143" cy="18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341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1C6A7-8E12-40FA-9D74-5F91C2D2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distplot</a:t>
            </a:r>
            <a:r>
              <a:rPr lang="en-US" dirty="0"/>
              <a:t>: Federalist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C1AE4D-58B4-4392-B49D-11F136BAD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FF0261-8FFD-4777-ABB6-00DB95D2A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2812"/>
            <a:ext cx="8000000" cy="46666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E5BE48-5D31-421B-8F56-4F28E4138256}"/>
              </a:ext>
            </a:extLst>
          </p:cNvPr>
          <p:cNvSpPr txBox="1"/>
          <p:nvPr/>
        </p:nvSpPr>
        <p:spPr>
          <a:xfrm>
            <a:off x="457200" y="11430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Try both Poisson &amp; Negative binomial</a:t>
            </a:r>
          </a:p>
        </p:txBody>
      </p:sp>
    </p:spTree>
    <p:extLst>
      <p:ext uri="{BB962C8B-B14F-4D97-AF65-F5344CB8AC3E}">
        <p14:creationId xmlns:p14="http://schemas.microsoft.com/office/powerpoint/2010/main" val="15047834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9A22-38C3-4FF9-BF0A-BEB12B393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distplot</a:t>
            </a:r>
            <a:r>
              <a:rPr lang="en-US" dirty="0"/>
              <a:t>: Saxony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BD5CBE-B49C-49DB-A666-4C5085F8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C31739-A9E7-490E-AB13-307D07E3C7E5}"/>
              </a:ext>
            </a:extLst>
          </p:cNvPr>
          <p:cNvSpPr txBox="1"/>
          <p:nvPr/>
        </p:nvSpPr>
        <p:spPr>
          <a:xfrm>
            <a:off x="457200" y="12192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For purported binomial distributions, the result is a “</a:t>
            </a:r>
            <a:r>
              <a:rPr lang="en-US" sz="2000" dirty="0" err="1"/>
              <a:t>binomialness</a:t>
            </a:r>
            <a:r>
              <a:rPr lang="en-US" sz="2000" dirty="0"/>
              <a:t>” plot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5105D7-7367-4614-9910-3C7719453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817132"/>
            <a:ext cx="7961905" cy="3961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DDAE2E-DDEF-451A-8DCB-E46A3A08FEC1}"/>
              </a:ext>
            </a:extLst>
          </p:cNvPr>
          <p:cNvSpPr txBox="1"/>
          <p:nvPr/>
        </p:nvSpPr>
        <p:spPr>
          <a:xfrm>
            <a:off x="609600" y="5943600"/>
            <a:ext cx="746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Both plots show heavier tails than the binomial distribution. </a:t>
            </a:r>
            <a:r>
              <a:rPr lang="en-US" dirty="0" err="1"/>
              <a:t>distplot</a:t>
            </a:r>
            <a:r>
              <a:rPr lang="en-US" dirty="0"/>
              <a:t>() is more sensitive in diagnosing this</a:t>
            </a:r>
          </a:p>
        </p:txBody>
      </p:sp>
    </p:spTree>
    <p:extLst>
      <p:ext uri="{BB962C8B-B14F-4D97-AF65-F5344CB8AC3E}">
        <p14:creationId xmlns:p14="http://schemas.microsoft.com/office/powerpoint/2010/main" val="23518464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24E2C-025C-4F6E-ADC7-B0B82557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EE4B98-DDA4-4643-97D7-606D0139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4B4DF6-041E-4646-A32C-D6E1333B5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26" y="1371600"/>
            <a:ext cx="8180952" cy="16190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8F1184-9F29-43A7-8DAF-DA2678F94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658" y="3100686"/>
            <a:ext cx="8104762" cy="1533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16A64F-A7C1-4206-B49B-A716EB2F0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49" y="4800600"/>
            <a:ext cx="8161905" cy="1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46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24E2C-025C-4F6E-ADC7-B0B825572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have we learned?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EE4B98-DDA4-4643-97D7-606D0139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29634A-4364-4610-8D46-7FAF1666E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57" y="1295400"/>
            <a:ext cx="8257143" cy="25047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F68631-D92C-4798-87E2-B943654FF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284" y="4097303"/>
            <a:ext cx="8190476" cy="19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36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00809-7D2F-4DA5-9FBD-D8137FA8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</a:t>
            </a:r>
            <a:r>
              <a:rPr lang="en-US" dirty="0" err="1"/>
              <a:t>PhdPubs</a:t>
            </a:r>
            <a:r>
              <a:rPr lang="en-US" dirty="0"/>
              <a:t>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0839D8-833C-4908-BFA5-8E5824897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51436"/>
            <a:ext cx="8229600" cy="2549364"/>
          </a:xfrm>
        </p:spPr>
        <p:txBody>
          <a:bodyPr>
            <a:normAutofit/>
          </a:bodyPr>
          <a:lstStyle/>
          <a:p>
            <a:r>
              <a:rPr lang="en-US" sz="2000" dirty="0"/>
              <a:t>There are </a:t>
            </a:r>
            <a:r>
              <a:rPr lang="en-US" sz="2000" dirty="0">
                <a:solidFill>
                  <a:srgbClr val="0070C0"/>
                </a:solidFill>
              </a:rPr>
              <a:t>predictors</a:t>
            </a:r>
            <a:r>
              <a:rPr lang="en-US" sz="2000" dirty="0"/>
              <a:t>: gender, marital status, number of children, prestige of dept., # pubs by student’s mentor</a:t>
            </a:r>
          </a:p>
          <a:p>
            <a:r>
              <a:rPr lang="en-US" sz="2000" dirty="0"/>
              <a:t>We fit such models with </a:t>
            </a:r>
            <a:r>
              <a:rPr lang="en-US" sz="20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/>
              <a:t>, but need to specify the </a:t>
            </a:r>
            <a:r>
              <a:rPr lang="en-US" sz="2000" dirty="0">
                <a:solidFill>
                  <a:srgbClr val="0070C0"/>
                </a:solidFill>
              </a:rPr>
              <a:t>form</a:t>
            </a:r>
            <a:r>
              <a:rPr lang="en-US" sz="2000" dirty="0"/>
              <a:t> of the distribution</a:t>
            </a:r>
          </a:p>
          <a:p>
            <a:r>
              <a:rPr lang="en-US" sz="2000" dirty="0"/>
              <a:t>Ignoring the predictors for now, a baseline model could be</a:t>
            </a:r>
          </a:p>
          <a:p>
            <a:pPr marL="0" indent="0">
              <a:buNone/>
            </a:pPr>
            <a:r>
              <a:rPr lang="en-US" sz="2000" dirty="0"/>
              <a:t>            </a:t>
            </a:r>
            <a:r>
              <a:rPr lang="en-US" sz="2000" dirty="0" err="1"/>
              <a:t>glm</a:t>
            </a:r>
            <a:r>
              <a:rPr lang="en-US" sz="2000" dirty="0"/>
              <a:t>(articles ~ 1, data=</a:t>
            </a:r>
            <a:r>
              <a:rPr lang="en-US" sz="2000" dirty="0" err="1"/>
              <a:t>PhdPubs</a:t>
            </a:r>
            <a:r>
              <a:rPr lang="en-US" sz="2000" dirty="0"/>
              <a:t>, family = “</a:t>
            </a:r>
            <a:r>
              <a:rPr lang="en-US" sz="2000" dirty="0" err="1"/>
              <a:t>poisson</a:t>
            </a:r>
            <a:r>
              <a:rPr lang="en-US" sz="2000" dirty="0"/>
              <a:t>”)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EB877B-22A7-4588-B5F0-05376E7A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A91A45-ABAC-4975-9392-A61156744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910" y="1219200"/>
            <a:ext cx="7708490" cy="181256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752090-9FFD-DEA4-517D-277F3548833D}"/>
              </a:ext>
            </a:extLst>
          </p:cNvPr>
          <p:cNvSpPr txBox="1"/>
          <p:nvPr/>
        </p:nvSpPr>
        <p:spPr>
          <a:xfrm>
            <a:off x="457200" y="3200400"/>
            <a:ext cx="3886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 = 915, mean(articles) = 1.69 </a:t>
            </a:r>
          </a:p>
        </p:txBody>
      </p:sp>
    </p:spTree>
    <p:extLst>
      <p:ext uri="{BB962C8B-B14F-4D97-AF65-F5344CB8AC3E}">
        <p14:creationId xmlns:p14="http://schemas.microsoft.com/office/powerpoint/2010/main" val="2495095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5588-850C-47E0-88A6-379F0D3B1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</a:t>
            </a:r>
            <a:r>
              <a:rPr lang="en-US" dirty="0" err="1"/>
              <a:t>PhdPubs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17014C-BEC8-4805-B6F3-1702D7C70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A6EEA4-525E-4AE2-AF6C-A3CE8A004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3" y="1300428"/>
            <a:ext cx="7933333" cy="4257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733C9A-060A-4308-9F9B-D6362EE4F4F0}"/>
              </a:ext>
            </a:extLst>
          </p:cNvPr>
          <p:cNvSpPr txBox="1"/>
          <p:nvPr/>
        </p:nvSpPr>
        <p:spPr>
          <a:xfrm>
            <a:off x="533400" y="5791200"/>
            <a:ext cx="807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Poisson doesn’t fit:  Need to account for </a:t>
            </a:r>
            <a:r>
              <a:rPr lang="en-US" dirty="0">
                <a:solidFill>
                  <a:srgbClr val="0070C0"/>
                </a:solidFill>
              </a:rPr>
              <a:t>excess 0s </a:t>
            </a:r>
            <a:r>
              <a:rPr lang="en-US" dirty="0"/>
              <a:t>(some never published)</a:t>
            </a:r>
          </a:p>
          <a:p>
            <a:r>
              <a:rPr lang="en-US" dirty="0"/>
              <a:t>Neg binomial: Sort of OK, but should take predictors into account</a:t>
            </a:r>
          </a:p>
        </p:txBody>
      </p:sp>
    </p:spTree>
    <p:extLst>
      <p:ext uri="{BB962C8B-B14F-4D97-AF65-F5344CB8AC3E}">
        <p14:creationId xmlns:p14="http://schemas.microsoft.com/office/powerpoint/2010/main" val="39819528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80F14-FA4F-4AD7-8A98-AE1D105E8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Count data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7E59000-DB4D-40E7-BB95-B22BBD622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52896F-1AD4-4EF4-93D6-A10F60EFB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286" y="3200400"/>
            <a:ext cx="8371428" cy="28380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F8CF64-AC7C-4166-9ED6-E2BED8FF4617}"/>
              </a:ext>
            </a:extLst>
          </p:cNvPr>
          <p:cNvSpPr txBox="1"/>
          <p:nvPr/>
        </p:nvSpPr>
        <p:spPr>
          <a:xfrm>
            <a:off x="457200" y="1143000"/>
            <a:ext cx="822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Count data regression models (DDAR Ch 11)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Include predictors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Allow different distributions for</a:t>
            </a:r>
            <a:r>
              <a:rPr lang="en-US" dirty="0">
                <a:solidFill>
                  <a:srgbClr val="0070C0"/>
                </a:solidFill>
              </a:rPr>
              <a:t> unexplained </a:t>
            </a:r>
            <a:r>
              <a:rPr lang="en-US" dirty="0"/>
              <a:t>variation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 tests of one model vs.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Special models handle the problems of </a:t>
            </a:r>
            <a:r>
              <a:rPr lang="en-US" dirty="0">
                <a:solidFill>
                  <a:srgbClr val="0070C0"/>
                </a:solidFill>
              </a:rPr>
              <a:t>excess zeros</a:t>
            </a:r>
            <a:r>
              <a:rPr lang="en-US" dirty="0"/>
              <a:t>: </a:t>
            </a:r>
            <a:r>
              <a:rPr lang="en-US" dirty="0" err="1"/>
              <a:t>zeroinlf</a:t>
            </a:r>
            <a:r>
              <a:rPr lang="en-US" dirty="0"/>
              <a:t>(), hurdle()</a:t>
            </a:r>
          </a:p>
        </p:txBody>
      </p:sp>
    </p:spTree>
    <p:extLst>
      <p:ext uri="{BB962C8B-B14F-4D97-AF65-F5344CB8AC3E}">
        <p14:creationId xmlns:p14="http://schemas.microsoft.com/office/powerpoint/2010/main" val="11634516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BD795-2398-46A2-A12B-9C27B7DD5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ahead: Effect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5CDA83-C142-432D-A11A-2725709A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E496E-489A-47B1-9250-C56B3CC80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94448"/>
            <a:ext cx="8171428" cy="4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2943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4FBF6-6573-4748-AAC7-89A932407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B8E1B-3531-416E-AA33-5F0D32AD0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Discrete distributions are the building blocks for categorical data analysis</a:t>
            </a:r>
          </a:p>
          <a:p>
            <a:pPr lvl="1"/>
            <a:r>
              <a:rPr lang="en-US" dirty="0"/>
              <a:t>Typically consist of basic counts of occurrences, with varying frequencies</a:t>
            </a:r>
          </a:p>
          <a:p>
            <a:pPr lvl="1"/>
            <a:r>
              <a:rPr lang="en-US" dirty="0"/>
              <a:t>Most common: binomial, Poisson, negative binomial</a:t>
            </a:r>
          </a:p>
          <a:p>
            <a:pPr lvl="1"/>
            <a:r>
              <a:rPr lang="en-US" dirty="0"/>
              <a:t>Others: geometric, log-series</a:t>
            </a:r>
          </a:p>
          <a:p>
            <a:r>
              <a:rPr lang="en-US" dirty="0"/>
              <a:t>Fit with </a:t>
            </a:r>
            <a:r>
              <a:rPr lang="en-US" dirty="0" err="1"/>
              <a:t>goodfit</a:t>
            </a:r>
            <a:r>
              <a:rPr lang="en-US" dirty="0"/>
              <a:t>(); plot with rootogram()</a:t>
            </a:r>
          </a:p>
          <a:p>
            <a:pPr lvl="1"/>
            <a:r>
              <a:rPr lang="en-US" dirty="0"/>
              <a:t>Diagnostic plots: </a:t>
            </a:r>
            <a:r>
              <a:rPr lang="en-US" dirty="0" err="1"/>
              <a:t>Ord_plot</a:t>
            </a:r>
            <a:r>
              <a:rPr lang="en-US" dirty="0"/>
              <a:t>(), </a:t>
            </a:r>
            <a:r>
              <a:rPr lang="en-US" dirty="0" err="1"/>
              <a:t>distplot</a:t>
            </a:r>
            <a:r>
              <a:rPr lang="en-US" dirty="0"/>
              <a:t>()</a:t>
            </a:r>
          </a:p>
          <a:p>
            <a:r>
              <a:rPr lang="en-US" dirty="0"/>
              <a:t>Models with predictors</a:t>
            </a:r>
          </a:p>
          <a:p>
            <a:pPr lvl="1"/>
            <a:r>
              <a:rPr lang="en-US" dirty="0"/>
              <a:t>Binomial </a:t>
            </a:r>
            <a:r>
              <a:rPr lang="en-US" dirty="0">
                <a:sym typeface="Symbol" panose="05050102010706020507" pitchFamily="18" charset="2"/>
              </a:rPr>
              <a:t> logistic regression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Poisson  </a:t>
            </a:r>
            <a:r>
              <a:rPr lang="en-US" dirty="0" err="1">
                <a:sym typeface="Symbol" panose="05050102010706020507" pitchFamily="18" charset="2"/>
              </a:rPr>
              <a:t>poisson</a:t>
            </a:r>
            <a:r>
              <a:rPr lang="en-US" dirty="0">
                <a:sym typeface="Symbol" panose="05050102010706020507" pitchFamily="18" charset="2"/>
              </a:rPr>
              <a:t> regression; </a:t>
            </a:r>
            <a:r>
              <a:rPr lang="en-US" dirty="0" err="1">
                <a:sym typeface="Symbol" panose="05050102010706020507" pitchFamily="18" charset="2"/>
              </a:rPr>
              <a:t>logliner</a:t>
            </a:r>
            <a:r>
              <a:rPr lang="en-US" dirty="0">
                <a:sym typeface="Symbol" panose="05050102010706020507" pitchFamily="18" charset="2"/>
              </a:rPr>
              <a:t> models</a:t>
            </a:r>
          </a:p>
          <a:p>
            <a:pPr lvl="1"/>
            <a:r>
              <a:rPr lang="en-US" dirty="0">
                <a:sym typeface="Symbol" panose="05050102010706020507" pitchFamily="18" charset="2"/>
              </a:rPr>
              <a:t>These are special cases of </a:t>
            </a:r>
            <a:r>
              <a:rPr lang="en-US" dirty="0">
                <a:solidFill>
                  <a:srgbClr val="0070C0"/>
                </a:solidFill>
                <a:sym typeface="Symbol" panose="05050102010706020507" pitchFamily="18" charset="2"/>
              </a:rPr>
              <a:t>generalized</a:t>
            </a:r>
            <a:r>
              <a:rPr lang="en-US" dirty="0">
                <a:sym typeface="Symbol" panose="05050102010706020507" pitchFamily="18" charset="2"/>
              </a:rPr>
              <a:t> linear models</a:t>
            </a:r>
            <a:endParaRPr lang="en-US" dirty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EB4FCB-7F07-4CBC-906B-364DD3B85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6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19050">
          <a:solidFill>
            <a:srgbClr val="FF0000"/>
          </a:solidFill>
          <a:headEnd w="lg" len="lg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2927</TotalTime>
  <Words>3326</Words>
  <Application>Microsoft Office PowerPoint</Application>
  <PresentationFormat>On-screen Show (4:3)</PresentationFormat>
  <Paragraphs>445</Paragraphs>
  <Slides>53</Slides>
  <Notes>4</Notes>
  <HiddenSlides>1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Cambria Math</vt:lpstr>
      <vt:lpstr>Consolas</vt:lpstr>
      <vt:lpstr>Courier New</vt:lpstr>
      <vt:lpstr>Wingdings</vt:lpstr>
      <vt:lpstr>Arial</vt:lpstr>
      <vt:lpstr>Symbol</vt:lpstr>
      <vt:lpstr>Calibri</vt:lpstr>
      <vt:lpstr>1_Office Theme</vt:lpstr>
      <vt:lpstr>Discrete distributions</vt:lpstr>
      <vt:lpstr>Discrete distributions: Basic ideas</vt:lpstr>
      <vt:lpstr>Examples: binomial</vt:lpstr>
      <vt:lpstr>Why did this matter? -- Arbuthot</vt:lpstr>
      <vt:lpstr>Example: Poisson</vt:lpstr>
      <vt:lpstr>Examples: count data</vt:lpstr>
      <vt:lpstr>Count data: models</vt:lpstr>
      <vt:lpstr>Example: Type-token distributions</vt:lpstr>
      <vt:lpstr>PowerPoint Presentation</vt:lpstr>
      <vt:lpstr>Discrete distributions: Questions</vt:lpstr>
      <vt:lpstr>Fitting discrete distributions</vt:lpstr>
      <vt:lpstr>Common discrete distributions</vt:lpstr>
      <vt:lpstr>Discrete distributions: R</vt:lpstr>
      <vt:lpstr>What is “binomial”</vt:lpstr>
      <vt:lpstr>Binomial distribution</vt:lpstr>
      <vt:lpstr>Binomial distribution</vt:lpstr>
      <vt:lpstr>Poisson distribution</vt:lpstr>
      <vt:lpstr>Poisson distribution</vt:lpstr>
      <vt:lpstr>Poisson distribution: Properties</vt:lpstr>
      <vt:lpstr>History: Who discovered the “Poisson” distribution</vt:lpstr>
      <vt:lpstr>Gosset: Heamacytometer Counts</vt:lpstr>
      <vt:lpstr>Negative binomial distribution</vt:lpstr>
      <vt:lpstr>Negative binomial distribution</vt:lpstr>
      <vt:lpstr>PowerPoint Presentation</vt:lpstr>
      <vt:lpstr>Quiz: Name that distribution</vt:lpstr>
      <vt:lpstr>Fitting discrete distributions</vt:lpstr>
      <vt:lpstr>Fitting: Weldon’s dice</vt:lpstr>
      <vt:lpstr>Fitting &amp; graphing discrete distributions</vt:lpstr>
      <vt:lpstr>Example: Saxony families</vt:lpstr>
      <vt:lpstr>Example: Saxony families</vt:lpstr>
      <vt:lpstr>Graphing discrete distributions</vt:lpstr>
      <vt:lpstr>What’s wrong with simple histograms?</vt:lpstr>
      <vt:lpstr>Hanging rootograms</vt:lpstr>
      <vt:lpstr>Deviation rootograms</vt:lpstr>
      <vt:lpstr>Example: Federalist papers</vt:lpstr>
      <vt:lpstr>Example: Federalist papers</vt:lpstr>
      <vt:lpstr>Federalist papers: Rootograms</vt:lpstr>
      <vt:lpstr>Butterfly data</vt:lpstr>
      <vt:lpstr>Ord plots: Diagnose form of distribution</vt:lpstr>
      <vt:lpstr>Ord plot: Examples</vt:lpstr>
      <vt:lpstr>Ord plots: Examples</vt:lpstr>
      <vt:lpstr>Robust distribution plots</vt:lpstr>
      <vt:lpstr>Poissonness plot: Details</vt:lpstr>
      <vt:lpstr>Other distributions</vt:lpstr>
      <vt:lpstr>distplot: Federalist</vt:lpstr>
      <vt:lpstr>distplot: Saxony</vt:lpstr>
      <vt:lpstr>What have we learned?</vt:lpstr>
      <vt:lpstr>What have we learned?</vt:lpstr>
      <vt:lpstr>Looking ahead: PhdPubs data</vt:lpstr>
      <vt:lpstr>Looking ahead: PhdPubs</vt:lpstr>
      <vt:lpstr>Looking ahead: Count data models</vt:lpstr>
      <vt:lpstr>Looking ahead: Effect plots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02-Discrete</dc:title>
  <dc:creator>Michael L Friendly</dc:creator>
  <cp:lastModifiedBy>Michael L Friendly</cp:lastModifiedBy>
  <cp:revision>23</cp:revision>
  <dcterms:created xsi:type="dcterms:W3CDTF">2022-12-24T16:20:14Z</dcterms:created>
  <dcterms:modified xsi:type="dcterms:W3CDTF">2025-12-12T20:18:38Z</dcterms:modified>
</cp:coreProperties>
</file>