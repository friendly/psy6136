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95"/>
  </p:handoutMasterIdLst>
  <p:sldIdLst>
    <p:sldId id="256" r:id="rId2"/>
    <p:sldId id="257" r:id="rId3"/>
    <p:sldId id="269" r:id="rId4"/>
    <p:sldId id="258" r:id="rId5"/>
    <p:sldId id="259" r:id="rId6"/>
    <p:sldId id="260" r:id="rId7"/>
    <p:sldId id="341" r:id="rId8"/>
    <p:sldId id="342" r:id="rId9"/>
    <p:sldId id="261" r:id="rId10"/>
    <p:sldId id="340" r:id="rId11"/>
    <p:sldId id="343" r:id="rId12"/>
    <p:sldId id="344" r:id="rId13"/>
    <p:sldId id="262" r:id="rId14"/>
    <p:sldId id="263" r:id="rId15"/>
    <p:sldId id="264" r:id="rId16"/>
    <p:sldId id="265" r:id="rId17"/>
    <p:sldId id="335" r:id="rId18"/>
    <p:sldId id="336" r:id="rId19"/>
    <p:sldId id="266" r:id="rId20"/>
    <p:sldId id="267" r:id="rId21"/>
    <p:sldId id="268" r:id="rId22"/>
    <p:sldId id="270" r:id="rId23"/>
    <p:sldId id="271" r:id="rId24"/>
    <p:sldId id="272" r:id="rId25"/>
    <p:sldId id="273" r:id="rId26"/>
    <p:sldId id="274" r:id="rId27"/>
    <p:sldId id="275" r:id="rId28"/>
    <p:sldId id="339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338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9" r:id="rId53"/>
    <p:sldId id="298" r:id="rId54"/>
    <p:sldId id="300" r:id="rId55"/>
    <p:sldId id="301" r:id="rId56"/>
    <p:sldId id="337" r:id="rId57"/>
    <p:sldId id="302" r:id="rId58"/>
    <p:sldId id="303" r:id="rId59"/>
    <p:sldId id="305" r:id="rId60"/>
    <p:sldId id="307" r:id="rId61"/>
    <p:sldId id="308" r:id="rId62"/>
    <p:sldId id="309" r:id="rId63"/>
    <p:sldId id="306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45" r:id="rId87"/>
    <p:sldId id="346" r:id="rId88"/>
    <p:sldId id="347" r:id="rId89"/>
    <p:sldId id="348" r:id="rId90"/>
    <p:sldId id="349" r:id="rId91"/>
    <p:sldId id="332" r:id="rId92"/>
    <p:sldId id="333" r:id="rId93"/>
    <p:sldId id="334" r:id="rId9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DD6AA1A-F38B-4C00-8A25-BF519BC10D44}">
          <p14:sldIdLst>
            <p14:sldId id="256"/>
            <p14:sldId id="257"/>
            <p14:sldId id="269"/>
          </p14:sldIdLst>
        </p14:section>
        <p14:section name="Generalized linear models" id="{607A7931-5F8C-4C7A-A608-27B0FE311ECF}">
          <p14:sldIdLst>
            <p14:sldId id="258"/>
            <p14:sldId id="259"/>
            <p14:sldId id="260"/>
            <p14:sldId id="341"/>
            <p14:sldId id="342"/>
            <p14:sldId id="261"/>
            <p14:sldId id="340"/>
            <p14:sldId id="343"/>
            <p14:sldId id="344"/>
            <p14:sldId id="262"/>
            <p14:sldId id="263"/>
            <p14:sldId id="264"/>
            <p14:sldId id="265"/>
            <p14:sldId id="335"/>
            <p14:sldId id="336"/>
            <p14:sldId id="266"/>
            <p14:sldId id="267"/>
          </p14:sldIdLst>
        </p14:section>
        <p14:section name="GLMs for count data" id="{56F76673-1ABD-4E7A-B1F6-229756D25F51}">
          <p14:sldIdLst>
            <p14:sldId id="268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Model diagnostics" id="{AB1C3E1C-97DF-49DD-B77F-8E7D1E515717}">
          <p14:sldIdLst>
            <p14:sldId id="339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Overdispersion" id="{977CF2AC-0A00-4B89-96BB-EC8F66F5EF06}">
          <p14:sldIdLst>
            <p14:sldId id="338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9"/>
            <p14:sldId id="298"/>
            <p14:sldId id="300"/>
            <p14:sldId id="301"/>
          </p14:sldIdLst>
        </p14:section>
        <p14:section name="Excess zero counts" id="{9C7E6F90-0738-4CD2-BB39-2C93C2DD6F43}">
          <p14:sldIdLst>
            <p14:sldId id="337"/>
            <p14:sldId id="302"/>
            <p14:sldId id="303"/>
            <p14:sldId id="305"/>
            <p14:sldId id="307"/>
            <p14:sldId id="308"/>
            <p14:sldId id="309"/>
            <p14:sldId id="306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Wrapup" id="{3EDFCAC7-18D6-4EA8-A361-D67769EC95EC}">
          <p14:sldIdLst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BetaBinomial" id="{68B049D2-0DCF-4A3A-8D35-755EDB7DADDB}">
          <p14:sldIdLst>
            <p14:sldId id="345"/>
            <p14:sldId id="346"/>
            <p14:sldId id="347"/>
            <p14:sldId id="348"/>
            <p14:sldId id="349"/>
            <p14:sldId id="332"/>
            <p14:sldId id="333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92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546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riendly.github.io/psy6136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ge.ch/ses/sococ/cl/stat/eda/ladder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academico.cch.unam.mx/ingles1/people-i-love/family-members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0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2800"/>
            <a:ext cx="7772400" cy="784225"/>
          </a:xfrm>
        </p:spPr>
        <p:txBody>
          <a:bodyPr/>
          <a:lstStyle/>
          <a:p>
            <a:r>
              <a:rPr lang="en-US" dirty="0"/>
              <a:t>GLMs for Count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2"/>
              </a:rPr>
              <a:t>https://friendly.github.io/psy6136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A94870-A6B3-4528-9ED9-A9A6D1238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21185"/>
            <a:ext cx="3080848" cy="2651760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A7E08C2F-513F-41CF-BBCE-1496AEF4F5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075" y="321185"/>
            <a:ext cx="2619525" cy="2651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42828F-0159-4D13-963C-D56F46752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7324" y="321185"/>
            <a:ext cx="2532476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25D7-B71D-4ECB-AC51-01549A400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F53E-EE8A-46EB-BF32-EF55A1CFF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Generalized linear models</a:t>
            </a:r>
          </a:p>
          <a:p>
            <a:r>
              <a:rPr lang="en-US" dirty="0"/>
              <a:t>GLMs for count data</a:t>
            </a:r>
          </a:p>
          <a:p>
            <a:pPr lvl="1"/>
            <a:r>
              <a:rPr lang="en-US" dirty="0"/>
              <a:t>Example: PhD publications</a:t>
            </a:r>
          </a:p>
          <a:p>
            <a:r>
              <a:rPr lang="en-US" dirty="0"/>
              <a:t>Model diagnostics</a:t>
            </a:r>
          </a:p>
          <a:p>
            <a:pPr lvl="1"/>
            <a:r>
              <a:rPr lang="en-US" dirty="0"/>
              <a:t>Interactions</a:t>
            </a:r>
          </a:p>
          <a:p>
            <a:pPr lvl="1"/>
            <a:r>
              <a:rPr lang="en-US" dirty="0"/>
              <a:t>Nonlinearity</a:t>
            </a:r>
          </a:p>
          <a:p>
            <a:pPr lvl="1"/>
            <a:r>
              <a:rPr lang="en-US" dirty="0"/>
              <a:t>Outliers, leverage &amp; influence</a:t>
            </a:r>
          </a:p>
          <a:p>
            <a:r>
              <a:rPr lang="en-US" dirty="0"/>
              <a:t>Overdispersion</a:t>
            </a:r>
          </a:p>
          <a:p>
            <a:pPr lvl="1"/>
            <a:r>
              <a:rPr lang="en-US" dirty="0"/>
              <a:t>Quasi-</a:t>
            </a:r>
            <a:r>
              <a:rPr lang="en-US" dirty="0" err="1"/>
              <a:t>poisson</a:t>
            </a:r>
            <a:r>
              <a:rPr lang="en-US" dirty="0"/>
              <a:t> models</a:t>
            </a:r>
          </a:p>
          <a:p>
            <a:pPr lvl="1"/>
            <a:r>
              <a:rPr lang="en-US" dirty="0"/>
              <a:t>Negative binomial models</a:t>
            </a:r>
          </a:p>
          <a:p>
            <a:r>
              <a:rPr lang="en-US" dirty="0"/>
              <a:t>Excess zeros</a:t>
            </a:r>
          </a:p>
          <a:p>
            <a:pPr lvl="1"/>
            <a:r>
              <a:rPr lang="en-US" dirty="0"/>
              <a:t>Zero-inflated models</a:t>
            </a:r>
          </a:p>
          <a:p>
            <a:pPr lvl="1"/>
            <a:r>
              <a:rPr lang="en-US" dirty="0"/>
              <a:t>Hurdle models</a:t>
            </a:r>
          </a:p>
          <a:p>
            <a:r>
              <a:rPr lang="en-US" dirty="0"/>
              <a:t>Counted proportions: Beta binomial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367D8-5EEC-40D4-B7E0-39250173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5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A042-4445-43E6-B4DD-4A2D9F00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Count data models: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E7E54-ADD2-4F3A-8C80-E2E28954A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Count data </a:t>
            </a:r>
            <a:r>
              <a:rPr lang="en-US" sz="2400" dirty="0"/>
              <a:t>models arise when the basic observation is a frequency, </a:t>
            </a:r>
            <a:r>
              <a:rPr lang="en-US" sz="2400" i="1" dirty="0"/>
              <a:t>y</a:t>
            </a:r>
            <a:r>
              <a:rPr lang="en-US" sz="2400" dirty="0"/>
              <a:t> = 0, 1, 2, … of some event and we have some predictors, x</a:t>
            </a:r>
            <a:r>
              <a:rPr lang="en-US" sz="2400" baseline="-25000" dirty="0"/>
              <a:t>1</a:t>
            </a:r>
            <a:r>
              <a:rPr lang="en-US" sz="2400" dirty="0"/>
              <a:t>, x</a:t>
            </a:r>
            <a:r>
              <a:rPr lang="en-US" sz="2400" baseline="-25000" dirty="0"/>
              <a:t>2</a:t>
            </a:r>
            <a:r>
              <a:rPr lang="en-US" sz="2400" dirty="0"/>
              <a:t>, … to help explain them.</a:t>
            </a:r>
          </a:p>
          <a:p>
            <a:pPr lvl="1"/>
            <a:r>
              <a:rPr lang="en-US" sz="2000" dirty="0"/>
              <a:t>Typically, these counts ~ Poisson() </a:t>
            </a:r>
            <a:r>
              <a:rPr lang="en-US" sz="2000" dirty="0">
                <a:sym typeface="Symbol" panose="05050102010706020507" pitchFamily="18" charset="2"/>
              </a:rPr>
              <a:t> “</a:t>
            </a:r>
            <a:r>
              <a:rPr lang="en-US" sz="2000" dirty="0" err="1">
                <a:sym typeface="Symbol" panose="05050102010706020507" pitchFamily="18" charset="2"/>
              </a:rPr>
              <a:t>poisson</a:t>
            </a:r>
            <a:r>
              <a:rPr lang="en-US" sz="2000" dirty="0">
                <a:sym typeface="Symbol" panose="05050102010706020507" pitchFamily="18" charset="2"/>
              </a:rPr>
              <a:t> regression”</a:t>
            </a:r>
            <a:endParaRPr lang="en-US" sz="2000" dirty="0"/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000" dirty="0"/>
              <a:t>Number of articles published by PhD candidates</a:t>
            </a:r>
          </a:p>
          <a:p>
            <a:pPr lvl="2"/>
            <a:r>
              <a:rPr lang="en-US" sz="1600" dirty="0"/>
              <a:t>Predictors: Married?, Female?, Kids &lt; 5?, pubs by mentor</a:t>
            </a:r>
          </a:p>
          <a:p>
            <a:pPr lvl="1"/>
            <a:r>
              <a:rPr lang="en-US" sz="2000" dirty="0"/>
              <a:t>Number of parasites in blood samples of Norwegian cod</a:t>
            </a:r>
          </a:p>
          <a:p>
            <a:pPr lvl="2"/>
            <a:r>
              <a:rPr lang="en-US" sz="1600" dirty="0"/>
              <a:t>Predictors: Catch area, Year, length of fish</a:t>
            </a:r>
          </a:p>
          <a:p>
            <a:pPr lvl="1"/>
            <a:r>
              <a:rPr lang="en-US" sz="2000" dirty="0"/>
              <a:t>Female horseshoe crabs: Number of “satellite” males</a:t>
            </a:r>
          </a:p>
          <a:p>
            <a:pPr lvl="2"/>
            <a:r>
              <a:rPr lang="en-US" sz="1600" dirty="0"/>
              <a:t>Predictors: Female weight, color, spine condition, shell width</a:t>
            </a:r>
          </a:p>
          <a:p>
            <a:r>
              <a:rPr lang="en-US" sz="2400" dirty="0"/>
              <a:t>Special circumstances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Overdispersion</a:t>
            </a:r>
            <a:r>
              <a:rPr lang="en-US" sz="2000" dirty="0"/>
              <a:t>: when the variance &gt; mean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Zero-counts</a:t>
            </a:r>
            <a:r>
              <a:rPr lang="en-US" sz="2000" dirty="0"/>
              <a:t>: When excess 0 counts require an extra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CD0D6-0F06-4C3A-8EF4-3F94DCC8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9132"/>
            <a:ext cx="2133600" cy="365125"/>
          </a:xfrm>
        </p:spPr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24E674E3-DB74-C865-C2DD-A1D2B08DB4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262" y="2874062"/>
            <a:ext cx="621613" cy="621613"/>
          </a:xfrm>
          <a:prstGeom prst="rect">
            <a:avLst/>
          </a:prstGeom>
        </p:spPr>
      </p:pic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83E6A9A4-B81D-104B-2D9B-ED5093A41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3429000"/>
            <a:ext cx="965041" cy="965041"/>
          </a:xfrm>
          <a:prstGeom prst="rect">
            <a:avLst/>
          </a:prstGeom>
        </p:spPr>
      </p:pic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FAA6E2A1-17AD-FF6A-ADF7-4D90CB56D4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816" y="4191000"/>
            <a:ext cx="613225" cy="64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A89F-F6FB-4FDA-814A-90751CDE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Generalized linear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9A8A5-46DF-4C60-AEA1-20ED8C09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7985C-FDCC-4170-B1C9-88CDD8ED28C4}"/>
              </a:ext>
            </a:extLst>
          </p:cNvPr>
          <p:cNvSpPr txBox="1"/>
          <p:nvPr/>
        </p:nvSpPr>
        <p:spPr>
          <a:xfrm>
            <a:off x="533400" y="1219200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have used </a:t>
            </a:r>
            <a:r>
              <a:rPr lang="en-US" sz="2000" dirty="0">
                <a:solidFill>
                  <a:srgbClr val="0070C0"/>
                </a:solidFill>
              </a:rPr>
              <a:t>generalized</a:t>
            </a:r>
            <a:r>
              <a:rPr lang="en-US" sz="2000" dirty="0"/>
              <a:t> linear models fit with </a:t>
            </a:r>
            <a:r>
              <a:rPr lang="en-US" sz="2000" dirty="0" err="1">
                <a:solidFill>
                  <a:srgbClr val="0070C0"/>
                </a:solidFill>
              </a:rPr>
              <a:t>glm</a:t>
            </a:r>
            <a:r>
              <a:rPr lang="en-US" sz="2000" dirty="0">
                <a:solidFill>
                  <a:srgbClr val="0070C0"/>
                </a:solidFill>
              </a:rPr>
              <a:t>() </a:t>
            </a:r>
            <a:r>
              <a:rPr lang="en-US" sz="2000" dirty="0"/>
              <a:t>in two contexts so far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24ADCA-AE18-4968-B8D4-21DA1FB51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828800"/>
            <a:ext cx="8171428" cy="26095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6EC565-A119-E11C-B40A-2DE6357C3690}"/>
              </a:ext>
            </a:extLst>
          </p:cNvPr>
          <p:cNvSpPr txBox="1"/>
          <p:nvPr/>
        </p:nvSpPr>
        <p:spPr>
          <a:xfrm>
            <a:off x="533400" y="4953000"/>
            <a:ext cx="8124314" cy="1200329"/>
          </a:xfrm>
          <a:custGeom>
            <a:avLst/>
            <a:gdLst>
              <a:gd name="csX0" fmla="*/ 0 w 8124314"/>
              <a:gd name="csY0" fmla="*/ 0 h 1200329"/>
              <a:gd name="csX1" fmla="*/ 499065 w 8124314"/>
              <a:gd name="csY1" fmla="*/ 0 h 1200329"/>
              <a:gd name="csX2" fmla="*/ 835644 w 8124314"/>
              <a:gd name="csY2" fmla="*/ 0 h 1200329"/>
              <a:gd name="csX3" fmla="*/ 1578438 w 8124314"/>
              <a:gd name="csY3" fmla="*/ 0 h 1200329"/>
              <a:gd name="csX4" fmla="*/ 2077503 w 8124314"/>
              <a:gd name="csY4" fmla="*/ 0 h 1200329"/>
              <a:gd name="csX5" fmla="*/ 2576568 w 8124314"/>
              <a:gd name="csY5" fmla="*/ 0 h 1200329"/>
              <a:gd name="csX6" fmla="*/ 3319363 w 8124314"/>
              <a:gd name="csY6" fmla="*/ 0 h 1200329"/>
              <a:gd name="csX7" fmla="*/ 3737184 w 8124314"/>
              <a:gd name="csY7" fmla="*/ 0 h 1200329"/>
              <a:gd name="csX8" fmla="*/ 4479979 w 8124314"/>
              <a:gd name="csY8" fmla="*/ 0 h 1200329"/>
              <a:gd name="csX9" fmla="*/ 5222773 w 8124314"/>
              <a:gd name="csY9" fmla="*/ 0 h 1200329"/>
              <a:gd name="csX10" fmla="*/ 5803081 w 8124314"/>
              <a:gd name="csY10" fmla="*/ 0 h 1200329"/>
              <a:gd name="csX11" fmla="*/ 6545876 w 8124314"/>
              <a:gd name="csY11" fmla="*/ 0 h 1200329"/>
              <a:gd name="csX12" fmla="*/ 7044941 w 8124314"/>
              <a:gd name="csY12" fmla="*/ 0 h 1200329"/>
              <a:gd name="csX13" fmla="*/ 7544006 w 8124314"/>
              <a:gd name="csY13" fmla="*/ 0 h 1200329"/>
              <a:gd name="csX14" fmla="*/ 8124314 w 8124314"/>
              <a:gd name="csY14" fmla="*/ 0 h 1200329"/>
              <a:gd name="csX15" fmla="*/ 8124314 w 8124314"/>
              <a:gd name="csY15" fmla="*/ 388106 h 1200329"/>
              <a:gd name="csX16" fmla="*/ 8124314 w 8124314"/>
              <a:gd name="csY16" fmla="*/ 788216 h 1200329"/>
              <a:gd name="csX17" fmla="*/ 8124314 w 8124314"/>
              <a:gd name="csY17" fmla="*/ 1200329 h 1200329"/>
              <a:gd name="csX18" fmla="*/ 7462763 w 8124314"/>
              <a:gd name="csY18" fmla="*/ 1200329 h 1200329"/>
              <a:gd name="csX19" fmla="*/ 7126184 w 8124314"/>
              <a:gd name="csY19" fmla="*/ 1200329 h 1200329"/>
              <a:gd name="csX20" fmla="*/ 6708362 w 8124314"/>
              <a:gd name="csY20" fmla="*/ 1200329 h 1200329"/>
              <a:gd name="csX21" fmla="*/ 5965568 w 8124314"/>
              <a:gd name="csY21" fmla="*/ 1200329 h 1200329"/>
              <a:gd name="csX22" fmla="*/ 5385260 w 8124314"/>
              <a:gd name="csY22" fmla="*/ 1200329 h 1200329"/>
              <a:gd name="csX23" fmla="*/ 4967438 w 8124314"/>
              <a:gd name="csY23" fmla="*/ 1200329 h 1200329"/>
              <a:gd name="csX24" fmla="*/ 4387130 w 8124314"/>
              <a:gd name="csY24" fmla="*/ 1200329 h 1200329"/>
              <a:gd name="csX25" fmla="*/ 4050551 w 8124314"/>
              <a:gd name="csY25" fmla="*/ 1200329 h 1200329"/>
              <a:gd name="csX26" fmla="*/ 3713972 w 8124314"/>
              <a:gd name="csY26" fmla="*/ 1200329 h 1200329"/>
              <a:gd name="csX27" fmla="*/ 3133664 w 8124314"/>
              <a:gd name="csY27" fmla="*/ 1200329 h 1200329"/>
              <a:gd name="csX28" fmla="*/ 2715842 w 8124314"/>
              <a:gd name="csY28" fmla="*/ 1200329 h 1200329"/>
              <a:gd name="csX29" fmla="*/ 2054291 w 8124314"/>
              <a:gd name="csY29" fmla="*/ 1200329 h 1200329"/>
              <a:gd name="csX30" fmla="*/ 1636469 w 8124314"/>
              <a:gd name="csY30" fmla="*/ 1200329 h 1200329"/>
              <a:gd name="csX31" fmla="*/ 974918 w 8124314"/>
              <a:gd name="csY31" fmla="*/ 1200329 h 1200329"/>
              <a:gd name="csX32" fmla="*/ 638339 w 8124314"/>
              <a:gd name="csY32" fmla="*/ 1200329 h 1200329"/>
              <a:gd name="csX33" fmla="*/ 0 w 8124314"/>
              <a:gd name="csY33" fmla="*/ 1200329 h 1200329"/>
              <a:gd name="csX34" fmla="*/ 0 w 8124314"/>
              <a:gd name="csY34" fmla="*/ 824226 h 1200329"/>
              <a:gd name="csX35" fmla="*/ 0 w 8124314"/>
              <a:gd name="csY35" fmla="*/ 400110 h 1200329"/>
              <a:gd name="csX36" fmla="*/ 0 w 8124314"/>
              <a:gd name="csY36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8124314" h="1200329" extrusionOk="0">
                <a:moveTo>
                  <a:pt x="0" y="0"/>
                </a:moveTo>
                <a:cubicBezTo>
                  <a:pt x="227532" y="-146"/>
                  <a:pt x="266660" y="9885"/>
                  <a:pt x="499065" y="0"/>
                </a:cubicBezTo>
                <a:cubicBezTo>
                  <a:pt x="731470" y="-9885"/>
                  <a:pt x="733882" y="1574"/>
                  <a:pt x="835644" y="0"/>
                </a:cubicBezTo>
                <a:cubicBezTo>
                  <a:pt x="937406" y="-1574"/>
                  <a:pt x="1239976" y="65012"/>
                  <a:pt x="1578438" y="0"/>
                </a:cubicBezTo>
                <a:cubicBezTo>
                  <a:pt x="1916900" y="-65012"/>
                  <a:pt x="1841097" y="29785"/>
                  <a:pt x="2077503" y="0"/>
                </a:cubicBezTo>
                <a:cubicBezTo>
                  <a:pt x="2313909" y="-29785"/>
                  <a:pt x="2461025" y="2180"/>
                  <a:pt x="2576568" y="0"/>
                </a:cubicBezTo>
                <a:cubicBezTo>
                  <a:pt x="2692111" y="-2180"/>
                  <a:pt x="3061602" y="81249"/>
                  <a:pt x="3319363" y="0"/>
                </a:cubicBezTo>
                <a:cubicBezTo>
                  <a:pt x="3577124" y="-81249"/>
                  <a:pt x="3617565" y="36579"/>
                  <a:pt x="3737184" y="0"/>
                </a:cubicBezTo>
                <a:cubicBezTo>
                  <a:pt x="3856803" y="-36579"/>
                  <a:pt x="4188550" y="19634"/>
                  <a:pt x="4479979" y="0"/>
                </a:cubicBezTo>
                <a:cubicBezTo>
                  <a:pt x="4771408" y="-19634"/>
                  <a:pt x="4977123" y="64767"/>
                  <a:pt x="5222773" y="0"/>
                </a:cubicBezTo>
                <a:cubicBezTo>
                  <a:pt x="5468423" y="-64767"/>
                  <a:pt x="5584454" y="36624"/>
                  <a:pt x="5803081" y="0"/>
                </a:cubicBezTo>
                <a:cubicBezTo>
                  <a:pt x="6021708" y="-36624"/>
                  <a:pt x="6317044" y="26084"/>
                  <a:pt x="6545876" y="0"/>
                </a:cubicBezTo>
                <a:cubicBezTo>
                  <a:pt x="6774708" y="-26084"/>
                  <a:pt x="6858633" y="16980"/>
                  <a:pt x="7044941" y="0"/>
                </a:cubicBezTo>
                <a:cubicBezTo>
                  <a:pt x="7231249" y="-16980"/>
                  <a:pt x="7368913" y="12020"/>
                  <a:pt x="7544006" y="0"/>
                </a:cubicBezTo>
                <a:cubicBezTo>
                  <a:pt x="7719100" y="-12020"/>
                  <a:pt x="7972487" y="10964"/>
                  <a:pt x="8124314" y="0"/>
                </a:cubicBezTo>
                <a:cubicBezTo>
                  <a:pt x="8127588" y="157899"/>
                  <a:pt x="8095981" y="259263"/>
                  <a:pt x="8124314" y="388106"/>
                </a:cubicBezTo>
                <a:cubicBezTo>
                  <a:pt x="8152647" y="516949"/>
                  <a:pt x="8102643" y="698512"/>
                  <a:pt x="8124314" y="788216"/>
                </a:cubicBezTo>
                <a:cubicBezTo>
                  <a:pt x="8145985" y="877920"/>
                  <a:pt x="8088854" y="1055186"/>
                  <a:pt x="8124314" y="1200329"/>
                </a:cubicBezTo>
                <a:cubicBezTo>
                  <a:pt x="7964497" y="1225051"/>
                  <a:pt x="7672310" y="1123295"/>
                  <a:pt x="7462763" y="1200329"/>
                </a:cubicBezTo>
                <a:cubicBezTo>
                  <a:pt x="7253216" y="1277363"/>
                  <a:pt x="7252447" y="1168131"/>
                  <a:pt x="7126184" y="1200329"/>
                </a:cubicBezTo>
                <a:cubicBezTo>
                  <a:pt x="6999921" y="1232527"/>
                  <a:pt x="6802307" y="1182792"/>
                  <a:pt x="6708362" y="1200329"/>
                </a:cubicBezTo>
                <a:cubicBezTo>
                  <a:pt x="6614417" y="1217866"/>
                  <a:pt x="6138385" y="1192017"/>
                  <a:pt x="5965568" y="1200329"/>
                </a:cubicBezTo>
                <a:cubicBezTo>
                  <a:pt x="5792751" y="1208641"/>
                  <a:pt x="5644912" y="1170885"/>
                  <a:pt x="5385260" y="1200329"/>
                </a:cubicBezTo>
                <a:cubicBezTo>
                  <a:pt x="5125608" y="1229773"/>
                  <a:pt x="5069824" y="1200239"/>
                  <a:pt x="4967438" y="1200329"/>
                </a:cubicBezTo>
                <a:cubicBezTo>
                  <a:pt x="4865052" y="1200419"/>
                  <a:pt x="4584046" y="1182673"/>
                  <a:pt x="4387130" y="1200329"/>
                </a:cubicBezTo>
                <a:cubicBezTo>
                  <a:pt x="4190214" y="1217985"/>
                  <a:pt x="4161119" y="1196262"/>
                  <a:pt x="4050551" y="1200329"/>
                </a:cubicBezTo>
                <a:cubicBezTo>
                  <a:pt x="3939983" y="1204396"/>
                  <a:pt x="3868033" y="1199867"/>
                  <a:pt x="3713972" y="1200329"/>
                </a:cubicBezTo>
                <a:cubicBezTo>
                  <a:pt x="3559911" y="1200791"/>
                  <a:pt x="3337292" y="1192970"/>
                  <a:pt x="3133664" y="1200329"/>
                </a:cubicBezTo>
                <a:cubicBezTo>
                  <a:pt x="2930036" y="1207688"/>
                  <a:pt x="2806715" y="1162644"/>
                  <a:pt x="2715842" y="1200329"/>
                </a:cubicBezTo>
                <a:cubicBezTo>
                  <a:pt x="2624969" y="1238014"/>
                  <a:pt x="2342473" y="1129761"/>
                  <a:pt x="2054291" y="1200329"/>
                </a:cubicBezTo>
                <a:cubicBezTo>
                  <a:pt x="1766109" y="1270897"/>
                  <a:pt x="1794325" y="1163614"/>
                  <a:pt x="1636469" y="1200329"/>
                </a:cubicBezTo>
                <a:cubicBezTo>
                  <a:pt x="1478613" y="1237044"/>
                  <a:pt x="1255027" y="1133398"/>
                  <a:pt x="974918" y="1200329"/>
                </a:cubicBezTo>
                <a:cubicBezTo>
                  <a:pt x="694809" y="1267260"/>
                  <a:pt x="742608" y="1162001"/>
                  <a:pt x="638339" y="1200329"/>
                </a:cubicBezTo>
                <a:cubicBezTo>
                  <a:pt x="534070" y="1238657"/>
                  <a:pt x="237983" y="1178218"/>
                  <a:pt x="0" y="1200329"/>
                </a:cubicBezTo>
                <a:cubicBezTo>
                  <a:pt x="-13174" y="1019052"/>
                  <a:pt x="8700" y="914411"/>
                  <a:pt x="0" y="824226"/>
                </a:cubicBezTo>
                <a:cubicBezTo>
                  <a:pt x="-8700" y="734041"/>
                  <a:pt x="540" y="502475"/>
                  <a:pt x="0" y="400110"/>
                </a:cubicBezTo>
                <a:cubicBezTo>
                  <a:pt x="-540" y="297745"/>
                  <a:pt x="8673" y="139107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  <a:alpha val="50000"/>
            </a:schemeClr>
          </a:solidFill>
          <a:ln w="254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Hmm. Isn’t the problem with frequency data just that of </a:t>
            </a:r>
            <a:r>
              <a:rPr lang="en-CA" b="1" dirty="0">
                <a:solidFill>
                  <a:srgbClr val="0070C0"/>
                </a:solidFill>
              </a:rPr>
              <a:t>non-constant variance</a:t>
            </a:r>
            <a:r>
              <a:rPr lang="en-CA" dirty="0"/>
              <a:t>?</a:t>
            </a:r>
          </a:p>
          <a:p>
            <a:r>
              <a:rPr lang="en-CA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Why not just transform y -&gt; log(y) and use standard OLS regression?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Why should I bother with Poisson anyway? He wasn’t even </a:t>
            </a:r>
            <a:r>
              <a:rPr lang="en-CA" dirty="0">
                <a:solidFill>
                  <a:srgbClr val="FF0000"/>
                </a:solidFill>
              </a:rPr>
              <a:t>NORMAL !</a:t>
            </a:r>
          </a:p>
        </p:txBody>
      </p:sp>
    </p:spTree>
    <p:extLst>
      <p:ext uri="{BB962C8B-B14F-4D97-AF65-F5344CB8AC3E}">
        <p14:creationId xmlns:p14="http://schemas.microsoft.com/office/powerpoint/2010/main" val="11151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65882-F9BE-436C-B58A-47A0C6E9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Generalized linear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D8524D-6406-49E5-8B3C-A2A583EC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5E836-B165-45AE-8466-C58F854C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71428" cy="25523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E95D15-FA30-4ADD-9A4E-54D51BAB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91000"/>
            <a:ext cx="8171428" cy="1419048"/>
          </a:xfrm>
          <a:prstGeom prst="rect">
            <a:avLst/>
          </a:prstGeom>
          <a:effectLst>
            <a:glow rad="127000">
              <a:srgbClr val="00B0F0"/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28265B-ADB5-4EE0-AA50-C21905EFC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5825282"/>
            <a:ext cx="6237935" cy="434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E0E956-BF0A-8E17-CC97-7B8EF2CDBC8F}"/>
              </a:ext>
            </a:extLst>
          </p:cNvPr>
          <p:cNvSpPr txBox="1"/>
          <p:nvPr/>
        </p:nvSpPr>
        <p:spPr>
          <a:xfrm>
            <a:off x="3067456" y="5663625"/>
            <a:ext cx="53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>
                <a:sym typeface="Symbol" panose="05050102010706020507" pitchFamily="18" charset="2"/>
              </a:rPr>
              <a:t></a:t>
            </a:r>
            <a:endParaRPr lang="en-CA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AD63E-83B2-1267-A4FC-2189B622B012}"/>
              </a:ext>
            </a:extLst>
          </p:cNvPr>
          <p:cNvSpPr txBox="1"/>
          <p:nvPr/>
        </p:nvSpPr>
        <p:spPr>
          <a:xfrm>
            <a:off x="3810000" y="5674649"/>
            <a:ext cx="53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>
                <a:sym typeface="Symbol" panose="05050102010706020507" pitchFamily="18" charset="2"/>
              </a:rPr>
              <a:t></a:t>
            </a:r>
            <a:endParaRPr lang="en-CA" sz="32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50EF563-6CDA-7065-93F2-17BE8477B933}"/>
              </a:ext>
            </a:extLst>
          </p:cNvPr>
          <p:cNvSpPr/>
          <p:nvPr/>
        </p:nvSpPr>
        <p:spPr>
          <a:xfrm>
            <a:off x="609600" y="5825282"/>
            <a:ext cx="705256" cy="4231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454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0F68-4B50-40D3-A459-F9B44BC5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Generalized linear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CE6CF6-9959-42E7-8E5C-68DED4DA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AA4C7-A363-4FBC-9E4D-BB95B9EB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1942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61AD4E-6B7F-49D6-980D-A41C8FB0D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8171428" cy="117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F80F30-FC5A-4CBD-AD7E-2C1B17FF5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88766"/>
            <a:ext cx="8171428" cy="1257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FD53FC-0E7F-8C2E-016B-566DB68E70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57620" y="1300316"/>
            <a:ext cx="658359" cy="65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8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37F3-7899-D1E9-50E3-959F2758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GLMs: The light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50F08-571A-BD30-3B09-ABE928CB7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524000"/>
          </a:xfrm>
        </p:spPr>
        <p:txBody>
          <a:bodyPr/>
          <a:lstStyle/>
          <a:p>
            <a:r>
              <a:rPr lang="en-CA" dirty="0"/>
              <a:t>No need to consider all those special cases to transform y for homogeneity of variance</a:t>
            </a:r>
          </a:p>
          <a:p>
            <a:pPr lvl="1"/>
            <a:r>
              <a:rPr lang="en-CA" dirty="0"/>
              <a:t>EDA approach: ladder of powers, transform to symmetry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AB4F4D-D6ED-66DA-8C85-2E430832B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 descr="Chart, box and whisker chart&#10;&#10;Description automatically generated">
            <a:extLst>
              <a:ext uri="{FF2B5EF4-FFF2-40B4-BE49-F238E27FC236}">
                <a16:creationId xmlns:a16="http://schemas.microsoft.com/office/drawing/2014/main" id="{78ECA520-3D2A-95D8-C200-D225DE689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734086"/>
            <a:ext cx="6190476" cy="3285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8A8C17-1FE4-5E0F-4AA0-BD8B588A6427}"/>
              </a:ext>
            </a:extLst>
          </p:cNvPr>
          <p:cNvSpPr txBox="1"/>
          <p:nvPr/>
        </p:nvSpPr>
        <p:spPr>
          <a:xfrm>
            <a:off x="838200" y="6400800"/>
            <a:ext cx="7086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Image from: </a:t>
            </a:r>
            <a:r>
              <a:rPr lang="en-CA" sz="1400" dirty="0">
                <a:hlinkClick r:id="rId3"/>
              </a:rPr>
              <a:t>http://www.unige.ch/ses/sococ/cl//stat/eda/ladder.html</a:t>
            </a:r>
            <a:r>
              <a:rPr lang="en-CA" sz="1400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37832E-474B-EA14-24DB-828592F195A1}"/>
              </a:ext>
            </a:extLst>
          </p:cNvPr>
          <p:cNvSpPr/>
          <p:nvPr/>
        </p:nvSpPr>
        <p:spPr>
          <a:xfrm>
            <a:off x="4076700" y="2711450"/>
            <a:ext cx="609600" cy="3314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72BA95-87FA-059E-CED5-2EA1A4D2F4E0}"/>
              </a:ext>
            </a:extLst>
          </p:cNvPr>
          <p:cNvSpPr/>
          <p:nvPr/>
        </p:nvSpPr>
        <p:spPr>
          <a:xfrm>
            <a:off x="2667000" y="2689636"/>
            <a:ext cx="609600" cy="331479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634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FF1A-5713-3077-BCF9-FB009148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GLMs: Families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162A0-824C-0261-C8ED-B81BA9EBE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F6FD9654-C5BB-AD69-7E2C-5B23B5CA1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219200"/>
            <a:ext cx="4478336" cy="3886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91A0EF-30A4-EA78-11F0-92F7B33BBE69}"/>
              </a:ext>
            </a:extLst>
          </p:cNvPr>
          <p:cNvSpPr txBox="1"/>
          <p:nvPr/>
        </p:nvSpPr>
        <p:spPr>
          <a:xfrm>
            <a:off x="609600" y="6400800"/>
            <a:ext cx="76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Base image from: </a:t>
            </a:r>
            <a:r>
              <a:rPr lang="en-CA" sz="1400" dirty="0">
                <a:hlinkClick r:id="rId3"/>
              </a:rPr>
              <a:t>https://portalacademico.cch.unam.mx/ingles1/people-i-love/family-members</a:t>
            </a:r>
            <a:r>
              <a:rPr lang="en-CA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1996D0-38B4-00AB-C116-DCACFF87458D}"/>
              </a:ext>
            </a:extLst>
          </p:cNvPr>
          <p:cNvSpPr txBox="1"/>
          <p:nvPr/>
        </p:nvSpPr>
        <p:spPr>
          <a:xfrm>
            <a:off x="5029200" y="1295400"/>
            <a:ext cx="36575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All GLMs are members of a big happy family</a:t>
            </a:r>
          </a:p>
          <a:p>
            <a:endParaRPr lang="en-CA" dirty="0"/>
          </a:p>
          <a:p>
            <a:r>
              <a:rPr lang="en-CA" dirty="0"/>
              <a:t>They have different technical names, but all share common DNA – The Exponential Family includes direct descendants, uncles, cousins, …</a:t>
            </a:r>
          </a:p>
          <a:p>
            <a:endParaRPr lang="en-CA" dirty="0"/>
          </a:p>
          <a:p>
            <a:r>
              <a:rPr lang="en-CA" dirty="0"/>
              <a:t>They all have a  linear predictor, </a:t>
            </a:r>
          </a:p>
          <a:p>
            <a:r>
              <a:rPr lang="en-CA" dirty="0">
                <a:sym typeface="Symbol" panose="05050102010706020507" pitchFamily="18" charset="2"/>
              </a:rPr>
              <a:t>       </a:t>
            </a:r>
            <a:r>
              <a:rPr lang="en-CA" sz="2400" dirty="0">
                <a:sym typeface="Symbol" panose="05050102010706020507" pitchFamily="18" charset="2"/>
              </a:rPr>
              <a:t> = g(</a:t>
            </a:r>
            <a:r>
              <a:rPr lang="el-GR" sz="2400" dirty="0">
                <a:sym typeface="Symbol" panose="05050102010706020507" pitchFamily="18" charset="2"/>
              </a:rPr>
              <a:t>μ</a:t>
            </a:r>
            <a:r>
              <a:rPr lang="en-CA" sz="2400" dirty="0">
                <a:sym typeface="Symbol" panose="05050102010706020507" pitchFamily="18" charset="2"/>
              </a:rPr>
              <a:t>) = X </a:t>
            </a:r>
            <a:r>
              <a:rPr lang="el-GR" sz="2400" dirty="0">
                <a:sym typeface="Symbol" panose="05050102010706020507" pitchFamily="18" charset="2"/>
              </a:rPr>
              <a:t>β</a:t>
            </a:r>
            <a:endParaRPr lang="en-CA" sz="2400" dirty="0"/>
          </a:p>
          <a:p>
            <a:endParaRPr lang="en-CA" dirty="0"/>
          </a:p>
          <a:p>
            <a:r>
              <a:rPr lang="en-CA" dirty="0"/>
              <a:t>They differ in their links: how to transform from </a:t>
            </a:r>
            <a:r>
              <a:rPr lang="el-GR" dirty="0"/>
              <a:t>μ</a:t>
            </a:r>
            <a:r>
              <a:rPr lang="en-CA" dirty="0"/>
              <a:t> </a:t>
            </a:r>
            <a:r>
              <a:rPr lang="en-CA" dirty="0">
                <a:sym typeface="Symbol" panose="05050102010706020507" pitchFamily="18" charset="2"/>
              </a:rPr>
              <a:t> g(</a:t>
            </a:r>
            <a:r>
              <a:rPr lang="el-GR" dirty="0">
                <a:sym typeface="Symbol" panose="05050102010706020507" pitchFamily="18" charset="2"/>
              </a:rPr>
              <a:t>μ</a:t>
            </a:r>
            <a:r>
              <a:rPr lang="en-CA" dirty="0">
                <a:sym typeface="Symbol" panose="05050102010706020507" pitchFamily="18" charset="2"/>
              </a:rPr>
              <a:t>) = </a:t>
            </a:r>
            <a:endParaRPr lang="en-CA" dirty="0"/>
          </a:p>
          <a:p>
            <a:endParaRPr lang="en-CA" dirty="0"/>
          </a:p>
          <a:p>
            <a:r>
              <a:rPr lang="en-CA" dirty="0"/>
              <a:t>They can get back to their roots with an inverse transformation,</a:t>
            </a:r>
          </a:p>
          <a:p>
            <a:r>
              <a:rPr lang="en-CA" dirty="0"/>
              <a:t>         g</a:t>
            </a:r>
            <a:r>
              <a:rPr lang="en-CA" baseline="30000" dirty="0"/>
              <a:t>-1</a:t>
            </a:r>
            <a:r>
              <a:rPr lang="en-CA" dirty="0"/>
              <a:t>(</a:t>
            </a:r>
            <a:r>
              <a:rPr lang="en-CA" dirty="0">
                <a:sym typeface="Symbol" panose="05050102010706020507" pitchFamily="18" charset="2"/>
              </a:rPr>
              <a:t></a:t>
            </a:r>
            <a:r>
              <a:rPr lang="en-CA" dirty="0"/>
              <a:t>) = </a:t>
            </a:r>
            <a:r>
              <a:rPr lang="el-GR" dirty="0"/>
              <a:t>μ</a:t>
            </a:r>
            <a:r>
              <a:rPr lang="en-CA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DD25F-DA76-3355-3F67-E1D101F7BFCE}"/>
              </a:ext>
            </a:extLst>
          </p:cNvPr>
          <p:cNvSpPr txBox="1"/>
          <p:nvPr/>
        </p:nvSpPr>
        <p:spPr>
          <a:xfrm>
            <a:off x="1847850" y="1429435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/>
              <a:t>Papa normal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A9DFD-64EB-2322-DAC8-06D0B888EAE8}"/>
              </a:ext>
            </a:extLst>
          </p:cNvPr>
          <p:cNvSpPr txBox="1"/>
          <p:nvPr/>
        </p:nvSpPr>
        <p:spPr>
          <a:xfrm>
            <a:off x="3067050" y="1567934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/>
              <a:t>Daughter Binomial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CF942-EFC3-9489-ADB5-FC7CEE697817}"/>
              </a:ext>
            </a:extLst>
          </p:cNvPr>
          <p:cNvSpPr txBox="1"/>
          <p:nvPr/>
        </p:nvSpPr>
        <p:spPr>
          <a:xfrm>
            <a:off x="647700" y="1677085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/>
              <a:t>Ms. Poisson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19A86-5D2A-324C-BABD-00F63799E89C}"/>
              </a:ext>
            </a:extLst>
          </p:cNvPr>
          <p:cNvSpPr txBox="1"/>
          <p:nvPr/>
        </p:nvSpPr>
        <p:spPr>
          <a:xfrm>
            <a:off x="2590800" y="2980977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chemeClr val="bg1"/>
                </a:solidFill>
              </a:rPr>
              <a:t>Cousin Log-normal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0D772F-5141-F9F9-1CB4-ACAF674C0FB2}"/>
              </a:ext>
            </a:extLst>
          </p:cNvPr>
          <p:cNvSpPr txBox="1"/>
          <p:nvPr/>
        </p:nvSpPr>
        <p:spPr>
          <a:xfrm>
            <a:off x="2447925" y="3880325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Inverse Gaussian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CA368-BA45-74D1-2640-4662F600B324}"/>
              </a:ext>
            </a:extLst>
          </p:cNvPr>
          <p:cNvSpPr txBox="1"/>
          <p:nvPr/>
        </p:nvSpPr>
        <p:spPr>
          <a:xfrm>
            <a:off x="990600" y="3119735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solidFill>
                  <a:schemeClr val="bg1"/>
                </a:solidFill>
              </a:rPr>
              <a:t>Uncle Gamma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AEC7CE-4024-0119-B14C-7F06B1529342}"/>
              </a:ext>
            </a:extLst>
          </p:cNvPr>
          <p:cNvSpPr txBox="1"/>
          <p:nvPr/>
        </p:nvSpPr>
        <p:spPr>
          <a:xfrm>
            <a:off x="1104900" y="4133065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chemeClr val="bg1"/>
                </a:solidFill>
              </a:rPr>
              <a:t>Pet GAM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6114CE-EC45-79F0-4321-A5B74E3F3A4C}"/>
              </a:ext>
            </a:extLst>
          </p:cNvPr>
          <p:cNvSpPr txBox="1"/>
          <p:nvPr/>
        </p:nvSpPr>
        <p:spPr>
          <a:xfrm>
            <a:off x="3534568" y="3073925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chemeClr val="bg1">
                    <a:lumMod val="95000"/>
                  </a:schemeClr>
                </a:solidFill>
              </a:rPr>
              <a:t>Aunt </a:t>
            </a:r>
            <a:r>
              <a:rPr lang="en-CA" sz="1400" dirty="0" err="1">
                <a:solidFill>
                  <a:schemeClr val="bg1">
                    <a:lumMod val="95000"/>
                  </a:schemeClr>
                </a:solidFill>
              </a:rPr>
              <a:t>NegBin</a:t>
            </a:r>
            <a:endParaRPr lang="en-CA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7DCCF-60CC-5334-573F-E4C4286FBB1A}"/>
              </a:ext>
            </a:extLst>
          </p:cNvPr>
          <p:cNvSpPr txBox="1"/>
          <p:nvPr/>
        </p:nvSpPr>
        <p:spPr>
          <a:xfrm>
            <a:off x="457200" y="5257800"/>
            <a:ext cx="447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Quasi-cousins</a:t>
            </a:r>
            <a:r>
              <a:rPr lang="en-CA" dirty="0"/>
              <a:t>: </a:t>
            </a:r>
            <a:r>
              <a:rPr lang="en-CA" dirty="0" err="1"/>
              <a:t>QuasiPoisson</a:t>
            </a:r>
            <a:r>
              <a:rPr lang="en-CA" dirty="0"/>
              <a:t>, </a:t>
            </a:r>
            <a:r>
              <a:rPr lang="en-CA" dirty="0" err="1"/>
              <a:t>QuasiBinomial</a:t>
            </a:r>
            <a:endParaRPr lang="en-CA" dirty="0"/>
          </a:p>
          <a:p>
            <a:r>
              <a:rPr lang="en-CA" i="1" dirty="0"/>
              <a:t>Pets</a:t>
            </a:r>
            <a:r>
              <a:rPr lang="en-CA" dirty="0"/>
              <a:t>: Allow flexible non-linearities</a:t>
            </a:r>
          </a:p>
        </p:txBody>
      </p:sp>
    </p:spTree>
    <p:extLst>
      <p:ext uri="{BB962C8B-B14F-4D97-AF65-F5344CB8AC3E}">
        <p14:creationId xmlns:p14="http://schemas.microsoft.com/office/powerpoint/2010/main" val="185972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5791-E931-49E0-B6D7-A4550A4B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Link functions for the mean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5BB864-6C48-4616-98FB-A9B758FA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70928B-5E9E-4FBF-8DAD-3EA66FFDE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34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E5CE68-2683-4397-87D5-4AE2F6CACE4E}"/>
              </a:ext>
            </a:extLst>
          </p:cNvPr>
          <p:cNvSpPr txBox="1"/>
          <p:nvPr/>
        </p:nvSpPr>
        <p:spPr>
          <a:xfrm>
            <a:off x="457200" y="488761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/>
              <a:t>The top section recognizes standard </a:t>
            </a:r>
            <a:r>
              <a:rPr lang="en-US" dirty="0">
                <a:solidFill>
                  <a:srgbClr val="0070C0"/>
                </a:solidFill>
              </a:rPr>
              <a:t>transformations</a:t>
            </a:r>
            <a:r>
              <a:rPr lang="en-US" dirty="0"/>
              <a:t> of </a:t>
            </a:r>
            <a:r>
              <a:rPr lang="en-US" i="1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often used with </a:t>
            </a:r>
            <a:r>
              <a:rPr lang="en-US" dirty="0">
                <a:solidFill>
                  <a:srgbClr val="0070C0"/>
                </a:solidFill>
              </a:rPr>
              <a:t>classical</a:t>
            </a:r>
            <a:r>
              <a:rPr lang="en-US" dirty="0"/>
              <a:t> linear models to stabilize variance: y, y</a:t>
            </a:r>
            <a:r>
              <a:rPr lang="en-US" baseline="30000" dirty="0"/>
              <a:t>1/2</a:t>
            </a:r>
            <a:r>
              <a:rPr lang="en-US" dirty="0"/>
              <a:t>, log y, y</a:t>
            </a:r>
            <a:r>
              <a:rPr lang="en-US" baseline="30000" dirty="0"/>
              <a:t>-1</a:t>
            </a:r>
            <a:r>
              <a:rPr lang="en-US" dirty="0"/>
              <a:t>, …</a:t>
            </a:r>
          </a:p>
          <a:p>
            <a:pPr marL="285750" indent="-28575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/>
              <a:t>The bottom section is for </a:t>
            </a:r>
            <a:r>
              <a:rPr lang="en-US" dirty="0">
                <a:solidFill>
                  <a:srgbClr val="0070C0"/>
                </a:solidFill>
              </a:rPr>
              <a:t>binomia</a:t>
            </a:r>
            <a:r>
              <a:rPr lang="en-US" dirty="0"/>
              <a:t>l data, where </a:t>
            </a:r>
            <a:r>
              <a:rPr lang="en-US" i="1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represents an observed count in </a:t>
            </a:r>
            <a:r>
              <a:rPr lang="en-US" i="1" dirty="0" err="1"/>
              <a:t>n</a:t>
            </a:r>
            <a:r>
              <a:rPr lang="en-US" baseline="-25000" dirty="0" err="1"/>
              <a:t>i</a:t>
            </a:r>
            <a:r>
              <a:rPr lang="en-US" dirty="0"/>
              <a:t> trials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CC4FA48-E01B-461C-899D-3F5F6E3EC044}"/>
              </a:ext>
            </a:extLst>
          </p:cNvPr>
          <p:cNvSpPr/>
          <p:nvPr/>
        </p:nvSpPr>
        <p:spPr>
          <a:xfrm>
            <a:off x="1371600" y="2159000"/>
            <a:ext cx="304800" cy="121920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31DDA4F5-EF45-404E-A04B-6191DCB54972}"/>
              </a:ext>
            </a:extLst>
          </p:cNvPr>
          <p:cNvSpPr/>
          <p:nvPr/>
        </p:nvSpPr>
        <p:spPr>
          <a:xfrm>
            <a:off x="1361440" y="3475460"/>
            <a:ext cx="304800" cy="1046479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398ED-C92C-E2B1-2EF0-1EE1B85A88FF}"/>
              </a:ext>
            </a:extLst>
          </p:cNvPr>
          <p:cNvSpPr txBox="1"/>
          <p:nvPr/>
        </p:nvSpPr>
        <p:spPr>
          <a:xfrm>
            <a:off x="6858000" y="2286000"/>
            <a:ext cx="182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The link function must be </a:t>
            </a:r>
            <a:r>
              <a:rPr lang="en-CA" sz="1600" dirty="0">
                <a:solidFill>
                  <a:srgbClr val="0070C0"/>
                </a:solidFill>
              </a:rPr>
              <a:t>invertible</a:t>
            </a:r>
          </a:p>
          <a:p>
            <a:r>
              <a:rPr lang="en-CA" sz="1600" dirty="0"/>
              <a:t>e.g., |μ| is not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74E86-529D-3797-BE70-B21850ADE45B}"/>
              </a:ext>
            </a:extLst>
          </p:cNvPr>
          <p:cNvSpPr txBox="1"/>
          <p:nvPr/>
        </p:nvSpPr>
        <p:spPr>
          <a:xfrm>
            <a:off x="397956" y="2630100"/>
            <a:ext cx="1027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quantitative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0033C-8700-6277-8FFD-A4817A7EAD96}"/>
              </a:ext>
            </a:extLst>
          </p:cNvPr>
          <p:cNvSpPr txBox="1"/>
          <p:nvPr/>
        </p:nvSpPr>
        <p:spPr>
          <a:xfrm>
            <a:off x="397956" y="3849300"/>
            <a:ext cx="1027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binomial</a:t>
            </a:r>
          </a:p>
        </p:txBody>
      </p:sp>
    </p:spTree>
    <p:extLst>
      <p:ext uri="{BB962C8B-B14F-4D97-AF65-F5344CB8AC3E}">
        <p14:creationId xmlns:p14="http://schemas.microsoft.com/office/powerpoint/2010/main" val="77476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62B7-4EAC-7A52-55AA-0732B73A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Link functions for binomial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FF4B0-E0C2-80A9-2926-1E8F938C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9AE8180-764E-15AC-2D97-708463BAE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3" y="1224731"/>
            <a:ext cx="6874933" cy="5156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3E6ABC-973C-113C-929A-FC864EEC39DC}"/>
              </a:ext>
            </a:extLst>
          </p:cNvPr>
          <p:cNvSpPr txBox="1"/>
          <p:nvPr/>
        </p:nvSpPr>
        <p:spPr>
          <a:xfrm>
            <a:off x="6248400" y="1752600"/>
            <a:ext cx="259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binomial data, the logit, probit and c-log-log all have similar shapes</a:t>
            </a:r>
          </a:p>
          <a:p>
            <a:endParaRPr lang="en-CA" dirty="0"/>
          </a:p>
          <a:p>
            <a:r>
              <a:rPr lang="en-CA" dirty="0"/>
              <a:t>These take a linear predictor on (-</a:t>
            </a:r>
            <a:r>
              <a:rPr lang="en-CA" dirty="0">
                <a:sym typeface="Symbol" panose="05050102010706020507" pitchFamily="18" charset="2"/>
              </a:rPr>
              <a:t></a:t>
            </a:r>
            <a:r>
              <a:rPr lang="en-CA" dirty="0"/>
              <a:t>, +</a:t>
            </a:r>
            <a:r>
              <a:rPr lang="en-CA" dirty="0">
                <a:sym typeface="Symbol" panose="05050102010706020507" pitchFamily="18" charset="2"/>
              </a:rPr>
              <a:t></a:t>
            </a:r>
            <a:r>
              <a:rPr lang="en-CA" dirty="0"/>
              <a:t>)</a:t>
            </a:r>
          </a:p>
          <a:p>
            <a:r>
              <a:rPr lang="en-CA" dirty="0"/>
              <a:t>to the range (0,1) for probability</a:t>
            </a:r>
          </a:p>
          <a:p>
            <a:endParaRPr lang="en-CA" dirty="0"/>
          </a:p>
          <a:p>
            <a:r>
              <a:rPr lang="en-CA" dirty="0"/>
              <a:t>The logit is most widely used because of its’ simple interpretation as log odds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19732-D3B1-AAFE-05D1-BEC9C45C0198}"/>
              </a:ext>
            </a:extLst>
          </p:cNvPr>
          <p:cNvSpPr txBox="1"/>
          <p:nvPr/>
        </p:nvSpPr>
        <p:spPr>
          <a:xfrm>
            <a:off x="3848100" y="1928707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rgbClr val="00B050"/>
                </a:solidFill>
              </a:rPr>
              <a:t>probit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6F628-5602-3E94-D807-BCF8CED3E2D3}"/>
              </a:ext>
            </a:extLst>
          </p:cNvPr>
          <p:cNvSpPr txBox="1"/>
          <p:nvPr/>
        </p:nvSpPr>
        <p:spPr>
          <a:xfrm>
            <a:off x="4414684" y="2057400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rgbClr val="0070C0"/>
                </a:solidFill>
              </a:rPr>
              <a:t>logit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3C23C-1663-35EE-276D-3FCC54D98A3A}"/>
              </a:ext>
            </a:extLst>
          </p:cNvPr>
          <p:cNvSpPr txBox="1"/>
          <p:nvPr/>
        </p:nvSpPr>
        <p:spPr>
          <a:xfrm>
            <a:off x="3214534" y="2127940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solidFill>
                  <a:srgbClr val="FF0000"/>
                </a:solidFill>
              </a:rPr>
              <a:t>comp log-log</a:t>
            </a:r>
          </a:p>
        </p:txBody>
      </p:sp>
    </p:spTree>
    <p:extLst>
      <p:ext uri="{BB962C8B-B14F-4D97-AF65-F5344CB8AC3E}">
        <p14:creationId xmlns:p14="http://schemas.microsoft.com/office/powerpoint/2010/main" val="3919935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86B13-8B15-465A-88F2-D90A5816D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7239000" cy="715962"/>
          </a:xfrm>
        </p:spPr>
        <p:txBody>
          <a:bodyPr>
            <a:normAutofit fontScale="90000"/>
          </a:bodyPr>
          <a:lstStyle/>
          <a:p>
            <a:r>
              <a:rPr lang="en-CA" dirty="0"/>
              <a:t>Example: </a:t>
            </a:r>
            <a:r>
              <a:rPr lang="en-CA" dirty="0" err="1"/>
              <a:t>BeetleMortality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A32B5F-1DD0-10D2-F944-00F908EE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45FF4-E257-94A2-7E97-0CB22D1D8D60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Mortality of adult flour beetle after five hours' exposure to gaseous carbon disulphide.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EBC29F-9B9C-A2D3-5514-9BD523CBBDBF}"/>
              </a:ext>
            </a:extLst>
          </p:cNvPr>
          <p:cNvSpPr txBox="1"/>
          <p:nvPr/>
        </p:nvSpPr>
        <p:spPr>
          <a:xfrm>
            <a:off x="457200" y="1679480"/>
            <a:ext cx="31242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package =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glmx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dose died  n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1 1.6907    6 59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2 1.7242   13 60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3 1.7552   18 62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4 1.7842   28 56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5 1.8113   52 63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6 1.8369   53 59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7 1.8610   61 62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8 1.8839   60 60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BCC51-5E95-808C-E06B-DB5C4D6D6C73}"/>
              </a:ext>
            </a:extLst>
          </p:cNvPr>
          <p:cNvSpPr txBox="1"/>
          <p:nvPr/>
        </p:nvSpPr>
        <p:spPr>
          <a:xfrm>
            <a:off x="4038600" y="2501205"/>
            <a:ext cx="45720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links &lt;- c("logit", "probit",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cloglog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 &lt;- 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lapply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(links,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(died, n - died) ~ dose,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data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family = binomial(link =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names(m) &lt;- links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9CDEE-92E6-B9E4-2F75-E5683D44F770}"/>
              </a:ext>
            </a:extLst>
          </p:cNvPr>
          <p:cNvSpPr txBox="1"/>
          <p:nvPr/>
        </p:nvSpPr>
        <p:spPr>
          <a:xfrm>
            <a:off x="3962400" y="4621649"/>
            <a:ext cx="47244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t(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sapply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(m, 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AIC  BIC  LR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logit   41.4 41.6 11.2     6  0.0815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probit  40.3 40.5 10.1     6  0.12      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cloglog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33.6 33.8 3.45     6  0.751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E1A65-B285-F911-9C48-6B7E5908EFC8}"/>
              </a:ext>
            </a:extLst>
          </p:cNvPr>
          <p:cNvSpPr txBox="1"/>
          <p:nvPr/>
        </p:nvSpPr>
        <p:spPr>
          <a:xfrm>
            <a:off x="3962400" y="1676400"/>
            <a:ext cx="4724400" cy="646331"/>
          </a:xfrm>
          <a:custGeom>
            <a:avLst/>
            <a:gdLst>
              <a:gd name="csX0" fmla="*/ 0 w 4724400"/>
              <a:gd name="csY0" fmla="*/ 0 h 646331"/>
              <a:gd name="csX1" fmla="*/ 496062 w 4724400"/>
              <a:gd name="csY1" fmla="*/ 0 h 646331"/>
              <a:gd name="csX2" fmla="*/ 1039368 w 4724400"/>
              <a:gd name="csY2" fmla="*/ 0 h 646331"/>
              <a:gd name="csX3" fmla="*/ 1535430 w 4724400"/>
              <a:gd name="csY3" fmla="*/ 0 h 646331"/>
              <a:gd name="csX4" fmla="*/ 2173224 w 4724400"/>
              <a:gd name="csY4" fmla="*/ 0 h 646331"/>
              <a:gd name="csX5" fmla="*/ 2763774 w 4724400"/>
              <a:gd name="csY5" fmla="*/ 0 h 646331"/>
              <a:gd name="csX6" fmla="*/ 3354324 w 4724400"/>
              <a:gd name="csY6" fmla="*/ 0 h 646331"/>
              <a:gd name="csX7" fmla="*/ 4039362 w 4724400"/>
              <a:gd name="csY7" fmla="*/ 0 h 646331"/>
              <a:gd name="csX8" fmla="*/ 4724400 w 4724400"/>
              <a:gd name="csY8" fmla="*/ 0 h 646331"/>
              <a:gd name="csX9" fmla="*/ 4724400 w 4724400"/>
              <a:gd name="csY9" fmla="*/ 303776 h 646331"/>
              <a:gd name="csX10" fmla="*/ 4724400 w 4724400"/>
              <a:gd name="csY10" fmla="*/ 646331 h 646331"/>
              <a:gd name="csX11" fmla="*/ 4275582 w 4724400"/>
              <a:gd name="csY11" fmla="*/ 646331 h 646331"/>
              <a:gd name="csX12" fmla="*/ 3779520 w 4724400"/>
              <a:gd name="csY12" fmla="*/ 646331 h 646331"/>
              <a:gd name="csX13" fmla="*/ 3141726 w 4724400"/>
              <a:gd name="csY13" fmla="*/ 646331 h 646331"/>
              <a:gd name="csX14" fmla="*/ 2456688 w 4724400"/>
              <a:gd name="csY14" fmla="*/ 646331 h 646331"/>
              <a:gd name="csX15" fmla="*/ 1913382 w 4724400"/>
              <a:gd name="csY15" fmla="*/ 646331 h 646331"/>
              <a:gd name="csX16" fmla="*/ 1228344 w 4724400"/>
              <a:gd name="csY16" fmla="*/ 646331 h 646331"/>
              <a:gd name="csX17" fmla="*/ 732282 w 4724400"/>
              <a:gd name="csY17" fmla="*/ 646331 h 646331"/>
              <a:gd name="csX18" fmla="*/ 0 w 4724400"/>
              <a:gd name="csY18" fmla="*/ 646331 h 646331"/>
              <a:gd name="csX19" fmla="*/ 0 w 4724400"/>
              <a:gd name="csY19" fmla="*/ 342555 h 646331"/>
              <a:gd name="csX20" fmla="*/ 0 w 4724400"/>
              <a:gd name="csY20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4724400" h="646331" fill="none" extrusionOk="0">
                <a:moveTo>
                  <a:pt x="0" y="0"/>
                </a:moveTo>
                <a:cubicBezTo>
                  <a:pt x="174535" y="-17914"/>
                  <a:pt x="311998" y="13683"/>
                  <a:pt x="496062" y="0"/>
                </a:cubicBezTo>
                <a:cubicBezTo>
                  <a:pt x="680126" y="-13683"/>
                  <a:pt x="855292" y="54907"/>
                  <a:pt x="1039368" y="0"/>
                </a:cubicBezTo>
                <a:cubicBezTo>
                  <a:pt x="1223444" y="-54907"/>
                  <a:pt x="1307054" y="9379"/>
                  <a:pt x="1535430" y="0"/>
                </a:cubicBezTo>
                <a:cubicBezTo>
                  <a:pt x="1763806" y="-9379"/>
                  <a:pt x="1871819" y="53944"/>
                  <a:pt x="2173224" y="0"/>
                </a:cubicBezTo>
                <a:cubicBezTo>
                  <a:pt x="2474629" y="-53944"/>
                  <a:pt x="2611313" y="516"/>
                  <a:pt x="2763774" y="0"/>
                </a:cubicBezTo>
                <a:cubicBezTo>
                  <a:pt x="2916235" y="-516"/>
                  <a:pt x="3149843" y="37287"/>
                  <a:pt x="3354324" y="0"/>
                </a:cubicBezTo>
                <a:cubicBezTo>
                  <a:pt x="3558805" y="-37287"/>
                  <a:pt x="3856036" y="69900"/>
                  <a:pt x="4039362" y="0"/>
                </a:cubicBezTo>
                <a:cubicBezTo>
                  <a:pt x="4222688" y="-69900"/>
                  <a:pt x="4473325" y="2213"/>
                  <a:pt x="4724400" y="0"/>
                </a:cubicBezTo>
                <a:cubicBezTo>
                  <a:pt x="4742235" y="148763"/>
                  <a:pt x="4724295" y="223102"/>
                  <a:pt x="4724400" y="303776"/>
                </a:cubicBezTo>
                <a:cubicBezTo>
                  <a:pt x="4724505" y="384450"/>
                  <a:pt x="4721696" y="557197"/>
                  <a:pt x="4724400" y="646331"/>
                </a:cubicBezTo>
                <a:cubicBezTo>
                  <a:pt x="4556353" y="675239"/>
                  <a:pt x="4449125" y="634139"/>
                  <a:pt x="4275582" y="646331"/>
                </a:cubicBezTo>
                <a:cubicBezTo>
                  <a:pt x="4102039" y="658523"/>
                  <a:pt x="3947524" y="593967"/>
                  <a:pt x="3779520" y="646331"/>
                </a:cubicBezTo>
                <a:cubicBezTo>
                  <a:pt x="3611516" y="698695"/>
                  <a:pt x="3429425" y="622416"/>
                  <a:pt x="3141726" y="646331"/>
                </a:cubicBezTo>
                <a:cubicBezTo>
                  <a:pt x="2854027" y="670246"/>
                  <a:pt x="2701248" y="623108"/>
                  <a:pt x="2456688" y="646331"/>
                </a:cubicBezTo>
                <a:cubicBezTo>
                  <a:pt x="2212128" y="669554"/>
                  <a:pt x="2160285" y="590578"/>
                  <a:pt x="1913382" y="646331"/>
                </a:cubicBezTo>
                <a:cubicBezTo>
                  <a:pt x="1666479" y="702084"/>
                  <a:pt x="1555910" y="587818"/>
                  <a:pt x="1228344" y="646331"/>
                </a:cubicBezTo>
                <a:cubicBezTo>
                  <a:pt x="900778" y="704844"/>
                  <a:pt x="867663" y="624590"/>
                  <a:pt x="732282" y="646331"/>
                </a:cubicBezTo>
                <a:cubicBezTo>
                  <a:pt x="596901" y="668072"/>
                  <a:pt x="263752" y="638898"/>
                  <a:pt x="0" y="646331"/>
                </a:cubicBezTo>
                <a:cubicBezTo>
                  <a:pt x="-4479" y="583920"/>
                  <a:pt x="1758" y="489342"/>
                  <a:pt x="0" y="342555"/>
                </a:cubicBezTo>
                <a:cubicBezTo>
                  <a:pt x="-1758" y="195768"/>
                  <a:pt x="870" y="149944"/>
                  <a:pt x="0" y="0"/>
                </a:cubicBezTo>
                <a:close/>
              </a:path>
              <a:path w="4724400" h="646331" stroke="0" extrusionOk="0">
                <a:moveTo>
                  <a:pt x="0" y="0"/>
                </a:moveTo>
                <a:cubicBezTo>
                  <a:pt x="147422" y="-53209"/>
                  <a:pt x="425147" y="1675"/>
                  <a:pt x="543306" y="0"/>
                </a:cubicBezTo>
                <a:cubicBezTo>
                  <a:pt x="661465" y="-1675"/>
                  <a:pt x="817037" y="40310"/>
                  <a:pt x="992124" y="0"/>
                </a:cubicBezTo>
                <a:cubicBezTo>
                  <a:pt x="1167211" y="-40310"/>
                  <a:pt x="1393688" y="76502"/>
                  <a:pt x="1677162" y="0"/>
                </a:cubicBezTo>
                <a:cubicBezTo>
                  <a:pt x="1960636" y="-76502"/>
                  <a:pt x="1991234" y="62748"/>
                  <a:pt x="2220468" y="0"/>
                </a:cubicBezTo>
                <a:cubicBezTo>
                  <a:pt x="2449702" y="-62748"/>
                  <a:pt x="2556756" y="35522"/>
                  <a:pt x="2763774" y="0"/>
                </a:cubicBezTo>
                <a:cubicBezTo>
                  <a:pt x="2970792" y="-35522"/>
                  <a:pt x="3141617" y="4196"/>
                  <a:pt x="3448812" y="0"/>
                </a:cubicBezTo>
                <a:cubicBezTo>
                  <a:pt x="3756007" y="-4196"/>
                  <a:pt x="3843515" y="45521"/>
                  <a:pt x="3944874" y="0"/>
                </a:cubicBezTo>
                <a:cubicBezTo>
                  <a:pt x="4046233" y="-45521"/>
                  <a:pt x="4341550" y="48069"/>
                  <a:pt x="4724400" y="0"/>
                </a:cubicBezTo>
                <a:cubicBezTo>
                  <a:pt x="4764369" y="102019"/>
                  <a:pt x="4710898" y="215343"/>
                  <a:pt x="4724400" y="336092"/>
                </a:cubicBezTo>
                <a:cubicBezTo>
                  <a:pt x="4737902" y="456841"/>
                  <a:pt x="4688773" y="526079"/>
                  <a:pt x="4724400" y="646331"/>
                </a:cubicBezTo>
                <a:cubicBezTo>
                  <a:pt x="4514984" y="658622"/>
                  <a:pt x="4313217" y="592281"/>
                  <a:pt x="4133850" y="646331"/>
                </a:cubicBezTo>
                <a:cubicBezTo>
                  <a:pt x="3954483" y="700381"/>
                  <a:pt x="3809873" y="596111"/>
                  <a:pt x="3590544" y="646331"/>
                </a:cubicBezTo>
                <a:cubicBezTo>
                  <a:pt x="3371215" y="696551"/>
                  <a:pt x="3197950" y="634555"/>
                  <a:pt x="2905506" y="646331"/>
                </a:cubicBezTo>
                <a:cubicBezTo>
                  <a:pt x="2613062" y="658107"/>
                  <a:pt x="2512068" y="568767"/>
                  <a:pt x="2220468" y="646331"/>
                </a:cubicBezTo>
                <a:cubicBezTo>
                  <a:pt x="1928868" y="723895"/>
                  <a:pt x="1907262" y="609047"/>
                  <a:pt x="1724406" y="646331"/>
                </a:cubicBezTo>
                <a:cubicBezTo>
                  <a:pt x="1541550" y="683615"/>
                  <a:pt x="1324363" y="599486"/>
                  <a:pt x="1133856" y="646331"/>
                </a:cubicBezTo>
                <a:cubicBezTo>
                  <a:pt x="943349" y="693176"/>
                  <a:pt x="426252" y="515054"/>
                  <a:pt x="0" y="646331"/>
                </a:cubicBezTo>
                <a:cubicBezTo>
                  <a:pt x="-13360" y="500393"/>
                  <a:pt x="17611" y="482750"/>
                  <a:pt x="0" y="323166"/>
                </a:cubicBezTo>
                <a:cubicBezTo>
                  <a:pt x="-17611" y="163582"/>
                  <a:pt x="6688" y="150881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2222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The ‘</a:t>
            </a:r>
            <a:r>
              <a:rPr lang="en-CA" dirty="0" err="1"/>
              <a:t>lapply</a:t>
            </a:r>
            <a:r>
              <a:rPr lang="en-CA" dirty="0"/>
              <a:t>()’ trick: Apply a function w/ parameters </a:t>
            </a:r>
            <a:r>
              <a:rPr lang="en-CA" dirty="0">
                <a:sym typeface="Symbol" panose="05050102010706020507" pitchFamily="18" charset="2"/>
              </a:rPr>
              <a:t> a list of fitted models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20B13-CB60-A522-5BC5-CE59550562F6}"/>
              </a:ext>
            </a:extLst>
          </p:cNvPr>
          <p:cNvSpPr txBox="1"/>
          <p:nvPr/>
        </p:nvSpPr>
        <p:spPr>
          <a:xfrm>
            <a:off x="3962400" y="4099917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Then, </a:t>
            </a:r>
            <a:r>
              <a:rPr lang="en-CA" dirty="0" err="1"/>
              <a:t>sapply</a:t>
            </a:r>
            <a:r>
              <a:rPr lang="en-CA" dirty="0"/>
              <a:t>() </a:t>
            </a:r>
            <a:r>
              <a:rPr lang="en-CA" dirty="0" err="1"/>
              <a:t>LRStats</a:t>
            </a:r>
            <a:r>
              <a:rPr lang="en-CA" dirty="0"/>
              <a:t>() to each model: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E2870-BD40-F964-5F83-2C615AEEEC95}"/>
              </a:ext>
            </a:extLst>
          </p:cNvPr>
          <p:cNvSpPr txBox="1"/>
          <p:nvPr/>
        </p:nvSpPr>
        <p:spPr>
          <a:xfrm>
            <a:off x="457200" y="480060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 this example, the </a:t>
            </a:r>
            <a:r>
              <a:rPr lang="en-CA" dirty="0" err="1"/>
              <a:t>cloglog</a:t>
            </a:r>
            <a:r>
              <a:rPr lang="en-CA" dirty="0"/>
              <a:t> link</a:t>
            </a:r>
          </a:p>
          <a:p>
            <a:r>
              <a:rPr lang="en-CA" dirty="0"/>
              <a:t>fits best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66F9B0-7182-CAB7-74F3-F71A2ECCDC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905"/>
            <a:ext cx="761695" cy="76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6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0C430D-DADE-6203-6DE9-835CA026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56C09-B47D-0DC0-227C-76EB1476EDEE}"/>
              </a:ext>
            </a:extLst>
          </p:cNvPr>
          <p:cNvSpPr txBox="1"/>
          <p:nvPr/>
        </p:nvSpPr>
        <p:spPr>
          <a:xfrm>
            <a:off x="533400" y="944940"/>
            <a:ext cx="83058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plot(I(died/n) ~ dose, data =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"Proportion died",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cex.lab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1.2,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16)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lines(fitted(m[[1]]) ~ dose, data =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col = 2,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lines(fitted(m[[2]]) ~ dose, data =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col = 3,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lines(fitted(m[[3]]) ~ dose, data =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BeetleMortality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col = 4,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legend(1.81, 0.4,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title = "Link", legend = links,</a:t>
            </a:r>
          </a:p>
          <a:p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col = 2:4,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lty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1,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63ED0-F0C0-A74F-BDD3-E3F9BAF6E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05" y="2861760"/>
            <a:ext cx="4390695" cy="3843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897658-478E-9DE6-DD8B-83AE664D45AF}"/>
              </a:ext>
            </a:extLst>
          </p:cNvPr>
          <p:cNvSpPr txBox="1"/>
          <p:nvPr/>
        </p:nvSpPr>
        <p:spPr>
          <a:xfrm>
            <a:off x="533400" y="329635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Visualize model fits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A14B1-0AEC-5573-F06E-145C81DA231C}"/>
              </a:ext>
            </a:extLst>
          </p:cNvPr>
          <p:cNvSpPr txBox="1"/>
          <p:nvPr/>
        </p:nvSpPr>
        <p:spPr>
          <a:xfrm>
            <a:off x="533400" y="2895600"/>
            <a:ext cx="365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We can sort of see why the </a:t>
            </a:r>
            <a:r>
              <a:rPr lang="en-CA" dirty="0" err="1"/>
              <a:t>cloglog</a:t>
            </a:r>
            <a:r>
              <a:rPr lang="en-CA" dirty="0"/>
              <a:t> link fits best (subtle!)</a:t>
            </a:r>
          </a:p>
          <a:p>
            <a:endParaRPr lang="en-CA" dirty="0"/>
          </a:p>
          <a:p>
            <a:r>
              <a:rPr lang="en-CA" dirty="0"/>
              <a:t>But the coefficients in the model do not have as clear an interpretation as log odds in the logit model.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2301B-A09D-B270-FAC3-AD2DEFE4E9D5}"/>
              </a:ext>
            </a:extLst>
          </p:cNvPr>
          <p:cNvSpPr txBox="1"/>
          <p:nvPr/>
        </p:nvSpPr>
        <p:spPr>
          <a:xfrm>
            <a:off x="533400" y="4876800"/>
            <a:ext cx="3657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sapply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(m, coef))</a:t>
            </a:r>
          </a:p>
          <a:p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(Intercept) dose</a:t>
            </a:r>
          </a:p>
          <a:p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-60.7 34.3</a:t>
            </a:r>
          </a:p>
          <a:p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probit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-34.9 19.7</a:t>
            </a:r>
          </a:p>
          <a:p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cloglog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-39.6 22.0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6E1D51-F820-271F-4BB4-8A9A1317E693}"/>
              </a:ext>
            </a:extLst>
          </p:cNvPr>
          <p:cNvSpPr txBox="1"/>
          <p:nvPr/>
        </p:nvSpPr>
        <p:spPr>
          <a:xfrm>
            <a:off x="7465142" y="1037730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Plot data points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6857A-8245-E68C-37D0-FCC5580FBD33}"/>
              </a:ext>
            </a:extLst>
          </p:cNvPr>
          <p:cNvSpPr txBox="1"/>
          <p:nvPr/>
        </p:nvSpPr>
        <p:spPr>
          <a:xfrm>
            <a:off x="7467600" y="1549864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Add fitted lines</a:t>
            </a:r>
          </a:p>
        </p:txBody>
      </p:sp>
    </p:spTree>
    <p:extLst>
      <p:ext uri="{BB962C8B-B14F-4D97-AF65-F5344CB8AC3E}">
        <p14:creationId xmlns:p14="http://schemas.microsoft.com/office/powerpoint/2010/main" val="310277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B271-8BC5-4F11-A4B8-B0A8D7966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Canonical links and variance functions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5A2CBD-5F15-49EC-A739-FE4FD1E2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E5EF8-96AC-49FB-A218-716D7921C086}"/>
              </a:ext>
            </a:extLst>
          </p:cNvPr>
          <p:cNvSpPr txBox="1"/>
          <p:nvPr/>
        </p:nvSpPr>
        <p:spPr>
          <a:xfrm>
            <a:off x="457200" y="1219200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000" dirty="0"/>
              <a:t>For every distribution family, there is a default, </a:t>
            </a:r>
            <a:r>
              <a:rPr lang="en-US" sz="2000" dirty="0">
                <a:solidFill>
                  <a:srgbClr val="0070C0"/>
                </a:solidFill>
              </a:rPr>
              <a:t>canonical link </a:t>
            </a:r>
            <a:r>
              <a:rPr lang="en-US" sz="2000" dirty="0"/>
              <a:t>function</a:t>
            </a:r>
          </a:p>
          <a:p>
            <a:pPr marL="342900" indent="-34290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2000" dirty="0"/>
              <a:t>Each one also specifies the expected relation between the mean and </a:t>
            </a:r>
            <a:r>
              <a:rPr lang="en-US" sz="2000" dirty="0">
                <a:solidFill>
                  <a:srgbClr val="0070C0"/>
                </a:solidFill>
              </a:rPr>
              <a:t>variance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D50E4-3D17-4593-BF54-1A24A6C6E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2200"/>
            <a:ext cx="8171428" cy="2485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238DD7-BE9F-AC14-B00A-CB26B839D4FF}"/>
              </a:ext>
            </a:extLst>
          </p:cNvPr>
          <p:cNvSpPr txBox="1"/>
          <p:nvPr/>
        </p:nvSpPr>
        <p:spPr>
          <a:xfrm>
            <a:off x="838200" y="5029200"/>
            <a:ext cx="7848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Choose a basic family: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Get a default, canonical link, g(</a:t>
            </a:r>
            <a:r>
              <a:rPr lang="el-GR" dirty="0"/>
              <a:t>μ</a:t>
            </a:r>
            <a:r>
              <a:rPr lang="en-CA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Also get a variance function for free!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FCAF7CF-E1A2-CAB0-F932-521DB9A6FF92}"/>
              </a:ext>
            </a:extLst>
          </p:cNvPr>
          <p:cNvSpPr/>
          <p:nvPr/>
        </p:nvSpPr>
        <p:spPr>
          <a:xfrm>
            <a:off x="752168" y="3429000"/>
            <a:ext cx="238432" cy="53340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2897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5793-FD6C-4563-94C9-C7978DBA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Variance functions &amp; overdispersion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3FB608-2950-4EEF-BE80-88015E53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355A98-4448-49D2-AE9C-176147B43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95400"/>
            <a:ext cx="8171428" cy="1847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2D36FC-1AAE-4F60-A432-F07445910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276600"/>
            <a:ext cx="8171428" cy="1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7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F7AD-A695-4B0D-B8C5-D3C52ADC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overdispersion?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46BA6-813E-4289-89A3-C5FBDED77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Overdispersion often results from </a:t>
            </a:r>
            <a:r>
              <a:rPr lang="en-US" sz="2400" dirty="0">
                <a:solidFill>
                  <a:srgbClr val="0070C0"/>
                </a:solidFill>
              </a:rPr>
              <a:t>failures of assumptions </a:t>
            </a:r>
            <a:r>
              <a:rPr lang="en-US" sz="2400" dirty="0"/>
              <a:t>of the model</a:t>
            </a:r>
          </a:p>
          <a:p>
            <a:r>
              <a:rPr lang="en-US" sz="2400" dirty="0"/>
              <a:t>Supposedly independent observations may be </a:t>
            </a:r>
            <a:r>
              <a:rPr lang="en-US" sz="2400" dirty="0">
                <a:solidFill>
                  <a:srgbClr val="0070C0"/>
                </a:solidFill>
              </a:rPr>
              <a:t>correlated</a:t>
            </a:r>
          </a:p>
          <a:p>
            <a:r>
              <a:rPr lang="en-US" sz="2400" dirty="0"/>
              <a:t>The probability of an event may not be </a:t>
            </a:r>
            <a:r>
              <a:rPr lang="en-US" sz="2400" dirty="0">
                <a:solidFill>
                  <a:srgbClr val="0070C0"/>
                </a:solidFill>
              </a:rPr>
              <a:t>constant</a:t>
            </a:r>
            <a:r>
              <a:rPr lang="en-US" sz="2400" dirty="0"/>
              <a:t>, or</a:t>
            </a:r>
          </a:p>
          <a:p>
            <a:r>
              <a:rPr lang="en-US" sz="2400" dirty="0"/>
              <a:t>It may vary with unmeasured or </a:t>
            </a:r>
            <a:r>
              <a:rPr lang="en-US" sz="2400" dirty="0">
                <a:solidFill>
                  <a:srgbClr val="0070C0"/>
                </a:solidFill>
              </a:rPr>
              <a:t>unmodeled</a:t>
            </a:r>
            <a:r>
              <a:rPr lang="en-US" sz="2400" dirty="0"/>
              <a:t> variables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Don’t fear overdispersion – embrace it</a:t>
            </a:r>
          </a:p>
          <a:p>
            <a:r>
              <a:rPr lang="en-US" sz="2400" dirty="0"/>
              <a:t>For Poisson (</a:t>
            </a:r>
            <a:r>
              <a:rPr lang="en-US" sz="2400" dirty="0" err="1"/>
              <a:t>freq</a:t>
            </a:r>
            <a:r>
              <a:rPr lang="en-US" sz="2400" dirty="0"/>
              <a:t>) data, parameter estimates are </a:t>
            </a:r>
            <a:r>
              <a:rPr lang="en-US" sz="2400" dirty="0">
                <a:solidFill>
                  <a:srgbClr val="0070C0"/>
                </a:solidFill>
              </a:rPr>
              <a:t>unchanged</a:t>
            </a:r>
            <a:r>
              <a:rPr lang="en-US" sz="2400" dirty="0"/>
              <a:t>; it affects only the </a:t>
            </a:r>
            <a:r>
              <a:rPr lang="en-US" sz="2400" dirty="0">
                <a:solidFill>
                  <a:srgbClr val="0070C0"/>
                </a:solidFill>
              </a:rPr>
              <a:t>std. errors </a:t>
            </a:r>
            <a:r>
              <a:rPr lang="en-US" sz="2400" dirty="0"/>
              <a:t>(&amp; </a:t>
            </a:r>
            <a:r>
              <a:rPr lang="en-US" sz="2400" i="1" dirty="0"/>
              <a:t>z</a:t>
            </a:r>
            <a:r>
              <a:rPr lang="en-US" sz="2400" dirty="0"/>
              <a:t>-tests)</a:t>
            </a:r>
          </a:p>
          <a:p>
            <a:r>
              <a:rPr lang="en-US" sz="2400" dirty="0"/>
              <a:t>It tells you something interesting about your data or analysis</a:t>
            </a:r>
          </a:p>
          <a:p>
            <a:r>
              <a:rPr lang="en-US" sz="2400" dirty="0"/>
              <a:t>Can lead to better understanding of your model: What did I leave out?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9F47B4-F588-4720-AFAF-C3E6AB68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1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E3A3-8FF5-4AA5-96E9-7C418D97E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Maximum likelihood estimation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B7EEA6-5372-40C0-91BD-B3BA296DB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GLMs are fit by the method of </a:t>
            </a:r>
            <a:r>
              <a:rPr lang="en-US" sz="2400" dirty="0">
                <a:solidFill>
                  <a:srgbClr val="0070C0"/>
                </a:solidFill>
              </a:rPr>
              <a:t>maximum likelihood</a:t>
            </a:r>
          </a:p>
          <a:p>
            <a:pPr lvl="1" fontAlgn="base">
              <a:spcAft>
                <a:spcPct val="0"/>
              </a:spcAft>
              <a:buClr>
                <a:srgbClr val="0000FF"/>
              </a:buClr>
              <a:buSzPct val="125000"/>
            </a:pPr>
            <a:r>
              <a:rPr lang="en-US" altLang="en-US" sz="1600" kern="0" dirty="0">
                <a:solidFill>
                  <a:srgbClr val="000000"/>
                </a:solidFill>
                <a:latin typeface="Arial"/>
              </a:rPr>
              <a:t>Likelihood (</a:t>
            </a:r>
            <a:r>
              <a:rPr lang="en-US" altLang="en-US" sz="1600" kern="0" dirty="0">
                <a:solidFill>
                  <a:srgbClr val="000000"/>
                </a:solidFill>
                <a:latin typeface="Euclid Math One" pitchFamily="18" charset="2"/>
              </a:rPr>
              <a:t>L</a:t>
            </a:r>
            <a:r>
              <a:rPr lang="en-US" altLang="en-US" sz="1600" kern="0" dirty="0">
                <a:solidFill>
                  <a:srgbClr val="000000"/>
                </a:solidFill>
                <a:latin typeface="Arial"/>
              </a:rPr>
              <a:t>) = </a:t>
            </a:r>
            <a:r>
              <a:rPr lang="en-US" altLang="en-US" sz="1600" kern="0" dirty="0" err="1">
                <a:solidFill>
                  <a:srgbClr val="000000"/>
                </a:solidFill>
                <a:latin typeface="Arial"/>
              </a:rPr>
              <a:t>Pr</a:t>
            </a:r>
            <a:r>
              <a:rPr lang="en-US" altLang="en-US" sz="1600" kern="0" dirty="0">
                <a:solidFill>
                  <a:srgbClr val="000000"/>
                </a:solidFill>
                <a:latin typeface="Arial"/>
              </a:rPr>
              <a:t> (data | model), as function of model parameters</a:t>
            </a:r>
          </a:p>
          <a:p>
            <a:r>
              <a:rPr lang="en-US" sz="2400" dirty="0"/>
              <a:t> For the </a:t>
            </a:r>
            <a:r>
              <a:rPr lang="en-US" sz="2400" dirty="0">
                <a:solidFill>
                  <a:srgbClr val="0070C0"/>
                </a:solidFill>
              </a:rPr>
              <a:t>Poisson</a:t>
            </a:r>
            <a:r>
              <a:rPr lang="en-US" sz="2400" dirty="0"/>
              <a:t> distribution with mean </a:t>
            </a:r>
            <a:r>
              <a:rPr lang="el-GR" sz="2400" dirty="0"/>
              <a:t>μ</a:t>
            </a:r>
            <a:r>
              <a:rPr lang="en-US" sz="2400" dirty="0"/>
              <a:t>, the probability that the random variable Y takes the values y = 0, 1, 2, … is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In the GLM with a </a:t>
            </a:r>
            <a:r>
              <a:rPr lang="en-US" sz="2400" dirty="0">
                <a:solidFill>
                  <a:srgbClr val="0070C0"/>
                </a:solidFill>
              </a:rPr>
              <a:t>log link</a:t>
            </a:r>
            <a:r>
              <a:rPr lang="en-US" sz="2400" dirty="0"/>
              <a:t>, the mean, μ, depends on the predictors 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F8936-BFF8-4B35-BB39-A5D3EE8E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A0E5F-0118-F6EA-171D-707732A82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190" y="2819400"/>
            <a:ext cx="2247619" cy="695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D65C0F-EE19-A75B-DF06-6743FF585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4433438"/>
            <a:ext cx="2151776" cy="63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55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BBF64-7842-F071-E61E-3E7E0364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Maximum likelihood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731BB-6361-497C-118E-CE5FB11A4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124200"/>
          </a:xfrm>
        </p:spPr>
        <p:txBody>
          <a:bodyPr/>
          <a:lstStyle/>
          <a:p>
            <a:r>
              <a:rPr lang="en-CA" dirty="0"/>
              <a:t>The log-likelihood function is the probability of the data as a function of the parameters, </a:t>
            </a:r>
            <a:r>
              <a:rPr lang="el-GR" b="1" dirty="0"/>
              <a:t>β</a:t>
            </a:r>
            <a:r>
              <a:rPr lang="en-CA" dirty="0"/>
              <a:t>. It has the form (for Poisson)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Then, find the values of </a:t>
            </a:r>
            <a:r>
              <a:rPr lang="el-GR" b="1" dirty="0"/>
              <a:t>β</a:t>
            </a:r>
            <a:r>
              <a:rPr lang="en-CA" dirty="0"/>
              <a:t> the maximize log </a:t>
            </a:r>
            <a:r>
              <a:rPr lang="en-CA" dirty="0">
                <a:latin typeface="Script MT Bold" panose="03040602040607080904" pitchFamily="66" charset="0"/>
              </a:rPr>
              <a:t>L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9A37E-7EEA-6A2D-FCF9-16DD1D49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AD570-01B1-989D-D4E0-6C0698597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476581"/>
            <a:ext cx="3542857" cy="647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ACC69D-1C21-56CB-ECAF-2B01E90EB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4552806"/>
            <a:ext cx="3220613" cy="18035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DF777A-2472-FD48-7462-D9BE5218DB7C}"/>
              </a:ext>
            </a:extLst>
          </p:cNvPr>
          <p:cNvSpPr txBox="1"/>
          <p:nvPr/>
        </p:nvSpPr>
        <p:spPr>
          <a:xfrm>
            <a:off x="7315200" y="5822017"/>
            <a:ext cx="4774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β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93C6E-6AA5-1C53-8CDF-454A2729300A}"/>
              </a:ext>
            </a:extLst>
          </p:cNvPr>
          <p:cNvSpPr txBox="1"/>
          <p:nvPr/>
        </p:nvSpPr>
        <p:spPr>
          <a:xfrm>
            <a:off x="6781800" y="4570011"/>
            <a:ext cx="4774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;</a:t>
            </a:r>
            <a:r>
              <a:rPr lang="el-GR" dirty="0"/>
              <a:t>β</a:t>
            </a:r>
            <a:r>
              <a:rPr lang="en-CA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74EB4D-5FF3-8163-B227-5CE1C32DEAB2}"/>
              </a:ext>
            </a:extLst>
          </p:cNvPr>
          <p:cNvSpPr txBox="1"/>
          <p:nvPr/>
        </p:nvSpPr>
        <p:spPr>
          <a:xfrm>
            <a:off x="457200" y="4794250"/>
            <a:ext cx="373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Unlike OLS, where there is an exact solution, MLEs are found by </a:t>
            </a:r>
            <a:r>
              <a:rPr lang="en-CA" dirty="0">
                <a:solidFill>
                  <a:srgbClr val="0070C0"/>
                </a:solidFill>
              </a:rPr>
              <a:t>iteratively reweighted least squares</a:t>
            </a:r>
            <a:r>
              <a:rPr lang="en-CA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00AE7F-1481-1924-4B61-D45CE4F30529}"/>
              </a:ext>
            </a:extLst>
          </p:cNvPr>
          <p:cNvSpPr txBox="1"/>
          <p:nvPr/>
        </p:nvSpPr>
        <p:spPr>
          <a:xfrm>
            <a:off x="6230512" y="2369503"/>
            <a:ext cx="2456288" cy="861774"/>
          </a:xfrm>
          <a:prstGeom prst="rect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Why log </a:t>
            </a:r>
            <a:r>
              <a:rPr lang="en-CA" dirty="0">
                <a:latin typeface="Script MT Bold" panose="03040602040607080904" pitchFamily="66" charset="0"/>
              </a:rPr>
              <a:t>L</a:t>
            </a:r>
          </a:p>
          <a:p>
            <a:pPr marL="285750" indent="-285750">
              <a:buFontTx/>
              <a:buChar char="-"/>
            </a:pPr>
            <a:r>
              <a:rPr lang="en-CA" sz="1600" dirty="0"/>
              <a:t>Easier to work with </a:t>
            </a:r>
          </a:p>
          <a:p>
            <a:pPr marL="285750" indent="-285750">
              <a:buFontTx/>
              <a:buChar char="-"/>
            </a:pPr>
            <a:r>
              <a:rPr lang="en-CA" sz="1600" dirty="0"/>
              <a:t>Has the same max value </a:t>
            </a:r>
          </a:p>
        </p:txBody>
      </p:sp>
    </p:spTree>
    <p:extLst>
      <p:ext uri="{BB962C8B-B14F-4D97-AF65-F5344CB8AC3E}">
        <p14:creationId xmlns:p14="http://schemas.microsoft.com/office/powerpoint/2010/main" val="2642634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737A2-3BBF-1B3E-797C-98630701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Iteratively reweighted least squares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4C73B-C2A2-959C-B296-B121CC84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056A7-BDA3-68D2-5EDF-548394F4D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90" y="1634056"/>
            <a:ext cx="7447619" cy="4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63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CD45-6BE4-4C49-8295-AC58CA04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Maximum likelihood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888DF-7782-4B7F-AD2E-F637D7E6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05CEC-8B6A-4C49-995B-71D90CC94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30617"/>
            <a:ext cx="8171428" cy="254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D2BB16-C828-4F0E-9432-672861CAE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757769"/>
            <a:ext cx="8171428" cy="2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56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F41B-B324-4FDC-9B20-893A1596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Goodness of fit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980E93-2489-4C8A-B1ED-91BC9D52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B6E47-9C4B-47A3-BB32-74C215947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1234716"/>
            <a:ext cx="8171428" cy="2209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2EAA1-6FDE-4A78-93E4-115E487A2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3703596"/>
            <a:ext cx="8171428" cy="24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1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5149-7F76-41D6-A49B-AEB47440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GLMs for count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92BC8-40F1-4A1F-837C-EABD521E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Typically, these are fit using </a:t>
            </a:r>
          </a:p>
          <a:p>
            <a:pPr marL="0" indent="0">
              <a:buNone/>
            </a:pPr>
            <a:r>
              <a:rPr lang="en-US" sz="2000" dirty="0"/>
              <a:t>                 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(y ~ x1 + x2 + …, family=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data=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dirty="0"/>
              <a:t>As in other linear models, the predictors, x</a:t>
            </a:r>
            <a:r>
              <a:rPr lang="en-US" sz="2000" baseline="-25000" dirty="0"/>
              <a:t>i</a:t>
            </a:r>
            <a:r>
              <a:rPr lang="en-US" sz="2000" dirty="0"/>
              <a:t>, can be discrete factors, quantitative variables, interactions, etc.</a:t>
            </a:r>
          </a:p>
          <a:p>
            <a:r>
              <a:rPr lang="en-US" sz="2000" dirty="0"/>
              <a:t>This fixes the dispersion parameter, </a:t>
            </a:r>
            <a:r>
              <a:rPr lang="en-US" sz="2000" dirty="0">
                <a:sym typeface="Symbol" panose="05050102010706020507" pitchFamily="18" charset="2"/>
              </a:rPr>
              <a:t> to 1, assuming the count variable y | x1, x2, … is Poisson distributed</a:t>
            </a:r>
          </a:p>
          <a:p>
            <a:r>
              <a:rPr lang="en-US" sz="2000" dirty="0">
                <a:sym typeface="Symbol" panose="05050102010706020507" pitchFamily="18" charset="2"/>
              </a:rPr>
              <a:t>It is possible to relax this, and fit a quasi-Poisson model, allowing  to be estimated from the data</a:t>
            </a:r>
          </a:p>
          <a:p>
            <a:pPr lvl="1"/>
            <a:r>
              <a:rPr lang="en-US" sz="1800" dirty="0">
                <a:sym typeface="Symbol" panose="05050102010706020507" pitchFamily="18" charset="2"/>
              </a:rPr>
              <a:t>Specify </a:t>
            </a:r>
            <a:r>
              <a:rPr lang="en-US" sz="1800" dirty="0">
                <a:solidFill>
                  <a:srgbClr val="0070C0"/>
                </a:solidFill>
                <a:sym typeface="Symbol" panose="05050102010706020507" pitchFamily="18" charset="2"/>
              </a:rPr>
              <a:t>family=</a:t>
            </a:r>
            <a:r>
              <a:rPr lang="en-US" sz="1800" dirty="0" err="1">
                <a:solidFill>
                  <a:srgbClr val="0070C0"/>
                </a:solidFill>
                <a:sym typeface="Symbol" panose="05050102010706020507" pitchFamily="18" charset="2"/>
              </a:rPr>
              <a:t>quasipoisson</a:t>
            </a:r>
            <a:r>
              <a:rPr lang="en-US" sz="1800" dirty="0">
                <a:sym typeface="Symbol" panose="05050102010706020507" pitchFamily="18" charset="2"/>
              </a:rPr>
              <a:t>. This allows variance to be proportional to the mean</a:t>
            </a:r>
          </a:p>
          <a:p>
            <a:pPr marL="457200" lvl="1" indent="0">
              <a:buNone/>
            </a:pPr>
            <a:endParaRPr lang="en-US" sz="1800" dirty="0">
              <a:sym typeface="Symbol" panose="05050102010706020507" pitchFamily="18" charset="2"/>
            </a:endParaRPr>
          </a:p>
          <a:p>
            <a:pPr lvl="1"/>
            <a:endParaRPr lang="en-US" sz="1800" dirty="0">
              <a:sym typeface="Symbol" panose="05050102010706020507" pitchFamily="18" charset="2"/>
            </a:endParaRPr>
          </a:p>
          <a:p>
            <a:pPr lvl="1"/>
            <a:r>
              <a:rPr lang="en-US" sz="1800" dirty="0">
                <a:sym typeface="Symbol" panose="05050102010706020507" pitchFamily="18" charset="2"/>
              </a:rPr>
              <a:t>Another possibility is the </a:t>
            </a:r>
            <a:r>
              <a:rPr lang="en-US" sz="1800" dirty="0">
                <a:solidFill>
                  <a:srgbClr val="0070C0"/>
                </a:solidFill>
                <a:sym typeface="Symbol" panose="05050102010706020507" pitchFamily="18" charset="2"/>
              </a:rPr>
              <a:t>negative-binomial</a:t>
            </a:r>
            <a:r>
              <a:rPr lang="en-US" sz="1800" dirty="0">
                <a:sym typeface="Symbol" panose="05050102010706020507" pitchFamily="18" charset="2"/>
              </a:rPr>
              <a:t> model, which has</a:t>
            </a:r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D30CB6-57B4-4A6B-8632-FA6F431E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BCB50-1141-4804-96C8-B40430E9D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4419600"/>
            <a:ext cx="1676190" cy="447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BF3A2D-B830-4959-98EB-E73A079E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676" y="5559518"/>
            <a:ext cx="2295238" cy="4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86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79E8-3990-49BE-8201-BF8D1848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Publications of PhD </a:t>
            </a:r>
            <a:r>
              <a:rPr lang="en-US" sz="3600" dirty="0" err="1"/>
              <a:t>candiates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4FB0C-FDE9-4129-BFC4-14F68D60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995B8-89AB-4C70-BFF4-7C6391AC0FB2}"/>
              </a:ext>
            </a:extLst>
          </p:cNvPr>
          <p:cNvSpPr txBox="1"/>
          <p:nvPr/>
        </p:nvSpPr>
        <p:spPr>
          <a:xfrm>
            <a:off x="457200" y="13716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3.24 in DDAR gives data on the number of publications by PhD candidates in biochemistry in the last 3 years of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F5DE7-A562-477C-B197-4F148320070F}"/>
              </a:ext>
            </a:extLst>
          </p:cNvPr>
          <p:cNvSpPr txBox="1"/>
          <p:nvPr/>
        </p:nvSpPr>
        <p:spPr>
          <a:xfrm>
            <a:off x="457200" y="2398931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data("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", package = "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vcdExtra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table(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PhdPubs$articles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0   1   2   3   4   5   6   7   8   9  10  11  12  16  19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275 246 178  84  67  27  17  12   1   2   1   1   2   1   1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2F20E-93CB-4398-BEDF-67E5B4B23BA2}"/>
              </a:ext>
            </a:extLst>
          </p:cNvPr>
          <p:cNvSpPr txBox="1"/>
          <p:nvPr/>
        </p:nvSpPr>
        <p:spPr>
          <a:xfrm>
            <a:off x="533400" y="4038600"/>
            <a:ext cx="792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Predictors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gender, marital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young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prestige of the doctoral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publications by the student’s mentor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0298D-3C7F-5BF2-A64F-570D2693050F}"/>
              </a:ext>
            </a:extLst>
          </p:cNvPr>
          <p:cNvSpPr txBox="1"/>
          <p:nvPr/>
        </p:nvSpPr>
        <p:spPr>
          <a:xfrm>
            <a:off x="609600" y="5791200"/>
            <a:ext cx="784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Q: Which of these do you think would have strong effects on pubs?</a:t>
            </a:r>
          </a:p>
        </p:txBody>
      </p:sp>
    </p:spTree>
    <p:extLst>
      <p:ext uri="{BB962C8B-B14F-4D97-AF65-F5344CB8AC3E}">
        <p14:creationId xmlns:p14="http://schemas.microsoft.com/office/powerpoint/2010/main" val="79126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30D5-533E-4A13-8210-3667AA56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Publications of PhD candidates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4718ED-1E8A-4901-B900-09D71D7B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BA56D-C766-435D-983E-D64EABB82809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Initially, ignore the predictors</a:t>
            </a:r>
          </a:p>
          <a:p>
            <a:r>
              <a:rPr lang="en-US" dirty="0"/>
              <a:t>This is equivalent to an intercept-only Poisson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1D481-3106-49A8-8B53-F8D9017EDD4F}"/>
              </a:ext>
            </a:extLst>
          </p:cNvPr>
          <p:cNvSpPr txBox="1"/>
          <p:nvPr/>
        </p:nvSpPr>
        <p:spPr>
          <a:xfrm>
            <a:off x="467360" y="2025134"/>
            <a:ext cx="82296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articles ~ 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family=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data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C51E1-3B42-489F-8CEF-68B788FBACAA}"/>
              </a:ext>
            </a:extLst>
          </p:cNvPr>
          <p:cNvSpPr txBox="1"/>
          <p:nvPr/>
        </p:nvSpPr>
        <p:spPr>
          <a:xfrm>
            <a:off x="533400" y="28194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 check on the Poisson assumption, calculate the mean and variance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75EDC5-FF7C-4971-BE53-C402B546DC9D}"/>
              </a:ext>
            </a:extLst>
          </p:cNvPr>
          <p:cNvSpPr txBox="1"/>
          <p:nvPr/>
        </p:nvSpPr>
        <p:spPr>
          <a:xfrm>
            <a:off x="533400" y="3613666"/>
            <a:ext cx="81534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with(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c(mean=mean(articles),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var=var(articles),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ratio=var(articles)/mean(articles)))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mean   var ratio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1.69  3.71  2.19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08286F-7B53-45EF-B253-076683891E75}"/>
              </a:ext>
            </a:extLst>
          </p:cNvPr>
          <p:cNvSpPr txBox="1"/>
          <p:nvPr/>
        </p:nvSpPr>
        <p:spPr>
          <a:xfrm>
            <a:off x="533400" y="5362039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assumption that mean = variance could be met when we add predictors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8F6584-D934-8679-558C-B22B61B44154}"/>
              </a:ext>
            </a:extLst>
          </p:cNvPr>
          <p:cNvSpPr/>
          <p:nvPr/>
        </p:nvSpPr>
        <p:spPr>
          <a:xfrm>
            <a:off x="1981200" y="4371075"/>
            <a:ext cx="838200" cy="5643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178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B5D6F1-05D8-4F9C-A5DC-5CABBFC0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4766C9-38A7-412A-B052-FF227001F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304800"/>
            <a:ext cx="8171428" cy="51047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486B4C-3CE6-3B91-E207-603CFB6A0494}"/>
              </a:ext>
            </a:extLst>
          </p:cNvPr>
          <p:cNvSpPr txBox="1"/>
          <p:nvPr/>
        </p:nvSpPr>
        <p:spPr>
          <a:xfrm>
            <a:off x="533400" y="5715000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What might some other reasons be?</a:t>
            </a:r>
          </a:p>
          <a:p>
            <a:r>
              <a:rPr lang="en-CA" dirty="0"/>
              <a:t>Think back to assumptions: independent </a:t>
            </a:r>
            <a:r>
              <a:rPr lang="en-CA" dirty="0" err="1"/>
              <a:t>obs</a:t>
            </a:r>
            <a:r>
              <a:rPr lang="en-CA" dirty="0"/>
              <a:t>; constant probs; unmodelled vars</a:t>
            </a:r>
          </a:p>
        </p:txBody>
      </p:sp>
    </p:spTree>
    <p:extLst>
      <p:ext uri="{BB962C8B-B14F-4D97-AF65-F5344CB8AC3E}">
        <p14:creationId xmlns:p14="http://schemas.microsoft.com/office/powerpoint/2010/main" val="3263431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F6676A-16FC-4352-BE83-CC8CF1AF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the Poisson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D2BF59-B45C-4385-99DC-5BB72A8A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0C205-E1F9-46E9-BA08-355883E9E26A}"/>
              </a:ext>
            </a:extLst>
          </p:cNvPr>
          <p:cNvSpPr txBox="1"/>
          <p:nvPr/>
        </p:nvSpPr>
        <p:spPr>
          <a:xfrm>
            <a:off x="457200" y="121473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Fit the model with all main effects (NB: ~ . notation)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29A42-5968-43D9-A820-207E70AF363C}"/>
              </a:ext>
            </a:extLst>
          </p:cNvPr>
          <p:cNvSpPr txBox="1"/>
          <p:nvPr/>
        </p:nvSpPr>
        <p:spPr>
          <a:xfrm>
            <a:off x="457200" y="1828800"/>
            <a:ext cx="8229600" cy="28931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&lt;-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>
                <a:latin typeface="Aptos Mono" panose="020B0009020202020204" pitchFamily="49" charset="0"/>
                <a:cs typeface="Courier New" panose="02070309020205020404" pitchFamily="49" charset="0"/>
              </a:rPr>
              <a:t>articles ~ ., 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data=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family=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Response: articles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LR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          17.1  1    3.6e-05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          6.6  1       0.01 *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    22.1  1    2.6e-06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1.0  1       0.32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  126.8  1    &lt; 2e-16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67731-D0EB-4B33-BA0E-78DDF8F0E29A}"/>
              </a:ext>
            </a:extLst>
          </p:cNvPr>
          <p:cNvSpPr txBox="1"/>
          <p:nvPr/>
        </p:nvSpPr>
        <p:spPr>
          <a:xfrm>
            <a:off x="457200" y="5029200"/>
            <a:ext cx="8229600" cy="123110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Model fitting intelligence: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phdprestige</a:t>
            </a:r>
            <a:r>
              <a:rPr lang="en-US" dirty="0"/>
              <a:t> is NS; it does no harm to keep it, for 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Maybe important to control / adjust for?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Maybe it interacts w/ something else?</a:t>
            </a:r>
          </a:p>
        </p:txBody>
      </p:sp>
    </p:spTree>
    <p:extLst>
      <p:ext uri="{BB962C8B-B14F-4D97-AF65-F5344CB8AC3E}">
        <p14:creationId xmlns:p14="http://schemas.microsoft.com/office/powerpoint/2010/main" val="1140071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64A81-39F4-41A3-B8F5-77A7BD81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coefficients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CF7F01-D0A7-4F34-9B29-B66840A15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FCE08-8BFB-40C2-AB7C-237BC0AFA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32" y="1295400"/>
            <a:ext cx="8171428" cy="5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92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5299C-E49D-445A-B103-162200CE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5F51B9-1F15-4094-B786-C06A58B15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FD5C6B-AC63-4D5F-9747-51E0DC204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7800"/>
            <a:ext cx="8171428" cy="481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CCC25D-4E9A-51D9-2A9A-7FEFACD6824E}"/>
              </a:ext>
            </a:extLst>
          </p:cNvPr>
          <p:cNvSpPr txBox="1"/>
          <p:nvPr/>
        </p:nvSpPr>
        <p:spPr>
          <a:xfrm>
            <a:off x="5486400" y="4572000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just displays the fitted model</a:t>
            </a:r>
          </a:p>
        </p:txBody>
      </p:sp>
    </p:spTree>
    <p:extLst>
      <p:ext uri="{BB962C8B-B14F-4D97-AF65-F5344CB8AC3E}">
        <p14:creationId xmlns:p14="http://schemas.microsoft.com/office/powerpoint/2010/main" val="3875056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7EF52-AD03-CB3F-829D-E9E7B1D4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D1ADB2F-1D67-9500-503F-1E8C949DE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83" y="609599"/>
            <a:ext cx="7981817" cy="5706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216BD1-44AE-0699-818D-EECB300056CE}"/>
              </a:ext>
            </a:extLst>
          </p:cNvPr>
          <p:cNvSpPr txBox="1"/>
          <p:nvPr/>
        </p:nvSpPr>
        <p:spPr>
          <a:xfrm>
            <a:off x="990600" y="990600"/>
            <a:ext cx="7239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600" b="1" dirty="0">
                <a:solidFill>
                  <a:schemeClr val="bg1"/>
                </a:solidFill>
              </a:rPr>
              <a:t>Model diagnostics</a:t>
            </a:r>
          </a:p>
        </p:txBody>
      </p:sp>
    </p:spTree>
    <p:extLst>
      <p:ext uri="{BB962C8B-B14F-4D97-AF65-F5344CB8AC3E}">
        <p14:creationId xmlns:p14="http://schemas.microsoft.com/office/powerpoint/2010/main" val="3453423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4466-8F9D-4E1A-8EB5-1944DB5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diagnostics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C1633-D345-4D98-A1CD-2B514A8A6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Diagnostic methods for count data GLMs are similar to those used for classical linear models</a:t>
            </a:r>
          </a:p>
          <a:p>
            <a:r>
              <a:rPr lang="en-US" sz="2400" dirty="0"/>
              <a:t>Test for presence of </a:t>
            </a:r>
            <a:r>
              <a:rPr lang="en-US" sz="2400" dirty="0">
                <a:solidFill>
                  <a:srgbClr val="0070C0"/>
                </a:solidFill>
              </a:rPr>
              <a:t>interactions</a:t>
            </a:r>
          </a:p>
          <a:p>
            <a:pPr lvl="1"/>
            <a:r>
              <a:rPr lang="en-US" sz="2000" dirty="0"/>
              <a:t>Fit model(s) with some or all two-way interactions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Non-linear</a:t>
            </a:r>
            <a:r>
              <a:rPr lang="en-US" sz="2400" dirty="0"/>
              <a:t> effects of quantitative predictors</a:t>
            </a:r>
          </a:p>
          <a:p>
            <a:pPr lvl="1"/>
            <a:r>
              <a:rPr lang="en-US" sz="2000" dirty="0"/>
              <a:t>Component-plus-residual plots– car::</a:t>
            </a:r>
            <a:r>
              <a:rPr lang="en-US" sz="2000" dirty="0" err="1"/>
              <a:t>crPlot</a:t>
            </a:r>
            <a:r>
              <a:rPr lang="en-US" sz="2000" dirty="0"/>
              <a:t>() is useful here</a:t>
            </a:r>
          </a:p>
          <a:p>
            <a:r>
              <a:rPr lang="en-US" sz="2400" dirty="0">
                <a:solidFill>
                  <a:srgbClr val="0070C0"/>
                </a:solidFill>
              </a:rPr>
              <a:t>Outliers</a:t>
            </a:r>
            <a:r>
              <a:rPr lang="en-US" sz="2400" dirty="0"/>
              <a:t>? Influential observations?</a:t>
            </a:r>
          </a:p>
          <a:p>
            <a:pPr lvl="1"/>
            <a:r>
              <a:rPr lang="en-US" sz="2000" dirty="0"/>
              <a:t>car::</a:t>
            </a:r>
            <a:r>
              <a:rPr lang="en-US" sz="2000" dirty="0" err="1"/>
              <a:t>influencePlot</a:t>
            </a:r>
            <a:r>
              <a:rPr lang="en-US" sz="2000" dirty="0"/>
              <a:t>() is your friend</a:t>
            </a:r>
          </a:p>
          <a:p>
            <a:pPr lvl="1"/>
            <a:endParaRPr lang="en-US" sz="2000" dirty="0"/>
          </a:p>
          <a:p>
            <a:r>
              <a:rPr lang="en-US" sz="2400" dirty="0"/>
              <a:t>For count data models we should also check for </a:t>
            </a:r>
            <a:r>
              <a:rPr lang="en-US" sz="2400" dirty="0">
                <a:solidFill>
                  <a:srgbClr val="0070C0"/>
                </a:solidFill>
              </a:rPr>
              <a:t>overdispersion</a:t>
            </a:r>
          </a:p>
          <a:p>
            <a:pPr lvl="1"/>
            <a:r>
              <a:rPr lang="en-US" sz="2000" dirty="0"/>
              <a:t>Similar to homogeneity of variance checks in </a:t>
            </a:r>
            <a:r>
              <a:rPr lang="en-US" sz="2000" dirty="0" err="1"/>
              <a:t>lm</a:t>
            </a:r>
            <a:r>
              <a:rPr lang="en-US" sz="2000" dirty="0"/>
              <a:t>()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822CA6-C94C-4D7F-9928-8AF0F7E4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2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64F53-7A0F-4733-9E29-E5E04719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Checking for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D81E5-9825-4168-995A-EBC39D02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7FD81-FA09-46EE-B295-3243717B8823}"/>
              </a:ext>
            </a:extLst>
          </p:cNvPr>
          <p:cNvSpPr txBox="1"/>
          <p:nvPr/>
        </p:nvSpPr>
        <p:spPr>
          <a:xfrm>
            <a:off x="457200" y="1625600"/>
            <a:ext cx="8229600" cy="504753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phd.pois1 &lt;- update(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. ~ .^2)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(phd.pois1)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Response: articles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LR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                  14.5  1    0.00014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                  6.2  1    0.01277 *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            19.5  1    9.8e-06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1.0  1    0.32655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          128.1  1    &lt; 2e-16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female:married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0.3  1    0.60995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female:kid5              0.1  1    0.72929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0.2  1    0.63574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female:mentor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0.0  1    0.91260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married:kid5                  0           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married:phdprestige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1.7  1    0.19153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married:mentor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1.2  1    0.28203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kid5:phdprestige         0.2  1    0.68523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kid5:mentor              2.8  1    0.09290 .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phdprestige:mentor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3.8  1    0.05094 .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746CF-8C8D-4CCC-9D08-0176BC0E6339}"/>
              </a:ext>
            </a:extLst>
          </p:cNvPr>
          <p:cNvSpPr txBox="1"/>
          <p:nvPr/>
        </p:nvSpPr>
        <p:spPr>
          <a:xfrm>
            <a:off x="457200" y="1143000"/>
            <a:ext cx="8229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 quick check for interactions, fit a model with </a:t>
            </a:r>
            <a:r>
              <a:rPr lang="en-US" dirty="0">
                <a:solidFill>
                  <a:srgbClr val="0070C0"/>
                </a:solidFill>
              </a:rPr>
              <a:t>all two-way terms</a:t>
            </a:r>
            <a:r>
              <a:rPr lang="en-US" dirty="0"/>
              <a:t>,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. ~ .^2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70483225-F281-CA08-82BD-483500A194D2}"/>
              </a:ext>
            </a:extLst>
          </p:cNvPr>
          <p:cNvSpPr/>
          <p:nvPr/>
        </p:nvSpPr>
        <p:spPr>
          <a:xfrm>
            <a:off x="5638800" y="3962400"/>
            <a:ext cx="609600" cy="213360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FEAD5-9047-B08F-7843-5A4A4015A077}"/>
              </a:ext>
            </a:extLst>
          </p:cNvPr>
          <p:cNvSpPr txBox="1"/>
          <p:nvPr/>
        </p:nvSpPr>
        <p:spPr>
          <a:xfrm>
            <a:off x="6477000" y="48006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interactions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361EC2-65EF-60D6-EAEE-4A20AC54ACA8}"/>
              </a:ext>
            </a:extLst>
          </p:cNvPr>
          <p:cNvSpPr/>
          <p:nvPr/>
        </p:nvSpPr>
        <p:spPr>
          <a:xfrm>
            <a:off x="6934200" y="1143000"/>
            <a:ext cx="685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7148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AA29-11EA-4DF5-86C0-E64CA77B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60FA58-6C38-4207-8443-AD5E1492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AEDCF-1A8B-47BE-984D-CF4BE23EE11F}"/>
              </a:ext>
            </a:extLst>
          </p:cNvPr>
          <p:cNvSpPr txBox="1"/>
          <p:nvPr/>
        </p:nvSpPr>
        <p:spPr>
          <a:xfrm>
            <a:off x="533400" y="1981200"/>
            <a:ext cx="81534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phd.pois1, test="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Model 1: articles ~ female + married + kid5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mentor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Model 2: articles ~ female + married + kid5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mentor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female:married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female:kid5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female:mentor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married:kid5 +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married:phdprestige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married:mentor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kid5:phdprestige +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kid5:mentor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phdprestige:mentor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Resid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Resid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Dev Df Deviance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(&gt;Chi)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1       909       1634                   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2       900       1618  9     15.2    0.086 .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66755-1343-490D-8FFE-EDAF458A2B60}"/>
              </a:ext>
            </a:extLst>
          </p:cNvPr>
          <p:cNvSpPr txBox="1"/>
          <p:nvPr/>
        </p:nvSpPr>
        <p:spPr>
          <a:xfrm>
            <a:off x="457200" y="11430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all main effects and all two-way models are nested, so we can compare them with </a:t>
            </a:r>
            <a:r>
              <a:rPr lang="en-US" sz="2000" dirty="0" err="1"/>
              <a:t>anova</a:t>
            </a:r>
            <a:r>
              <a:rPr lang="en-US" sz="2000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2B9D9-285C-4CE7-8FFE-23485D87AE65}"/>
              </a:ext>
            </a:extLst>
          </p:cNvPr>
          <p:cNvSpPr txBox="1"/>
          <p:nvPr/>
        </p:nvSpPr>
        <p:spPr>
          <a:xfrm>
            <a:off x="533400" y="5334000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®"/>
            </a:pPr>
            <a:r>
              <a:rPr lang="en-US" dirty="0"/>
              <a:t>No evidence that the two-way terms result in a significantly better model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en-US" dirty="0"/>
              <a:t>A more principled analysis would consider </a:t>
            </a:r>
            <a:r>
              <a:rPr lang="en-US" dirty="0">
                <a:solidFill>
                  <a:srgbClr val="0070C0"/>
                </a:solidFill>
              </a:rPr>
              <a:t>which interactions </a:t>
            </a:r>
            <a:r>
              <a:rPr lang="en-US" dirty="0"/>
              <a:t>might be interesting / important, e.g., </a:t>
            </a:r>
            <a:r>
              <a:rPr lang="en-US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phdprestige:mentor</a:t>
            </a:r>
            <a:endParaRPr lang="en-US" dirty="0">
              <a:latin typeface="Aptos Mono" panose="020B0009020202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171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07EE-E6FA-46A5-BD70-5BB17EBB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9A9D7C-7F11-4EAC-B2CE-A716023D9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12807-A8C4-479C-8037-5047EDBA41B3}"/>
              </a:ext>
            </a:extLst>
          </p:cNvPr>
          <p:cNvSpPr txBox="1"/>
          <p:nvPr/>
        </p:nvSpPr>
        <p:spPr>
          <a:xfrm>
            <a:off x="457200" y="1828800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phd.pois1)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AIC  BIC LR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Df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3313 3342     1634 909     &lt;2e-16 ***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phd.pois1 3316 3388     1618 900     &lt;2e-16 ***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CBCA9-D361-4737-B10C-8704D211637E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can also compare using AIC/BIC with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69300-EC42-4919-952C-38D5B8720899}"/>
              </a:ext>
            </a:extLst>
          </p:cNvPr>
          <p:cNvSpPr txBox="1"/>
          <p:nvPr/>
        </p:nvSpPr>
        <p:spPr>
          <a:xfrm>
            <a:off x="533400" y="3962400"/>
            <a:ext cx="815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seems to be no reason to include interactions in this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All </a:t>
            </a:r>
            <a:r>
              <a:rPr lang="en-US" dirty="0"/>
              <a:t>these interactions </a:t>
            </a:r>
            <a:r>
              <a:rPr lang="en-US" dirty="0">
                <a:solidFill>
                  <a:srgbClr val="0070C0"/>
                </a:solidFill>
              </a:rPr>
              <a:t>increase</a:t>
            </a:r>
            <a:r>
              <a:rPr lang="en-US" dirty="0"/>
              <a:t> AIC &amp; BIC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might want to revisit this, after examining other models for the basic count distribution (quasi-</a:t>
            </a:r>
            <a:r>
              <a:rPr lang="en-US" dirty="0" err="1"/>
              <a:t>poisson</a:t>
            </a:r>
            <a:r>
              <a:rPr lang="en-US" dirty="0"/>
              <a:t>, negative-binomial)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might want to consider some </a:t>
            </a:r>
            <a:r>
              <a:rPr lang="en-US" dirty="0">
                <a:solidFill>
                  <a:srgbClr val="0070C0"/>
                </a:solidFill>
              </a:rPr>
              <a:t>specific </a:t>
            </a:r>
            <a:r>
              <a:rPr lang="en-US" dirty="0"/>
              <a:t>interaction(s) that seem substantively interesting or important to test.</a:t>
            </a:r>
          </a:p>
        </p:txBody>
      </p:sp>
    </p:spTree>
    <p:extLst>
      <p:ext uri="{BB962C8B-B14F-4D97-AF65-F5344CB8AC3E}">
        <p14:creationId xmlns:p14="http://schemas.microsoft.com/office/powerpoint/2010/main" val="2926295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4A93-507B-423C-9FB8-FD826FBE8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model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71463-20F8-4706-BE7B-701FDF78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12A9ABC1-C3DD-42A8-BD6A-6F5DE0C1B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64522"/>
            <a:ext cx="7772400" cy="42731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BAABA3-5157-4C08-A32D-9ACBAB226F32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two of the standard model plots are informative for count data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1C773-D9D2-4728-AC98-1A11B4D66AC9}"/>
              </a:ext>
            </a:extLst>
          </p:cNvPr>
          <p:cNvSpPr txBox="1"/>
          <p:nvPr/>
        </p:nvSpPr>
        <p:spPr>
          <a:xfrm>
            <a:off x="533400" y="1664732"/>
            <a:ext cx="8153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which=c(1,5))</a:t>
            </a:r>
          </a:p>
        </p:txBody>
      </p:sp>
    </p:spTree>
    <p:extLst>
      <p:ext uri="{BB962C8B-B14F-4D97-AF65-F5344CB8AC3E}">
        <p14:creationId xmlns:p14="http://schemas.microsoft.com/office/powerpoint/2010/main" val="390558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6D97-81B7-45A7-81DD-FDB46AAC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Nonlinearity diagnostics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6899330-3DB6-44AE-907D-37F2FBE4A4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Nonlinear relations are difficult to assess in </a:t>
                </a:r>
                <a:r>
                  <a:rPr lang="en-US" sz="2400" dirty="0">
                    <a:solidFill>
                      <a:srgbClr val="0070C0"/>
                    </a:solidFill>
                  </a:rPr>
                  <a:t>marginal</a:t>
                </a:r>
                <a:r>
                  <a:rPr lang="en-US" sz="2400" dirty="0"/>
                  <a:t> plots, because they don’t control (or adjust) for other predictors</a:t>
                </a:r>
              </a:p>
              <a:p>
                <a:r>
                  <a:rPr lang="en-US" sz="2400" dirty="0">
                    <a:solidFill>
                      <a:srgbClr val="0070C0"/>
                    </a:solidFill>
                  </a:rPr>
                  <a:t>Component-plus-residual</a:t>
                </a:r>
                <a:r>
                  <a:rPr lang="en-US" sz="2400" dirty="0"/>
                  <a:t> plots (also called: </a:t>
                </a:r>
                <a:r>
                  <a:rPr lang="en-US" sz="2400" dirty="0">
                    <a:solidFill>
                      <a:srgbClr val="0070C0"/>
                    </a:solidFill>
                  </a:rPr>
                  <a:t>partial residual </a:t>
                </a:r>
                <a:r>
                  <a:rPr lang="en-US" sz="2400" dirty="0"/>
                  <a:t>plots) can show </a:t>
                </a:r>
                <a:r>
                  <a:rPr lang="en-US" sz="2400" dirty="0">
                    <a:solidFill>
                      <a:srgbClr val="FF0000"/>
                    </a:solidFill>
                  </a:rPr>
                  <a:t>nonlinear</a:t>
                </a:r>
                <a:r>
                  <a:rPr lang="en-US" sz="2400" dirty="0"/>
                  <a:t> relations for numeric predictors</a:t>
                </a:r>
              </a:p>
              <a:p>
                <a:pPr lvl="1"/>
                <a:r>
                  <a:rPr lang="en-US" sz="2000" dirty="0"/>
                  <a:t>These graph the value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m:rPr>
                        <m:sty m:val="p"/>
                      </m:rPr>
                      <a:rPr lang="en-US" sz="2000" b="0" i="0" baseline="-2500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xi</m:t>
                    </m:r>
                    <m:r>
                      <a:rPr lang="en-US" sz="2000" b="0" i="0" baseline="-2500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+ </a:t>
                </a:r>
                <a:r>
                  <a:rPr lang="en-US" sz="2000" dirty="0" err="1"/>
                  <a:t>residual</a:t>
                </a:r>
                <a:r>
                  <a:rPr lang="en-US" sz="2000" baseline="-25000" dirty="0" err="1"/>
                  <a:t>i</a:t>
                </a:r>
                <a:r>
                  <a:rPr lang="en-US" sz="2000" dirty="0"/>
                  <a:t> vs. the predictor x</a:t>
                </a:r>
                <a:r>
                  <a:rPr lang="en-US" sz="2000" baseline="-25000" dirty="0"/>
                  <a:t>i</a:t>
                </a:r>
              </a:p>
              <a:p>
                <a:pPr lvl="1"/>
                <a:r>
                  <a:rPr lang="en-US" sz="2000" dirty="0"/>
                  <a:t>In this plot, the slope of the points is the coefficient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m:rPr>
                        <m:sty m:val="p"/>
                      </m:rPr>
                      <a:rPr lang="en-US" sz="2000" baseline="-2500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sz="2000" dirty="0"/>
                  <a:t> in the full model</a:t>
                </a:r>
              </a:p>
              <a:p>
                <a:pPr lvl="1"/>
                <a:r>
                  <a:rPr lang="en-US" sz="2000" dirty="0"/>
                  <a:t>The residual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baseline="-2500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− 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baseline="-250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r>
                  <a:rPr lang="en-US" sz="2000" dirty="0"/>
                  <a:t> in the full model</a:t>
                </a:r>
              </a:p>
              <a:p>
                <a:r>
                  <a:rPr lang="en-US" sz="2400" dirty="0"/>
                  <a:t>A non-parametric (e.g., loess()) smooth facilitates detecting nonlinearity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6899330-3DB6-44AE-907D-37F2FBE4A4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07" t="-203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0C2B06-78B6-4EF2-9596-8DC8EBD0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9A24-89AB-45DB-8B47-76D60B3B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Nonlinearity diagnostics: </a:t>
            </a:r>
            <a:r>
              <a:rPr lang="en-US" dirty="0" err="1"/>
              <a:t>crPlot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A5731-F5F2-4143-B18B-69B32D57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21059-32F0-45E9-875C-675DAE0EF100}"/>
              </a:ext>
            </a:extLst>
          </p:cNvPr>
          <p:cNvSpPr txBox="1"/>
          <p:nvPr/>
        </p:nvSpPr>
        <p:spPr>
          <a:xfrm>
            <a:off x="457200" y="12192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Is the relation between article published by the student and by the mentor adequately represented as linear?</a:t>
            </a: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F485F2F5-D646-48E8-BA35-D1A2A0276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98874"/>
            <a:ext cx="5030051" cy="42048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702FC4-50EB-4D36-A557-7630E6728DC6}"/>
              </a:ext>
            </a:extLst>
          </p:cNvPr>
          <p:cNvSpPr txBox="1"/>
          <p:nvPr/>
        </p:nvSpPr>
        <p:spPr>
          <a:xfrm>
            <a:off x="533400" y="1981200"/>
            <a:ext cx="8153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"mentor",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=16,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=4, id = list(n=2))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8D95F9-F286-41D6-8117-4FF453800EC4}"/>
              </a:ext>
            </a:extLst>
          </p:cNvPr>
          <p:cNvSpPr txBox="1"/>
          <p:nvPr/>
        </p:nvSpPr>
        <p:spPr>
          <a:xfrm>
            <a:off x="5638800" y="2791542"/>
            <a:ext cx="3048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smoothed curve doesn’t differ much from the fitted line</a:t>
            </a:r>
          </a:p>
          <a:p>
            <a:endParaRPr lang="en-US" dirty="0"/>
          </a:p>
          <a:p>
            <a:r>
              <a:rPr lang="en-US" dirty="0"/>
              <a:t>A couple of points stand out: 328, 803, 911, 913</a:t>
            </a:r>
          </a:p>
        </p:txBody>
      </p:sp>
    </p:spTree>
    <p:extLst>
      <p:ext uri="{BB962C8B-B14F-4D97-AF65-F5344CB8AC3E}">
        <p14:creationId xmlns:p14="http://schemas.microsoft.com/office/powerpoint/2010/main" val="4058219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D665F-9D4D-455A-9604-2E542284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Residuals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CEC635-1AA1-4D7C-ACC2-71144E57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70943-B904-4907-814B-82DEC5D3BF50}"/>
              </a:ext>
            </a:extLst>
          </p:cNvPr>
          <p:cNvSpPr txBox="1"/>
          <p:nvPr/>
        </p:nvSpPr>
        <p:spPr>
          <a:xfrm>
            <a:off x="457200" y="1219200"/>
            <a:ext cx="8229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Residuals contain all the information about how a model doesn’t fit, and maybe why</a:t>
            </a:r>
          </a:p>
          <a:p>
            <a:endParaRPr lang="en-US" sz="2000" dirty="0"/>
          </a:p>
          <a:p>
            <a:r>
              <a:rPr lang="en-US" sz="2000" dirty="0"/>
              <a:t>For GLMs, there are several types, based on the Pearson and deviance goodness-of-fit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7F4AA-7BBD-4386-9905-8E9553F2F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3048000"/>
            <a:ext cx="8171428" cy="2457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CE8979-2FAC-4AE8-82CF-CAD2BB5A7C82}"/>
              </a:ext>
            </a:extLst>
          </p:cNvPr>
          <p:cNvSpPr txBox="1"/>
          <p:nvPr/>
        </p:nvSpPr>
        <p:spPr>
          <a:xfrm>
            <a:off x="457200" y="58674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These are </a:t>
            </a:r>
            <a:r>
              <a:rPr lang="en-US" sz="2000" dirty="0">
                <a:solidFill>
                  <a:srgbClr val="0070C0"/>
                </a:solidFill>
              </a:rPr>
              <a:t>raw</a:t>
            </a:r>
            <a:r>
              <a:rPr lang="en-US" sz="2000" dirty="0"/>
              <a:t> residuals, on the scale of the counts themselves</a:t>
            </a:r>
          </a:p>
        </p:txBody>
      </p:sp>
    </p:spTree>
    <p:extLst>
      <p:ext uri="{BB962C8B-B14F-4D97-AF65-F5344CB8AC3E}">
        <p14:creationId xmlns:p14="http://schemas.microsoft.com/office/powerpoint/2010/main" val="29722660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6F6A-C2D1-4226-88A9-4C97E5DD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Residuals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502EFE-5EF6-40C3-BDBA-6B27B9EF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0F5DE3-C8E2-4DCA-A210-D907A9084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09" y="1143000"/>
            <a:ext cx="8152381" cy="4257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1E6BF9-2F79-4EB9-8A73-3AE9BAAE9382}"/>
              </a:ext>
            </a:extLst>
          </p:cNvPr>
          <p:cNvSpPr txBox="1"/>
          <p:nvPr/>
        </p:nvSpPr>
        <p:spPr>
          <a:xfrm>
            <a:off x="457200" y="56388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Don’t worry about the formulas, but do know the difference among </a:t>
            </a:r>
            <a:r>
              <a:rPr lang="en-US" sz="2000" dirty="0">
                <a:solidFill>
                  <a:srgbClr val="0070C0"/>
                </a:solidFill>
              </a:rPr>
              <a:t>raw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70C0"/>
                </a:solidFill>
              </a:rPr>
              <a:t>standardized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0070C0"/>
                </a:solidFill>
              </a:rPr>
              <a:t>studentized</a:t>
            </a:r>
            <a:r>
              <a:rPr lang="en-US" sz="2000" dirty="0"/>
              <a:t> residuals</a:t>
            </a:r>
          </a:p>
        </p:txBody>
      </p:sp>
    </p:spTree>
    <p:extLst>
      <p:ext uri="{BB962C8B-B14F-4D97-AF65-F5344CB8AC3E}">
        <p14:creationId xmlns:p14="http://schemas.microsoft.com/office/powerpoint/2010/main" val="15488655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2658-CA6A-4050-822E-F99E55D5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Outliers, leverage &amp; influence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150494-B6AC-4FED-A7C2-9326A812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199FD-CC60-4E31-97DC-1E382E3298C6}"/>
              </a:ext>
            </a:extLst>
          </p:cNvPr>
          <p:cNvSpPr txBox="1"/>
          <p:nvPr/>
        </p:nvSpPr>
        <p:spPr>
          <a:xfrm>
            <a:off x="441960" y="1230868"/>
            <a:ext cx="573024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ptos Mono" panose="020B0009020202020204" pitchFamily="49" charset="0"/>
              </a:rPr>
              <a:t>influencePlot</a:t>
            </a:r>
            <a:r>
              <a:rPr lang="en-US" dirty="0">
                <a:latin typeface="Aptos Mono" panose="020B0009020202020204" pitchFamily="49" charset="0"/>
              </a:rPr>
              <a:t>(</a:t>
            </a:r>
            <a:r>
              <a:rPr lang="en-US" dirty="0" err="1">
                <a:latin typeface="Aptos Mono" panose="020B0009020202020204" pitchFamily="49" charset="0"/>
              </a:rPr>
              <a:t>phd.pois</a:t>
            </a:r>
            <a:r>
              <a:rPr lang="en-US" dirty="0">
                <a:latin typeface="Aptos Mono" panose="020B0009020202020204" pitchFamily="49" charset="0"/>
              </a:rPr>
              <a:t>, id = list(n=2))</a:t>
            </a:r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35D5FA05-7B53-4E86-9DAD-9576ED880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51" y="1600200"/>
            <a:ext cx="5272769" cy="4686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087A8C-850F-4198-BA3E-CC8A10B25EFD}"/>
              </a:ext>
            </a:extLst>
          </p:cNvPr>
          <p:cNvSpPr txBox="1"/>
          <p:nvPr/>
        </p:nvSpPr>
        <p:spPr>
          <a:xfrm>
            <a:off x="5485920" y="1600200"/>
            <a:ext cx="3200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Influence (</a:t>
            </a:r>
            <a:r>
              <a:rPr lang="en-US" dirty="0" err="1"/>
              <a:t>CookD</a:t>
            </a:r>
            <a:r>
              <a:rPr lang="en-US" dirty="0"/>
              <a:t>) = </a:t>
            </a:r>
          </a:p>
          <a:p>
            <a:r>
              <a:rPr lang="en-US" dirty="0"/>
              <a:t>     Leverage (Hat) x |Residual|</a:t>
            </a:r>
          </a:p>
          <a:p>
            <a:endParaRPr lang="en-US" dirty="0"/>
          </a:p>
          <a:p>
            <a:r>
              <a:rPr lang="en-US" dirty="0"/>
              <a:t>Several cases (913-915) stand out with large + residuals</a:t>
            </a:r>
          </a:p>
          <a:p>
            <a:endParaRPr lang="en-US" dirty="0"/>
          </a:p>
          <a:p>
            <a:r>
              <a:rPr lang="en-US" dirty="0"/>
              <a:t>One observation (328) has a large leverage</a:t>
            </a:r>
          </a:p>
          <a:p>
            <a:endParaRPr lang="en-US" dirty="0"/>
          </a:p>
          <a:p>
            <a:r>
              <a:rPr lang="en-US" dirty="0"/>
              <a:t>Why are they unusual? Do they affect conclusions?</a:t>
            </a:r>
          </a:p>
          <a:p>
            <a:endParaRPr lang="en-US" dirty="0"/>
          </a:p>
          <a:p>
            <a:r>
              <a:rPr lang="en-US" dirty="0"/>
              <a:t>Examine data &amp; decide what to do</a:t>
            </a:r>
          </a:p>
        </p:txBody>
      </p:sp>
    </p:spTree>
    <p:extLst>
      <p:ext uri="{BB962C8B-B14F-4D97-AF65-F5344CB8AC3E}">
        <p14:creationId xmlns:p14="http://schemas.microsoft.com/office/powerpoint/2010/main" val="2721577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5A0F-A8A9-4B48-877F-52201090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Who is influential &amp; why?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946F2-6DBE-4022-8CD6-2643ACC0A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654B4-D05B-47CF-8651-061D91A37499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the very least, you should </a:t>
            </a:r>
            <a:r>
              <a:rPr lang="en-US" b="1" dirty="0"/>
              <a:t>examine</a:t>
            </a:r>
            <a:r>
              <a:rPr lang="en-US" dirty="0"/>
              <a:t> these flagged observations in the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A5C12-96C8-4B0D-BAE4-D82F07F5DCF5}"/>
              </a:ext>
            </a:extLst>
          </p:cNvPr>
          <p:cNvSpPr txBox="1"/>
          <p:nvPr/>
        </p:nvSpPr>
        <p:spPr>
          <a:xfrm>
            <a:off x="457200" y="2164080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[c(328, 803, 913:915),]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articles female married kid5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phdprestige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mentor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328        1      0       1    1           2     77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803        4      0       1    2           5     66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913       12      0       1    1           2      5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914       16      0       1    0           2     21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915       19      0       1    0           2     42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B398C-07FA-4A2C-B398-26E839E79694}"/>
              </a:ext>
            </a:extLst>
          </p:cNvPr>
          <p:cNvSpPr txBox="1"/>
          <p:nvPr/>
        </p:nvSpPr>
        <p:spPr>
          <a:xfrm>
            <a:off x="457200" y="436755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328: Mentor published 77 papers! Student, only 1</a:t>
            </a:r>
          </a:p>
          <a:p>
            <a:r>
              <a:rPr lang="en-US" dirty="0"/>
              <a:t>803: High prestige school, mentor published 66; published &lt; than predicted. Two kids?</a:t>
            </a:r>
          </a:p>
          <a:p>
            <a:r>
              <a:rPr lang="en-US" dirty="0"/>
              <a:t>913-915: Wow! all published &gt;&gt; than predicted. Hot shots???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B076F-43B0-014E-6707-8BAD5E9BDE18}"/>
              </a:ext>
            </a:extLst>
          </p:cNvPr>
          <p:cNvSpPr/>
          <p:nvPr/>
        </p:nvSpPr>
        <p:spPr>
          <a:xfrm>
            <a:off x="5562600" y="2947889"/>
            <a:ext cx="1295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95D621-2B13-A744-8562-F20FBCF45AD2}"/>
              </a:ext>
            </a:extLst>
          </p:cNvPr>
          <p:cNvSpPr/>
          <p:nvPr/>
        </p:nvSpPr>
        <p:spPr>
          <a:xfrm>
            <a:off x="6268065" y="2719289"/>
            <a:ext cx="589935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2D4575-4212-E3DF-E250-FFBEE615554B}"/>
              </a:ext>
            </a:extLst>
          </p:cNvPr>
          <p:cNvSpPr/>
          <p:nvPr/>
        </p:nvSpPr>
        <p:spPr>
          <a:xfrm>
            <a:off x="1524000" y="2719289"/>
            <a:ext cx="589935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D34AC7-F886-DF66-F899-1FA67EA79B59}"/>
              </a:ext>
            </a:extLst>
          </p:cNvPr>
          <p:cNvSpPr/>
          <p:nvPr/>
        </p:nvSpPr>
        <p:spPr>
          <a:xfrm>
            <a:off x="1523999" y="3153847"/>
            <a:ext cx="589935" cy="826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530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5865-09C6-4515-B78B-82BDB1AB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Outlier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DACC8-BA7F-4E7E-A925-69402DA5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D7B19-FD7B-4CDF-9358-FF30CC9244F3}"/>
              </a:ext>
            </a:extLst>
          </p:cNvPr>
          <p:cNvSpPr txBox="1"/>
          <p:nvPr/>
        </p:nvSpPr>
        <p:spPr>
          <a:xfrm>
            <a:off x="685800" y="3276600"/>
            <a:ext cx="79248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outlierTest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cutoff = 0.001)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rstudent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unadjusted p-value Bonferroni p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914     5.54           2.99e-08     2.73e-05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913     5.38           7.36e-08     6.74e-05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911     5.21           1.92e-07     1.75e-04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915     5.15           2.60e-07     2.38e-04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7EE1B-C80E-43AA-A8C3-39F07C99F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66" y="1295400"/>
            <a:ext cx="8171428" cy="11523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0EEA3B-F322-49ED-ADD9-D59DB4713690}"/>
              </a:ext>
            </a:extLst>
          </p:cNvPr>
          <p:cNvSpPr txBox="1"/>
          <p:nvPr/>
        </p:nvSpPr>
        <p:spPr>
          <a:xfrm>
            <a:off x="685800" y="2743200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this Poisson model, 4 observations are flagged as large + residuals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7663D0-D3DB-40FD-B142-32D2CB911927}"/>
              </a:ext>
            </a:extLst>
          </p:cNvPr>
          <p:cNvSpPr txBox="1"/>
          <p:nvPr/>
        </p:nvSpPr>
        <p:spPr>
          <a:xfrm>
            <a:off x="685800" y="5029200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to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Delete them &amp; refit?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them, but report as unusual?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Fit a better model, hope these will go away?</a:t>
            </a:r>
          </a:p>
        </p:txBody>
      </p:sp>
    </p:spTree>
    <p:extLst>
      <p:ext uri="{BB962C8B-B14F-4D97-AF65-F5344CB8AC3E}">
        <p14:creationId xmlns:p14="http://schemas.microsoft.com/office/powerpoint/2010/main" val="1199258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DF29EB-CA95-361B-877B-6B8B656F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7BD70A9-BC2A-ECC2-DECF-F3F80376E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91" y="457200"/>
            <a:ext cx="7722370" cy="601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601C4-9DEE-0234-D27E-21AB204848E3}"/>
              </a:ext>
            </a:extLst>
          </p:cNvPr>
          <p:cNvSpPr txBox="1"/>
          <p:nvPr/>
        </p:nvSpPr>
        <p:spPr>
          <a:xfrm>
            <a:off x="1066800" y="1066800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solidFill>
                  <a:schemeClr val="bg1"/>
                </a:solidFill>
              </a:rPr>
              <a:t>Overdispersion</a:t>
            </a:r>
          </a:p>
        </p:txBody>
      </p:sp>
    </p:spTree>
    <p:extLst>
      <p:ext uri="{BB962C8B-B14F-4D97-AF65-F5344CB8AC3E}">
        <p14:creationId xmlns:p14="http://schemas.microsoft.com/office/powerpoint/2010/main" val="263704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ACD6-9F98-408C-9282-F330DE0C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Overdispersion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3144A5-5DAA-4121-A1DC-BEF43A90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34B1D-94DF-4833-9ECF-EDBC7BDF3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8171428" cy="628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A8EEE6-DD42-4459-8406-97EE87034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10000"/>
            <a:ext cx="8171428" cy="16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8E2784-7B6B-45A6-B973-3D7FFE11C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943467"/>
            <a:ext cx="8171428" cy="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1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3FBAE-478E-44BE-9E5E-84A4B568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overdispersion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BAD29-5B97-4BA9-9BCD-E1A047C78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tests for overdispersion test H</a:t>
            </a:r>
            <a:r>
              <a:rPr lang="en-US" baseline="-25000" dirty="0"/>
              <a:t>0</a:t>
            </a:r>
            <a:r>
              <a:rPr lang="en-US" dirty="0"/>
              <a:t>: Var(y) = </a:t>
            </a:r>
            <a:r>
              <a:rPr lang="el-GR" dirty="0"/>
              <a:t>μ</a:t>
            </a:r>
            <a:r>
              <a:rPr lang="en-US" dirty="0"/>
              <a:t> vs. the alternative </a:t>
            </a:r>
          </a:p>
          <a:p>
            <a:pPr marL="0" indent="0">
              <a:buNone/>
            </a:pPr>
            <a:r>
              <a:rPr lang="en-US" dirty="0"/>
              <a:t>                            H</a:t>
            </a:r>
            <a:r>
              <a:rPr lang="en-US" baseline="-25000" dirty="0"/>
              <a:t>1</a:t>
            </a:r>
            <a:r>
              <a:rPr lang="en-US" dirty="0"/>
              <a:t>:  Var(y) = </a:t>
            </a:r>
            <a:r>
              <a:rPr lang="el-GR" dirty="0"/>
              <a:t>μ</a:t>
            </a:r>
            <a:r>
              <a:rPr lang="en-US" dirty="0"/>
              <a:t> +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φ</a:t>
            </a:r>
            <a:r>
              <a:rPr lang="en-US" dirty="0">
                <a:sym typeface="Symbol" panose="05050102010706020507" pitchFamily="18" charset="2"/>
              </a:rPr>
              <a:t> × f(</a:t>
            </a:r>
            <a:r>
              <a:rPr lang="el-GR" dirty="0"/>
              <a:t>μ</a:t>
            </a:r>
            <a:r>
              <a:rPr lang="en-US" dirty="0"/>
              <a:t>)</a:t>
            </a:r>
          </a:p>
          <a:p>
            <a:r>
              <a:rPr lang="en-US" dirty="0"/>
              <a:t>Implemented in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AER::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dispersiontest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If significant, overdispersion should not be ignored</a:t>
            </a:r>
          </a:p>
          <a:p>
            <a:pPr lvl="1"/>
            <a:r>
              <a:rPr lang="en-US" dirty="0"/>
              <a:t>You can try fitting a more general model</a:t>
            </a:r>
          </a:p>
          <a:p>
            <a:pPr lvl="2"/>
            <a:r>
              <a:rPr lang="en-US" dirty="0"/>
              <a:t>Quasi-</a:t>
            </a:r>
            <a:r>
              <a:rPr lang="en-US" dirty="0" err="1"/>
              <a:t>poisson</a:t>
            </a:r>
            <a:endParaRPr lang="en-US" dirty="0"/>
          </a:p>
          <a:p>
            <a:pPr lvl="2"/>
            <a:r>
              <a:rPr lang="en-US" dirty="0"/>
              <a:t>Negative-binomial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451AC-7906-4EE5-96D8-B6231C3D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0035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6F0C-14C6-443F-A18C-211640C3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Quasi-</a:t>
            </a:r>
            <a:r>
              <a:rPr lang="en-US" dirty="0" err="1"/>
              <a:t>poisson</a:t>
            </a:r>
            <a:r>
              <a:rPr lang="en-US" dirty="0"/>
              <a:t>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80CAB3-F3F8-405E-B3A1-351919AD43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quasi-</a:t>
                </a:r>
                <a:r>
                  <a:rPr lang="en-US" dirty="0" err="1"/>
                  <a:t>poisson</a:t>
                </a:r>
                <a:r>
                  <a:rPr lang="en-US" dirty="0"/>
                  <a:t> model allows the dispersion, </a:t>
                </a:r>
                <a:r>
                  <a:rPr lang="en-US" i="1" dirty="0">
                    <a:sym typeface="Symbol" panose="05050102010706020507" pitchFamily="18" charset="2"/>
                  </a:rPr>
                  <a:t></a:t>
                </a:r>
                <a:r>
                  <a:rPr lang="en-US" dirty="0">
                    <a:sym typeface="Symbol" panose="05050102010706020507" pitchFamily="18" charset="2"/>
                  </a:rPr>
                  <a:t>, to be a free parameter, estimates with other coefficients</a:t>
                </a:r>
              </a:p>
              <a:p>
                <a:r>
                  <a:rPr lang="en-US" dirty="0">
                    <a:sym typeface="Symbol" panose="05050102010706020507" pitchFamily="18" charset="2"/>
                  </a:rPr>
                  <a:t>The conditional variance is allowed to be a multiple of the mean</a:t>
                </a:r>
              </a:p>
              <a:p>
                <a:pPr marL="0" indent="0">
                  <a:buNone/>
                </a:pPr>
                <a:r>
                  <a:rPr lang="en-US" dirty="0">
                    <a:sym typeface="Symbol" panose="05050102010706020507" pitchFamily="18" charset="2"/>
                  </a:rPr>
                  <a:t>                              Var(</a:t>
                </a:r>
                <a:r>
                  <a:rPr lang="en-US" dirty="0" err="1">
                    <a:sym typeface="Symbol" panose="05050102010706020507" pitchFamily="18" charset="2"/>
                  </a:rPr>
                  <a:t>y</a:t>
                </a:r>
                <a:r>
                  <a:rPr lang="en-US" baseline="-25000" dirty="0" err="1">
                    <a:sym typeface="Symbol" panose="05050102010706020507" pitchFamily="18" charset="2"/>
                  </a:rPr>
                  <a:t>i</a:t>
                </a:r>
                <a:r>
                  <a:rPr lang="en-US" dirty="0">
                    <a:sym typeface="Symbol" panose="05050102010706020507" pitchFamily="18" charset="2"/>
                  </a:rPr>
                  <a:t> | </a:t>
                </a:r>
                <a:r>
                  <a:rPr lang="en-US" baseline="-25000" dirty="0">
                    <a:sym typeface="Symbol" panose="05050102010706020507" pitchFamily="18" charset="2"/>
                  </a:rPr>
                  <a:t>i</a:t>
                </a:r>
                <a:r>
                  <a:rPr lang="en-US" dirty="0">
                    <a:sym typeface="Symbol" panose="05050102010706020507" pitchFamily="18" charset="2"/>
                  </a:rPr>
                  <a:t>) = </a:t>
                </a:r>
                <a:r>
                  <a:rPr lang="en-US" i="1" dirty="0">
                    <a:sym typeface="Symbol" panose="05050102010706020507" pitchFamily="18" charset="2"/>
                  </a:rPr>
                  <a:t>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l-GR" dirty="0">
                    <a:sym typeface="Symbol" panose="05050102010706020507" pitchFamily="18" charset="2"/>
                  </a:rPr>
                  <a:t>μ</a:t>
                </a:r>
                <a:r>
                  <a:rPr lang="en-US" baseline="-25000" dirty="0">
                    <a:sym typeface="Symbol" panose="05050102010706020507" pitchFamily="18" charset="2"/>
                  </a:rPr>
                  <a:t>i</a:t>
                </a:r>
              </a:p>
              <a:p>
                <a:r>
                  <a:rPr lang="en-US" dirty="0">
                    <a:sym typeface="Symbol" panose="05050102010706020507" pitchFamily="18" charset="2"/>
                  </a:rPr>
                  <a:t>This model is fit with </a:t>
                </a:r>
                <a:r>
                  <a:rPr lang="en-US" dirty="0" err="1">
                    <a:sym typeface="Symbol" panose="05050102010706020507" pitchFamily="18" charset="2"/>
                  </a:rPr>
                  <a:t>glm</a:t>
                </a:r>
                <a:r>
                  <a:rPr lang="en-US" dirty="0">
                    <a:sym typeface="Symbol" panose="05050102010706020507" pitchFamily="18" charset="2"/>
                  </a:rPr>
                  <a:t>() using </a:t>
                </a:r>
                <a:r>
                  <a:rPr lang="en-US" dirty="0">
                    <a:solidFill>
                      <a:srgbClr val="0070C0"/>
                    </a:solidFill>
                    <a:sym typeface="Symbol" panose="05050102010706020507" pitchFamily="18" charset="2"/>
                  </a:rPr>
                  <a:t>family=</a:t>
                </a:r>
                <a:r>
                  <a:rPr lang="en-US" dirty="0" err="1">
                    <a:solidFill>
                      <a:srgbClr val="0070C0"/>
                    </a:solidFill>
                    <a:sym typeface="Symbol" panose="05050102010706020507" pitchFamily="18" charset="2"/>
                  </a:rPr>
                  <a:t>quasipoisson</a:t>
                </a:r>
                <a:endParaRPr lang="en-US" dirty="0">
                  <a:solidFill>
                    <a:srgbClr val="0070C0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The estimated coefficients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/>
                  <a:t>are </a:t>
                </a:r>
                <a:r>
                  <a:rPr lang="en-US" dirty="0">
                    <a:solidFill>
                      <a:srgbClr val="0070C0"/>
                    </a:solidFill>
                  </a:rPr>
                  <a:t>unchanged</a:t>
                </a:r>
              </a:p>
              <a:p>
                <a:pPr lvl="1"/>
                <a:r>
                  <a:rPr lang="en-US" dirty="0"/>
                  <a:t>The standard errors are multiplied by </a:t>
                </a:r>
                <a:r>
                  <a:rPr lang="en-US" i="1" dirty="0">
                    <a:sym typeface="Symbol" panose="05050102010706020507" pitchFamily="18" charset="2"/>
                  </a:rPr>
                  <a:t></a:t>
                </a:r>
                <a:r>
                  <a:rPr lang="en-US" baseline="30000" dirty="0">
                    <a:sym typeface="Symbol" panose="05050102010706020507" pitchFamily="18" charset="2"/>
                  </a:rPr>
                  <a:t>½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Peace, order &amp; good government is restored!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80CAB3-F3F8-405E-B3A1-351919AD43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8" t="-2509" r="-81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6B667-38F3-4A43-AB7A-96F29B8F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35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F74CD-CDA5-4F3C-870F-A59B2CF1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Quasi-</a:t>
            </a:r>
            <a:r>
              <a:rPr lang="en-US" dirty="0" err="1"/>
              <a:t>poisson</a:t>
            </a:r>
            <a:r>
              <a:rPr lang="en-US" dirty="0"/>
              <a:t>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F1C47-0103-4B53-B47A-5307FEB6D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590800"/>
          </a:xfrm>
        </p:spPr>
        <p:txBody>
          <a:bodyPr>
            <a:normAutofit/>
          </a:bodyPr>
          <a:lstStyle/>
          <a:p>
            <a:r>
              <a:rPr lang="en-US" sz="2400" dirty="0"/>
              <a:t>A simple estimate of the dispersion parameter  is the residual deviance divided by degrees of freedom </a:t>
            </a:r>
            <a:r>
              <a:rPr lang="en-US" sz="2400" i="1" dirty="0">
                <a:sym typeface="Symbol" panose="05050102010706020507" pitchFamily="18" charset="2"/>
              </a:rPr>
              <a:t> = D(y, </a:t>
            </a:r>
            <a:r>
              <a:rPr lang="el-GR" sz="2400" i="1" dirty="0">
                <a:sym typeface="Symbol" panose="05050102010706020507" pitchFamily="18" charset="2"/>
              </a:rPr>
              <a:t>μ</a:t>
            </a:r>
            <a:r>
              <a:rPr lang="en-US" sz="2400" i="1" dirty="0">
                <a:sym typeface="Symbol" panose="05050102010706020507" pitchFamily="18" charset="2"/>
              </a:rPr>
              <a:t> ) / df</a:t>
            </a:r>
            <a:endParaRPr lang="en-US" sz="2400" dirty="0"/>
          </a:p>
          <a:p>
            <a:r>
              <a:rPr lang="en-US" sz="2400" dirty="0"/>
              <a:t>A Pearson χ</a:t>
            </a:r>
            <a:r>
              <a:rPr lang="en-US" sz="2400" baseline="30000" dirty="0"/>
              <a:t>2</a:t>
            </a:r>
            <a:r>
              <a:rPr lang="en-US" sz="2400" dirty="0"/>
              <a:t> statistic has better statistical properties &amp; is more commonly used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5661C-1621-4796-84EC-C74AFD8C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F559B-9F5D-428F-8F01-FABC7F4E1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666" y="2743200"/>
            <a:ext cx="3866667" cy="780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18ADB1-8567-412A-AAF8-B1686C201784}"/>
              </a:ext>
            </a:extLst>
          </p:cNvPr>
          <p:cNvSpPr txBox="1"/>
          <p:nvPr/>
        </p:nvSpPr>
        <p:spPr>
          <a:xfrm>
            <a:off x="508000" y="3886200"/>
            <a:ext cx="8153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the </a:t>
            </a:r>
            <a:r>
              <a:rPr lang="en-US" sz="2000" dirty="0" err="1"/>
              <a:t>PhdPubs</a:t>
            </a:r>
            <a:r>
              <a:rPr lang="en-US" sz="2000" dirty="0"/>
              <a:t> data, these estimates are quite similar: about 80% overdispersion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3A82A-14F1-4E96-8656-E70C31A8C1AF}"/>
              </a:ext>
            </a:extLst>
          </p:cNvPr>
          <p:cNvSpPr txBox="1"/>
          <p:nvPr/>
        </p:nvSpPr>
        <p:spPr>
          <a:xfrm>
            <a:off x="508000" y="4760893"/>
            <a:ext cx="83058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with(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deviance/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df.residual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[1] 1.8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sum(residuals(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type = "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pearson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")^2)/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phd.pois$df.residual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[1] 1.83</a:t>
            </a:r>
          </a:p>
        </p:txBody>
      </p:sp>
    </p:spTree>
    <p:extLst>
      <p:ext uri="{BB962C8B-B14F-4D97-AF65-F5344CB8AC3E}">
        <p14:creationId xmlns:p14="http://schemas.microsoft.com/office/powerpoint/2010/main" val="29630887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8EA5-5390-44FF-AE05-1498DF04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the quasi-</a:t>
            </a:r>
            <a:r>
              <a:rPr lang="en-US" dirty="0" err="1"/>
              <a:t>poisson</a:t>
            </a:r>
            <a:r>
              <a:rPr lang="en-US" dirty="0"/>
              <a:t>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94A70-45A8-4A8D-B45A-1DF0B3D5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BC81F-9111-4D78-A0A6-836D2EFAFAD2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You can fit the quasi-</a:t>
            </a:r>
            <a:r>
              <a:rPr lang="en-US" sz="2000" dirty="0" err="1"/>
              <a:t>poisson</a:t>
            </a:r>
            <a:r>
              <a:rPr lang="en-US" sz="2000" dirty="0"/>
              <a:t> model using </a:t>
            </a:r>
            <a:r>
              <a:rPr lang="en-US" sz="2000" dirty="0" err="1"/>
              <a:t>glm</a:t>
            </a:r>
            <a:r>
              <a:rPr lang="en-US" sz="2000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D9C7A-4533-4750-803E-8F09CF7CA6E4}"/>
              </a:ext>
            </a:extLst>
          </p:cNvPr>
          <p:cNvSpPr txBox="1"/>
          <p:nvPr/>
        </p:nvSpPr>
        <p:spPr>
          <a:xfrm>
            <a:off x="457200" y="1981200"/>
            <a:ext cx="8229600" cy="30777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., data =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b="1" dirty="0">
                <a:latin typeface="Aptos Mono" panose="020B0009020202020204" pitchFamily="49" charset="0"/>
                <a:cs typeface="Courier New" panose="02070309020205020404" pitchFamily="49" charset="0"/>
              </a:rPr>
              <a:t>family = </a:t>
            </a:r>
            <a:r>
              <a:rPr lang="en-US" sz="14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quasipoisson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5338E-D399-4F96-9107-D6F9B463AFEA}"/>
              </a:ext>
            </a:extLst>
          </p:cNvPr>
          <p:cNvSpPr txBox="1"/>
          <p:nvPr/>
        </p:nvSpPr>
        <p:spPr>
          <a:xfrm>
            <a:off x="457200" y="2743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estimate of the dispersion parameter is calculated by the summary() method. You can get it as follows: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0CD30C-76F7-492C-8CF0-C3781F938CD4}"/>
              </a:ext>
            </a:extLst>
          </p:cNvPr>
          <p:cNvSpPr txBox="1"/>
          <p:nvPr/>
        </p:nvSpPr>
        <p:spPr>
          <a:xfrm>
            <a:off x="457200" y="3581400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(phi &lt;- summary(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phd.qpois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)$dispersion)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[1] 1.83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2834C-F824-4041-9997-296DA1325557}"/>
              </a:ext>
            </a:extLst>
          </p:cNvPr>
          <p:cNvSpPr txBox="1"/>
          <p:nvPr/>
        </p:nvSpPr>
        <p:spPr>
          <a:xfrm>
            <a:off x="533400" y="4953000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is much better than variance/mean ratio of 2.91 calculated for the marginal distribution ignoring the predictors.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60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04A551-5494-46C7-9E6B-E9C1C290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E043D-8B34-41A0-BBF2-7AD0E374A45E}"/>
              </a:ext>
            </a:extLst>
          </p:cNvPr>
          <p:cNvSpPr txBox="1"/>
          <p:nvPr/>
        </p:nvSpPr>
        <p:spPr>
          <a:xfrm>
            <a:off x="609600" y="1041400"/>
            <a:ext cx="8077200" cy="547842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summary(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(formula = articles ~ ., family =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quasipoisson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data =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Deviance Residuals: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Min      1Q  Median      3Q     Max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-3.488  -1.538  -0.365   0.577   5.483  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Coefficients: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Estimate Std. Error t value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(&gt;|t|)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 0.26562    0.13478    1.97  0.04906 *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female1     -0.22442    0.07384   -3.04  0.00244 **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married1     0.15732    0.08287    1.90  0.05795 .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-0.18491    0.05427   -3.41  0.00069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0.02538    0.03419    0.74  0.45815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0.02523    0.00275    9.19  &lt; 2e-16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(Dispersion parameter for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quasipoisson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family taken to be 1.83)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Null deviance: 1817.4  on 914  degrees of freedom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Residual deviance: 1633.6  on 909  degrees of freedom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AIC: NA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A6559-15B3-41A5-9181-71ADDC1DA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44510"/>
            <a:ext cx="7647619" cy="2952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186436-39F2-7675-3B00-B01673AF32F8}"/>
              </a:ext>
            </a:extLst>
          </p:cNvPr>
          <p:cNvSpPr txBox="1"/>
          <p:nvPr/>
        </p:nvSpPr>
        <p:spPr>
          <a:xfrm>
            <a:off x="6781800" y="3276600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Consequently, </a:t>
            </a:r>
            <a:r>
              <a:rPr lang="en-CA" i="1" dirty="0"/>
              <a:t>t</a:t>
            </a:r>
            <a:r>
              <a:rPr lang="en-CA" dirty="0"/>
              <a:t> stats are smaller</a:t>
            </a:r>
          </a:p>
        </p:txBody>
      </p:sp>
    </p:spTree>
    <p:extLst>
      <p:ext uri="{BB962C8B-B14F-4D97-AF65-F5344CB8AC3E}">
        <p14:creationId xmlns:p14="http://schemas.microsoft.com/office/powerpoint/2010/main" val="21970036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79BD13-B8E2-490A-9B06-FE1639A0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negative-binomial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55F529-7AF1-45ED-B8E6-EFB30DEF5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458D4-1326-4AFC-8818-5695C91B2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657571"/>
            <a:ext cx="8171428" cy="3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491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1480-B35E-49C6-87CC-92B08AFC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negative-binomial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6EA4F8-39CD-427F-81B7-F445881F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5" name="Picture 4" descr="Graphical user interface, chart, histogram&#10;&#10;Description automatically generated">
            <a:extLst>
              <a:ext uri="{FF2B5EF4-FFF2-40B4-BE49-F238E27FC236}">
                <a16:creationId xmlns:a16="http://schemas.microsoft.com/office/drawing/2014/main" id="{0365B404-6CC1-4A03-A8F9-70E8405D7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45267"/>
            <a:ext cx="5647619" cy="50380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D10A07-90BC-4D9D-8E67-16DF7BC42290}"/>
              </a:ext>
            </a:extLst>
          </p:cNvPr>
          <p:cNvSpPr txBox="1"/>
          <p:nvPr/>
        </p:nvSpPr>
        <p:spPr>
          <a:xfrm>
            <a:off x="6248400" y="1600200"/>
            <a:ext cx="2438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Negative-binomial distributions for varying p &amp; </a:t>
            </a:r>
            <a:r>
              <a:rPr lang="el-GR" dirty="0"/>
              <a:t>θ</a:t>
            </a:r>
            <a:endParaRPr lang="en-US" dirty="0"/>
          </a:p>
          <a:p>
            <a:endParaRPr lang="en-US" dirty="0"/>
          </a:p>
          <a:p>
            <a:r>
              <a:rPr lang="en-US" dirty="0"/>
              <a:t>Overdispersion decreases as </a:t>
            </a:r>
            <a:r>
              <a:rPr lang="el-GR" dirty="0"/>
              <a:t>θ</a:t>
            </a:r>
            <a:r>
              <a:rPr lang="en-US" dirty="0"/>
              <a:t> increases</a:t>
            </a:r>
          </a:p>
        </p:txBody>
      </p:sp>
    </p:spTree>
    <p:extLst>
      <p:ext uri="{BB962C8B-B14F-4D97-AF65-F5344CB8AC3E}">
        <p14:creationId xmlns:p14="http://schemas.microsoft.com/office/powerpoint/2010/main" val="20322754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FF41-00B2-4EBD-A077-061BD755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the negative-binomial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DC9C9-E5E4-45A0-8490-5747D36E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C8941-8C0E-4EA4-904E-0FEF45C40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981200"/>
            <a:ext cx="8171428" cy="980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19D052-4613-4DB4-BF5B-21638CA31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248114"/>
            <a:ext cx="8171428" cy="714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75EF5E-7B75-4C20-B074-147BFFD5BAE8}"/>
              </a:ext>
            </a:extLst>
          </p:cNvPr>
          <p:cNvSpPr txBox="1"/>
          <p:nvPr/>
        </p:nvSpPr>
        <p:spPr>
          <a:xfrm>
            <a:off x="667772" y="4384798"/>
            <a:ext cx="8171428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library(MASS)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unlist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(summary(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)[c("theta", "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SE.theta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")])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theta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SE.theta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2.267    0.272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253CA-A1A8-8577-D7FB-576F3783739C}"/>
              </a:ext>
            </a:extLst>
          </p:cNvPr>
          <p:cNvSpPr txBox="1"/>
          <p:nvPr/>
        </p:nvSpPr>
        <p:spPr>
          <a:xfrm>
            <a:off x="667772" y="5715000"/>
            <a:ext cx="3124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Equivalently: </a:t>
            </a:r>
            <a:r>
              <a:rPr lang="el-GR" dirty="0"/>
              <a:t>α</a:t>
            </a:r>
            <a:r>
              <a:rPr lang="en-CA" dirty="0"/>
              <a:t> = 1/</a:t>
            </a:r>
            <a:r>
              <a:rPr lang="en-CA" dirty="0">
                <a:sym typeface="Symbol" panose="05050102010706020507" pitchFamily="18" charset="2"/>
              </a:rPr>
              <a:t> = 0.44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37160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EDD9-7FA7-4280-B510-3D851B2B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goodness-of-fit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9ADF7E-E5ED-4311-90B0-2EA47A5E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820B4-3B58-4199-A08C-638A95C76E72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countreg</a:t>
            </a:r>
            <a:r>
              <a:rPr lang="en-US" dirty="0"/>
              <a:t> package extends rootogram() to work with fitted models: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0303D-F2DF-438C-AACD-61449F97E9EC}"/>
              </a:ext>
            </a:extLst>
          </p:cNvPr>
          <p:cNvSpPr txBox="1"/>
          <p:nvPr/>
        </p:nvSpPr>
        <p:spPr>
          <a:xfrm>
            <a:off x="457200" y="1969532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countreg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::rootogram(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phd.pois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main="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Poisson")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countreg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::rootogram(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phd.nbin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main="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Negative-Binomial")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855730-A29D-41EF-846C-D5296D9B0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028680"/>
            <a:ext cx="8161905" cy="24380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273038-2F56-4984-ADAF-CC9A8FABC91C}"/>
              </a:ext>
            </a:extLst>
          </p:cNvPr>
          <p:cNvSpPr txBox="1"/>
          <p:nvPr/>
        </p:nvSpPr>
        <p:spPr>
          <a:xfrm>
            <a:off x="457200" y="5715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Poisson model shows a systematic, wave-like pattern with excess zeros, too few observed frequencies for counts of 1--3.</a:t>
            </a:r>
          </a:p>
        </p:txBody>
      </p:sp>
    </p:spTree>
    <p:extLst>
      <p:ext uri="{BB962C8B-B14F-4D97-AF65-F5344CB8AC3E}">
        <p14:creationId xmlns:p14="http://schemas.microsoft.com/office/powerpoint/2010/main" val="2316385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F5EA-9FAE-40A6-99B6-50EBA221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Comparing models: What difference does it make?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15137E-1D75-4BDE-AA4F-00D6B581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9ED5B1-A32C-4EA6-A3E4-97798130D238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NB is certainly a better fit than the Poisson; the QP cannot be distinguished by standard 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BDBCD-765C-4F5A-AAF9-0245C0E36C74}"/>
              </a:ext>
            </a:extLst>
          </p:cNvPr>
          <p:cNvSpPr txBox="1"/>
          <p:nvPr/>
        </p:nvSpPr>
        <p:spPr>
          <a:xfrm>
            <a:off x="457200" y="2094131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AIC  BIC LR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3313 3342     1634 909     &lt;2e-16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909           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3135 3169     1004 909      0.015 *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96CDAB-DD49-464B-8457-0FB8F4F65A5A}"/>
              </a:ext>
            </a:extLst>
          </p:cNvPr>
          <p:cNvSpPr txBox="1"/>
          <p:nvPr/>
        </p:nvSpPr>
        <p:spPr>
          <a:xfrm>
            <a:off x="533400" y="4724400"/>
            <a:ext cx="39624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pois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nbin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 0.266  0.266  0.213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female1     -0.224 -0.224 -0.216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married1     0.157  0.157  0.153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-0.185 -0.185 -0.176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0.025  0.025  0.029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0.025  0.025  0.029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178EE8-2573-46D4-9A57-DBBE5451DDBE}"/>
              </a:ext>
            </a:extLst>
          </p:cNvPr>
          <p:cNvSpPr txBox="1"/>
          <p:nvPr/>
        </p:nvSpPr>
        <p:spPr>
          <a:xfrm>
            <a:off x="4724400" y="4724400"/>
            <a:ext cx="36576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pois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qpois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nbin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0.0996 0.1348 0.1327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female1     0.0546 0.0738 0.0726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married1    0.0613 0.0829 0.0819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0.0401 0.0543 0.0528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0.0253 0.0342 0.0343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0.0020 0.0027 0.0032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7D356-592D-42A9-8026-0E828741F200}"/>
              </a:ext>
            </a:extLst>
          </p:cNvPr>
          <p:cNvSpPr txBox="1"/>
          <p:nvPr/>
        </p:nvSpPr>
        <p:spPr>
          <a:xfrm>
            <a:off x="533400" y="4038600"/>
            <a:ext cx="784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also compare </a:t>
            </a:r>
            <a:r>
              <a:rPr lang="en-US" dirty="0">
                <a:solidFill>
                  <a:srgbClr val="0070C0"/>
                </a:solidFill>
              </a:rPr>
              <a:t>coefficients</a:t>
            </a:r>
            <a:r>
              <a:rPr lang="en-US" dirty="0"/>
              <a:t> and their </a:t>
            </a:r>
            <a:r>
              <a:rPr lang="en-US" dirty="0">
                <a:solidFill>
                  <a:srgbClr val="FF0000"/>
                </a:solidFill>
              </a:rPr>
              <a:t>standard errors </a:t>
            </a:r>
            <a:r>
              <a:rPr lang="en-US" dirty="0"/>
              <a:t>for these models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34C453-DFCD-4E8F-89EE-1032895E813E}"/>
              </a:ext>
            </a:extLst>
          </p:cNvPr>
          <p:cNvCxnSpPr>
            <a:cxnSpLocks/>
          </p:cNvCxnSpPr>
          <p:nvPr/>
        </p:nvCxnSpPr>
        <p:spPr>
          <a:xfrm flipH="1">
            <a:off x="2667000" y="4331732"/>
            <a:ext cx="381000" cy="39266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55D34F-EC50-4C2B-AB7E-31E24FF545F8}"/>
              </a:ext>
            </a:extLst>
          </p:cNvPr>
          <p:cNvCxnSpPr/>
          <p:nvPr/>
        </p:nvCxnSpPr>
        <p:spPr>
          <a:xfrm>
            <a:off x="5486400" y="4331732"/>
            <a:ext cx="457200" cy="392668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4468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342C-045C-442A-AA90-0C8A9729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the mean-variance relation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353E5E-EF5E-4040-99B6-2B922618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911AC-CDD6-464C-9D17-2DA4076E5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4" y="1448047"/>
            <a:ext cx="8180952" cy="3961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7E7FEB-2425-3EDC-EB41-FC6FDDE6DE03}"/>
              </a:ext>
            </a:extLst>
          </p:cNvPr>
          <p:cNvSpPr txBox="1"/>
          <p:nvPr/>
        </p:nvSpPr>
        <p:spPr>
          <a:xfrm>
            <a:off x="762000" y="56388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 call this a “model sensitivity plot” – how much effect do different assumptions make?</a:t>
            </a:r>
          </a:p>
        </p:txBody>
      </p:sp>
    </p:spTree>
    <p:extLst>
      <p:ext uri="{BB962C8B-B14F-4D97-AF65-F5344CB8AC3E}">
        <p14:creationId xmlns:p14="http://schemas.microsoft.com/office/powerpoint/2010/main" val="19068336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FB96-0D36-4EC8-8CAC-FC2A01DA3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AF5824-79CC-444A-B40A-B4C591E62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940DC-5AF8-4D8A-BD2C-D31F8A7E5DA0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summary to this point should use the result of the negative-binomial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0C8BE-179E-46D7-9189-FDA9F22F75A1}"/>
              </a:ext>
            </a:extLst>
          </p:cNvPr>
          <p:cNvSpPr txBox="1"/>
          <p:nvPr/>
        </p:nvSpPr>
        <p:spPr>
          <a:xfrm>
            <a:off x="457200" y="1676400"/>
            <a:ext cx="8229600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lmtest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coeftest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z test of coefficients: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Estimate Std. Error z value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 0.21295    0.13274    1.60  0.10866    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female1     -0.21625    0.07259   -2.98  0.00289 ** 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married1     0.15279    0.08194    1.86  0.06224 .  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-0.17634    0.05279   -3.34  0.00084 ***</a:t>
            </a:r>
          </a:p>
          <a:p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0.02934    0.03427    0.86  0.39192    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0.02868    0.00324    8.86  &lt; 2e-16 ***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210BE-0B3C-4ABA-89A7-6B19762FE183}"/>
              </a:ext>
            </a:extLst>
          </p:cNvPr>
          <p:cNvSpPr txBox="1"/>
          <p:nvPr/>
        </p:nvSpPr>
        <p:spPr>
          <a:xfrm>
            <a:off x="533400" y="36576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interpretation, examine the coefficients, </a:t>
            </a:r>
            <a:r>
              <a:rPr lang="en-US" dirty="0">
                <a:sym typeface="Symbol" panose="05050102010706020507" pitchFamily="18" charset="2"/>
              </a:rPr>
              <a:t>, e</a:t>
            </a:r>
            <a:r>
              <a:rPr lang="en-US" baseline="30000" dirty="0">
                <a:sym typeface="Symbol" panose="05050102010706020507" pitchFamily="18" charset="2"/>
              </a:rPr>
              <a:t></a:t>
            </a:r>
            <a:r>
              <a:rPr lang="en-US" dirty="0">
                <a:sym typeface="Symbol" panose="05050102010706020507" pitchFamily="18" charset="2"/>
              </a:rPr>
              <a:t> and % change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BC949-218C-4B4A-987D-FDBDC8DEF51F}"/>
              </a:ext>
            </a:extLst>
          </p:cNvPr>
          <p:cNvSpPr txBox="1"/>
          <p:nvPr/>
        </p:nvSpPr>
        <p:spPr>
          <a:xfrm>
            <a:off x="609600" y="4343400"/>
            <a:ext cx="8001000" cy="193899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&gt; round(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cbind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(beta =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expbeta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= exp(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)),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pct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= 100 * (exp(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)) - 1)), 3)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beta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expbeta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pct</a:t>
            </a:r>
            <a:endParaRPr lang="en-US" sz="12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(Intercept)  0.213   1.237  23.73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female1     -0.216   0.806 -19.45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married1     0.153   1.165  16.51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-0.176   0.838 -16.17</a:t>
            </a:r>
          </a:p>
          <a:p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0.029   1.030   2.98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0.029   1.029   2.91</a:t>
            </a:r>
          </a:p>
        </p:txBody>
      </p:sp>
    </p:spTree>
    <p:extLst>
      <p:ext uri="{BB962C8B-B14F-4D97-AF65-F5344CB8AC3E}">
        <p14:creationId xmlns:p14="http://schemas.microsoft.com/office/powerpoint/2010/main" val="402114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7497-DA95-4197-A320-82826269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have we learned?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56B9E-5C5F-4399-87D1-37F4B7462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number of articles published by PhD candidates:</a:t>
            </a:r>
          </a:p>
          <a:p>
            <a:r>
              <a:rPr lang="en-US" sz="1800" dirty="0"/>
              <a:t>Most strongly predicted by </a:t>
            </a:r>
            <a:r>
              <a:rPr lang="en-US" sz="1800" dirty="0">
                <a:solidFill>
                  <a:srgbClr val="0070C0"/>
                </a:solidFill>
              </a:rPr>
              <a:t>mentor</a:t>
            </a:r>
            <a:r>
              <a:rPr lang="en-US" sz="1800" dirty="0"/>
              <a:t> pubs, but with a modest effect. On average, each mentor pub increases PhD articles by 2.9%</a:t>
            </a:r>
          </a:p>
          <a:p>
            <a:r>
              <a:rPr lang="en-US" sz="1800" dirty="0"/>
              <a:t>Next, increasing young children (</a:t>
            </a:r>
            <a:r>
              <a:rPr lang="en-US" sz="1800" dirty="0">
                <a:solidFill>
                  <a:srgbClr val="0070C0"/>
                </a:solidFill>
              </a:rPr>
              <a:t>kids5</a:t>
            </a:r>
            <a:r>
              <a:rPr lang="en-US" sz="1800" dirty="0"/>
              <a:t>) results in fewer publications. On average, each additional kid reduces PhD articles by 16%</a:t>
            </a:r>
          </a:p>
          <a:p>
            <a:r>
              <a:rPr lang="en-US" sz="1800" dirty="0"/>
              <a:t>Being </a:t>
            </a:r>
            <a:r>
              <a:rPr lang="en-US" sz="1800" dirty="0">
                <a:solidFill>
                  <a:srgbClr val="0070C0"/>
                </a:solidFill>
              </a:rPr>
              <a:t>married</a:t>
            </a:r>
            <a:r>
              <a:rPr lang="en-US" sz="1800" dirty="0"/>
              <a:t> is marginally NS, but intriguing.  Our estimate shows married candidates publish 16.5% more articles than non-married.</a:t>
            </a:r>
          </a:p>
          <a:p>
            <a:r>
              <a:rPr lang="en-US" sz="1800" dirty="0"/>
              <a:t>Perhaps surprisingly, the prestige of the PhD institution has no significant effect in this purely main-effect model. Yet, a unit change in </a:t>
            </a:r>
            <a:r>
              <a:rPr lang="en-US" sz="1800" dirty="0" err="1">
                <a:solidFill>
                  <a:srgbClr val="0070C0"/>
                </a:solidFill>
              </a:rPr>
              <a:t>phdprestige</a:t>
            </a:r>
            <a:r>
              <a:rPr lang="en-US" sz="1800" dirty="0"/>
              <a:t> is estimated as a 3% increase in PhD articles</a:t>
            </a:r>
          </a:p>
          <a:p>
            <a:r>
              <a:rPr lang="en-US" sz="1800" dirty="0"/>
              <a:t>Yet, we still have doubts:</a:t>
            </a:r>
          </a:p>
          <a:p>
            <a:pPr lvl="1"/>
            <a:r>
              <a:rPr lang="en-US" sz="1600" dirty="0"/>
              <a:t>Several cases (328, 913-915) appeared unusual in diagnostic plots. Should we refit w/o them to see if conclusions change?</a:t>
            </a:r>
          </a:p>
          <a:p>
            <a:pPr lvl="1"/>
            <a:r>
              <a:rPr lang="en-US" sz="1600" dirty="0"/>
              <a:t>The NB model might not be the best way to account for the zero counts – students who never published</a:t>
            </a:r>
          </a:p>
          <a:p>
            <a:pPr lvl="1"/>
            <a:r>
              <a:rPr lang="en-US" sz="1600" dirty="0"/>
              <a:t>Is there a better way?</a:t>
            </a:r>
          </a:p>
          <a:p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014C0A-BD36-4993-87F7-EBFB49DC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1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64FD-6035-1E80-350A-1F549B6A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Excess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247527-8C40-19CD-76EC-5C6019C0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 descr="A picture containing track, sport, track and field, ground&#10;&#10;Description automatically generated">
            <a:extLst>
              <a:ext uri="{FF2B5EF4-FFF2-40B4-BE49-F238E27FC236}">
                <a16:creationId xmlns:a16="http://schemas.microsoft.com/office/drawing/2014/main" id="{30443F53-22FF-1692-5A25-F4E6C72D7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1425575"/>
            <a:ext cx="7943850" cy="5295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D60086-3573-C094-5899-DC4FF757C4E2}"/>
              </a:ext>
            </a:extLst>
          </p:cNvPr>
          <p:cNvSpPr txBox="1"/>
          <p:nvPr/>
        </p:nvSpPr>
        <p:spPr>
          <a:xfrm>
            <a:off x="2667000" y="3895635"/>
            <a:ext cx="83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600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9E9BA-1255-325F-50EF-D2B9448FB96F}"/>
              </a:ext>
            </a:extLst>
          </p:cNvPr>
          <p:cNvSpPr txBox="1"/>
          <p:nvPr/>
        </p:nvSpPr>
        <p:spPr>
          <a:xfrm>
            <a:off x="3886200" y="2438400"/>
            <a:ext cx="83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80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DFE689-B751-9404-732B-1F845CB622A0}"/>
              </a:ext>
            </a:extLst>
          </p:cNvPr>
          <p:cNvSpPr txBox="1"/>
          <p:nvPr/>
        </p:nvSpPr>
        <p:spPr>
          <a:xfrm>
            <a:off x="5105400" y="1930568"/>
            <a:ext cx="83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60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C0CCF-8A1B-88F8-48B7-CD82B0AE35D4}"/>
              </a:ext>
            </a:extLst>
          </p:cNvPr>
          <p:cNvSpPr txBox="1"/>
          <p:nvPr/>
        </p:nvSpPr>
        <p:spPr>
          <a:xfrm>
            <a:off x="5905500" y="1752600"/>
            <a:ext cx="83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6C2DD4-79E8-69D6-ED01-50C85D89A2B5}"/>
              </a:ext>
            </a:extLst>
          </p:cNvPr>
          <p:cNvSpPr txBox="1"/>
          <p:nvPr/>
        </p:nvSpPr>
        <p:spPr>
          <a:xfrm>
            <a:off x="6934200" y="1583323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0078129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B3F8-4E06-48AB-B07C-DBECF1DE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Excess zero counts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930C2-68E5-4292-BE95-4FCEEEE8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CF4BD-178B-4F1D-8A65-88D0ACB86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1419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C009C5-79AB-4614-A3DC-6960FB868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2333"/>
            <a:ext cx="8171428" cy="1133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64F7A4-BECF-4224-8F7F-ADC422165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6" y="4181552"/>
            <a:ext cx="8171428" cy="619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47CCD2-2418-4D92-BA05-A962EF5EF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13" y="5029210"/>
            <a:ext cx="8152381" cy="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9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29DB-A1B9-4642-9442-B9F90985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 for excess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747DA-01EA-4673-B0CA-2D8421DF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0D700-A0F1-43EA-952C-E9506F5A5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8" y="1647933"/>
            <a:ext cx="8180952" cy="866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471417-3586-40C1-8959-8EB5C1C3D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48" y="2686162"/>
            <a:ext cx="8171428" cy="895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62A55E-034D-460C-B10C-6CFB2E44E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943619"/>
            <a:ext cx="2161905" cy="2152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2AADE-A69C-42CF-AD8D-345F9809B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0002" y="3924439"/>
            <a:ext cx="2076190" cy="2142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2A16DD-42CA-45C4-81D8-1EC7CD3448A8}"/>
              </a:ext>
            </a:extLst>
          </p:cNvPr>
          <p:cNvSpPr txBox="1"/>
          <p:nvPr/>
        </p:nvSpPr>
        <p:spPr>
          <a:xfrm>
            <a:off x="457200" y="1066800"/>
            <a:ext cx="8220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types of models, with different mechanisms for zero counts</a:t>
            </a:r>
          </a:p>
        </p:txBody>
      </p:sp>
    </p:spTree>
    <p:extLst>
      <p:ext uri="{BB962C8B-B14F-4D97-AF65-F5344CB8AC3E}">
        <p14:creationId xmlns:p14="http://schemas.microsoft.com/office/powerpoint/2010/main" val="249422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A372-ED2B-4912-AB3C-A87614E8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Zero-inflated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95EF1-710C-42DF-9D86-15260782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CE8F7F-2BA4-462F-909D-A5992D93AA52}"/>
              </a:ext>
            </a:extLst>
          </p:cNvPr>
          <p:cNvSpPr txBox="1"/>
          <p:nvPr/>
        </p:nvSpPr>
        <p:spPr>
          <a:xfrm>
            <a:off x="457200" y="13716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dirty="0">
                <a:solidFill>
                  <a:srgbClr val="0070C0"/>
                </a:solidFill>
              </a:rPr>
              <a:t>zero-inflated Poisson </a:t>
            </a:r>
            <a:r>
              <a:rPr lang="en-US" sz="2000" dirty="0"/>
              <a:t>(ZIP) model has two components: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C9A00-B479-4739-9BD0-1B601EE82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47" y="1905000"/>
            <a:ext cx="8161905" cy="114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2AD089-0AF0-43CE-9816-7908ADB11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267229"/>
            <a:ext cx="8171428" cy="12285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77C064-2225-4767-A629-3896A1F455CB}"/>
              </a:ext>
            </a:extLst>
          </p:cNvPr>
          <p:cNvSpPr txBox="1"/>
          <p:nvPr/>
        </p:nvSpPr>
        <p:spPr>
          <a:xfrm>
            <a:off x="457200" y="48768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application, the same predictors can be (and often are) used in both models (</a:t>
            </a:r>
            <a:r>
              <a:rPr lang="en-US" sz="2000" b="1" dirty="0"/>
              <a:t>x</a:t>
            </a:r>
            <a:r>
              <a:rPr lang="en-US" sz="2000" dirty="0"/>
              <a:t> = </a:t>
            </a:r>
            <a:r>
              <a:rPr lang="en-US" sz="2000" b="1" dirty="0"/>
              <a:t>z</a:t>
            </a:r>
            <a:r>
              <a:rPr lang="en-US" sz="2000" dirty="0"/>
              <a:t>). But not necessarily!</a:t>
            </a:r>
          </a:p>
        </p:txBody>
      </p:sp>
    </p:spTree>
    <p:extLst>
      <p:ext uri="{BB962C8B-B14F-4D97-AF65-F5344CB8AC3E}">
        <p14:creationId xmlns:p14="http://schemas.microsoft.com/office/powerpoint/2010/main" val="53167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7662-C0C1-452B-AB50-D91BA5DA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Zero-inflated models: ZIP &amp; ZINB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97E83-45F8-4035-834F-BF148702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24644-84D8-4169-85BE-42839080D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185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4C820-62F8-42ED-9B6F-6B520BD69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24" y="3305333"/>
            <a:ext cx="8180952" cy="1266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602584-6328-46C3-9342-C49250C68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84" y="4848228"/>
            <a:ext cx="8171428" cy="1238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0EAA11-1757-45DE-A878-C14844504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196824"/>
            <a:ext cx="228571" cy="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3480-839F-4331-9694-9A7EF0AF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Exploring zero-inflated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6D0F56-A715-41E6-A58D-DCC7F1C0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3949E-8A1E-4DA3-BF31-DD5AACC537DC}"/>
              </a:ext>
            </a:extLst>
          </p:cNvPr>
          <p:cNvSpPr txBox="1"/>
          <p:nvPr/>
        </p:nvSpPr>
        <p:spPr>
          <a:xfrm>
            <a:off x="457200" y="12192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little insight can be gained by generating random data from Poisson &amp; zero-inflated analog. The example uses VGAM::</a:t>
            </a:r>
            <a:r>
              <a:rPr lang="en-US" dirty="0" err="1"/>
              <a:t>rzipois</a:t>
            </a:r>
            <a:r>
              <a:rPr lang="en-US" dirty="0"/>
              <a:t>()</a:t>
            </a:r>
          </a:p>
          <a:p>
            <a:r>
              <a:rPr lang="en-US" dirty="0"/>
              <a:t>Pois(</a:t>
            </a:r>
            <a:r>
              <a:rPr lang="el-GR" dirty="0"/>
              <a:t>μ</a:t>
            </a:r>
            <a:r>
              <a:rPr lang="en-US" dirty="0"/>
              <a:t>=3) = ZIP(</a:t>
            </a:r>
            <a:r>
              <a:rPr lang="el-GR" dirty="0"/>
              <a:t>μ</a:t>
            </a:r>
            <a:r>
              <a:rPr lang="en-US" dirty="0"/>
              <a:t>=3, </a:t>
            </a:r>
            <a:r>
              <a:rPr lang="el-GR" dirty="0"/>
              <a:t>π</a:t>
            </a:r>
            <a:r>
              <a:rPr lang="en-US" dirty="0"/>
              <a:t>=0)</a:t>
            </a:r>
          </a:p>
          <a:p>
            <a:r>
              <a:rPr lang="en-US" dirty="0"/>
              <a:t>vs.                ZIP(</a:t>
            </a:r>
            <a:r>
              <a:rPr lang="el-GR" dirty="0"/>
              <a:t>μ</a:t>
            </a:r>
            <a:r>
              <a:rPr lang="en-US" dirty="0"/>
              <a:t>=3, </a:t>
            </a:r>
            <a:r>
              <a:rPr lang="el-GR" dirty="0"/>
              <a:t>π</a:t>
            </a:r>
            <a:r>
              <a:rPr lang="en-US" dirty="0"/>
              <a:t>=.3)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8DE1D-FEDE-4964-862A-BF542B9BDCAA}"/>
              </a:ext>
            </a:extLst>
          </p:cNvPr>
          <p:cNvSpPr txBox="1"/>
          <p:nvPr/>
        </p:nvSpPr>
        <p:spPr>
          <a:xfrm>
            <a:off x="457200" y="266700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set.seed(1234)</a:t>
            </a:r>
          </a:p>
          <a:p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data1 &lt;- VGAM::rzipois(200, 3, 0)</a:t>
            </a:r>
          </a:p>
          <a:p>
            <a:r>
              <a:rPr 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data2 &lt;- VGAM::rzipois(200, 3, .3)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01695-A927-456E-AC40-388DF4176958}"/>
              </a:ext>
            </a:extLst>
          </p:cNvPr>
          <p:cNvSpPr txBox="1"/>
          <p:nvPr/>
        </p:nvSpPr>
        <p:spPr>
          <a:xfrm>
            <a:off x="457200" y="3733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tables of counts show far more zeros in data2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27981-5881-4E86-A584-55745A8D6828}"/>
              </a:ext>
            </a:extLst>
          </p:cNvPr>
          <p:cNvSpPr txBox="1"/>
          <p:nvPr/>
        </p:nvSpPr>
        <p:spPr>
          <a:xfrm>
            <a:off x="457200" y="4267200"/>
            <a:ext cx="8229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table(data1)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data1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0  1  2  3  4  5  6  7  8  9 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10 31 46 54 24 20  7  3  4  1 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table(data2)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data2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0  1  2  3  4  5  6  7  9 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62 26 33 31 22  9  8  8  1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945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B1F70-01C9-4F8E-A1B2-637B1719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Exploring zero-inflated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7D5C96-BDAA-438D-9BA6-FF26FC27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39397-9948-42C1-A0E7-51E6B2626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38838"/>
            <a:ext cx="8171428" cy="4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115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5718-817A-4D4A-BDDD-8E0C0205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Hurdle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4FEDA5-16AC-4FC9-B5C8-84371DD8E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6EF13-AA79-406F-9E29-0244E22B9D88}"/>
              </a:ext>
            </a:extLst>
          </p:cNvPr>
          <p:cNvSpPr txBox="1"/>
          <p:nvPr/>
        </p:nvSpPr>
        <p:spPr>
          <a:xfrm>
            <a:off x="457200" y="13716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dirty="0">
                <a:solidFill>
                  <a:srgbClr val="0070C0"/>
                </a:solidFill>
              </a:rPr>
              <a:t>Hurdle </a:t>
            </a:r>
            <a:r>
              <a:rPr lang="en-US" sz="2000" dirty="0"/>
              <a:t>model has  also has two components: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5C4C2-AFD6-43FB-8CFF-792C0839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05000"/>
            <a:ext cx="8171428" cy="12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1C877C-EB56-40B2-A51F-22555D12F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152857"/>
            <a:ext cx="8171428" cy="657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749205-BA59-4702-A0A6-E96B17F9A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019400"/>
            <a:ext cx="8171428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3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EB51-879C-0C89-1420-9AE4926D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ZIP &amp; Hurdle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C17EB0-9759-DA2F-7E1A-5F5BF646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0484FD-F6B2-56BC-F1B5-958628F63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71428" cy="1219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C2DAAF-8203-421C-ADB7-41637E10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50316"/>
            <a:ext cx="8171428" cy="19428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80A6F5-1678-8ADD-8842-4DB74C95B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76981"/>
            <a:ext cx="8171428" cy="1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988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29C8-E292-A6E8-D827-2A37AB0E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Visualizing zero counts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DCA229-91B0-2AB3-5261-27EC3CEE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F6348-13FF-A5CA-964D-909A0E6B08B7}"/>
              </a:ext>
            </a:extLst>
          </p:cNvPr>
          <p:cNvSpPr txBox="1"/>
          <p:nvPr/>
        </p:nvSpPr>
        <p:spPr>
          <a:xfrm>
            <a:off x="457200" y="10668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It is often useful to plot the data for the binary distinction between </a:t>
            </a:r>
            <a:r>
              <a:rPr lang="en-CA" i="1" dirty="0" err="1"/>
              <a:t>y</a:t>
            </a:r>
            <a:r>
              <a:rPr lang="en-CA" baseline="-25000" dirty="0" err="1"/>
              <a:t>i</a:t>
            </a:r>
            <a:r>
              <a:rPr lang="en-CA" dirty="0"/>
              <a:t> = 0 vs. </a:t>
            </a:r>
            <a:r>
              <a:rPr lang="en-CA" i="1" dirty="0" err="1"/>
              <a:t>y</a:t>
            </a:r>
            <a:r>
              <a:rPr lang="en-CA" baseline="-25000" dirty="0" err="1"/>
              <a:t>i</a:t>
            </a:r>
            <a:r>
              <a:rPr lang="en-CA" dirty="0"/>
              <a:t> &gt; 0 as in logistic regression models.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B04B2-7F7C-571B-E6BF-5FF2C28887A2}"/>
              </a:ext>
            </a:extLst>
          </p:cNvPr>
          <p:cNvSpPr txBox="1"/>
          <p:nvPr/>
        </p:nvSpPr>
        <p:spPr>
          <a:xfrm>
            <a:off x="457200" y="182880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plot(factor(articles==0) ~ mentor, data=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ylevels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=1:2,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="Zero articles",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breaks=quantile(mentor, probs=seq(0,1,.2)))</a:t>
            </a:r>
          </a:p>
        </p:txBody>
      </p:sp>
      <p:pic>
        <p:nvPicPr>
          <p:cNvPr id="9" name="Picture 8" descr="Chart, histogram&#10;&#10;Description automatically generated">
            <a:extLst>
              <a:ext uri="{FF2B5EF4-FFF2-40B4-BE49-F238E27FC236}">
                <a16:creationId xmlns:a16="http://schemas.microsoft.com/office/drawing/2014/main" id="{4CC4A014-BE44-1EF3-5676-03F30A5AA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56557"/>
            <a:ext cx="5303520" cy="35501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7DC74C-A054-1437-E5DC-537C95087CE3}"/>
              </a:ext>
            </a:extLst>
          </p:cNvPr>
          <p:cNvSpPr txBox="1"/>
          <p:nvPr/>
        </p:nvSpPr>
        <p:spPr>
          <a:xfrm>
            <a:off x="6096000" y="3276600"/>
            <a:ext cx="259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As expected, zero counts decrease with mentor pubs</a:t>
            </a:r>
          </a:p>
          <a:p>
            <a:endParaRPr lang="en-CA" dirty="0"/>
          </a:p>
          <a:p>
            <a:r>
              <a:rPr lang="en-CA" dirty="0"/>
              <a:t>NB: This gives a </a:t>
            </a:r>
            <a:r>
              <a:rPr lang="en-CA" dirty="0" err="1"/>
              <a:t>spineplot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00978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4D28-10A6-0E8E-41A7-D00E6D85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E4A4D2-9219-39F8-8F9C-49DC4987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FDE1D-6D84-046C-D1D1-79F910EB8F6D}"/>
              </a:ext>
            </a:extLst>
          </p:cNvPr>
          <p:cNvSpPr txBox="1"/>
          <p:nvPr/>
        </p:nvSpPr>
        <p:spPr>
          <a:xfrm>
            <a:off x="457200" y="13716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 illustrate, I fit all four models, the combinations of (ZI, hurdle) × (</a:t>
            </a:r>
            <a:r>
              <a:rPr lang="en-CA" dirty="0" err="1"/>
              <a:t>poisson</a:t>
            </a:r>
            <a:r>
              <a:rPr lang="en-CA" dirty="0"/>
              <a:t>, </a:t>
            </a:r>
            <a:r>
              <a:rPr lang="en-CA" dirty="0" err="1"/>
              <a:t>nbin</a:t>
            </a:r>
            <a:r>
              <a:rPr lang="en-CA" dirty="0"/>
              <a:t>) to the </a:t>
            </a:r>
            <a:r>
              <a:rPr lang="en-CA" dirty="0" err="1"/>
              <a:t>phdpubs</a:t>
            </a:r>
            <a:r>
              <a:rPr lang="en-CA" dirty="0"/>
              <a:t> data.</a:t>
            </a:r>
          </a:p>
          <a:p>
            <a:endParaRPr lang="en-CA" dirty="0"/>
          </a:p>
          <a:p>
            <a:r>
              <a:rPr lang="en-CA" dirty="0"/>
              <a:t>For simplicity, I use </a:t>
            </a:r>
            <a:r>
              <a:rPr lang="en-CA" dirty="0">
                <a:solidFill>
                  <a:srgbClr val="0070C0"/>
                </a:solidFill>
              </a:rPr>
              <a:t>all predictors </a:t>
            </a:r>
            <a:r>
              <a:rPr lang="en-CA" dirty="0"/>
              <a:t>for both the zero model and the non-zero model.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12E35-14E1-CC1C-6085-FCE4CF352BCE}"/>
              </a:ext>
            </a:extLst>
          </p:cNvPr>
          <p:cNvSpPr txBox="1"/>
          <p:nvPr/>
        </p:nvSpPr>
        <p:spPr>
          <a:xfrm>
            <a:off x="457200" y="2952929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phd.zip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zeroinfl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., data=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phd.znb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zeroinfl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., data=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negbin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endParaRPr lang="en-CA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phd.hp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&lt;- hurdle(articles ~ ., data=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phd.hnb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&lt;- hurdle(articles ~ ., data=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negbin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2630149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F0D4-872F-7844-6BF0-16D5FF7A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63F7D-BCE0-0B7E-8135-58A2C6B7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39779-DCBF-4EEB-1659-BA67DFEF150B}"/>
              </a:ext>
            </a:extLst>
          </p:cNvPr>
          <p:cNvSpPr txBox="1"/>
          <p:nvPr/>
        </p:nvSpPr>
        <p:spPr>
          <a:xfrm>
            <a:off x="457200" y="12954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Compare the models, sorting by BIC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B21B7-3D83-4730-7661-421F5EF2C92C}"/>
              </a:ext>
            </a:extLst>
          </p:cNvPr>
          <p:cNvSpPr txBox="1"/>
          <p:nvPr/>
        </p:nvSpPr>
        <p:spPr>
          <a:xfrm>
            <a:off x="457200" y="2011362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phd.zip,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phd.znb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phd.hp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sortby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="BIC")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AIC    BIC LR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3313.3 3342.3   3301.3 909  &lt; 2.2e-16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phd.hp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3234.5 3292.4   3210.5 903  &lt; 2.2e-16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phd.zip  3233.5 3291.3   3209.5 903  &lt; 2.2e-16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3130.9 3193.5   3104.9 902  &lt; 2.2e-16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phd.znb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3125.8 3188.4   3099.8 902  &lt; 2.2e-16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3135.4 3169.1   3121.4 909  &lt; 2.2e-16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1E983-FCB0-ED56-6681-A54136C4935B}"/>
              </a:ext>
            </a:extLst>
          </p:cNvPr>
          <p:cNvSpPr txBox="1"/>
          <p:nvPr/>
        </p:nvSpPr>
        <p:spPr>
          <a:xfrm>
            <a:off x="457200" y="495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standard negative binomial model looks best by BIC.</a:t>
            </a:r>
          </a:p>
          <a:p>
            <a:r>
              <a:rPr lang="en-CA" dirty="0"/>
              <a:t>Why do you think this is? (Hint: look at the residual </a:t>
            </a:r>
            <a:r>
              <a:rPr lang="en-CA" dirty="0" err="1"/>
              <a:t>df</a:t>
            </a:r>
            <a:r>
              <a:rPr lang="en-C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73609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4A42B7-7874-53FE-96E7-51E5F9B1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BCD15-D74D-0520-2D8B-1D9B3C04E39E}"/>
              </a:ext>
            </a:extLst>
          </p:cNvPr>
          <p:cNvSpPr txBox="1"/>
          <p:nvPr/>
        </p:nvSpPr>
        <p:spPr>
          <a:xfrm>
            <a:off x="533400" y="1224439"/>
            <a:ext cx="8153400" cy="418576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lmtest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::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coeftest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(phd.zip)</a:t>
            </a:r>
          </a:p>
          <a:p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t test of coefficients:</a:t>
            </a:r>
          </a:p>
          <a:p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Estimate Std. Error t value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(&gt;|t|)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count_(Intercept)  0.59918    0.11861    5.05  5.3e-07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count_female1     -0.20879    0.06353   -3.29   0.0011 **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count_married1     0.10623    0.07097    1.50   0.1348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count_kid5        -0.14271    0.04744   -3.01   0.0027 **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count_phdprestige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0.00700    0.02981    0.23   0.8145   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count_mentor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0.01785    0.00233    7.65  5.3e-14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zero_(Intercept)  -0.56332    0.49405   -1.14   0.2545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zero_female1       0.10816    0.28173    0.38   0.7011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zero_married1     -0.35558    0.31796   -1.12   0.2637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zero_kid5          0.21974    0.19658    1.12   0.2639   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zero_phdprestige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-0.00537    0.14118   -0.04   0.9697   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-0.13313    0.04643   -2.87   0.0042 **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97C2D-CF91-D089-6929-661E3B442704}"/>
              </a:ext>
            </a:extLst>
          </p:cNvPr>
          <p:cNvSpPr txBox="1"/>
          <p:nvPr/>
        </p:nvSpPr>
        <p:spPr>
          <a:xfrm>
            <a:off x="533400" y="4572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Nevertheless, it is useful to examine the coefficients in the ZIP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74F5C-409D-642D-581C-C5D84BE6B35E}"/>
              </a:ext>
            </a:extLst>
          </p:cNvPr>
          <p:cNvSpPr txBox="1"/>
          <p:nvPr/>
        </p:nvSpPr>
        <p:spPr>
          <a:xfrm>
            <a:off x="533400" y="57150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Only mentor is significant in the ZIP model, simplifying interpretation.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F58B8B29-920A-B0CF-F693-B563950C8CEB}"/>
              </a:ext>
            </a:extLst>
          </p:cNvPr>
          <p:cNvSpPr/>
          <p:nvPr/>
        </p:nvSpPr>
        <p:spPr>
          <a:xfrm>
            <a:off x="7010400" y="2209800"/>
            <a:ext cx="447675" cy="1295400"/>
          </a:xfrm>
          <a:prstGeom prst="rightBrace">
            <a:avLst>
              <a:gd name="adj1" fmla="val 8333"/>
              <a:gd name="adj2" fmla="val 49265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9E79D522-D008-229E-BCA4-7C43979C96BF}"/>
              </a:ext>
            </a:extLst>
          </p:cNvPr>
          <p:cNvSpPr/>
          <p:nvPr/>
        </p:nvSpPr>
        <p:spPr>
          <a:xfrm>
            <a:off x="7010399" y="3603109"/>
            <a:ext cx="447675" cy="1197491"/>
          </a:xfrm>
          <a:prstGeom prst="rightBrace">
            <a:avLst>
              <a:gd name="adj1" fmla="val 8333"/>
              <a:gd name="adj2" fmla="val 49265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6ED6B-D1AF-BF20-1E7F-5F1CF6379894}"/>
              </a:ext>
            </a:extLst>
          </p:cNvPr>
          <p:cNvSpPr txBox="1"/>
          <p:nvPr/>
        </p:nvSpPr>
        <p:spPr>
          <a:xfrm>
            <a:off x="7496175" y="267283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counts &gt;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7F51B-27A7-9673-54E5-2A3BD9979E6D}"/>
              </a:ext>
            </a:extLst>
          </p:cNvPr>
          <p:cNvSpPr txBox="1"/>
          <p:nvPr/>
        </p:nvSpPr>
        <p:spPr>
          <a:xfrm>
            <a:off x="7496175" y="401718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counts = 0</a:t>
            </a:r>
          </a:p>
        </p:txBody>
      </p:sp>
    </p:spTree>
    <p:extLst>
      <p:ext uri="{BB962C8B-B14F-4D97-AF65-F5344CB8AC3E}">
        <p14:creationId xmlns:p14="http://schemas.microsoft.com/office/powerpoint/2010/main" val="18049113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FF1641-CC9C-72D1-99CC-82FEB09C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C7ADD-7281-FBCA-E9CF-D1D7E8B1E3C8}"/>
              </a:ext>
            </a:extLst>
          </p:cNvPr>
          <p:cNvSpPr txBox="1"/>
          <p:nvPr/>
        </p:nvSpPr>
        <p:spPr>
          <a:xfrm>
            <a:off x="685800" y="990600"/>
            <a:ext cx="80010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phd.zip1 &lt;-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zeroinfl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.| mentor, data=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phd.znb1 &lt;-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zeroinfl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(articles ~ .| mentor, data=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PhdPubs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negbin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182FE-E541-286C-190C-C11EE084F468}"/>
              </a:ext>
            </a:extLst>
          </p:cNvPr>
          <p:cNvSpPr txBox="1"/>
          <p:nvPr/>
        </p:nvSpPr>
        <p:spPr>
          <a:xfrm>
            <a:off x="685800" y="3810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Let’s refit the ZIP and ZNB models using only 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mentor</a:t>
            </a:r>
            <a:r>
              <a:rPr lang="en-CA" dirty="0"/>
              <a:t> for the zero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1D751-3049-17A2-483C-28E054E2BBC0}"/>
              </a:ext>
            </a:extLst>
          </p:cNvPr>
          <p:cNvSpPr txBox="1"/>
          <p:nvPr/>
        </p:nvSpPr>
        <p:spPr>
          <a:xfrm>
            <a:off x="685800" y="1828800"/>
            <a:ext cx="800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Compare models again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42194-8DD9-235A-AD9F-500F1657C447}"/>
              </a:ext>
            </a:extLst>
          </p:cNvPr>
          <p:cNvSpPr txBox="1"/>
          <p:nvPr/>
        </p:nvSpPr>
        <p:spPr>
          <a:xfrm>
            <a:off x="685800" y="2362200"/>
            <a:ext cx="80010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phd.zip,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phd.znb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phd.hp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+         phd.zip1, phd.znb1,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sortby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="BIC")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AIC  BIC LR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phd.pois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3313 3342     3301 909     &lt;2e-16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phd.hp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3235 3292     3211 903     &lt;2e-16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phd.zip  3234 3291     3210 903     &lt;2e-16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phd.zip1 3227 3266     3211 907     &lt;2e-16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phd.hnb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3131 3194     3105 902     &lt;2e-16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phd.znb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3126 3188     3100 902     &lt;2e-16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3135 3169     3121 909     &lt;2e-16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phd.znb1 3124 3168     3106 906     &lt;2e-16 ***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4DDDB-C30F-6536-0DF5-B9B781C696B2}"/>
              </a:ext>
            </a:extLst>
          </p:cNvPr>
          <p:cNvSpPr txBox="1"/>
          <p:nvPr/>
        </p:nvSpPr>
        <p:spPr>
          <a:xfrm>
            <a:off x="533400" y="57150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Now, the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phd.znb1 </a:t>
            </a:r>
            <a:r>
              <a:rPr lang="en-CA" dirty="0"/>
              <a:t>model looks best by BIC. Let’s stick with this.</a:t>
            </a:r>
          </a:p>
        </p:txBody>
      </p:sp>
    </p:spTree>
    <p:extLst>
      <p:ext uri="{BB962C8B-B14F-4D97-AF65-F5344CB8AC3E}">
        <p14:creationId xmlns:p14="http://schemas.microsoft.com/office/powerpoint/2010/main" val="11795404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52D81-A646-29AC-9153-73A28F2F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interpretation: Coefficients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96F187-5DA0-7D71-0FAE-3D40A0E9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A9ECA-7E83-A896-35B8-7EA1043BFBF7}"/>
              </a:ext>
            </a:extLst>
          </p:cNvPr>
          <p:cNvSpPr txBox="1"/>
          <p:nvPr/>
        </p:nvSpPr>
        <p:spPr>
          <a:xfrm>
            <a:off x="457200" y="1752600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(phd.znb1)[c(1,2,4,6,7,8)]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count_(Intercept)     count_female1        count_kid5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count_mentor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0.3572           -0.2116           -0.1675            0.0241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zero_(Intercept)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-0.8169           -0.6080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76D7E-35A9-9C5D-9F39-C50F595ABE5C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Ignoring the NS coefficients in the revised ZNB model (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phd.znb1</a:t>
            </a:r>
            <a:r>
              <a:rPr lang="en-CA" sz="2000" dirty="0"/>
              <a:t>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2844BD-6420-2BB0-4153-8E7FE0CC3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3229210"/>
            <a:ext cx="8171428" cy="18761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23C838-34AF-4714-3F72-F8F562788513}"/>
              </a:ext>
            </a:extLst>
          </p:cNvPr>
          <p:cNvSpPr txBox="1"/>
          <p:nvPr/>
        </p:nvSpPr>
        <p:spPr>
          <a:xfrm>
            <a:off x="609600" y="5638800"/>
            <a:ext cx="804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Can you describe these in words?</a:t>
            </a:r>
          </a:p>
        </p:txBody>
      </p:sp>
    </p:spTree>
    <p:extLst>
      <p:ext uri="{BB962C8B-B14F-4D97-AF65-F5344CB8AC3E}">
        <p14:creationId xmlns:p14="http://schemas.microsoft.com/office/powerpoint/2010/main" val="2208619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52D81-A646-29AC-9153-73A28F2F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interpretation: Coefficients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96F187-5DA0-7D71-0FAE-3D40A0E9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A9ECA-7E83-A896-35B8-7EA1043BFBF7}"/>
              </a:ext>
            </a:extLst>
          </p:cNvPr>
          <p:cNvSpPr txBox="1"/>
          <p:nvPr/>
        </p:nvSpPr>
        <p:spPr>
          <a:xfrm>
            <a:off x="457200" y="1752600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exp(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coef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(phd.znb1)[c(1,2,4,6,7,8)])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count_(Intercept)     count_female1        count_kid5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count_mentor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1.429             0.809             0.846             1.024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zero_(Intercept)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zero_mentor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0.442             0.544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76D7E-35A9-9C5D-9F39-C50F595ABE5C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Often easier to interpret exp(</a:t>
            </a:r>
            <a:r>
              <a:rPr lang="el-GR" sz="2000" dirty="0"/>
              <a:t>β</a:t>
            </a:r>
            <a:r>
              <a:rPr lang="en-CA" sz="20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5A9E6-A480-8BA2-5FE6-D7671A95366C}"/>
              </a:ext>
            </a:extLst>
          </p:cNvPr>
          <p:cNvSpPr txBox="1"/>
          <p:nvPr/>
        </p:nvSpPr>
        <p:spPr>
          <a:xfrm>
            <a:off x="457200" y="3352800"/>
            <a:ext cx="8229600" cy="1754326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/>
              <a:t>Female</a:t>
            </a:r>
            <a:r>
              <a:rPr lang="en-CA" dirty="0"/>
              <a:t>: Women publish .21 fewer log articles, .81 times that of men (20% decrease)</a:t>
            </a:r>
          </a:p>
          <a:p>
            <a:r>
              <a:rPr lang="en-CA" b="1" dirty="0"/>
              <a:t>Kids5</a:t>
            </a:r>
            <a:r>
              <a:rPr lang="en-CA" dirty="0"/>
              <a:t>: Each additional kid&lt;5 </a:t>
            </a:r>
            <a:r>
              <a:rPr lang="en-CA" dirty="0">
                <a:sym typeface="Symbol" panose="05050102010706020507" pitchFamily="18" charset="2"/>
              </a:rPr>
              <a:t> .17 fewer log articles, a 15% decrease</a:t>
            </a:r>
          </a:p>
          <a:p>
            <a:r>
              <a:rPr lang="en-CA" b="1" dirty="0">
                <a:sym typeface="Symbol" panose="05050102010706020507" pitchFamily="18" charset="2"/>
              </a:rPr>
              <a:t>Mentor</a:t>
            </a:r>
            <a:r>
              <a:rPr lang="en-CA" dirty="0">
                <a:sym typeface="Symbol" panose="05050102010706020507" pitchFamily="18" charset="2"/>
              </a:rPr>
              <a:t>: Each additional mentor article  .024 more PhD log pubs (2.4% increase)</a:t>
            </a:r>
          </a:p>
          <a:p>
            <a:endParaRPr lang="en-CA" dirty="0">
              <a:sym typeface="Symbol" panose="05050102010706020507" pitchFamily="18" charset="2"/>
            </a:endParaRPr>
          </a:p>
          <a:p>
            <a:r>
              <a:rPr lang="en-CA" b="1" dirty="0">
                <a:sym typeface="Symbol" panose="05050102010706020507" pitchFamily="18" charset="2"/>
              </a:rPr>
              <a:t>Count model</a:t>
            </a:r>
            <a:r>
              <a:rPr lang="en-CA" dirty="0">
                <a:sym typeface="Symbol" panose="05050102010706020507" pitchFamily="18" charset="2"/>
              </a:rPr>
              <a:t>: Each additional mentor article decreases log odds </a:t>
            </a:r>
            <a:r>
              <a:rPr lang="en-CA" dirty="0" err="1">
                <a:sym typeface="Symbol" panose="05050102010706020507" pitchFamily="18" charset="2"/>
              </a:rPr>
              <a:t>PhDpubs</a:t>
            </a:r>
            <a:r>
              <a:rPr lang="en-CA" dirty="0">
                <a:sym typeface="Symbol" panose="05050102010706020507" pitchFamily="18" charset="2"/>
              </a:rPr>
              <a:t> = 0 by 0.608, a 45% decrease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22F18-E45B-23C9-4698-469737724E35}"/>
              </a:ext>
            </a:extLst>
          </p:cNvPr>
          <p:cNvSpPr txBox="1"/>
          <p:nvPr/>
        </p:nvSpPr>
        <p:spPr>
          <a:xfrm>
            <a:off x="609600" y="5334000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Get your mentor to publish!!</a:t>
            </a:r>
          </a:p>
        </p:txBody>
      </p:sp>
    </p:spTree>
    <p:extLst>
      <p:ext uri="{BB962C8B-B14F-4D97-AF65-F5344CB8AC3E}">
        <p14:creationId xmlns:p14="http://schemas.microsoft.com/office/powerpoint/2010/main" val="34740817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6BFD-839A-0794-6384-82F0FFFF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interpretation: Effect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4011B-5707-FA01-C81A-49114D77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A06F0-3E1F-886C-3645-20FA03870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8171428" cy="1771429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EEF0D65D-A8B9-3DF5-A128-C56C5D457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20" y="3429000"/>
            <a:ext cx="8487960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264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6CD00-5474-B3C3-78D6-4F4D22A0A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488B7-7DBB-1406-1FC9-75DC78C8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457200"/>
            <a:ext cx="8171428" cy="1971429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4051E8F2-215D-59C8-6426-70DD3CBD3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185" y="2686614"/>
            <a:ext cx="5029615" cy="412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744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CDA4F1-12D0-CA37-F400-389C444F2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have we learned?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1B5A75-3CFE-A7F4-843F-950B9ADE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AD5B7-3191-8591-D0F3-DC81FA0C5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171428" cy="885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03DA9F-FCBF-6E44-58E4-6F709867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35238"/>
            <a:ext cx="8171428" cy="6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527D40-9578-FAA5-D068-7A558F84F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6" y="3384562"/>
            <a:ext cx="8171428" cy="885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EC973B-0CC5-3178-F3E4-E146C792C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86" y="4419600"/>
            <a:ext cx="8171428" cy="1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8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241F0-231A-8BD0-FD17-85AD9772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have we learned?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175561-6694-E18D-527B-0B318053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4AF59-BA7A-D698-75A7-98BD043AA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47800"/>
            <a:ext cx="8171428" cy="19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3936FA-3FB0-0C56-0437-7C40AED08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505200"/>
            <a:ext cx="8171428" cy="590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6D115B-175E-35B1-3626-06A024F40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6" y="4295952"/>
            <a:ext cx="8171428" cy="1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716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6A43-A3EA-2BC2-95A4-451C773FE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have we forgotten?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0D217-F36C-4FA6-A038-79A8ED9D6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“</a:t>
            </a:r>
            <a:r>
              <a:rPr lang="en-CA" sz="2400" i="1" dirty="0">
                <a:solidFill>
                  <a:schemeClr val="accent2">
                    <a:lumMod val="75000"/>
                  </a:schemeClr>
                </a:solidFill>
              </a:rPr>
              <a:t>All models are wrong, but some are useful</a:t>
            </a:r>
            <a:r>
              <a:rPr lang="en-CA" sz="2400" dirty="0"/>
              <a:t>” --- GEP Box</a:t>
            </a:r>
          </a:p>
          <a:p>
            <a:r>
              <a:rPr lang="en-CA" sz="2400" dirty="0"/>
              <a:t>Model </a:t>
            </a:r>
            <a:r>
              <a:rPr lang="en-CA" sz="2400" dirty="0">
                <a:solidFill>
                  <a:srgbClr val="0070C0"/>
                </a:solidFill>
              </a:rPr>
              <a:t>building</a:t>
            </a:r>
            <a:r>
              <a:rPr lang="en-CA" sz="2400" dirty="0"/>
              <a:t> and model </a:t>
            </a:r>
            <a:r>
              <a:rPr lang="en-CA" sz="2400" dirty="0">
                <a:solidFill>
                  <a:srgbClr val="0070C0"/>
                </a:solidFill>
              </a:rPr>
              <a:t>criticism</a:t>
            </a:r>
            <a:r>
              <a:rPr lang="en-CA" sz="2400" dirty="0"/>
              <a:t> go hand in hand</a:t>
            </a:r>
          </a:p>
          <a:p>
            <a:r>
              <a:rPr lang="en-CA" sz="2400" dirty="0"/>
              <a:t>But they don’t form a linear series of steps you can put into a flow 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E76942-077B-DB25-ED82-B03588EF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76</a:t>
            </a:fld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4BBB5BDB-FD6F-D1DC-424B-EFE9EB624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057832"/>
            <a:ext cx="5163474" cy="317090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D415BD-963A-D7A3-AE94-789EDC0BF0C0}"/>
              </a:ext>
            </a:extLst>
          </p:cNvPr>
          <p:cNvCxnSpPr/>
          <p:nvPr/>
        </p:nvCxnSpPr>
        <p:spPr>
          <a:xfrm>
            <a:off x="1600200" y="3057832"/>
            <a:ext cx="5791200" cy="2733368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33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0A79-AD25-343E-FB25-FA60788F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have we forgotten?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264F0-8982-1DA9-46C9-CEB3A4764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447800"/>
          </a:xfrm>
        </p:spPr>
        <p:txBody>
          <a:bodyPr>
            <a:normAutofit/>
          </a:bodyPr>
          <a:lstStyle/>
          <a:p>
            <a:r>
              <a:rPr lang="en-CA" sz="2400" dirty="0"/>
              <a:t>Sometimes, you have to go back and revisit decisions made earlier:</a:t>
            </a:r>
          </a:p>
          <a:p>
            <a:pPr marL="0" indent="0">
              <a:buNone/>
            </a:pPr>
            <a:r>
              <a:rPr lang="en-CA" sz="2400" dirty="0"/>
              <a:t>                    Fit </a:t>
            </a:r>
            <a:r>
              <a:rPr lang="en-CA" sz="2400" dirty="0">
                <a:sym typeface="Symbol" panose="05050102010706020507" pitchFamily="18" charset="2"/>
              </a:rPr>
              <a:t> </a:t>
            </a:r>
            <a:r>
              <a:rPr lang="en-CA" sz="2400" dirty="0"/>
              <a:t>Re-think </a:t>
            </a:r>
            <a:r>
              <a:rPr lang="en-CA" sz="2400" dirty="0">
                <a:sym typeface="Symbol" panose="05050102010706020507" pitchFamily="18" charset="2"/>
              </a:rPr>
              <a:t> Re-fit  Re-interpret</a:t>
            </a: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86AB5-A95B-1736-7E5B-0962C2D6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77</a:t>
            </a:fld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97F684A8-D17A-355B-D021-A925F9C77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2710088"/>
            <a:ext cx="5243512" cy="347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272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ABA14-EDB3-3DC0-8633-C697C57F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I missed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B6249-3C7F-625C-7A92-0C0ACE639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In the initial model,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phdprestige</a:t>
            </a:r>
            <a:r>
              <a:rPr lang="en-CA" sz="2400" dirty="0"/>
              <a:t> was NS. I decided to keep it</a:t>
            </a:r>
          </a:p>
          <a:p>
            <a:r>
              <a:rPr lang="en-CA" sz="2400" dirty="0"/>
              <a:t>In the check for two-way interactions, the interaction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phdprestige:mentor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/>
              <a:t>was borderline (p = 0.051)</a:t>
            </a:r>
          </a:p>
          <a:p>
            <a:pPr lvl="1"/>
            <a:r>
              <a:rPr lang="en-CA" sz="2000" dirty="0"/>
              <a:t>I did a global test for all interactions together</a:t>
            </a:r>
          </a:p>
          <a:p>
            <a:pPr lvl="1"/>
            <a:r>
              <a:rPr lang="en-CA" sz="2000" dirty="0"/>
              <a:t>This was NS (p = 0.08), so I decided to dismiss them all</a:t>
            </a:r>
          </a:p>
          <a:p>
            <a:pPr lvl="1"/>
            <a:r>
              <a:rPr lang="en-CA" sz="2000" dirty="0"/>
              <a:t>(I wanted to keep he model simple, to go on to other topics: overdispersion, models for excess zeros)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F78C6-BED9-4287-95B1-6B372AF7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067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BC4D8-B60A-2B1A-0FA5-7A5F7B04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Back to square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8DE9-E4DF-F4AA-633E-0BD22FF9B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600200"/>
          </a:xfrm>
        </p:spPr>
        <p:txBody>
          <a:bodyPr>
            <a:normAutofit lnSpcReduction="10000"/>
          </a:bodyPr>
          <a:lstStyle/>
          <a:p>
            <a:r>
              <a:rPr lang="en-CA" sz="2000" dirty="0"/>
              <a:t>A question in a former class made me reconsider the </a:t>
            </a:r>
            <a:r>
              <a:rPr lang="en-CA" sz="2000" dirty="0" err="1"/>
              <a:t>phdprestige:mentor</a:t>
            </a:r>
            <a:r>
              <a:rPr lang="en-CA" sz="2000" dirty="0"/>
              <a:t> interaction</a:t>
            </a:r>
          </a:p>
          <a:p>
            <a:r>
              <a:rPr lang="en-CA" sz="2000" dirty="0"/>
              <a:t>Perhaps, the effect of mentor varied with </a:t>
            </a:r>
            <a:r>
              <a:rPr lang="en-CA" sz="2000" dirty="0" err="1"/>
              <a:t>phdprestige</a:t>
            </a:r>
            <a:r>
              <a:rPr lang="en-CA" sz="2000" dirty="0"/>
              <a:t>?</a:t>
            </a:r>
          </a:p>
          <a:p>
            <a:pPr marL="0" indent="0">
              <a:buNone/>
            </a:pPr>
            <a:r>
              <a:rPr lang="en-CA" sz="2000" dirty="0"/>
              <a:t>Try this, starting with the negative-binomial,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phd.nbin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000" dirty="0"/>
              <a:t>(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000" dirty="0"/>
              <a:t>is your friend)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E4E98-3F8C-ECCD-9EDC-68BF07B0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5FCF60-0BED-EA39-DE26-15B72941F5E4}"/>
              </a:ext>
            </a:extLst>
          </p:cNvPr>
          <p:cNvSpPr txBox="1"/>
          <p:nvPr/>
        </p:nvSpPr>
        <p:spPr>
          <a:xfrm>
            <a:off x="457200" y="3063657"/>
            <a:ext cx="82296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phd.nbin2 &lt;- update(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phd.nbin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. ~ . + </a:t>
            </a:r>
            <a:r>
              <a:rPr lang="en-CA" sz="14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phdprestige:mentor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(phd.nbin2)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Response: articles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LR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female                  9.1  1     0.0026 **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married                 3.1  1     0.0762 .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kid5                   10.7  1     0.0011 ** 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0.7  1     0.3921  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mentor                 72.8  1     &lt;2e-16 ***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phdprestige:mentor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5.6  1     0.0179 * 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168850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5518-B802-0986-C980-7C7D7EC1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Visualize the interaction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D24FF-28BB-EE8F-0DA0-0EA027E8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962AE-836E-A3F3-AA39-1278A876F7A7}"/>
              </a:ext>
            </a:extLst>
          </p:cNvPr>
          <p:cNvSpPr txBox="1"/>
          <p:nvPr/>
        </p:nvSpPr>
        <p:spPr>
          <a:xfrm>
            <a:off x="457200" y="1143000"/>
            <a:ext cx="82296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Aptos Mono" panose="020B0009020202020204" pitchFamily="49" charset="0"/>
              </a:rPr>
              <a:t>phd.effnb2 &lt;- </a:t>
            </a:r>
            <a:r>
              <a:rPr lang="en-CA" sz="1400" dirty="0" err="1">
                <a:latin typeface="Aptos Mono" panose="020B0009020202020204" pitchFamily="49" charset="0"/>
              </a:rPr>
              <a:t>allEffects</a:t>
            </a:r>
            <a:r>
              <a:rPr lang="en-CA" sz="1400" dirty="0">
                <a:latin typeface="Aptos Mono" panose="020B0009020202020204" pitchFamily="49" charset="0"/>
              </a:rPr>
              <a:t>(phd.nbin2)</a:t>
            </a:r>
          </a:p>
          <a:p>
            <a:r>
              <a:rPr lang="en-CA" sz="1400" dirty="0">
                <a:latin typeface="Aptos Mono" panose="020B0009020202020204" pitchFamily="49" charset="0"/>
              </a:rPr>
              <a:t>plot(phd.effnb2[4], </a:t>
            </a:r>
            <a:r>
              <a:rPr lang="en-CA" sz="1400" dirty="0" err="1">
                <a:latin typeface="Aptos Mono" panose="020B0009020202020204" pitchFamily="49" charset="0"/>
              </a:rPr>
              <a:t>x.var</a:t>
            </a:r>
            <a:r>
              <a:rPr lang="en-CA" sz="1400" dirty="0">
                <a:latin typeface="Aptos Mono" panose="020B0009020202020204" pitchFamily="49" charset="0"/>
              </a:rPr>
              <a:t>="mentor", multiline=TRUE, </a:t>
            </a:r>
            <a:r>
              <a:rPr lang="en-CA" sz="1400" b="1" dirty="0" err="1">
                <a:latin typeface="Aptos Mono" panose="020B0009020202020204" pitchFamily="49" charset="0"/>
              </a:rPr>
              <a:t>ci.style</a:t>
            </a:r>
            <a:r>
              <a:rPr lang="en-CA" sz="1400" b="1" dirty="0">
                <a:latin typeface="Aptos Mono" panose="020B0009020202020204" pitchFamily="49" charset="0"/>
              </a:rPr>
              <a:t>="bands", </a:t>
            </a:r>
            <a:r>
              <a:rPr lang="en-CA" sz="1400" dirty="0">
                <a:latin typeface="Aptos Mono" panose="020B0009020202020204" pitchFamily="49" charset="0"/>
              </a:rPr>
              <a:t>...)</a:t>
            </a:r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70CC2D1F-B778-8D43-320D-0E5063BEA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83" y="2011680"/>
            <a:ext cx="4516413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0C7ABD-DC08-2D64-B6B1-BC2D31F08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193" y="2409952"/>
            <a:ext cx="3809524" cy="2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012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5518-B802-0986-C980-7C7D7EC1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Visualize the interaction– The other way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D24FF-28BB-EE8F-0DA0-0EA027E8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962AE-836E-A3F3-AA39-1278A876F7A7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Aptos Mono" panose="020B0009020202020204" pitchFamily="49" charset="0"/>
              </a:rPr>
              <a:t>phd.effnb2 &lt;- </a:t>
            </a:r>
            <a:r>
              <a:rPr lang="en-CA" dirty="0" err="1">
                <a:latin typeface="Aptos Mono" panose="020B0009020202020204" pitchFamily="49" charset="0"/>
              </a:rPr>
              <a:t>allEffects</a:t>
            </a:r>
            <a:r>
              <a:rPr lang="en-CA" dirty="0">
                <a:latin typeface="Aptos Mono" panose="020B0009020202020204" pitchFamily="49" charset="0"/>
              </a:rPr>
              <a:t>(phd.nbin2)</a:t>
            </a:r>
          </a:p>
          <a:p>
            <a:r>
              <a:rPr lang="en-CA" dirty="0">
                <a:latin typeface="Aptos Mono" panose="020B0009020202020204" pitchFamily="49" charset="0"/>
              </a:rPr>
              <a:t>plot(phd.effnb2[4], multiline=TRUE, </a:t>
            </a:r>
            <a:r>
              <a:rPr lang="en-CA" dirty="0" err="1">
                <a:latin typeface="Aptos Mono" panose="020B0009020202020204" pitchFamily="49" charset="0"/>
              </a:rPr>
              <a:t>ci.style</a:t>
            </a:r>
            <a:r>
              <a:rPr lang="en-CA" dirty="0">
                <a:latin typeface="Aptos Mono" panose="020B0009020202020204" pitchFamily="49" charset="0"/>
              </a:rPr>
              <a:t>="bands", ...)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ED18F184-764A-005C-3B78-06D5C7850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011362"/>
            <a:ext cx="4558182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478C08-76A5-C91C-7E12-6CCEAC63F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36" y="2438400"/>
            <a:ext cx="3809524" cy="3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985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5525-7EEE-6A88-DEBF-B2FF7BE21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Back to square ONE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D5B67-5493-6A10-5320-D490D0178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Aren’t we done yet?</a:t>
            </a:r>
          </a:p>
          <a:p>
            <a:pPr marL="0" indent="0">
              <a:buNone/>
            </a:pPr>
            <a:r>
              <a:rPr lang="en-CA" sz="2400" dirty="0"/>
              <a:t>“All data are wrong, but some are useful” – </a:t>
            </a:r>
            <a:r>
              <a:rPr lang="en-CA" sz="2400" dirty="0" err="1"/>
              <a:t>Sitsofe</a:t>
            </a:r>
            <a:r>
              <a:rPr lang="en-CA" sz="2400" dirty="0"/>
              <a:t> </a:t>
            </a:r>
            <a:r>
              <a:rPr lang="en-CA" sz="2400" dirty="0" err="1"/>
              <a:t>Tsagbey</a:t>
            </a:r>
            <a:r>
              <a:rPr lang="en-CA" sz="2400" dirty="0"/>
              <a:t> et al. TAS, 2017</a:t>
            </a:r>
          </a:p>
          <a:p>
            <a:r>
              <a:rPr lang="en-CA" sz="2400" dirty="0"/>
              <a:t>A nagging doubt: what is the coding for </a:t>
            </a:r>
            <a:r>
              <a:rPr lang="en-CA" sz="2400" dirty="0" err="1"/>
              <a:t>phdprestige</a:t>
            </a:r>
            <a:r>
              <a:rPr lang="en-CA" sz="2400" dirty="0"/>
              <a:t>?</a:t>
            </a:r>
          </a:p>
          <a:p>
            <a:pPr lvl="1"/>
            <a:r>
              <a:rPr lang="en-CA" sz="2000" dirty="0"/>
              <a:t>Email from Scott Long: “the higher the number, the more prestigious the program”</a:t>
            </a:r>
          </a:p>
          <a:p>
            <a:pPr lvl="1"/>
            <a:r>
              <a:rPr lang="en-CA" sz="2000" dirty="0"/>
              <a:t>“PS: The data I used did not categorize the continuous </a:t>
            </a:r>
            <a:r>
              <a:rPr lang="en-CA" sz="2000" dirty="0" err="1"/>
              <a:t>phd</a:t>
            </a:r>
            <a:r>
              <a:rPr lang="en-CA" sz="2000" dirty="0"/>
              <a:t> scale into discrete categories”</a:t>
            </a:r>
          </a:p>
          <a:p>
            <a:r>
              <a:rPr lang="en-CA" sz="2400" dirty="0"/>
              <a:t>Found the original Stata data set:</a:t>
            </a:r>
          </a:p>
          <a:p>
            <a:endParaRPr lang="en-CA" sz="2400" dirty="0"/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976BBF-45FC-F61A-CCA9-8EF38876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5754A-746D-4448-9DB3-D202BC80F0A4}"/>
              </a:ext>
            </a:extLst>
          </p:cNvPr>
          <p:cNvSpPr txBox="1"/>
          <p:nvPr/>
        </p:nvSpPr>
        <p:spPr>
          <a:xfrm>
            <a:off x="457200" y="487680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library(foreign)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PhdPubs2 &lt;-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read.dta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("http://www.stata-press.com/data/lf2/couart2.dta")</a:t>
            </a:r>
          </a:p>
        </p:txBody>
      </p:sp>
    </p:spTree>
    <p:extLst>
      <p:ext uri="{BB962C8B-B14F-4D97-AF65-F5344CB8AC3E}">
        <p14:creationId xmlns:p14="http://schemas.microsoft.com/office/powerpoint/2010/main" val="302013982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40DE-4C56-4EE6-8619-A37E316F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Compare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E2284-8C96-42B2-8E75-5940905B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743A6-DB11-4AE0-A64E-75CA9127EFA1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Histograms with smoothed density estimate of the two versions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phdprestige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They are very different!</a:t>
            </a:r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AE62F834-D14B-4667-86FB-EE1CD1B0F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295854"/>
            <a:ext cx="4023360" cy="4023360"/>
          </a:xfrm>
          <a:prstGeom prst="rect">
            <a:avLst/>
          </a:prstGeom>
        </p:spPr>
      </p:pic>
      <p:pic>
        <p:nvPicPr>
          <p:cNvPr id="9" name="Picture 8" descr="Chart, line chart, histogram&#10;&#10;Description automatically generated">
            <a:extLst>
              <a:ext uri="{FF2B5EF4-FFF2-40B4-BE49-F238E27FC236}">
                <a16:creationId xmlns:a16="http://schemas.microsoft.com/office/drawing/2014/main" id="{A09A63FE-86B9-4076-B04F-07A3F1C09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0" y="2301875"/>
            <a:ext cx="4023360" cy="401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168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46DC-D50B-4626-A7EA-9DC9E1AD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to do?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7C8FA-EA01-4FBF-9145-FDFC3738E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Re-run the analysis with the new data set, PhdPubs2</a:t>
            </a:r>
          </a:p>
          <a:p>
            <a:r>
              <a:rPr lang="en-US" dirty="0"/>
              <a:t>This could be called a </a:t>
            </a:r>
            <a:r>
              <a:rPr lang="en-US" dirty="0">
                <a:solidFill>
                  <a:srgbClr val="0070C0"/>
                </a:solidFill>
              </a:rPr>
              <a:t>sensitivity analysis </a:t>
            </a:r>
            <a:r>
              <a:rPr lang="en-US" dirty="0"/>
              <a:t>– does the new data alter conclusions?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Q: Are the results of the phd.nbin2 and phd.znb2 models about the same. A: </a:t>
            </a:r>
            <a:r>
              <a:rPr lang="en-US" dirty="0">
                <a:solidFill>
                  <a:srgbClr val="FF0000"/>
                </a:solidFill>
              </a:rPr>
              <a:t>YES!</a:t>
            </a:r>
          </a:p>
          <a:p>
            <a:r>
              <a:rPr lang="en-US" dirty="0"/>
              <a:t>Q: Is the interaction of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phdprestige:mentor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about the same. A: </a:t>
            </a:r>
            <a:r>
              <a:rPr lang="en-US" dirty="0">
                <a:solidFill>
                  <a:srgbClr val="FF0000"/>
                </a:solidFill>
              </a:rPr>
              <a:t>YES!</a:t>
            </a:r>
          </a:p>
          <a:p>
            <a:r>
              <a:rPr lang="en-US" dirty="0"/>
              <a:t>Q: Does the effect plot look about the same? A: </a:t>
            </a:r>
            <a:r>
              <a:rPr lang="en-US" dirty="0">
                <a:solidFill>
                  <a:srgbClr val="FF0000"/>
                </a:solidFill>
              </a:rPr>
              <a:t>YES!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FBD67-B82B-4475-8EF3-4B6A7B99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8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6C0B-83EE-440C-9D1E-EFA92A07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else is there?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F5766-EEB8-4909-8A74-43F954669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PhdPubs</a:t>
            </a:r>
            <a:r>
              <a:rPr lang="en-US" sz="2400" dirty="0"/>
              <a:t> example was rather simple</a:t>
            </a:r>
          </a:p>
          <a:p>
            <a:r>
              <a:rPr lang="en-US" sz="2400" dirty="0"/>
              <a:t>There were only a few predictors</a:t>
            </a:r>
          </a:p>
          <a:p>
            <a:pPr lvl="1"/>
            <a:r>
              <a:rPr lang="en-US" sz="2000" dirty="0"/>
              <a:t>Model selection methods could be based on simple </a:t>
            </a:r>
            <a:r>
              <a:rPr lang="en-US" sz="2000" dirty="0" err="1"/>
              <a:t>Anova</a:t>
            </a:r>
            <a:r>
              <a:rPr lang="en-US" sz="2000" dirty="0"/>
              <a:t>(), </a:t>
            </a:r>
            <a:r>
              <a:rPr lang="en-US" sz="2000" dirty="0" err="1"/>
              <a:t>coeftest</a:t>
            </a:r>
            <a:r>
              <a:rPr lang="en-US" sz="2000" dirty="0"/>
              <a:t>(), </a:t>
            </a:r>
            <a:r>
              <a:rPr lang="en-US" sz="2000" dirty="0" err="1"/>
              <a:t>LRstats</a:t>
            </a:r>
            <a:r>
              <a:rPr lang="en-US" sz="2000" dirty="0"/>
              <a:t>()</a:t>
            </a:r>
          </a:p>
          <a:p>
            <a:pPr lvl="1"/>
            <a:r>
              <a:rPr lang="en-US" sz="2000" dirty="0"/>
              <a:t>No need for more complex model selection methods or cross-validation</a:t>
            </a:r>
          </a:p>
          <a:p>
            <a:r>
              <a:rPr lang="en-US" sz="2400" dirty="0"/>
              <a:t>Of the quantitative predictors, only mentor &amp; kid5 had important effects</a:t>
            </a:r>
          </a:p>
          <a:p>
            <a:pPr lvl="1"/>
            <a:r>
              <a:rPr lang="en-US" sz="2000" dirty="0"/>
              <a:t>The effects of these were sufficiently linear</a:t>
            </a:r>
          </a:p>
          <a:p>
            <a:pPr lvl="1"/>
            <a:r>
              <a:rPr lang="en-US" sz="2000" dirty="0"/>
              <a:t>No need to try non-linear effects (poly(mentor,2), ns(mentor,2))</a:t>
            </a:r>
          </a:p>
          <a:p>
            <a:r>
              <a:rPr lang="en-US" sz="2400" dirty="0"/>
              <a:t>There turned out to be one important interaction</a:t>
            </a:r>
          </a:p>
          <a:p>
            <a:pPr lvl="1"/>
            <a:r>
              <a:rPr lang="en-US" sz="2000" dirty="0"/>
              <a:t>In Psychology, these are called “moderator” effects</a:t>
            </a:r>
          </a:p>
          <a:p>
            <a:pPr lvl="1"/>
            <a:r>
              <a:rPr lang="en-US" sz="2000" dirty="0"/>
              <a:t>Interpretation often based on post-hoc tests of simple slopes</a:t>
            </a:r>
          </a:p>
          <a:p>
            <a:pPr lvl="1"/>
            <a:r>
              <a:rPr lang="en-US" sz="2000" dirty="0"/>
              <a:t>Interpretation here was simplified in effect 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CD04C-18B3-4BDD-A463-DBA91FD9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2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416D-EEF8-5780-DF3C-1CC6951F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Overdispersion in proportions and 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6A472-D8C6-9C82-E09F-8849409C1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So far: count data, Y ~ Poisson(μ) — handled overdispersion with </a:t>
            </a:r>
            <a:r>
              <a:rPr lang="en-CA" sz="2400" dirty="0" err="1"/>
              <a:t>NegBin</a:t>
            </a:r>
            <a:r>
              <a:rPr lang="en-CA" sz="2400" dirty="0"/>
              <a:t>()</a:t>
            </a:r>
          </a:p>
          <a:p>
            <a:r>
              <a:rPr lang="en-CA" sz="2400" dirty="0"/>
              <a:t>What about </a:t>
            </a:r>
            <a:r>
              <a:rPr lang="en-CA" sz="2400" dirty="0">
                <a:solidFill>
                  <a:srgbClr val="0070C0"/>
                </a:solidFill>
              </a:rPr>
              <a:t>proportions</a:t>
            </a:r>
            <a:r>
              <a:rPr lang="en-CA" sz="2400" dirty="0"/>
              <a:t> (0,1) or </a:t>
            </a:r>
            <a:r>
              <a:rPr lang="en-CA" sz="2400" dirty="0">
                <a:solidFill>
                  <a:srgbClr val="0070C0"/>
                </a:solidFill>
              </a:rPr>
              <a:t>binomial data </a:t>
            </a:r>
            <a:r>
              <a:rPr lang="en-CA" sz="2400" dirty="0"/>
              <a:t>(success/n)?</a:t>
            </a:r>
          </a:p>
          <a:p>
            <a:pPr lvl="1"/>
            <a:r>
              <a:rPr lang="en-CA" sz="2000" dirty="0"/>
              <a:t>Y = number of "successes" out of n trials: Y ~ Binomial(n, π)</a:t>
            </a:r>
          </a:p>
          <a:p>
            <a:pPr lvl="1"/>
            <a:r>
              <a:rPr lang="en-CA" sz="2000" dirty="0"/>
              <a:t>Logistic / binomial regression assumes Var(Y) = nπ(1−π)</a:t>
            </a:r>
          </a:p>
          <a:p>
            <a:pPr lvl="1"/>
            <a:r>
              <a:rPr lang="en-CA" sz="2000" dirty="0"/>
              <a:t>But real data often show </a:t>
            </a:r>
            <a:r>
              <a:rPr lang="en-CA" sz="2000" b="1" dirty="0">
                <a:solidFill>
                  <a:schemeClr val="accent2">
                    <a:lumMod val="75000"/>
                  </a:schemeClr>
                </a:solidFill>
              </a:rPr>
              <a:t>more</a:t>
            </a:r>
            <a:r>
              <a:rPr lang="en-CA" sz="2000" dirty="0"/>
              <a:t> variation than this</a:t>
            </a:r>
          </a:p>
          <a:p>
            <a:r>
              <a:rPr lang="en-CA" sz="2400" dirty="0"/>
              <a:t>When/why does overdispersion arise here???</a:t>
            </a:r>
          </a:p>
          <a:p>
            <a:pPr lvl="1"/>
            <a:r>
              <a:rPr lang="en-CA" sz="2000" dirty="0"/>
              <a:t>π varies across individuals beyond what predictors explain</a:t>
            </a:r>
          </a:p>
          <a:p>
            <a:pPr lvl="1"/>
            <a:r>
              <a:rPr lang="en-CA" sz="2000" dirty="0"/>
              <a:t>Clustering: cases w/in groups are more similar than between groups</a:t>
            </a:r>
          </a:p>
          <a:p>
            <a:pPr lvl="1"/>
            <a:r>
              <a:rPr lang="en-CA" sz="2000" dirty="0"/>
              <a:t>Unobserved heterogeneity in the "true"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B82AE-1EE6-4FEE-F3AF-9617599A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6294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6DA8-5C8C-4B50-03FC-71703A3B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Diagnosing binomial overdispersion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AE7E7-841B-877E-A188-78F62A05E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581400"/>
          </a:xfrm>
        </p:spPr>
        <p:txBody>
          <a:bodyPr>
            <a:normAutofit/>
          </a:bodyPr>
          <a:lstStyle/>
          <a:p>
            <a:r>
              <a:rPr lang="en-CA" sz="2400" dirty="0"/>
              <a:t>Residual deviance ≫ residual </a:t>
            </a:r>
            <a:r>
              <a:rPr lang="en-CA" sz="2400" dirty="0" err="1"/>
              <a:t>df</a:t>
            </a:r>
            <a:r>
              <a:rPr lang="en-CA" sz="2400" dirty="0"/>
              <a:t> in </a:t>
            </a:r>
            <a:r>
              <a:rPr lang="en-CA" sz="2400" dirty="0" err="1"/>
              <a:t>glm</a:t>
            </a:r>
            <a:r>
              <a:rPr lang="en-CA" sz="2400" dirty="0"/>
              <a:t>(..., family=binomial)</a:t>
            </a:r>
          </a:p>
          <a:p>
            <a:pPr lvl="1"/>
            <a:r>
              <a:rPr lang="en-CA" sz="2000" dirty="0"/>
              <a:t>Pearson </a:t>
            </a:r>
            <a:r>
              <a:rPr lang="el-GR" sz="2000" dirty="0"/>
              <a:t>χ²/</a:t>
            </a:r>
            <a:r>
              <a:rPr lang="en-CA" sz="2000" dirty="0" err="1"/>
              <a:t>df</a:t>
            </a:r>
            <a:r>
              <a:rPr lang="en-CA" sz="2000" dirty="0"/>
              <a:t> ≫ 1</a:t>
            </a:r>
          </a:p>
          <a:p>
            <a:r>
              <a:rPr lang="en-CA" sz="2400" dirty="0"/>
              <a:t>What about: </a:t>
            </a:r>
            <a:r>
              <a:rPr lang="it-IT" sz="2400" dirty="0"/>
              <a:t>Overdispersion parameter φ̂ = χ²</a:t>
            </a:r>
            <a:r>
              <a:rPr lang="it-IT" sz="2400" baseline="-25000" dirty="0"/>
              <a:t>P</a:t>
            </a:r>
            <a:r>
              <a:rPr lang="it-IT" sz="2400" dirty="0"/>
              <a:t> / (N − p) &gt; 1</a:t>
            </a:r>
          </a:p>
          <a:p>
            <a:endParaRPr lang="it-IT" sz="2400" dirty="0"/>
          </a:p>
          <a:p>
            <a:endParaRPr lang="it-IT" sz="2400" dirty="0"/>
          </a:p>
          <a:p>
            <a:endParaRPr lang="it-IT" sz="2400" dirty="0"/>
          </a:p>
          <a:p>
            <a:r>
              <a:rPr lang="it-IT" sz="2400" dirty="0"/>
              <a:t>Quick fix: the QuasiBinomial Family</a:t>
            </a:r>
          </a:p>
          <a:p>
            <a:pPr lvl="1"/>
            <a:r>
              <a:rPr lang="en-CA" sz="2000" dirty="0"/>
              <a:t>inflates SEs for overdispersion, but doesn't model the heterogeneity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01BD5-63B3-BB4B-EE66-F378C5B9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3402A-AAAA-AB83-0350-48B70976D7FC}"/>
              </a:ext>
            </a:extLst>
          </p:cNvPr>
          <p:cNvSpPr txBox="1"/>
          <p:nvPr/>
        </p:nvSpPr>
        <p:spPr>
          <a:xfrm>
            <a:off x="914400" y="2667000"/>
            <a:ext cx="74676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m.bin</a:t>
            </a:r>
            <a:r>
              <a:rPr lang="en-CA" dirty="0"/>
              <a:t> &lt;- </a:t>
            </a:r>
            <a:r>
              <a:rPr lang="en-CA" dirty="0" err="1"/>
              <a:t>glm</a:t>
            </a:r>
            <a:r>
              <a:rPr lang="en-CA" dirty="0"/>
              <a:t>(</a:t>
            </a:r>
            <a:r>
              <a:rPr lang="en-CA" dirty="0" err="1"/>
              <a:t>cbind</a:t>
            </a:r>
            <a:r>
              <a:rPr lang="en-CA" dirty="0"/>
              <a:t>(y, n - y) ~ x1 + x2, data = </a:t>
            </a:r>
            <a:r>
              <a:rPr lang="en-CA" dirty="0" err="1"/>
              <a:t>dat</a:t>
            </a:r>
            <a:r>
              <a:rPr lang="en-CA" dirty="0"/>
              <a:t>, family = binomial)</a:t>
            </a:r>
          </a:p>
          <a:p>
            <a:r>
              <a:rPr lang="en-CA" dirty="0"/>
              <a:t>summary(</a:t>
            </a:r>
            <a:r>
              <a:rPr lang="en-CA" dirty="0" err="1"/>
              <a:t>m.bin</a:t>
            </a:r>
            <a:r>
              <a:rPr lang="en-CA" dirty="0"/>
              <a:t>)   </a:t>
            </a:r>
            <a:r>
              <a:rPr lang="en-CA" dirty="0">
                <a:solidFill>
                  <a:srgbClr val="00B050"/>
                </a:solidFill>
              </a:rPr>
              <a:t># check: residual deviance / </a:t>
            </a:r>
            <a:r>
              <a:rPr lang="en-CA" dirty="0" err="1">
                <a:solidFill>
                  <a:srgbClr val="00B050"/>
                </a:solidFill>
              </a:rPr>
              <a:t>df</a:t>
            </a:r>
            <a:endParaRPr lang="en-CA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8233C-4B22-12EC-7B30-3D5817BDEA8E}"/>
              </a:ext>
            </a:extLst>
          </p:cNvPr>
          <p:cNvSpPr txBox="1"/>
          <p:nvPr/>
        </p:nvSpPr>
        <p:spPr>
          <a:xfrm>
            <a:off x="914400" y="4953000"/>
            <a:ext cx="7543800" cy="120032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m.bin</a:t>
            </a:r>
            <a:r>
              <a:rPr lang="en-CA" dirty="0"/>
              <a:t> &lt;- </a:t>
            </a:r>
            <a:r>
              <a:rPr lang="en-CA" dirty="0" err="1"/>
              <a:t>glm</a:t>
            </a:r>
            <a:r>
              <a:rPr lang="en-CA" dirty="0"/>
              <a:t>(</a:t>
            </a:r>
            <a:r>
              <a:rPr lang="en-CA" dirty="0" err="1"/>
              <a:t>cbind</a:t>
            </a:r>
            <a:r>
              <a:rPr lang="en-CA" dirty="0"/>
              <a:t>(y, n - y) ~ x1 + x2, data = </a:t>
            </a:r>
            <a:r>
              <a:rPr lang="en-CA" dirty="0" err="1"/>
              <a:t>dat</a:t>
            </a:r>
            <a:r>
              <a:rPr lang="en-CA" dirty="0"/>
              <a:t>, </a:t>
            </a:r>
            <a:r>
              <a:rPr lang="en-CA" b="1" dirty="0"/>
              <a:t>family = quasibinomial</a:t>
            </a:r>
            <a:r>
              <a:rPr lang="en-CA" dirty="0"/>
              <a:t>)</a:t>
            </a:r>
          </a:p>
          <a:p>
            <a:r>
              <a:rPr lang="en-CA" dirty="0">
                <a:solidFill>
                  <a:srgbClr val="00B050"/>
                </a:solidFill>
              </a:rPr>
              <a:t># or for [0,1] proportions</a:t>
            </a:r>
          </a:p>
          <a:p>
            <a:r>
              <a:rPr lang="en-CA" dirty="0" err="1"/>
              <a:t>dat$prop</a:t>
            </a:r>
            <a:r>
              <a:rPr lang="en-CA" dirty="0"/>
              <a:t> &lt;- </a:t>
            </a:r>
            <a:r>
              <a:rPr lang="en-CA" dirty="0" err="1"/>
              <a:t>dat$y</a:t>
            </a:r>
            <a:r>
              <a:rPr lang="en-CA" dirty="0"/>
              <a:t> / </a:t>
            </a:r>
            <a:r>
              <a:rPr lang="en-CA" dirty="0" err="1"/>
              <a:t>dat$n</a:t>
            </a:r>
            <a:endParaRPr lang="en-CA" dirty="0"/>
          </a:p>
          <a:p>
            <a:r>
              <a:rPr lang="en-CA" dirty="0" err="1"/>
              <a:t>m.bin</a:t>
            </a:r>
            <a:r>
              <a:rPr lang="en-CA" dirty="0"/>
              <a:t> &lt;- </a:t>
            </a:r>
            <a:r>
              <a:rPr lang="en-CA" dirty="0" err="1"/>
              <a:t>glm</a:t>
            </a:r>
            <a:r>
              <a:rPr lang="en-CA" dirty="0"/>
              <a:t>(prop ~ x1 + x2, data = </a:t>
            </a:r>
            <a:r>
              <a:rPr lang="en-CA" dirty="0" err="1"/>
              <a:t>dat</a:t>
            </a:r>
            <a:r>
              <a:rPr lang="en-CA" dirty="0"/>
              <a:t>, </a:t>
            </a:r>
            <a:r>
              <a:rPr lang="en-CA" b="1" dirty="0"/>
              <a:t>family = quasibinomial</a:t>
            </a:r>
            <a:r>
              <a:rPr lang="en-C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82720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709E-EBD1-5CB4-D85F-5BAE0304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Mixing probabilities: The Beta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2E392-DAC2-2080-6650-DF334DEF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759A9-17B7-50EC-CC38-70319A1389CB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Core idea</a:t>
            </a:r>
            <a:r>
              <a:rPr lang="en-CA" dirty="0"/>
              <a:t>: instead of a single fixed π, let π itself vary across observations or clusters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2C18CF-F854-32CF-2EF9-840FBC6C625E}"/>
                  </a:ext>
                </a:extLst>
              </p:cNvPr>
              <p:cNvSpPr txBox="1"/>
              <p:nvPr/>
            </p:nvSpPr>
            <p:spPr>
              <a:xfrm>
                <a:off x="2438400" y="1689313"/>
                <a:ext cx="35052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Beta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),  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CA" b="0" i="1" smtClean="0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2C18CF-F854-32CF-2EF9-840FBC6C6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689313"/>
                <a:ext cx="3505200" cy="276999"/>
              </a:xfrm>
              <a:prstGeom prst="rect">
                <a:avLst/>
              </a:prstGeom>
              <a:blipFill>
                <a:blip r:embed="rId2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C8D32E7-BCEE-DCEE-1139-DB8FB2A43D7A}"/>
              </a:ext>
            </a:extLst>
          </p:cNvPr>
          <p:cNvSpPr txBox="1"/>
          <p:nvPr/>
        </p:nvSpPr>
        <p:spPr>
          <a:xfrm>
            <a:off x="457200" y="2362200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Properties of Beta(α, 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Support: π ∈ (0, 1) — natural for probabilities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Mean: </a:t>
            </a:r>
            <a:r>
              <a:rPr lang="el-GR" dirty="0"/>
              <a:t>E(π) = μ = α / (α + β)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Variance: Var(</a:t>
            </a:r>
            <a:r>
              <a:rPr lang="el-GR" dirty="0"/>
              <a:t>π) = μ(1−μ) / (α + β + 1)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9C53A-511F-1871-E516-4574A6785F18}"/>
              </a:ext>
            </a:extLst>
          </p:cNvPr>
          <p:cNvSpPr txBox="1"/>
          <p:nvPr/>
        </p:nvSpPr>
        <p:spPr>
          <a:xfrm>
            <a:off x="457200" y="3810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Re-parameterize with mean μ and </a:t>
            </a:r>
            <a:r>
              <a:rPr lang="en-CA" b="1" dirty="0"/>
              <a:t>concentration</a:t>
            </a:r>
            <a:r>
              <a:rPr lang="en-CA" dirty="0"/>
              <a:t> φ = α + 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α = μφ,  β = (1−μ)φ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Large φ: π </a:t>
            </a:r>
            <a:r>
              <a:rPr lang="en-CA" b="1" dirty="0">
                <a:solidFill>
                  <a:srgbClr val="0070C0"/>
                </a:solidFill>
              </a:rPr>
              <a:t>tightly concentrated </a:t>
            </a:r>
            <a:r>
              <a:rPr lang="en-CA" dirty="0"/>
              <a:t>around μ (less heterogeneity)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Small φ: π </a:t>
            </a:r>
            <a:r>
              <a:rPr lang="en-CA" b="1" dirty="0">
                <a:solidFill>
                  <a:srgbClr val="0070C0"/>
                </a:solidFill>
              </a:rPr>
              <a:t>spread widely </a:t>
            </a:r>
            <a:r>
              <a:rPr lang="en-CA" dirty="0"/>
              <a:t>over (0, 1) (more heterogeneity)</a:t>
            </a:r>
          </a:p>
        </p:txBody>
      </p:sp>
    </p:spTree>
    <p:extLst>
      <p:ext uri="{BB962C8B-B14F-4D97-AF65-F5344CB8AC3E}">
        <p14:creationId xmlns:p14="http://schemas.microsoft.com/office/powerpoint/2010/main" val="894199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1CE7-27F9-5944-468F-F0B9150F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Concentration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085422-8823-1E00-115E-DA78FA9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12065-2097-C265-455A-2ED611AC9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50490"/>
            <a:ext cx="6362295" cy="49027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52D2C0-04EB-9EC9-9353-3C17734A4460}"/>
              </a:ext>
            </a:extLst>
          </p:cNvPr>
          <p:cNvSpPr txBox="1"/>
          <p:nvPr/>
        </p:nvSpPr>
        <p:spPr>
          <a:xfrm>
            <a:off x="457200" y="1066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Concentration, </a:t>
            </a:r>
            <a:r>
              <a:rPr lang="el-GR" dirty="0"/>
              <a:t>φ</a:t>
            </a:r>
            <a:r>
              <a:rPr lang="en-CA" dirty="0"/>
              <a:t>, gives a natural way to parameterize heterogeneity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033EF-C750-E4C8-8112-DFF3D7CF41B3}"/>
              </a:ext>
            </a:extLst>
          </p:cNvPr>
          <p:cNvSpPr txBox="1"/>
          <p:nvPr/>
        </p:nvSpPr>
        <p:spPr>
          <a:xfrm>
            <a:off x="5410200" y="2590800"/>
            <a:ext cx="3200400" cy="646331"/>
          </a:xfrm>
          <a:custGeom>
            <a:avLst/>
            <a:gdLst>
              <a:gd name="csX0" fmla="*/ 0 w 3200400"/>
              <a:gd name="csY0" fmla="*/ 0 h 646331"/>
              <a:gd name="csX1" fmla="*/ 501396 w 3200400"/>
              <a:gd name="csY1" fmla="*/ 0 h 646331"/>
              <a:gd name="csX2" fmla="*/ 1066800 w 3200400"/>
              <a:gd name="csY2" fmla="*/ 0 h 646331"/>
              <a:gd name="csX3" fmla="*/ 1504188 w 3200400"/>
              <a:gd name="csY3" fmla="*/ 0 h 646331"/>
              <a:gd name="csX4" fmla="*/ 2101596 w 3200400"/>
              <a:gd name="csY4" fmla="*/ 0 h 646331"/>
              <a:gd name="csX5" fmla="*/ 2570988 w 3200400"/>
              <a:gd name="csY5" fmla="*/ 0 h 646331"/>
              <a:gd name="csX6" fmla="*/ 3200400 w 3200400"/>
              <a:gd name="csY6" fmla="*/ 0 h 646331"/>
              <a:gd name="csX7" fmla="*/ 3200400 w 3200400"/>
              <a:gd name="csY7" fmla="*/ 303776 h 646331"/>
              <a:gd name="csX8" fmla="*/ 3200400 w 3200400"/>
              <a:gd name="csY8" fmla="*/ 646331 h 646331"/>
              <a:gd name="csX9" fmla="*/ 2667000 w 3200400"/>
              <a:gd name="csY9" fmla="*/ 646331 h 646331"/>
              <a:gd name="csX10" fmla="*/ 2165604 w 3200400"/>
              <a:gd name="csY10" fmla="*/ 646331 h 646331"/>
              <a:gd name="csX11" fmla="*/ 1728216 w 3200400"/>
              <a:gd name="csY11" fmla="*/ 646331 h 646331"/>
              <a:gd name="csX12" fmla="*/ 1162812 w 3200400"/>
              <a:gd name="csY12" fmla="*/ 646331 h 646331"/>
              <a:gd name="csX13" fmla="*/ 693420 w 3200400"/>
              <a:gd name="csY13" fmla="*/ 646331 h 646331"/>
              <a:gd name="csX14" fmla="*/ 0 w 3200400"/>
              <a:gd name="csY14" fmla="*/ 646331 h 646331"/>
              <a:gd name="csX15" fmla="*/ 0 w 3200400"/>
              <a:gd name="csY15" fmla="*/ 323166 h 646331"/>
              <a:gd name="csX16" fmla="*/ 0 w 3200400"/>
              <a:gd name="csY16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200400" h="646331" fill="none" extrusionOk="0">
                <a:moveTo>
                  <a:pt x="0" y="0"/>
                </a:moveTo>
                <a:cubicBezTo>
                  <a:pt x="246328" y="-6909"/>
                  <a:pt x="334811" y="56483"/>
                  <a:pt x="501396" y="0"/>
                </a:cubicBezTo>
                <a:cubicBezTo>
                  <a:pt x="667981" y="-56483"/>
                  <a:pt x="917755" y="18164"/>
                  <a:pt x="1066800" y="0"/>
                </a:cubicBezTo>
                <a:cubicBezTo>
                  <a:pt x="1215845" y="-18164"/>
                  <a:pt x="1410957" y="13211"/>
                  <a:pt x="1504188" y="0"/>
                </a:cubicBezTo>
                <a:cubicBezTo>
                  <a:pt x="1597419" y="-13211"/>
                  <a:pt x="1953659" y="6844"/>
                  <a:pt x="2101596" y="0"/>
                </a:cubicBezTo>
                <a:cubicBezTo>
                  <a:pt x="2249533" y="-6844"/>
                  <a:pt x="2447785" y="2269"/>
                  <a:pt x="2570988" y="0"/>
                </a:cubicBezTo>
                <a:cubicBezTo>
                  <a:pt x="2694191" y="-2269"/>
                  <a:pt x="2999491" y="27191"/>
                  <a:pt x="3200400" y="0"/>
                </a:cubicBezTo>
                <a:cubicBezTo>
                  <a:pt x="3201716" y="109416"/>
                  <a:pt x="3190490" y="154900"/>
                  <a:pt x="3200400" y="303776"/>
                </a:cubicBezTo>
                <a:cubicBezTo>
                  <a:pt x="3210310" y="452652"/>
                  <a:pt x="3191646" y="484989"/>
                  <a:pt x="3200400" y="646331"/>
                </a:cubicBezTo>
                <a:cubicBezTo>
                  <a:pt x="3080857" y="704671"/>
                  <a:pt x="2814839" y="591162"/>
                  <a:pt x="2667000" y="646331"/>
                </a:cubicBezTo>
                <a:cubicBezTo>
                  <a:pt x="2519161" y="701500"/>
                  <a:pt x="2281872" y="607478"/>
                  <a:pt x="2165604" y="646331"/>
                </a:cubicBezTo>
                <a:cubicBezTo>
                  <a:pt x="2049336" y="685184"/>
                  <a:pt x="1889503" y="596090"/>
                  <a:pt x="1728216" y="646331"/>
                </a:cubicBezTo>
                <a:cubicBezTo>
                  <a:pt x="1566929" y="696572"/>
                  <a:pt x="1285889" y="627668"/>
                  <a:pt x="1162812" y="646331"/>
                </a:cubicBezTo>
                <a:cubicBezTo>
                  <a:pt x="1039735" y="664994"/>
                  <a:pt x="852519" y="640446"/>
                  <a:pt x="693420" y="646331"/>
                </a:cubicBezTo>
                <a:cubicBezTo>
                  <a:pt x="534321" y="652216"/>
                  <a:pt x="298534" y="618234"/>
                  <a:pt x="0" y="646331"/>
                </a:cubicBezTo>
                <a:cubicBezTo>
                  <a:pt x="-1582" y="558412"/>
                  <a:pt x="25473" y="454078"/>
                  <a:pt x="0" y="323166"/>
                </a:cubicBezTo>
                <a:cubicBezTo>
                  <a:pt x="-25473" y="192254"/>
                  <a:pt x="21713" y="136611"/>
                  <a:pt x="0" y="0"/>
                </a:cubicBezTo>
                <a:close/>
              </a:path>
              <a:path w="3200400" h="646331" stroke="0" extrusionOk="0">
                <a:moveTo>
                  <a:pt x="0" y="0"/>
                </a:moveTo>
                <a:cubicBezTo>
                  <a:pt x="131591" y="-44908"/>
                  <a:pt x="381119" y="35517"/>
                  <a:pt x="565404" y="0"/>
                </a:cubicBezTo>
                <a:cubicBezTo>
                  <a:pt x="749689" y="-35517"/>
                  <a:pt x="893032" y="14666"/>
                  <a:pt x="1066800" y="0"/>
                </a:cubicBezTo>
                <a:cubicBezTo>
                  <a:pt x="1240568" y="-14666"/>
                  <a:pt x="1481752" y="69531"/>
                  <a:pt x="1664208" y="0"/>
                </a:cubicBezTo>
                <a:cubicBezTo>
                  <a:pt x="1846664" y="-69531"/>
                  <a:pt x="1893440" y="49678"/>
                  <a:pt x="2101596" y="0"/>
                </a:cubicBezTo>
                <a:cubicBezTo>
                  <a:pt x="2309752" y="-49678"/>
                  <a:pt x="2468147" y="47317"/>
                  <a:pt x="2634996" y="0"/>
                </a:cubicBezTo>
                <a:cubicBezTo>
                  <a:pt x="2801845" y="-47317"/>
                  <a:pt x="3024362" y="65912"/>
                  <a:pt x="3200400" y="0"/>
                </a:cubicBezTo>
                <a:cubicBezTo>
                  <a:pt x="3215165" y="156423"/>
                  <a:pt x="3172554" y="180583"/>
                  <a:pt x="3200400" y="316702"/>
                </a:cubicBezTo>
                <a:cubicBezTo>
                  <a:pt x="3228246" y="452821"/>
                  <a:pt x="3166440" y="575659"/>
                  <a:pt x="3200400" y="646331"/>
                </a:cubicBezTo>
                <a:cubicBezTo>
                  <a:pt x="3021054" y="681500"/>
                  <a:pt x="2814328" y="637144"/>
                  <a:pt x="2602992" y="646331"/>
                </a:cubicBezTo>
                <a:cubicBezTo>
                  <a:pt x="2391656" y="655518"/>
                  <a:pt x="2367624" y="625898"/>
                  <a:pt x="2133600" y="646331"/>
                </a:cubicBezTo>
                <a:cubicBezTo>
                  <a:pt x="1899576" y="666764"/>
                  <a:pt x="1869008" y="605747"/>
                  <a:pt x="1664208" y="646331"/>
                </a:cubicBezTo>
                <a:cubicBezTo>
                  <a:pt x="1459408" y="686915"/>
                  <a:pt x="1395421" y="623776"/>
                  <a:pt x="1130808" y="646331"/>
                </a:cubicBezTo>
                <a:cubicBezTo>
                  <a:pt x="866195" y="668886"/>
                  <a:pt x="717762" y="596315"/>
                  <a:pt x="597408" y="646331"/>
                </a:cubicBezTo>
                <a:cubicBezTo>
                  <a:pt x="477054" y="696347"/>
                  <a:pt x="276055" y="618700"/>
                  <a:pt x="0" y="646331"/>
                </a:cubicBezTo>
                <a:cubicBezTo>
                  <a:pt x="-23140" y="502862"/>
                  <a:pt x="25606" y="407357"/>
                  <a:pt x="0" y="329629"/>
                </a:cubicBezTo>
                <a:cubicBezTo>
                  <a:pt x="-25606" y="251901"/>
                  <a:pt x="35152" y="69078"/>
                  <a:pt x="0" y="0"/>
                </a:cubicBezTo>
                <a:close/>
              </a:path>
            </a:pathLst>
          </a:custGeom>
          <a:solidFill>
            <a:srgbClr val="FFC000"/>
          </a:solidFill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36388792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All have the same mean, µ=0.3</a:t>
            </a:r>
          </a:p>
          <a:p>
            <a:r>
              <a:rPr lang="el-GR" dirty="0"/>
              <a:t>φ</a:t>
            </a:r>
            <a:r>
              <a:rPr lang="en-CA" dirty="0"/>
              <a:t> lets them vary widely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297F8C-FC78-B426-6366-BA5436ACC102}"/>
              </a:ext>
            </a:extLst>
          </p:cNvPr>
          <p:cNvSpPr txBox="1"/>
          <p:nvPr/>
        </p:nvSpPr>
        <p:spPr>
          <a:xfrm>
            <a:off x="4953000" y="3733800"/>
            <a:ext cx="3581400" cy="800219"/>
          </a:xfrm>
          <a:custGeom>
            <a:avLst/>
            <a:gdLst>
              <a:gd name="csX0" fmla="*/ 0 w 3581400"/>
              <a:gd name="csY0" fmla="*/ 0 h 800219"/>
              <a:gd name="csX1" fmla="*/ 561086 w 3581400"/>
              <a:gd name="csY1" fmla="*/ 0 h 800219"/>
              <a:gd name="csX2" fmla="*/ 1050544 w 3581400"/>
              <a:gd name="csY2" fmla="*/ 0 h 800219"/>
              <a:gd name="csX3" fmla="*/ 1575816 w 3581400"/>
              <a:gd name="csY3" fmla="*/ 0 h 800219"/>
              <a:gd name="csX4" fmla="*/ 2208530 w 3581400"/>
              <a:gd name="csY4" fmla="*/ 0 h 800219"/>
              <a:gd name="csX5" fmla="*/ 2769616 w 3581400"/>
              <a:gd name="csY5" fmla="*/ 0 h 800219"/>
              <a:gd name="csX6" fmla="*/ 3581400 w 3581400"/>
              <a:gd name="csY6" fmla="*/ 0 h 800219"/>
              <a:gd name="csX7" fmla="*/ 3581400 w 3581400"/>
              <a:gd name="csY7" fmla="*/ 408112 h 800219"/>
              <a:gd name="csX8" fmla="*/ 3581400 w 3581400"/>
              <a:gd name="csY8" fmla="*/ 800219 h 800219"/>
              <a:gd name="csX9" fmla="*/ 2984500 w 3581400"/>
              <a:gd name="csY9" fmla="*/ 800219 h 800219"/>
              <a:gd name="csX10" fmla="*/ 2459228 w 3581400"/>
              <a:gd name="csY10" fmla="*/ 800219 h 800219"/>
              <a:gd name="csX11" fmla="*/ 1790700 w 3581400"/>
              <a:gd name="csY11" fmla="*/ 800219 h 800219"/>
              <a:gd name="csX12" fmla="*/ 1229614 w 3581400"/>
              <a:gd name="csY12" fmla="*/ 800219 h 800219"/>
              <a:gd name="csX13" fmla="*/ 740156 w 3581400"/>
              <a:gd name="csY13" fmla="*/ 800219 h 800219"/>
              <a:gd name="csX14" fmla="*/ 0 w 3581400"/>
              <a:gd name="csY14" fmla="*/ 800219 h 800219"/>
              <a:gd name="csX15" fmla="*/ 0 w 3581400"/>
              <a:gd name="csY15" fmla="*/ 416114 h 800219"/>
              <a:gd name="csX16" fmla="*/ 0 w 3581400"/>
              <a:gd name="csY16" fmla="*/ 0 h 800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581400" h="800219" fill="none" extrusionOk="0">
                <a:moveTo>
                  <a:pt x="0" y="0"/>
                </a:moveTo>
                <a:cubicBezTo>
                  <a:pt x="276851" y="-37280"/>
                  <a:pt x="396815" y="56034"/>
                  <a:pt x="561086" y="0"/>
                </a:cubicBezTo>
                <a:cubicBezTo>
                  <a:pt x="725357" y="-56034"/>
                  <a:pt x="905159" y="58011"/>
                  <a:pt x="1050544" y="0"/>
                </a:cubicBezTo>
                <a:cubicBezTo>
                  <a:pt x="1195929" y="-58011"/>
                  <a:pt x="1452717" y="31699"/>
                  <a:pt x="1575816" y="0"/>
                </a:cubicBezTo>
                <a:cubicBezTo>
                  <a:pt x="1698915" y="-31699"/>
                  <a:pt x="2003307" y="17280"/>
                  <a:pt x="2208530" y="0"/>
                </a:cubicBezTo>
                <a:cubicBezTo>
                  <a:pt x="2413753" y="-17280"/>
                  <a:pt x="2646758" y="1506"/>
                  <a:pt x="2769616" y="0"/>
                </a:cubicBezTo>
                <a:cubicBezTo>
                  <a:pt x="2892474" y="-1506"/>
                  <a:pt x="3229033" y="68358"/>
                  <a:pt x="3581400" y="0"/>
                </a:cubicBezTo>
                <a:cubicBezTo>
                  <a:pt x="3601990" y="203074"/>
                  <a:pt x="3572575" y="260310"/>
                  <a:pt x="3581400" y="408112"/>
                </a:cubicBezTo>
                <a:cubicBezTo>
                  <a:pt x="3590225" y="555914"/>
                  <a:pt x="3550851" y="631702"/>
                  <a:pt x="3581400" y="800219"/>
                </a:cubicBezTo>
                <a:cubicBezTo>
                  <a:pt x="3440767" y="839527"/>
                  <a:pt x="3260171" y="742363"/>
                  <a:pt x="2984500" y="800219"/>
                </a:cubicBezTo>
                <a:cubicBezTo>
                  <a:pt x="2708829" y="858075"/>
                  <a:pt x="2721172" y="773719"/>
                  <a:pt x="2459228" y="800219"/>
                </a:cubicBezTo>
                <a:cubicBezTo>
                  <a:pt x="2197284" y="826719"/>
                  <a:pt x="1956962" y="788472"/>
                  <a:pt x="1790700" y="800219"/>
                </a:cubicBezTo>
                <a:cubicBezTo>
                  <a:pt x="1624438" y="811966"/>
                  <a:pt x="1452341" y="752963"/>
                  <a:pt x="1229614" y="800219"/>
                </a:cubicBezTo>
                <a:cubicBezTo>
                  <a:pt x="1006887" y="847475"/>
                  <a:pt x="907629" y="758839"/>
                  <a:pt x="740156" y="800219"/>
                </a:cubicBezTo>
                <a:cubicBezTo>
                  <a:pt x="572683" y="841599"/>
                  <a:pt x="305819" y="725665"/>
                  <a:pt x="0" y="800219"/>
                </a:cubicBezTo>
                <a:cubicBezTo>
                  <a:pt x="-36123" y="637572"/>
                  <a:pt x="41854" y="605294"/>
                  <a:pt x="0" y="416114"/>
                </a:cubicBezTo>
                <a:cubicBezTo>
                  <a:pt x="-41854" y="226935"/>
                  <a:pt x="37210" y="98941"/>
                  <a:pt x="0" y="0"/>
                </a:cubicBezTo>
                <a:close/>
              </a:path>
              <a:path w="3581400" h="800219" stroke="0" extrusionOk="0">
                <a:moveTo>
                  <a:pt x="0" y="0"/>
                </a:moveTo>
                <a:cubicBezTo>
                  <a:pt x="222621" y="-41292"/>
                  <a:pt x="332700" y="54192"/>
                  <a:pt x="561086" y="0"/>
                </a:cubicBezTo>
                <a:cubicBezTo>
                  <a:pt x="789472" y="-54192"/>
                  <a:pt x="885915" y="35433"/>
                  <a:pt x="1050544" y="0"/>
                </a:cubicBezTo>
                <a:cubicBezTo>
                  <a:pt x="1215173" y="-35433"/>
                  <a:pt x="1430867" y="68273"/>
                  <a:pt x="1719072" y="0"/>
                </a:cubicBezTo>
                <a:cubicBezTo>
                  <a:pt x="2007277" y="-68273"/>
                  <a:pt x="2023339" y="51622"/>
                  <a:pt x="2280158" y="0"/>
                </a:cubicBezTo>
                <a:cubicBezTo>
                  <a:pt x="2536977" y="-51622"/>
                  <a:pt x="2699525" y="28267"/>
                  <a:pt x="2841244" y="0"/>
                </a:cubicBezTo>
                <a:cubicBezTo>
                  <a:pt x="2982963" y="-28267"/>
                  <a:pt x="3318712" y="1361"/>
                  <a:pt x="3581400" y="0"/>
                </a:cubicBezTo>
                <a:cubicBezTo>
                  <a:pt x="3616394" y="147775"/>
                  <a:pt x="3578083" y="260059"/>
                  <a:pt x="3581400" y="384105"/>
                </a:cubicBezTo>
                <a:cubicBezTo>
                  <a:pt x="3584717" y="508151"/>
                  <a:pt x="3538655" y="608867"/>
                  <a:pt x="3581400" y="800219"/>
                </a:cubicBezTo>
                <a:cubicBezTo>
                  <a:pt x="3343386" y="813947"/>
                  <a:pt x="3252870" y="767880"/>
                  <a:pt x="3056128" y="800219"/>
                </a:cubicBezTo>
                <a:cubicBezTo>
                  <a:pt x="2859386" y="832558"/>
                  <a:pt x="2728216" y="778317"/>
                  <a:pt x="2459228" y="800219"/>
                </a:cubicBezTo>
                <a:cubicBezTo>
                  <a:pt x="2190240" y="822121"/>
                  <a:pt x="2016261" y="732453"/>
                  <a:pt x="1862328" y="800219"/>
                </a:cubicBezTo>
                <a:cubicBezTo>
                  <a:pt x="1708395" y="867985"/>
                  <a:pt x="1486083" y="785813"/>
                  <a:pt x="1301242" y="800219"/>
                </a:cubicBezTo>
                <a:cubicBezTo>
                  <a:pt x="1116401" y="814625"/>
                  <a:pt x="808355" y="784847"/>
                  <a:pt x="632714" y="800219"/>
                </a:cubicBezTo>
                <a:cubicBezTo>
                  <a:pt x="457073" y="815591"/>
                  <a:pt x="302587" y="784590"/>
                  <a:pt x="0" y="800219"/>
                </a:cubicBezTo>
                <a:cubicBezTo>
                  <a:pt x="-29734" y="628976"/>
                  <a:pt x="30879" y="500560"/>
                  <a:pt x="0" y="416114"/>
                </a:cubicBezTo>
                <a:cubicBezTo>
                  <a:pt x="-30879" y="331668"/>
                  <a:pt x="31204" y="188208"/>
                  <a:pt x="0" y="0"/>
                </a:cubicBezTo>
                <a:close/>
              </a:path>
            </a:pathLst>
          </a:custGeom>
          <a:solidFill>
            <a:srgbClr val="FFC000">
              <a:alpha val="40000"/>
            </a:srgbClr>
          </a:solidFill>
          <a:ln w="254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CA" dirty="0"/>
              <a:t>von Neuman’s Elephant:</a:t>
            </a:r>
          </a:p>
          <a:p>
            <a:r>
              <a:rPr lang="en-CA" sz="1400" dirty="0"/>
              <a:t>"With four parameters I can fit an elephant, and with five I can make him wiggle his trunk."</a:t>
            </a:r>
          </a:p>
        </p:txBody>
      </p:sp>
    </p:spTree>
    <p:extLst>
      <p:ext uri="{BB962C8B-B14F-4D97-AF65-F5344CB8AC3E}">
        <p14:creationId xmlns:p14="http://schemas.microsoft.com/office/powerpoint/2010/main" val="31078526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6BF3-D513-A031-0084-9B2796F4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/>
              <a:t>Fitting Beta-Binomial models in R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7FAA4C-D19D-4E33-66F4-BA8BF962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289E0-7939-D935-E584-783306A3F646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Several R packages support beta-binomial regression: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7597D-926C-59BD-CEE3-5ED343781EEF}"/>
              </a:ext>
            </a:extLst>
          </p:cNvPr>
          <p:cNvSpPr txBox="1"/>
          <p:nvPr/>
        </p:nvSpPr>
        <p:spPr>
          <a:xfrm>
            <a:off x="533400" y="1600200"/>
            <a:ext cx="8153400" cy="1892826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300" dirty="0">
                <a:latin typeface="Aptos Mono" panose="020B0009020202020204" pitchFamily="49" charset="0"/>
              </a:rPr>
              <a:t>library(</a:t>
            </a:r>
            <a:r>
              <a:rPr lang="en-CA" sz="1300" dirty="0" err="1">
                <a:latin typeface="Aptos Mono" panose="020B0009020202020204" pitchFamily="49" charset="0"/>
              </a:rPr>
              <a:t>aod</a:t>
            </a:r>
            <a:r>
              <a:rPr lang="en-CA" sz="1300" dirty="0">
                <a:latin typeface="Aptos Mono" panose="020B0009020202020204" pitchFamily="49" charset="0"/>
              </a:rPr>
              <a:t>)</a:t>
            </a:r>
          </a:p>
          <a:p>
            <a:r>
              <a:rPr lang="en-CA" sz="1300" dirty="0">
                <a:latin typeface="Aptos Mono" panose="020B0009020202020204" pitchFamily="49" charset="0"/>
              </a:rPr>
              <a:t>m.bb1 &lt;- </a:t>
            </a:r>
            <a:r>
              <a:rPr lang="en-CA" sz="1300" b="1" dirty="0" err="1">
                <a:latin typeface="Aptos Mono" panose="020B0009020202020204" pitchFamily="49" charset="0"/>
              </a:rPr>
              <a:t>betabin</a:t>
            </a:r>
            <a:r>
              <a:rPr lang="en-CA" sz="1300" dirty="0">
                <a:latin typeface="Aptos Mono" panose="020B0009020202020204" pitchFamily="49" charset="0"/>
              </a:rPr>
              <a:t>(</a:t>
            </a:r>
            <a:r>
              <a:rPr lang="en-CA" sz="1300" dirty="0" err="1">
                <a:latin typeface="Aptos Mono" panose="020B0009020202020204" pitchFamily="49" charset="0"/>
              </a:rPr>
              <a:t>cbind</a:t>
            </a:r>
            <a:r>
              <a:rPr lang="en-CA" sz="1300" dirty="0">
                <a:latin typeface="Aptos Mono" panose="020B0009020202020204" pitchFamily="49" charset="0"/>
              </a:rPr>
              <a:t>(y, n - y) ~ x1 + x2, ~ 1, data = </a:t>
            </a:r>
            <a:r>
              <a:rPr lang="en-CA" sz="1300" dirty="0" err="1">
                <a:latin typeface="Aptos Mono" panose="020B0009020202020204" pitchFamily="49" charset="0"/>
              </a:rPr>
              <a:t>dat</a:t>
            </a:r>
            <a:r>
              <a:rPr lang="en-CA" sz="1300" dirty="0">
                <a:latin typeface="Aptos Mono" panose="020B0009020202020204" pitchFamily="49" charset="0"/>
              </a:rPr>
              <a:t>)</a:t>
            </a:r>
          </a:p>
          <a:p>
            <a:endParaRPr lang="en-CA" sz="1300" dirty="0">
              <a:latin typeface="Aptos Mono" panose="020B0009020202020204" pitchFamily="49" charset="0"/>
            </a:endParaRPr>
          </a:p>
          <a:p>
            <a:r>
              <a:rPr lang="en-CA" sz="1300" dirty="0">
                <a:latin typeface="Aptos Mono" panose="020B0009020202020204" pitchFamily="49" charset="0"/>
              </a:rPr>
              <a:t>library(VGAM)</a:t>
            </a:r>
          </a:p>
          <a:p>
            <a:r>
              <a:rPr lang="en-CA" sz="1300" dirty="0">
                <a:latin typeface="Aptos Mono" panose="020B0009020202020204" pitchFamily="49" charset="0"/>
              </a:rPr>
              <a:t>m.bb2 &lt;- </a:t>
            </a:r>
            <a:r>
              <a:rPr lang="en-CA" sz="1300" dirty="0" err="1">
                <a:latin typeface="Aptos Mono" panose="020B0009020202020204" pitchFamily="49" charset="0"/>
              </a:rPr>
              <a:t>vglm</a:t>
            </a:r>
            <a:r>
              <a:rPr lang="en-CA" sz="1300" dirty="0">
                <a:latin typeface="Aptos Mono" panose="020B0009020202020204" pitchFamily="49" charset="0"/>
              </a:rPr>
              <a:t>(</a:t>
            </a:r>
            <a:r>
              <a:rPr lang="en-CA" sz="1300" dirty="0" err="1">
                <a:latin typeface="Aptos Mono" panose="020B0009020202020204" pitchFamily="49" charset="0"/>
              </a:rPr>
              <a:t>cbind</a:t>
            </a:r>
            <a:r>
              <a:rPr lang="en-CA" sz="1300" dirty="0">
                <a:latin typeface="Aptos Mono" panose="020B0009020202020204" pitchFamily="49" charset="0"/>
              </a:rPr>
              <a:t>(y, n - y) ~ x1 + x2, family = </a:t>
            </a:r>
            <a:r>
              <a:rPr lang="en-CA" sz="1300" b="1" dirty="0" err="1">
                <a:latin typeface="Aptos Mono" panose="020B0009020202020204" pitchFamily="49" charset="0"/>
              </a:rPr>
              <a:t>betabinomial</a:t>
            </a:r>
            <a:r>
              <a:rPr lang="en-CA" sz="1300" dirty="0">
                <a:latin typeface="Aptos Mono" panose="020B0009020202020204" pitchFamily="49" charset="0"/>
              </a:rPr>
              <a:t>, data = </a:t>
            </a:r>
            <a:r>
              <a:rPr lang="en-CA" sz="1300" dirty="0" err="1">
                <a:latin typeface="Aptos Mono" panose="020B0009020202020204" pitchFamily="49" charset="0"/>
              </a:rPr>
              <a:t>dat</a:t>
            </a:r>
            <a:r>
              <a:rPr lang="en-CA" sz="1300" dirty="0">
                <a:latin typeface="Aptos Mono" panose="020B0009020202020204" pitchFamily="49" charset="0"/>
              </a:rPr>
              <a:t>)</a:t>
            </a:r>
          </a:p>
          <a:p>
            <a:endParaRPr lang="en-CA" sz="1300" dirty="0">
              <a:latin typeface="Aptos Mono" panose="020B0009020202020204" pitchFamily="49" charset="0"/>
            </a:endParaRPr>
          </a:p>
          <a:p>
            <a:r>
              <a:rPr lang="en-CA" sz="1300" dirty="0">
                <a:solidFill>
                  <a:srgbClr val="00B050"/>
                </a:solidFill>
                <a:latin typeface="Aptos Mono" panose="020B0009020202020204" pitchFamily="49" charset="0"/>
              </a:rPr>
              <a:t># allows mixed model effects</a:t>
            </a:r>
          </a:p>
          <a:p>
            <a:r>
              <a:rPr lang="en-CA" sz="1300" dirty="0">
                <a:latin typeface="Aptos Mono" panose="020B0009020202020204" pitchFamily="49" charset="0"/>
              </a:rPr>
              <a:t>library(</a:t>
            </a:r>
            <a:r>
              <a:rPr lang="en-CA" sz="1300" dirty="0" err="1">
                <a:latin typeface="Aptos Mono" panose="020B0009020202020204" pitchFamily="49" charset="0"/>
              </a:rPr>
              <a:t>glmmTMB</a:t>
            </a:r>
            <a:r>
              <a:rPr lang="en-CA" sz="1300" dirty="0">
                <a:latin typeface="Aptos Mono" panose="020B0009020202020204" pitchFamily="49" charset="0"/>
              </a:rPr>
              <a:t>)</a:t>
            </a:r>
          </a:p>
          <a:p>
            <a:r>
              <a:rPr lang="en-CA" sz="1300" dirty="0">
                <a:latin typeface="Aptos Mono" panose="020B0009020202020204" pitchFamily="49" charset="0"/>
              </a:rPr>
              <a:t>m.bb3 &lt;- </a:t>
            </a:r>
            <a:r>
              <a:rPr lang="en-CA" sz="1300" dirty="0" err="1">
                <a:latin typeface="Aptos Mono" panose="020B0009020202020204" pitchFamily="49" charset="0"/>
              </a:rPr>
              <a:t>glmmTMB</a:t>
            </a:r>
            <a:r>
              <a:rPr lang="en-CA" sz="1300" dirty="0">
                <a:latin typeface="Aptos Mono" panose="020B0009020202020204" pitchFamily="49" charset="0"/>
              </a:rPr>
              <a:t>(y/n ~ x1 + x2, weights = n, family = </a:t>
            </a:r>
            <a:r>
              <a:rPr lang="en-CA" sz="1300" b="1" dirty="0" err="1">
                <a:latin typeface="Aptos Mono" panose="020B0009020202020204" pitchFamily="49" charset="0"/>
              </a:rPr>
              <a:t>betabinomial</a:t>
            </a:r>
            <a:r>
              <a:rPr lang="en-CA" sz="1300" dirty="0">
                <a:latin typeface="Aptos Mono" panose="020B0009020202020204" pitchFamily="49" charset="0"/>
              </a:rPr>
              <a:t>, data = </a:t>
            </a:r>
            <a:r>
              <a:rPr lang="en-CA" sz="1300" dirty="0" err="1">
                <a:latin typeface="Aptos Mono" panose="020B0009020202020204" pitchFamily="49" charset="0"/>
              </a:rPr>
              <a:t>dat</a:t>
            </a:r>
            <a:r>
              <a:rPr lang="en-CA" sz="1300" dirty="0"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BAB25-6AEA-8F36-0B2F-5BC3D562C1E8}"/>
              </a:ext>
            </a:extLst>
          </p:cNvPr>
          <p:cNvSpPr txBox="1"/>
          <p:nvPr/>
        </p:nvSpPr>
        <p:spPr>
          <a:xfrm>
            <a:off x="533400" y="3600271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/>
              <a:t>β̂: </a:t>
            </a:r>
            <a:r>
              <a:rPr lang="en-CA" dirty="0"/>
              <a:t>log-odds coefficients — same as 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φ̂ (or ρ̂): estimated concentration / ICC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H₀: </a:t>
            </a:r>
            <a:r>
              <a:rPr lang="el-GR" dirty="0"/>
              <a:t>φ → ∞ (</a:t>
            </a:r>
            <a:r>
              <a:rPr lang="en-CA" dirty="0"/>
              <a:t>i.e., </a:t>
            </a:r>
            <a:r>
              <a:rPr lang="el-GR" dirty="0"/>
              <a:t>ρ = 0) — </a:t>
            </a:r>
            <a:r>
              <a:rPr lang="en-CA" dirty="0"/>
              <a:t>test with LRT vs. binomial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DA2B0B-9CA2-0999-837A-E95698C120DC}"/>
              </a:ext>
            </a:extLst>
          </p:cNvPr>
          <p:cNvSpPr txBox="1"/>
          <p:nvPr/>
        </p:nvSpPr>
        <p:spPr>
          <a:xfrm>
            <a:off x="533400" y="495300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Model comparison: Is overdispersion significant?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98E08-A443-1CEF-234B-338B7D5652A5}"/>
              </a:ext>
            </a:extLst>
          </p:cNvPr>
          <p:cNvSpPr txBox="1"/>
          <p:nvPr/>
        </p:nvSpPr>
        <p:spPr>
          <a:xfrm>
            <a:off x="533400" y="5410200"/>
            <a:ext cx="8077200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 err="1"/>
              <a:t>anova</a:t>
            </a:r>
            <a:r>
              <a:rPr lang="en-CA" dirty="0"/>
              <a:t>(</a:t>
            </a:r>
            <a:r>
              <a:rPr lang="en-CA" dirty="0" err="1"/>
              <a:t>m.bin</a:t>
            </a:r>
            <a:r>
              <a:rPr lang="en-CA" dirty="0"/>
              <a:t>, m.bb, test = "LRT")</a:t>
            </a:r>
          </a:p>
          <a:p>
            <a:r>
              <a:rPr lang="en-CA" dirty="0" err="1"/>
              <a:t>LRstats</a:t>
            </a:r>
            <a:r>
              <a:rPr lang="en-CA" dirty="0"/>
              <a:t>(</a:t>
            </a:r>
            <a:r>
              <a:rPr lang="en-CA" dirty="0" err="1"/>
              <a:t>m.bin</a:t>
            </a:r>
            <a:r>
              <a:rPr lang="en-CA" dirty="0"/>
              <a:t>, m.bb, …)</a:t>
            </a:r>
          </a:p>
        </p:txBody>
      </p:sp>
    </p:spTree>
    <p:extLst>
      <p:ext uri="{BB962C8B-B14F-4D97-AF65-F5344CB8AC3E}">
        <p14:creationId xmlns:p14="http://schemas.microsoft.com/office/powerpoint/2010/main" val="7504055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0C56-0FFD-4FF3-9265-B2D5CBBD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methods: Recursive partitioning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82EAD-E268-46E8-9329-3AAB8FB0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776CF-F818-4B60-850F-8D3281546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6800"/>
            <a:ext cx="8161905" cy="1076190"/>
          </a:xfrm>
          <a:prstGeom prst="rect">
            <a:avLst/>
          </a:prstGeom>
        </p:spPr>
      </p:pic>
      <p:pic>
        <p:nvPicPr>
          <p:cNvPr id="7" name="Picture 6" descr="Diagram, map&#10;&#10;Description automatically generated">
            <a:extLst>
              <a:ext uri="{FF2B5EF4-FFF2-40B4-BE49-F238E27FC236}">
                <a16:creationId xmlns:a16="http://schemas.microsoft.com/office/drawing/2014/main" id="{BFF10524-8697-46FD-8525-2AC3B9DD2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209802"/>
            <a:ext cx="6400800" cy="37119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F36662-0725-4D29-A22D-14137EFCC79E}"/>
              </a:ext>
            </a:extLst>
          </p:cNvPr>
          <p:cNvSpPr txBox="1"/>
          <p:nvPr/>
        </p:nvSpPr>
        <p:spPr>
          <a:xfrm>
            <a:off x="609600" y="60960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 tree fit to the Titanic data with </a:t>
            </a:r>
            <a:r>
              <a:rPr lang="en-US" dirty="0" err="1"/>
              <a:t>partykit</a:t>
            </a:r>
            <a:r>
              <a:rPr lang="en-US" dirty="0"/>
              <a:t>::</a:t>
            </a:r>
            <a:r>
              <a:rPr lang="en-US" dirty="0" err="1"/>
              <a:t>glmtree</a:t>
            </a:r>
            <a:r>
              <a:rPr lang="en-US" dirty="0"/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FB98D-A72C-4653-A64D-B5A024E1A8BD}"/>
              </a:ext>
            </a:extLst>
          </p:cNvPr>
          <p:cNvSpPr txBox="1"/>
          <p:nvPr/>
        </p:nvSpPr>
        <p:spPr>
          <a:xfrm>
            <a:off x="7086600" y="25146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 survived on the </a:t>
            </a:r>
            <a:r>
              <a:rPr lang="en-US" i="1" dirty="0"/>
              <a:t>Titanic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1301493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8420-8802-494D-9944-F93C7940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methods: Recursive partitioning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2D045-4557-42AA-843C-02B8EBAB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B8CE8-363B-4D38-B349-301017D331A0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Could there be a simpler or different model for the </a:t>
            </a:r>
            <a:r>
              <a:rPr lang="en-US" dirty="0" err="1"/>
              <a:t>PhdPubs</a:t>
            </a:r>
            <a:r>
              <a:rPr lang="en-US" dirty="0"/>
              <a:t> data?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C12C3-4693-4C49-ACBF-66D733F0A5B7}"/>
              </a:ext>
            </a:extLst>
          </p:cNvPr>
          <p:cNvSpPr txBox="1"/>
          <p:nvPr/>
        </p:nvSpPr>
        <p:spPr>
          <a:xfrm>
            <a:off x="457200" y="1600200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partykit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phd.tree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glmtree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(articles ~ mentor| female+married+kid5+phdprestige,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data=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PhdPubs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family=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phd.tree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7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0276EB39-6A17-4BC7-982E-2D60D3307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626935"/>
            <a:ext cx="6142857" cy="3838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C886AE-F58B-4577-B577-D709E638203C}"/>
              </a:ext>
            </a:extLst>
          </p:cNvPr>
          <p:cNvSpPr txBox="1"/>
          <p:nvPr/>
        </p:nvSpPr>
        <p:spPr>
          <a:xfrm>
            <a:off x="6400800" y="3163907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Hmm? </a:t>
            </a:r>
          </a:p>
          <a:p>
            <a:r>
              <a:rPr lang="en-US" dirty="0"/>
              <a:t>A kid5:mentor interaction?</a:t>
            </a:r>
          </a:p>
        </p:txBody>
      </p:sp>
    </p:spTree>
    <p:extLst>
      <p:ext uri="{BB962C8B-B14F-4D97-AF65-F5344CB8AC3E}">
        <p14:creationId xmlns:p14="http://schemas.microsoft.com/office/powerpoint/2010/main" val="379622273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BB1A-5093-4D17-809F-61916322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C8353-CF0C-463C-81C2-5634CE0BD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GLMs provide a unified framework for linear models</a:t>
            </a:r>
          </a:p>
          <a:p>
            <a:pPr lvl="1"/>
            <a:r>
              <a:rPr lang="en-US" dirty="0"/>
              <a:t>Different families, all estimated in the same way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link function and associated variance function</a:t>
            </a:r>
          </a:p>
          <a:p>
            <a:r>
              <a:rPr lang="en-US" dirty="0"/>
              <a:t>For count data, starting from log(</a:t>
            </a:r>
            <a:r>
              <a:rPr lang="el-GR" b="1" dirty="0"/>
              <a:t>μ</a:t>
            </a:r>
            <a:r>
              <a:rPr lang="en-US" dirty="0"/>
              <a:t>) = </a:t>
            </a:r>
            <a:r>
              <a:rPr lang="en-US" b="1" dirty="0"/>
              <a:t>X</a:t>
            </a:r>
            <a:r>
              <a:rPr lang="en-US" dirty="0"/>
              <a:t> </a:t>
            </a:r>
            <a:r>
              <a:rPr lang="en-US" b="1" dirty="0">
                <a:sym typeface="Symbol" panose="05050102010706020507" pitchFamily="18" charset="2"/>
              </a:rPr>
              <a:t>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l-GR" b="1" dirty="0"/>
              <a:t>μ</a:t>
            </a:r>
            <a:r>
              <a:rPr lang="en-US" dirty="0"/>
              <a:t>|</a:t>
            </a:r>
            <a:r>
              <a:rPr lang="en-US" b="1" dirty="0"/>
              <a:t>X</a:t>
            </a:r>
            <a:r>
              <a:rPr lang="en-US" dirty="0"/>
              <a:t> ~</a:t>
            </a:r>
            <a:r>
              <a:rPr lang="el-GR" dirty="0"/>
              <a:t> </a:t>
            </a:r>
            <a:r>
              <a:rPr lang="en-US" dirty="0">
                <a:sym typeface="Symbol" panose="05050102010706020507" pitchFamily="18" charset="2"/>
              </a:rPr>
              <a:t>Poisson: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Overdispersion  quasi-</a:t>
            </a:r>
            <a:r>
              <a:rPr lang="en-US" dirty="0" err="1">
                <a:sym typeface="Symbol" panose="05050102010706020507" pitchFamily="18" charset="2"/>
              </a:rPr>
              <a:t>poisson</a:t>
            </a:r>
            <a:r>
              <a:rPr lang="en-US" dirty="0">
                <a:sym typeface="Symbol" panose="05050102010706020507" pitchFamily="18" charset="2"/>
              </a:rPr>
              <a:t>, negative binomial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Standard tools for assessing model fit</a:t>
            </a:r>
          </a:p>
          <a:p>
            <a:r>
              <a:rPr lang="en-US" dirty="0">
                <a:sym typeface="Symbol" panose="05050102010706020507" pitchFamily="18" charset="2"/>
              </a:rPr>
              <a:t>Excess zero counts introduce new ideas &amp; methods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ZIP model: structural model for the 0s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Hurdle model: random model for 0s, 2</a:t>
            </a:r>
            <a:r>
              <a:rPr lang="en-US" baseline="30000" dirty="0">
                <a:sym typeface="Symbol" panose="05050102010706020507" pitchFamily="18" charset="2"/>
              </a:rPr>
              <a:t>nd</a:t>
            </a:r>
            <a:r>
              <a:rPr lang="en-US" dirty="0">
                <a:sym typeface="Symbol" panose="05050102010706020507" pitchFamily="18" charset="2"/>
              </a:rPr>
              <a:t> model for Y&gt;0</a:t>
            </a:r>
          </a:p>
          <a:p>
            <a:r>
              <a:rPr lang="en-US" dirty="0">
                <a:sym typeface="Symbol" panose="05050102010706020507" pitchFamily="18" charset="2"/>
              </a:rPr>
              <a:t>In all this, we rely on data &amp; model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plots</a:t>
            </a:r>
            <a:r>
              <a:rPr lang="en-US" dirty="0">
                <a:sym typeface="Symbol" panose="05050102010706020507" pitchFamily="18" charset="2"/>
              </a:rPr>
              <a:t> for understanding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E549C8-037B-42BA-8158-1FE725D2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1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5249</TotalTime>
  <Words>6893</Words>
  <Application>Microsoft Office PowerPoint</Application>
  <PresentationFormat>On-screen Show (4:3)</PresentationFormat>
  <Paragraphs>866</Paragraphs>
  <Slides>93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3" baseType="lpstr">
      <vt:lpstr>Aptos Mono</vt:lpstr>
      <vt:lpstr>Arial</vt:lpstr>
      <vt:lpstr>Calibri</vt:lpstr>
      <vt:lpstr>Cambria Math</vt:lpstr>
      <vt:lpstr>Courier New</vt:lpstr>
      <vt:lpstr>Euclid Math One</vt:lpstr>
      <vt:lpstr>Script MT Bold</vt:lpstr>
      <vt:lpstr>Symbol</vt:lpstr>
      <vt:lpstr>Wingdings</vt:lpstr>
      <vt:lpstr>1_Office Theme</vt:lpstr>
      <vt:lpstr>GLMs for Count Data</vt:lpstr>
      <vt:lpstr>Topics</vt:lpstr>
      <vt:lpstr>Count data models: Overview</vt:lpstr>
      <vt:lpstr>Generalized linear models</vt:lpstr>
      <vt:lpstr>Generalized linear models</vt:lpstr>
      <vt:lpstr>Generalized linear models</vt:lpstr>
      <vt:lpstr>GLMs: The light</vt:lpstr>
      <vt:lpstr>GLMs: Families</vt:lpstr>
      <vt:lpstr>Link functions for the mean</vt:lpstr>
      <vt:lpstr>Link functions for binomial data</vt:lpstr>
      <vt:lpstr>Example: BeetleMortality</vt:lpstr>
      <vt:lpstr>PowerPoint Presentation</vt:lpstr>
      <vt:lpstr>Canonical links and variance functions</vt:lpstr>
      <vt:lpstr>Variance functions &amp; overdispersion</vt:lpstr>
      <vt:lpstr>What is overdispersion?</vt:lpstr>
      <vt:lpstr>Maximum likelihood estimation</vt:lpstr>
      <vt:lpstr>Maximum likelihood estimation</vt:lpstr>
      <vt:lpstr>Iteratively reweighted least squares</vt:lpstr>
      <vt:lpstr>Maximum likelihood estimation</vt:lpstr>
      <vt:lpstr>Goodness of fit</vt:lpstr>
      <vt:lpstr>GLMs for count data</vt:lpstr>
      <vt:lpstr>Example: Publications of PhD candiates</vt:lpstr>
      <vt:lpstr>Example: Publications of PhD candidates</vt:lpstr>
      <vt:lpstr>PowerPoint Presentation</vt:lpstr>
      <vt:lpstr>Fitting the Poisson model</vt:lpstr>
      <vt:lpstr>Interpreting coefficients</vt:lpstr>
      <vt:lpstr>Effect plots</vt:lpstr>
      <vt:lpstr>PowerPoint Presentation</vt:lpstr>
      <vt:lpstr>Model diagnostics</vt:lpstr>
      <vt:lpstr>Checking for interactions</vt:lpstr>
      <vt:lpstr>Compare models</vt:lpstr>
      <vt:lpstr>Compare models</vt:lpstr>
      <vt:lpstr>Basic model plots</vt:lpstr>
      <vt:lpstr>Nonlinearity diagnostics</vt:lpstr>
      <vt:lpstr>Nonlinearity diagnostics: crPlot()</vt:lpstr>
      <vt:lpstr>Residuals</vt:lpstr>
      <vt:lpstr>Residuals</vt:lpstr>
      <vt:lpstr>Outliers, leverage &amp; influence</vt:lpstr>
      <vt:lpstr>Who is influential &amp; why?</vt:lpstr>
      <vt:lpstr>Outlier test</vt:lpstr>
      <vt:lpstr>PowerPoint Presentation</vt:lpstr>
      <vt:lpstr>Overdispersion</vt:lpstr>
      <vt:lpstr>Testing overdispersion</vt:lpstr>
      <vt:lpstr>Quasi-poisson models</vt:lpstr>
      <vt:lpstr>Quasi-poisson models</vt:lpstr>
      <vt:lpstr>Fitting the quasi-poisson model</vt:lpstr>
      <vt:lpstr>PowerPoint Presentation</vt:lpstr>
      <vt:lpstr>The negative-binomial model</vt:lpstr>
      <vt:lpstr>The negative-binomial model</vt:lpstr>
      <vt:lpstr>Fitting the negative-binomial</vt:lpstr>
      <vt:lpstr>Visualizing goodness-of-fit</vt:lpstr>
      <vt:lpstr>Comparing models: What difference does it make?</vt:lpstr>
      <vt:lpstr>Visualizing the mean-variance relation</vt:lpstr>
      <vt:lpstr>What have we learned?</vt:lpstr>
      <vt:lpstr>What have we learned?</vt:lpstr>
      <vt:lpstr>Excess zeros</vt:lpstr>
      <vt:lpstr>Excess zero counts</vt:lpstr>
      <vt:lpstr>Models for excess zeros</vt:lpstr>
      <vt:lpstr>Zero-inflated models</vt:lpstr>
      <vt:lpstr>Zero-inflated models: ZIP &amp; ZINB</vt:lpstr>
      <vt:lpstr>Exploring zero-inflated data</vt:lpstr>
      <vt:lpstr>Exploring zero-inflated data</vt:lpstr>
      <vt:lpstr>Hurdle models</vt:lpstr>
      <vt:lpstr>Fitting ZIP &amp; Hurdle models</vt:lpstr>
      <vt:lpstr>Visualizing zero counts</vt:lpstr>
      <vt:lpstr>Fitting models</vt:lpstr>
      <vt:lpstr>Comparing models</vt:lpstr>
      <vt:lpstr>PowerPoint Presentation</vt:lpstr>
      <vt:lpstr>PowerPoint Presentation</vt:lpstr>
      <vt:lpstr>Model interpretation: Coefficients</vt:lpstr>
      <vt:lpstr>Model interpretation: Coefficients</vt:lpstr>
      <vt:lpstr>Model interpretation: Effect plots</vt:lpstr>
      <vt:lpstr>PowerPoint Presentation</vt:lpstr>
      <vt:lpstr>What have we learned?</vt:lpstr>
      <vt:lpstr>What have we learned?</vt:lpstr>
      <vt:lpstr>What have we forgotten?</vt:lpstr>
      <vt:lpstr>What have we forgotten?</vt:lpstr>
      <vt:lpstr>What I missed</vt:lpstr>
      <vt:lpstr>Back to square TWO</vt:lpstr>
      <vt:lpstr>Visualize the interaction</vt:lpstr>
      <vt:lpstr>Visualize the interaction– The other way</vt:lpstr>
      <vt:lpstr>Back to square ONE</vt:lpstr>
      <vt:lpstr>Compare distributions</vt:lpstr>
      <vt:lpstr>What to do?</vt:lpstr>
      <vt:lpstr>What else is there?</vt:lpstr>
      <vt:lpstr>Overdispersion in proportions and counts</vt:lpstr>
      <vt:lpstr>Diagnosing binomial overdispersion</vt:lpstr>
      <vt:lpstr>Mixing probabilities: The Beta distribution</vt:lpstr>
      <vt:lpstr>Concentration</vt:lpstr>
      <vt:lpstr>Fitting Beta-Binomial models in R</vt:lpstr>
      <vt:lpstr>Other methods: Recursive partitioning</vt:lpstr>
      <vt:lpstr>Other methods: Recursive partitioning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09-CountData</dc:title>
  <dc:creator>Michael Friendly</dc:creator>
  <cp:lastModifiedBy>Michael L Friendly</cp:lastModifiedBy>
  <cp:revision>126</cp:revision>
  <dcterms:created xsi:type="dcterms:W3CDTF">2017-10-14T20:35:56Z</dcterms:created>
  <dcterms:modified xsi:type="dcterms:W3CDTF">2026-03-10T21:21:22Z</dcterms:modified>
</cp:coreProperties>
</file>